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60" r:id="rId2"/>
  </p:sldMasterIdLst>
  <p:sldIdLst>
    <p:sldId id="256" r:id="rId3"/>
    <p:sldId id="363" r:id="rId4"/>
    <p:sldId id="262" r:id="rId5"/>
    <p:sldId id="263" r:id="rId6"/>
    <p:sldId id="332" r:id="rId7"/>
    <p:sldId id="331" r:id="rId8"/>
    <p:sldId id="361" r:id="rId9"/>
    <p:sldId id="362" r:id="rId10"/>
    <p:sldId id="257" r:id="rId11"/>
    <p:sldId id="333" r:id="rId12"/>
    <p:sldId id="334" r:id="rId13"/>
    <p:sldId id="335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9" r:id="rId36"/>
    <p:sldId id="360" r:id="rId37"/>
  </p:sldIdLst>
  <p:sldSz cx="12192000" cy="6858000"/>
  <p:notesSz cx="6858000" cy="9144000"/>
  <p:embeddedFontLst>
    <p:embeddedFont>
      <p:font typeface="Inconsolatazi4varl_qu" panose="02000503000000000000" pitchFamily="2" charset="0"/>
      <p:regular r:id="rId38"/>
      <p:bold r:id="rId39"/>
    </p:embeddedFont>
    <p:embeddedFont>
      <p:font typeface="SF Pro Display Light" pitchFamily="2" charset="0"/>
      <p:regular r:id="rId40"/>
      <p:italic r:id="rId41"/>
    </p:embeddedFont>
    <p:embeddedFont>
      <p:font typeface="SF PRO DISPLAY SEMIBOLD" pitchFamily="2" charset="0"/>
      <p:regular r:id="rId42"/>
      <p:bold r:id="rId43"/>
      <p:italic r:id="rId44"/>
      <p:boldItalic r:id="rId45"/>
    </p:embeddedFont>
    <p:embeddedFont>
      <p:font typeface="SF PRO DISPLAY THIN" pitchFamily="2" charset="0"/>
      <p:regular r:id="rId46"/>
      <p:italic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E928B0-175D-4C46-8823-EE6C3431C413}">
          <p14:sldIdLst>
            <p14:sldId id="256"/>
            <p14:sldId id="363"/>
            <p14:sldId id="262"/>
            <p14:sldId id="263"/>
            <p14:sldId id="332"/>
            <p14:sldId id="331"/>
            <p14:sldId id="361"/>
            <p14:sldId id="362"/>
            <p14:sldId id="257"/>
            <p14:sldId id="333"/>
            <p14:sldId id="334"/>
            <p14:sldId id="335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9"/>
            <p14:sldId id="3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92CE"/>
    <a:srgbClr val="FF85FF"/>
    <a:srgbClr val="0000FF"/>
    <a:srgbClr val="00FF00"/>
    <a:srgbClr val="FF0000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89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1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B31F-C792-4E45-A98E-4D26E62A0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47372-57B6-664D-A26D-FC505F411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9B82C-8934-CF4E-854B-08E75F385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7726A-EFEB-B940-B17A-744E4728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DDCA4-B1DB-6C43-8A01-89E972F6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8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A244-E7E5-974A-BB0A-05DF1D8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5FF8A-71D4-8C49-BC5B-DAEB807B2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5E1BA-466A-C847-9076-CF5E9638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235A-1308-024D-B929-3F5BBDC2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837AC-2C01-244B-B271-1A625885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47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25A5-FA63-1841-BE90-9967DCE9E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3196C-E69B-D246-9005-48E35B84C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F08CF-EF4C-234B-9669-EEF5B73F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82840-8478-9E40-A9B7-D993486E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792B0-458F-BC44-8997-4FAF9D06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7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E1E0-77E6-3B41-96BC-14624972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6A617-02E6-904F-A6A3-693FCE12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47DD4-65E2-4741-9DB4-D69CF95F7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B3527-5384-3F4B-B002-821B2EB7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9543-DA00-6849-A0ED-0F89D03E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FA376-85DF-164C-9254-3C45F578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A2E2-5407-F14D-BB0E-74AC2FA6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DF9BA-B7A1-1C4F-B154-C3E753325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BDEB9-9280-4448-B789-6E4124068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D8EDE-9F16-7E42-BA8F-A9410A31A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C8DFB-5E18-6E4D-B321-1B9F89C45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43F570-CBAD-944A-ACCB-DF84F022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A548D6-0ECD-2E49-99C4-6B6A5B0E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01C91-FAAF-8F40-8F1F-E4289F56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8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DDC-EFCE-7A4F-AB81-7322118E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38DE7-2F05-7E4D-AA33-9E1D245F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843C0-B152-D846-8A15-09CB866F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25FCC-ED58-7746-99A1-2FCB92B5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25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4E4026-D14A-BB44-9C91-6313D9F9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FC637-D93C-894E-8111-644644277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0B689-8BC9-E042-9B6A-B4FE4EAB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820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5174-D8A8-7044-A9C4-559463D7B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A19EC-A7E0-4345-897C-C005FA30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 i="0"/>
            </a:lvl1pPr>
            <a:lvl2pPr>
              <a:defRPr sz="2800" b="0" i="0"/>
            </a:lvl2pPr>
            <a:lvl3pPr>
              <a:defRPr sz="2400" b="0" i="0"/>
            </a:lvl3pPr>
            <a:lvl4pPr>
              <a:defRPr sz="2000" b="0" i="0"/>
            </a:lvl4pPr>
            <a:lvl5pPr>
              <a:defRPr sz="20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DA5AC-A2FF-9A44-B32D-C91AAB15C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F0F77-5617-7341-AE0F-2AD3B838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96F4F-58DE-764A-B2B0-EC35D24B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85F2B-C430-2C4F-AA80-857FFBFD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433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5164-EFCC-0844-889F-C43C3E674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7229E7-DCB7-7047-B44F-4C7551460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81E15-0446-DB44-925C-80AF373B3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F93BF-9445-454B-95E7-D282DCFA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8665B-9D1E-AA47-BD88-8384B4F9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AD8D6-5326-1844-9116-47BCE11B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47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5CC0-4164-2543-8EFA-5CC408D8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4DC55-6722-D249-9405-366B368B2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19050-B1AE-8949-AD0D-CAA30BE49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4C2F-75A0-834D-8B25-F44B1ACE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E02B0-5A2F-EF4C-B904-94FEFD2E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84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F7C08-5843-8143-A254-A78C51FEF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4E19E-8DB3-234B-B7D4-85AEBF02B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BBD94-F763-024C-BFD5-64B2C6DD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09E5E-21B7-4E45-9E81-B11FCF80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01339-61F7-C540-A94A-057B07D7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223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B31F-C792-4E45-A98E-4D26E62A0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47372-57B6-664D-A26D-FC505F411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9B82C-8934-CF4E-854B-08E75F385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7726A-EFEB-B940-B17A-744E4728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DDCA4-B1DB-6C43-8A01-89E972F6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81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A244-E7E5-974A-BB0A-05DF1D8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5FF8A-71D4-8C49-BC5B-DAEB807B2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5E1BA-466A-C847-9076-CF5E9638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235A-1308-024D-B929-3F5BBDC2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837AC-2C01-244B-B271-1A625885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9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25A5-FA63-1841-BE90-9967DCE9E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3196C-E69B-D246-9005-48E35B84C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F08CF-EF4C-234B-9669-EEF5B73F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82840-8478-9E40-A9B7-D993486E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792B0-458F-BC44-8997-4FAF9D06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79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E1E0-77E6-3B41-96BC-14624972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6A617-02E6-904F-A6A3-693FCE12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47DD4-65E2-4741-9DB4-D69CF95F7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B3527-5384-3F4B-B002-821B2EB7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9543-DA00-6849-A0ED-0F89D03E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FA376-85DF-164C-9254-3C45F578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89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A2E2-5407-F14D-BB0E-74AC2FA6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DF9BA-B7A1-1C4F-B154-C3E753325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BDEB9-9280-4448-B789-6E4124068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D8EDE-9F16-7E42-BA8F-A9410A31A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C8DFB-5E18-6E4D-B321-1B9F89C45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43F570-CBAD-944A-ACCB-DF84F022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A548D6-0ECD-2E49-99C4-6B6A5B0E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01C91-FAAF-8F40-8F1F-E4289F56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3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DDC-EFCE-7A4F-AB81-7322118E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38DE7-2F05-7E4D-AA33-9E1D245F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843C0-B152-D846-8A15-09CB866F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25FCC-ED58-7746-99A1-2FCB92B5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2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4E4026-D14A-BB44-9C91-6313D9F9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FC637-D93C-894E-8111-644644277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0B689-8BC9-E042-9B6A-B4FE4EAB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083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5174-D8A8-7044-A9C4-559463D7B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A19EC-A7E0-4345-897C-C005FA30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DA5AC-A2FF-9A44-B32D-C91AAB15C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F0F77-5617-7341-AE0F-2AD3B838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96F4F-58DE-764A-B2B0-EC35D24B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85F2B-C430-2C4F-AA80-857FFBFD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17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5164-EFCC-0844-889F-C43C3E674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7229E7-DCB7-7047-B44F-4C7551460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81E15-0446-DB44-925C-80AF373B3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F93BF-9445-454B-95E7-D282DCFA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8665B-9D1E-AA47-BD88-8384B4F9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AD8D6-5326-1844-9116-47BCE11B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270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5CC0-4164-2543-8EFA-5CC408D8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4DC55-6722-D249-9405-366B368B2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19050-B1AE-8949-AD0D-CAA30BE49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4C2F-75A0-834D-8B25-F44B1ACE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E02B0-5A2F-EF4C-B904-94FEFD2E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58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F7C08-5843-8143-A254-A78C51FEF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4E19E-8DB3-234B-B7D4-85AEBF02B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BBD94-F763-024C-BFD5-64B2C6DD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09E5E-21B7-4E45-9E81-B11FCF80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01339-61F7-C540-A94A-057B07D7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18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22846C-1CF3-C648-A34E-CAD53833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FFDBA-2867-3848-BA17-A4347F168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580E0-5FE1-DD48-8C11-5F8AE6080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734D-1D52-4246-B6C4-00C169697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9DA5C-D159-D94F-A9C1-966DA4B4C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07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4">
              <a:lumMod val="40000"/>
              <a:lumOff val="60000"/>
            </a:schemeClr>
          </a:solidFill>
          <a:latin typeface="SF Pro Display Semibold" pitchFamily="2" charset="0"/>
          <a:ea typeface="SF Pro Display Semibold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22846C-1CF3-C648-A34E-CAD53833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FFDBA-2867-3848-BA17-A4347F168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580E0-5FE1-DD48-8C11-5F8AE6080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</a:lstStyle>
          <a:p>
            <a:fld id="{690650B6-570D-8448-B670-1346F08DF152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734D-1D52-4246-B6C4-00C169697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9DA5C-D159-D94F-A9C1-966DA4B4C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74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4">
              <a:lumMod val="40000"/>
              <a:lumOff val="60000"/>
            </a:schemeClr>
          </a:solidFill>
          <a:latin typeface="SF Pro Display Semibold" pitchFamily="2" charset="0"/>
          <a:ea typeface="SF Pro Display Semibold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4"/>
          </a:solidFill>
          <a:latin typeface="SF Pro Display Light" pitchFamily="2" charset="0"/>
          <a:ea typeface="SF Pro Display Light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rbrewer2.org/" TargetMode="External"/><Relationship Id="rId2" Type="http://schemas.openxmlformats.org/officeDocument/2006/relationships/hyperlink" Target="https://htmlcolors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9ACB-4DB3-9F4D-9D27-EDA041F10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Genome Browser</a:t>
            </a:r>
            <a:br>
              <a:rPr lang="en-US" dirty="0"/>
            </a:br>
            <a:r>
              <a:rPr lang="en-US" dirty="0"/>
              <a:t>Creating Custom Tracks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23E6197-2421-734C-9C2A-12CE1150C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33233"/>
          </a:xfrm>
        </p:spPr>
        <p:txBody>
          <a:bodyPr>
            <a:normAutofit/>
          </a:bodyPr>
          <a:lstStyle/>
          <a:p>
            <a:r>
              <a:rPr lang="en-US" dirty="0"/>
              <a:t>HUGEN 2073</a:t>
            </a:r>
          </a:p>
          <a:p>
            <a:r>
              <a:rPr lang="en-US" dirty="0"/>
              <a:t>Genomic Data Visualization &amp; Integration</a:t>
            </a:r>
          </a:p>
          <a:p>
            <a:endParaRPr lang="en-US" dirty="0"/>
          </a:p>
          <a:p>
            <a:r>
              <a:rPr lang="en-US" dirty="0"/>
              <a:t>Slides </a:t>
            </a:r>
            <a:r>
              <a:rPr lang="en-US"/>
              <a:t>adapted from Ryan </a:t>
            </a:r>
            <a:r>
              <a:rPr lang="en-US" dirty="0"/>
              <a:t>L. Minster, PhD, MSIS</a:t>
            </a:r>
          </a:p>
        </p:txBody>
      </p:sp>
    </p:spTree>
    <p:extLst>
      <p:ext uri="{BB962C8B-B14F-4D97-AF65-F5344CB8AC3E}">
        <p14:creationId xmlns:p14="http://schemas.microsoft.com/office/powerpoint/2010/main" val="74458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ADD1-B08A-8A2C-08E6-270432EB1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89C49-0B13-968D-9B62-2566DA41A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the session, students will be able to:</a:t>
            </a:r>
          </a:p>
          <a:p>
            <a:pPr lvl="1"/>
            <a:r>
              <a:rPr lang="en-US" sz="2800" dirty="0"/>
              <a:t>Describe the various coordinate systems used in genomic data and will be able to convert between them</a:t>
            </a:r>
          </a:p>
          <a:p>
            <a:pPr lvl="1"/>
            <a:r>
              <a:rPr lang="en-US" sz="2800" dirty="0"/>
              <a:t>Describe and use the RGB color system to assign colors to data</a:t>
            </a:r>
          </a:p>
          <a:p>
            <a:pPr lvl="1"/>
            <a:r>
              <a:rPr lang="en-US" sz="2800" dirty="0"/>
              <a:t>Create a track for the UCSC Genome Browser in BED format</a:t>
            </a:r>
          </a:p>
          <a:p>
            <a:pPr lvl="1"/>
            <a:r>
              <a:rPr lang="en-US" sz="2800" dirty="0"/>
              <a:t>Create a track for the UCSC Genome Browser in </a:t>
            </a:r>
            <a:r>
              <a:rPr lang="en-US" sz="2800" dirty="0" err="1"/>
              <a:t>bedGraph</a:t>
            </a:r>
            <a:r>
              <a:rPr lang="en-US" sz="2800" dirty="0"/>
              <a:t> format</a:t>
            </a:r>
          </a:p>
          <a:p>
            <a:pPr lvl="1"/>
            <a:r>
              <a:rPr lang="en-US" sz="2800" dirty="0"/>
              <a:t>Create a track for the UCSC Genome Browser in Personal Genome SNP format</a:t>
            </a:r>
          </a:p>
        </p:txBody>
      </p:sp>
    </p:spTree>
    <p:extLst>
      <p:ext uri="{BB962C8B-B14F-4D97-AF65-F5344CB8AC3E}">
        <p14:creationId xmlns:p14="http://schemas.microsoft.com/office/powerpoint/2010/main" val="4117041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0116-1741-D247-8173-76A088E0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Chromosome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19CC1-B69C-AB4B-AEB4-3113A5B2C1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b37 Convention</a:t>
            </a:r>
            <a:br>
              <a:rPr lang="en-US" dirty="0"/>
            </a:br>
            <a:r>
              <a:rPr lang="en-US" dirty="0"/>
              <a:t>(1000 Genomes Project)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  <a:p>
            <a:pPr marL="457200" lvl="1" indent="0">
              <a:buNone/>
            </a:pPr>
            <a:r>
              <a:rPr lang="en-US" sz="5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⋮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22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Y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MT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2DBC3-B989-5049-BE6B-B4DF4B354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932170" cy="4529455"/>
          </a:xfrm>
        </p:spPr>
        <p:txBody>
          <a:bodyPr>
            <a:normAutofit/>
          </a:bodyPr>
          <a:lstStyle/>
          <a:p>
            <a:r>
              <a:rPr lang="en-US" dirty="0"/>
              <a:t>hg19 Convention</a:t>
            </a:r>
            <a:br>
              <a:rPr lang="en-US" dirty="0"/>
            </a:br>
            <a:r>
              <a:rPr lang="en-US" dirty="0"/>
              <a:t>(UCSC Genome Browser)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chr1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chr2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  ⋮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chr22</a:t>
            </a:r>
          </a:p>
          <a:p>
            <a:pPr marL="457200" lvl="1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chrX</a:t>
            </a:r>
            <a:endParaRPr lang="en-US" sz="2800" dirty="0">
              <a:solidFill>
                <a:schemeClr val="bg1"/>
              </a:solidFill>
              <a:latin typeface="Inconsolatazi4varl_qu" panose="02000503000000000000" pitchFamily="2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chrY</a:t>
            </a:r>
            <a:endParaRPr lang="en-US" sz="2800" dirty="0">
              <a:solidFill>
                <a:schemeClr val="bg1"/>
              </a:solidFill>
              <a:latin typeface="Inconsolatazi4varl_qu" panose="02000503000000000000" pitchFamily="2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chrM</a:t>
            </a:r>
            <a:br>
              <a:rPr lang="en-US" sz="2800" dirty="0" err="1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endParaRPr lang="en-US" sz="2800" dirty="0" err="1">
              <a:solidFill>
                <a:schemeClr val="bg1"/>
              </a:solidFill>
              <a:latin typeface="Inconsolatazi4varl_qu" panose="02000503000000000000" pitchFamily="2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06C9F22-AB32-3848-9514-3587752B21B3}"/>
              </a:ext>
            </a:extLst>
          </p:cNvPr>
          <p:cNvSpPr txBox="1">
            <a:spLocks/>
          </p:cNvSpPr>
          <p:nvPr/>
        </p:nvSpPr>
        <p:spPr>
          <a:xfrm>
            <a:off x="5890260" y="5921374"/>
            <a:ext cx="5932170" cy="4883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rPr>
              <a:t>Also, the current convention of the Genome Reference Consortium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consolatazi4varl_qu" panose="02000503000000000000" pitchFamily="2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62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5728-0177-774F-B012-0D786D44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4DA01-EE2A-2640-B526-434B94350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57045"/>
            <a:ext cx="5181600" cy="4351338"/>
          </a:xfrm>
        </p:spPr>
        <p:txBody>
          <a:bodyPr>
            <a:noAutofit/>
          </a:bodyPr>
          <a:lstStyle/>
          <a:p>
            <a:r>
              <a:rPr lang="en-US" dirty="0"/>
              <a:t>1-start, fully-closed</a:t>
            </a:r>
          </a:p>
          <a:p>
            <a:pPr marL="0" indent="0">
              <a:buNone/>
              <a:tabLst>
                <a:tab pos="225425" algn="l"/>
              </a:tabLst>
            </a:pPr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A C G T A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1 2 3 4 5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chr1:1-5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gtf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gff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sam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vcf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.wig</a:t>
            </a:r>
          </a:p>
          <a:p>
            <a:pPr marL="0" indent="0">
              <a:buNone/>
              <a:tabLst>
                <a:tab pos="225425" algn="l"/>
              </a:tabLst>
            </a:pPr>
            <a:br>
              <a:rPr lang="en-US" sz="5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HGVS Nomenclature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34745-2B17-E64B-8195-D3D61E364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68474"/>
            <a:ext cx="5760720" cy="5089525"/>
          </a:xfrm>
        </p:spPr>
        <p:txBody>
          <a:bodyPr>
            <a:noAutofit/>
          </a:bodyPr>
          <a:lstStyle/>
          <a:p>
            <a:r>
              <a:rPr lang="en-US" dirty="0"/>
              <a:t>0-start, half-open</a:t>
            </a:r>
          </a:p>
          <a:p>
            <a:pPr marL="0" indent="0">
              <a:buNone/>
              <a:tabLst>
                <a:tab pos="225425" algn="l"/>
              </a:tabLst>
            </a:pPr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A C G T A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0 1 2 3 4 5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chr1 0 5</a:t>
            </a:r>
          </a:p>
          <a:p>
            <a:pPr marL="234950" indent="-234950">
              <a:buNone/>
              <a:tabLst>
                <a:tab pos="225425" algn="l"/>
              </a:tabLst>
            </a:pPr>
            <a:r>
              <a:rPr lang="en-US" dirty="0"/>
              <a:t>			</a:t>
            </a:r>
            <a:r>
              <a:rPr lang="en-US" i="1" dirty="0"/>
              <a:t>Helps to think of it as</a:t>
            </a:r>
            <a:br>
              <a:rPr lang="en-US" i="1" dirty="0"/>
            </a:br>
            <a:r>
              <a:rPr lang="en-US" i="1" dirty="0"/>
              <a:t>	counting between the bases.</a:t>
            </a:r>
          </a:p>
          <a:p>
            <a:pPr marL="234950" indent="0">
              <a:buNone/>
              <a:tabLst>
                <a:tab pos="225425" algn="l"/>
              </a:tabLst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34950" indent="0">
              <a:buNone/>
              <a:tabLst>
                <a:tab pos="225425" algn="l"/>
              </a:tabLst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.bed </a:t>
            </a:r>
            <a:r>
              <a:rPr lang="en-US" dirty="0"/>
              <a:t>(not PLINK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.bed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.bam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bcf</a:t>
            </a:r>
            <a:endParaRPr lang="en-US" dirty="0">
              <a:solidFill>
                <a:schemeClr val="bg1"/>
              </a:solidFill>
              <a:latin typeface="Inconsolatazi4varl_qu" panose="02000503000000000000" pitchFamily="2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8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5728-0177-774F-B012-0D786D44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4DA01-EE2A-2640-B526-434B94350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57045"/>
            <a:ext cx="5181600" cy="4351338"/>
          </a:xfrm>
        </p:spPr>
        <p:txBody>
          <a:bodyPr>
            <a:noAutofit/>
          </a:bodyPr>
          <a:lstStyle/>
          <a:p>
            <a:r>
              <a:rPr lang="en-US" dirty="0"/>
              <a:t>1-start, fully-closed</a:t>
            </a:r>
          </a:p>
          <a:p>
            <a:pPr marL="0" indent="0">
              <a:buNone/>
              <a:tabLst>
                <a:tab pos="225425" algn="l"/>
              </a:tabLst>
            </a:pPr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A C G T A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1 2 3 4 5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g.2del</a:t>
            </a:r>
            <a:b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</a:br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		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Light" pitchFamily="2" charset="0"/>
                <a:cs typeface="Menlo" panose="020B0609030804020204" pitchFamily="49" charset="0"/>
              </a:rPr>
              <a:t>chr1:2-2</a:t>
            </a:r>
          </a:p>
          <a:p>
            <a:pPr marL="0" indent="0">
              <a:buNone/>
              <a:tabLst>
                <a:tab pos="225425" algn="l"/>
              </a:tabLst>
            </a:pPr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	g.1_2insA</a:t>
            </a:r>
            <a:b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</a:br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		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Light" pitchFamily="2" charset="0"/>
                <a:cs typeface="Menlo" panose="020B0609030804020204" pitchFamily="49" charset="0"/>
              </a:rPr>
              <a:t>chr1:1-2</a:t>
            </a:r>
          </a:p>
          <a:p>
            <a:pPr marL="0" indent="0">
              <a:buNone/>
              <a:tabLst>
                <a:tab pos="225425" algn="l"/>
              </a:tabLst>
            </a:pPr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	g.3G&gt;T</a:t>
            </a:r>
            <a:b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</a:br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		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Light" pitchFamily="2" charset="0"/>
                <a:cs typeface="Menlo" panose="020B0609030804020204" pitchFamily="49" charset="0"/>
              </a:rPr>
              <a:t>chr1:3-3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34745-2B17-E64B-8195-D3D61E364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68474"/>
            <a:ext cx="5760720" cy="5089525"/>
          </a:xfrm>
        </p:spPr>
        <p:txBody>
          <a:bodyPr>
            <a:noAutofit/>
          </a:bodyPr>
          <a:lstStyle/>
          <a:p>
            <a:r>
              <a:rPr lang="en-US" dirty="0"/>
              <a:t>0-start, half-open</a:t>
            </a:r>
          </a:p>
          <a:p>
            <a:pPr marL="0" indent="0">
              <a:buNone/>
              <a:tabLst>
                <a:tab pos="225425" algn="l"/>
              </a:tabLst>
            </a:pPr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A C G T A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0 1 2 3 4 5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  <a:t>g.2del</a:t>
            </a:r>
            <a:b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</a:br>
            <a: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  <a:t>		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cs typeface="Menlo" panose="020B0609030804020204" pitchFamily="49" charset="0"/>
              </a:rPr>
              <a:t>chr1 1 2</a:t>
            </a:r>
          </a:p>
          <a:p>
            <a:pPr marL="0" indent="0">
              <a:buNone/>
              <a:tabLst>
                <a:tab pos="225425" algn="l"/>
              </a:tabLst>
            </a:pPr>
            <a: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  <a:t>	g.1_2insA</a:t>
            </a:r>
            <a:b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</a:br>
            <a: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  <a:t>		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cs typeface="Menlo" panose="020B0609030804020204" pitchFamily="49" charset="0"/>
              </a:rPr>
              <a:t>chr1 1 1</a:t>
            </a:r>
          </a:p>
          <a:p>
            <a:pPr marL="0" indent="0">
              <a:buNone/>
              <a:tabLst>
                <a:tab pos="225425" algn="l"/>
              </a:tabLst>
            </a:pPr>
            <a: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  <a:t>	g.3G&gt;T</a:t>
            </a:r>
            <a:b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</a:br>
            <a: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  <a:t>		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cs typeface="Menlo" panose="020B0609030804020204" pitchFamily="49" charset="0"/>
              </a:rPr>
              <a:t>chr1 2 3</a:t>
            </a:r>
          </a:p>
          <a:p>
            <a:pPr marL="0" indent="0">
              <a:buNone/>
              <a:tabLst>
                <a:tab pos="225425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8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5728-0177-774F-B012-0D786D44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4DA01-EE2A-2640-B526-434B94350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Why 0-start? Because the math is easier.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seq1       A   C   G   T   A</a:t>
            </a:r>
            <a:b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 	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seq2                   T   A   G   C   T   T</a:t>
            </a:r>
            <a:b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1-based   23  24  25  26  27  28  29  30  31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0-based 22  23  24  25  26  27  28  29  30  31</a:t>
            </a:r>
            <a:endParaRPr lang="en-US" dirty="0">
              <a:solidFill>
                <a:srgbClr val="FFC000"/>
              </a:solidFill>
              <a:latin typeface="SF Pro Display Light" pitchFamily="2" charset="0"/>
              <a:ea typeface="SF Pro Display Light" pitchFamily="2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What is the length of the segment from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A</a:t>
            </a:r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 to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A</a:t>
            </a:r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 of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seq1</a:t>
            </a:r>
            <a:r>
              <a:rPr lang="en-US" dirty="0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  <a:cs typeface="Menlo" panose="020B0609030804020204" pitchFamily="49" charset="0"/>
              </a:rPr>
              <a:t>?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1-based  27 - 23 </a:t>
            </a:r>
            <a:r>
              <a:rPr lang="en-US" sz="2800" dirty="0">
                <a:solidFill>
                  <a:srgbClr val="FF85FF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+ 1</a:t>
            </a: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 = 5</a:t>
            </a:r>
            <a:b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0-based  27 - 22 = 5</a:t>
            </a:r>
            <a:endParaRPr lang="en-US" dirty="0">
              <a:solidFill>
                <a:schemeClr val="bg1"/>
              </a:solidFill>
              <a:latin typeface="Inconsolatazi4varl_qu" panose="02000503000000000000" pitchFamily="2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  <a:t>What is the overlap length of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seq1</a:t>
            </a:r>
            <a: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  <a:t> and 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seq1</a:t>
            </a:r>
            <a:r>
              <a:rPr lang="en-US" dirty="0">
                <a:solidFill>
                  <a:srgbClr val="FFC000"/>
                </a:solidFill>
                <a:cs typeface="Menlo" panose="020B0609030804020204" pitchFamily="49" charset="0"/>
              </a:rPr>
              <a:t>?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1-based  27 - 26 </a:t>
            </a:r>
            <a:r>
              <a:rPr lang="en-US" sz="2800" dirty="0">
                <a:solidFill>
                  <a:srgbClr val="FF85FF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+ 1 </a:t>
            </a: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= 2</a:t>
            </a:r>
            <a:b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2800" dirty="0">
                <a:solidFill>
                  <a:schemeClr val="bg1"/>
                </a:solidFill>
                <a:latin typeface="Inconsolatazi4varl_qu" panose="02000503000000000000" pitchFamily="2" charset="0"/>
                <a:ea typeface="Menlo" panose="020B0609030804020204" pitchFamily="49" charset="0"/>
                <a:cs typeface="Menlo" panose="020B0609030804020204" pitchFamily="49" charset="0"/>
              </a:rPr>
              <a:t>	0-based  27 - 25 = 2</a:t>
            </a:r>
            <a:endParaRPr lang="en-US" dirty="0">
              <a:solidFill>
                <a:srgbClr val="FFC000"/>
              </a:solidFill>
              <a:latin typeface="SF Pro Display Light" pitchFamily="2" charset="0"/>
              <a:ea typeface="SF Pro Display Light" pitchFamily="2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8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2868-C21C-E14A-83C6-E064A67B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from 1-start to 0-start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00BD7-73AB-584E-AADC-5CA3C409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feature has a length &gt; 0,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subtract 1 from the start coordinate and leave the end coordinate the same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 exon starting with 10 and ending with 200: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chr1:10-200 -&gt; chr1 9 200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/>
              <a:t>A SNP at nucleotide 100 (i.e., starting with 100 and ending with 100):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	chr1:100-100 -&gt; chr1 99 100</a:t>
            </a:r>
          </a:p>
        </p:txBody>
      </p:sp>
    </p:spTree>
    <p:extLst>
      <p:ext uri="{BB962C8B-B14F-4D97-AF65-F5344CB8AC3E}">
        <p14:creationId xmlns:p14="http://schemas.microsoft.com/office/powerpoint/2010/main" val="1969598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2868-C21C-E14A-83C6-E064A67B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from 1-start to 0-start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00BD7-73AB-584E-AADC-5CA3C409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feature has a length = 0 (an insertion),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leave the start coordinate the same and subtract 1 from the end coordinate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 insertion between 10 and 11: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chr1:10-11 -&gt; chr1 10 10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656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FD8B2-C391-B54C-AF8A-15082F6D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392CE"/>
                </a:solidFill>
              </a:rPr>
              <a:t>Color Theory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055E1-8CE7-6144-AF95-CACA9781A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A06097-F02C-B94C-84B8-471ACBFBBC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5F3367-D69E-5F41-BDA5-E1341B6AD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2" y="1485106"/>
            <a:ext cx="5032376" cy="503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9BEB11B-7913-3247-941F-C3B448ADF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825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84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836E-5948-C542-81FC-40612692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Additive vs Subtractive Color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1EEAB48-8B8E-DB4A-B02C-C3C94D072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2" y="1485106"/>
            <a:ext cx="5032375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34D51F1-1E8C-8746-98BD-EF486DD8E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14" y="1690687"/>
            <a:ext cx="5032373" cy="503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143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1DD9-3A60-2947-9F25-E5080DA1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RGB Color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6AE0-4439-4D43-9EBA-0C12046C3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Red</a:t>
            </a:r>
          </a:p>
          <a:p>
            <a:r>
              <a:rPr lang="en-US" dirty="0">
                <a:solidFill>
                  <a:srgbClr val="00FF00"/>
                </a:solidFill>
              </a:rPr>
              <a:t>Green</a:t>
            </a:r>
          </a:p>
          <a:p>
            <a:r>
              <a:rPr lang="en-US" dirty="0">
                <a:solidFill>
                  <a:srgbClr val="0000FF"/>
                </a:solidFill>
              </a:rPr>
              <a:t>Blue</a:t>
            </a:r>
          </a:p>
        </p:txBody>
      </p:sp>
    </p:spTree>
    <p:extLst>
      <p:ext uri="{BB962C8B-B14F-4D97-AF65-F5344CB8AC3E}">
        <p14:creationId xmlns:p14="http://schemas.microsoft.com/office/powerpoint/2010/main" val="1556922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1DD9-3A60-2947-9F25-E5080DA1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RGB Color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6AE0-4439-4D43-9EBA-0C12046C3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Red</a:t>
            </a:r>
          </a:p>
          <a:p>
            <a:r>
              <a:rPr lang="en-US" dirty="0">
                <a:solidFill>
                  <a:srgbClr val="00FF00"/>
                </a:solidFill>
              </a:rPr>
              <a:t>Green</a:t>
            </a:r>
          </a:p>
          <a:p>
            <a:r>
              <a:rPr lang="en-US" dirty="0">
                <a:solidFill>
                  <a:srgbClr val="0000FF"/>
                </a:solidFill>
              </a:rPr>
              <a:t>Blue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</a:rPr>
              <a:t>Red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Inconsolatazi4varl_qu" panose="02000503000000000000" pitchFamily="2" charset="0"/>
              </a:rPr>
              <a:t>Green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Blue</a:t>
            </a:r>
          </a:p>
        </p:txBody>
      </p:sp>
    </p:spTree>
    <p:extLst>
      <p:ext uri="{BB962C8B-B14F-4D97-AF65-F5344CB8AC3E}">
        <p14:creationId xmlns:p14="http://schemas.microsoft.com/office/powerpoint/2010/main" val="2425968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1DD9-3A60-2947-9F25-E5080DA1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RGB Color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6AE0-4439-4D43-9EBA-0C12046C3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Red</a:t>
            </a:r>
          </a:p>
          <a:p>
            <a:r>
              <a:rPr lang="en-US" dirty="0">
                <a:solidFill>
                  <a:srgbClr val="00FF00"/>
                </a:solidFill>
              </a:rPr>
              <a:t>Green</a:t>
            </a:r>
          </a:p>
          <a:p>
            <a:r>
              <a:rPr lang="en-US" dirty="0">
                <a:solidFill>
                  <a:srgbClr val="0000FF"/>
                </a:solidFill>
              </a:rPr>
              <a:t>Blue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</a:rPr>
              <a:t>Red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Inconsolatazi4varl_qu" panose="02000503000000000000" pitchFamily="2" charset="0"/>
              </a:rPr>
              <a:t>Green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Blue</a:t>
            </a:r>
          </a:p>
          <a:p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</a:rPr>
              <a:t>0-255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Inconsolatazi4varl_qu" panose="02000503000000000000" pitchFamily="2" charset="0"/>
              </a:rPr>
              <a:t>0-255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0-255</a:t>
            </a:r>
          </a:p>
        </p:txBody>
      </p:sp>
    </p:spTree>
    <p:extLst>
      <p:ext uri="{BB962C8B-B14F-4D97-AF65-F5344CB8AC3E}">
        <p14:creationId xmlns:p14="http://schemas.microsoft.com/office/powerpoint/2010/main" val="2503106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1DD9-3A60-2947-9F25-E5080DA1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RGB Color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6AE0-4439-4D43-9EBA-0C12046C3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Red</a:t>
            </a:r>
          </a:p>
          <a:p>
            <a:r>
              <a:rPr lang="en-US" dirty="0">
                <a:solidFill>
                  <a:srgbClr val="00FF00"/>
                </a:solidFill>
              </a:rPr>
              <a:t>Green</a:t>
            </a:r>
          </a:p>
          <a:p>
            <a:r>
              <a:rPr lang="en-US" dirty="0">
                <a:solidFill>
                  <a:srgbClr val="0000FF"/>
                </a:solidFill>
              </a:rPr>
              <a:t>Blue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</a:rPr>
              <a:t>Red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Inconsolatazi4varl_qu" panose="02000503000000000000" pitchFamily="2" charset="0"/>
              </a:rPr>
              <a:t>Green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Blue</a:t>
            </a:r>
          </a:p>
          <a:p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</a:rPr>
              <a:t>0-255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Inconsolatazi4varl_qu" panose="02000503000000000000" pitchFamily="2" charset="0"/>
              </a:rPr>
              <a:t>0-255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0-255</a:t>
            </a:r>
          </a:p>
          <a:p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</a:rPr>
              <a:t>00-FF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Inconsolatazi4varl_qu" panose="02000503000000000000" pitchFamily="2" charset="0"/>
              </a:rPr>
              <a:t>00-FF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00-FF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053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1DD9-3A60-2947-9F25-E5080DA1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RGB Color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6AE0-4439-4D43-9EBA-0C12046C3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Red</a:t>
            </a:r>
          </a:p>
          <a:p>
            <a:r>
              <a:rPr lang="en-US" dirty="0">
                <a:solidFill>
                  <a:srgbClr val="00FF00"/>
                </a:solidFill>
              </a:rPr>
              <a:t>Green</a:t>
            </a:r>
          </a:p>
          <a:p>
            <a:r>
              <a:rPr lang="en-US" dirty="0">
                <a:solidFill>
                  <a:srgbClr val="0000FF"/>
                </a:solidFill>
              </a:rPr>
              <a:t>Blue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</a:rPr>
              <a:t>Red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Inconsolatazi4varl_qu" panose="02000503000000000000" pitchFamily="2" charset="0"/>
              </a:rPr>
              <a:t>Green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Blue,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nconsolatazi4varl_qu" panose="02000503000000000000" pitchFamily="2" charset="0"/>
              </a:rPr>
              <a:t>Transparency (Alpha Value)</a:t>
            </a:r>
          </a:p>
          <a:p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</a:rPr>
              <a:t>0-255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Inconsolatazi4varl_qu" panose="02000503000000000000" pitchFamily="2" charset="0"/>
              </a:rPr>
              <a:t>0-255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0-255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nconsolatazi4varl_qu" panose="02000503000000000000" pitchFamily="2" charset="0"/>
              </a:rPr>
              <a:t>0-255</a:t>
            </a:r>
          </a:p>
          <a:p>
            <a:r>
              <a:rPr lang="en-US" dirty="0">
                <a:solidFill>
                  <a:srgbClr val="FF0000"/>
                </a:solidFill>
                <a:latin typeface="Inconsolatazi4varl_qu" panose="02000503000000000000" pitchFamily="2" charset="0"/>
              </a:rPr>
              <a:t>00-FF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00FF00"/>
                </a:solidFill>
                <a:latin typeface="Inconsolatazi4varl_qu" panose="02000503000000000000" pitchFamily="2" charset="0"/>
              </a:rPr>
              <a:t>00-FF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00-FF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,</a:t>
            </a:r>
            <a:r>
              <a:rPr lang="en-US" dirty="0">
                <a:solidFill>
                  <a:srgbClr val="0000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nconsolatazi4varl_qu" panose="02000503000000000000" pitchFamily="2" charset="0"/>
              </a:rPr>
              <a:t>00-FF</a:t>
            </a:r>
            <a:endParaRPr lang="en-US" dirty="0">
              <a:solidFill>
                <a:srgbClr val="0000FF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814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FA4C-6544-5342-BD95-41E8B820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for Choosing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78410-275D-CB4F-9FC9-724931359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https://htmlcolors.com/</a:t>
            </a:r>
            <a:endParaRPr lang="en-US" dirty="0"/>
          </a:p>
          <a:p>
            <a:pPr lvl="1"/>
            <a:r>
              <a:rPr lang="en-US" dirty="0"/>
              <a:t>Doesn’t address accessibility</a:t>
            </a:r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https://colorbrewer2.org/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463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D057-D231-6B47-B9B8-0B9514A1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BED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1DBA-6A4C-8847-B2B8-82476BCC1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not PLINK’s </a:t>
            </a:r>
            <a:r>
              <a:rPr lang="en-US" u="sng" dirty="0"/>
              <a:t>b</a:t>
            </a:r>
            <a:r>
              <a:rPr lang="en-US" dirty="0"/>
              <a:t>inary p</a:t>
            </a:r>
            <a:r>
              <a:rPr lang="en-US" u="sng" dirty="0"/>
              <a:t>ed</a:t>
            </a:r>
            <a:r>
              <a:rPr lang="en-US" dirty="0"/>
              <a:t>igree format</a:t>
            </a:r>
          </a:p>
          <a:p>
            <a:r>
              <a:rPr lang="en-US" u="sng" dirty="0"/>
              <a:t>B</a:t>
            </a:r>
            <a:r>
              <a:rPr lang="en-US" dirty="0"/>
              <a:t>rowser </a:t>
            </a:r>
            <a:r>
              <a:rPr lang="en-US" u="sng" dirty="0"/>
              <a:t>E</a:t>
            </a:r>
            <a:r>
              <a:rPr lang="en-US" dirty="0"/>
              <a:t>xtensible </a:t>
            </a:r>
            <a:r>
              <a:rPr lang="en-US" u="sng" dirty="0"/>
              <a:t>D</a:t>
            </a:r>
            <a:r>
              <a:rPr lang="en-US" dirty="0"/>
              <a:t>ata</a:t>
            </a:r>
          </a:p>
        </p:txBody>
      </p:sp>
    </p:spTree>
    <p:extLst>
      <p:ext uri="{BB962C8B-B14F-4D97-AF65-F5344CB8AC3E}">
        <p14:creationId xmlns:p14="http://schemas.microsoft.com/office/powerpoint/2010/main" val="3971018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D057-D231-6B47-B9B8-0B9514A1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BED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1DBA-6A4C-8847-B2B8-82476BCC1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931791"/>
          </a:xfrm>
        </p:spPr>
        <p:txBody>
          <a:bodyPr>
            <a:normAutofit/>
          </a:bodyPr>
          <a:lstStyle/>
          <a:p>
            <a:r>
              <a:rPr lang="en-US" dirty="0"/>
              <a:t>3–12 fields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			</a:t>
            </a:r>
            <a:r>
              <a:rPr lang="en-US" dirty="0">
                <a:solidFill>
                  <a:srgbClr val="FF85FF"/>
                </a:solidFill>
              </a:rPr>
              <a:t>Required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		</a:t>
            </a:r>
            <a:r>
              <a:rPr lang="en-US" dirty="0">
                <a:solidFill>
                  <a:srgbClr val="FF85FF"/>
                </a:solidFill>
                <a:latin typeface="SF Pro Display Light" pitchFamily="2" charset="0"/>
                <a:ea typeface="SF Pro Display Light" pitchFamily="2" charset="0"/>
              </a:rPr>
              <a:t>Required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			</a:t>
            </a:r>
            <a:r>
              <a:rPr lang="en-US" dirty="0">
                <a:solidFill>
                  <a:srgbClr val="FF85FF"/>
                </a:solidFill>
              </a:rPr>
              <a:t>Required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br>
              <a:rPr lang="en-US" sz="600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name			</a:t>
            </a:r>
            <a:r>
              <a:rPr lang="en-US" dirty="0">
                <a:solidFill>
                  <a:schemeClr val="bg1"/>
                </a:solidFill>
              </a:rPr>
              <a:t>These columns are optional, but “binding”: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score				</a:t>
            </a:r>
            <a:r>
              <a:rPr lang="en-US" dirty="0">
                <a:solidFill>
                  <a:schemeClr val="bg1"/>
                </a:solidFill>
              </a:rPr>
              <a:t> If you include a column, all rows must include it, and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strand				</a:t>
            </a:r>
            <a:r>
              <a:rPr lang="en-US" dirty="0">
                <a:solidFill>
                  <a:schemeClr val="bg1"/>
                </a:solidFill>
              </a:rPr>
              <a:t> if you include a column, you must include the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thickStart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				</a:t>
            </a:r>
            <a:r>
              <a:rPr lang="en-US" dirty="0">
                <a:solidFill>
                  <a:schemeClr val="bg1"/>
                </a:solidFill>
              </a:rPr>
              <a:t>columns before it. (Missing data =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.</a:t>
            </a:r>
            <a:r>
              <a:rPr lang="en-US" dirty="0">
                <a:solidFill>
                  <a:schemeClr val="bg1"/>
                </a:solidFill>
              </a:rPr>
              <a:t>)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thickEnd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				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itemRgb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					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blockCount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blockSizes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blockStarts</a:t>
            </a: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428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A424-1728-2E4F-ACF8-2E02AF99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Fields (BED3)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6A243-2BCC-434D-9F50-4D8C8FEB4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F Pro Display Light" pitchFamily="2" charset="0"/>
                <a:ea typeface="SF Pro Display Light" pitchFamily="2" charset="0"/>
              </a:rPr>
              <a:t>​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/>
              <a:t>   Name of the chromosome (</a:t>
            </a:r>
            <a:r>
              <a:rPr lang="en-US" dirty="0">
                <a:latin typeface="Inconsolatazi4varl_qu" panose="02000503000000000000" pitchFamily="2" charset="0"/>
              </a:rPr>
              <a:t>chr1</a:t>
            </a:r>
            <a:r>
              <a:rPr lang="en-US" dirty="0"/>
              <a:t>, </a:t>
            </a:r>
            <a:r>
              <a:rPr lang="en-US" dirty="0">
                <a:latin typeface="Inconsolatazi4varl_qu" panose="02000503000000000000" pitchFamily="2" charset="0"/>
              </a:rPr>
              <a:t>chr2</a:t>
            </a:r>
            <a:r>
              <a:rPr lang="en-US" dirty="0"/>
              <a:t>, </a:t>
            </a:r>
            <a:r>
              <a:rPr lang="en-US" dirty="0" err="1">
                <a:latin typeface="Inconsolatazi4varl_qu" panose="02000503000000000000" pitchFamily="2" charset="0"/>
              </a:rPr>
              <a:t>chrX</a:t>
            </a:r>
            <a:r>
              <a:rPr lang="en-US" dirty="0"/>
              <a:t>, etc.)</a:t>
            </a:r>
          </a:p>
          <a:p>
            <a:r>
              <a:rPr lang="en-US" dirty="0"/>
              <a:t>​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/>
              <a:t>   Start of the feature (0-start)</a:t>
            </a:r>
          </a:p>
          <a:p>
            <a:r>
              <a:rPr lang="en-US" dirty="0"/>
              <a:t>​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/>
              <a:t>   End of the feature (0-start)</a:t>
            </a:r>
          </a:p>
          <a:p>
            <a:endParaRPr lang="en-US" dirty="0"/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Space-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tab-delimited</a:t>
            </a:r>
          </a:p>
          <a:p>
            <a:pPr lvl="1"/>
            <a:r>
              <a:rPr lang="en-US" sz="2800" dirty="0"/>
              <a:t>Tab-delimited is preferable if you are uploading a file</a:t>
            </a:r>
          </a:p>
          <a:p>
            <a:pPr lvl="1"/>
            <a:r>
              <a:rPr lang="en-US" sz="2800" dirty="0"/>
              <a:t>Space-delimited is useful if you are typing in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901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0969-0028-2541-989E-538DA7A0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0ECD0-6533-744F-BDA3-DDB16152E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Browser line(s)</a:t>
            </a:r>
          </a:p>
          <a:p>
            <a:r>
              <a:rPr lang="en-US" dirty="0"/>
              <a:t>Track line</a:t>
            </a:r>
          </a:p>
        </p:txBody>
      </p:sp>
    </p:spTree>
    <p:extLst>
      <p:ext uri="{BB962C8B-B14F-4D97-AF65-F5344CB8AC3E}">
        <p14:creationId xmlns:p14="http://schemas.microsoft.com/office/powerpoint/2010/main" val="3560136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C2CE-0687-DE46-8A80-B951A08E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 Line(s)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BEB38-A7F3-FE4E-A6D9-77FF55BB0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Configure(s) the Genome Browser display</a:t>
            </a:r>
          </a:p>
          <a:p>
            <a:pPr lvl="1"/>
            <a:r>
              <a:rPr lang="en-US" sz="2800" dirty="0"/>
              <a:t>Positions shown</a:t>
            </a:r>
          </a:p>
          <a:p>
            <a:pPr lvl="1"/>
            <a:r>
              <a:rPr lang="en-US" sz="2800" dirty="0"/>
              <a:t>Tracks shown</a:t>
            </a:r>
          </a:p>
          <a:p>
            <a:pPr lvl="1"/>
            <a:r>
              <a:rPr lang="en-US" sz="2800" dirty="0"/>
              <a:t>“Density” settings for tracks</a:t>
            </a:r>
          </a:p>
        </p:txBody>
      </p:sp>
    </p:spTree>
    <p:extLst>
      <p:ext uri="{BB962C8B-B14F-4D97-AF65-F5344CB8AC3E}">
        <p14:creationId xmlns:p14="http://schemas.microsoft.com/office/powerpoint/2010/main" val="2083505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C2CE-0687-DE46-8A80-B951A08E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 Line(s)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BEB38-A7F3-FE4E-A6D9-77FF55BB0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browser position chr22:1-10000   # 1-start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browser hide all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browser pack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knownGene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r>
              <a:rPr lang="en-US" dirty="0">
                <a:latin typeface="SF Pro Display Light" pitchFamily="2" charset="0"/>
                <a:ea typeface="SF Pro Display Light" pitchFamily="2" charset="0"/>
              </a:rPr>
              <a:t>Separate lines</a:t>
            </a:r>
          </a:p>
          <a:p>
            <a:r>
              <a:rPr lang="en-US" dirty="0">
                <a:latin typeface="SF Pro Display Light" pitchFamily="2" charset="0"/>
                <a:ea typeface="SF Pro Display Light" pitchFamily="2" charset="0"/>
              </a:rPr>
              <a:t>Visibility modes: 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hide, dense, pack, squish, full</a:t>
            </a:r>
          </a:p>
        </p:txBody>
      </p:sp>
    </p:spTree>
    <p:extLst>
      <p:ext uri="{BB962C8B-B14F-4D97-AF65-F5344CB8AC3E}">
        <p14:creationId xmlns:p14="http://schemas.microsoft.com/office/powerpoint/2010/main" val="2809750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C2CE-0687-DE46-8A80-B951A08E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BEB38-A7F3-FE4E-A6D9-77FF55BB0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 the track display</a:t>
            </a:r>
          </a:p>
          <a:p>
            <a:pPr lvl="1"/>
            <a:r>
              <a:rPr lang="en-US" sz="2800" dirty="0"/>
              <a:t>Name</a:t>
            </a:r>
          </a:p>
          <a:p>
            <a:pPr lvl="1"/>
            <a:r>
              <a:rPr lang="en-US" sz="2800" dirty="0"/>
              <a:t>Type</a:t>
            </a:r>
          </a:p>
          <a:p>
            <a:pPr lvl="1"/>
            <a:r>
              <a:rPr lang="en-US" sz="2800" dirty="0"/>
              <a:t>Visibility mode</a:t>
            </a:r>
          </a:p>
          <a:p>
            <a:pPr lvl="1"/>
            <a:r>
              <a:rPr lang="en-US" sz="2800" dirty="0"/>
              <a:t>Color</a:t>
            </a:r>
          </a:p>
          <a:p>
            <a:pPr lvl="1"/>
            <a:r>
              <a:rPr lang="en-US" sz="28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402603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C2CE-0687-DE46-8A80-B951A08E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BEB38-A7F3-FE4E-A6D9-77FF55BB0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track name=Example1 description="HUGEN 2073" color=255,0,0 visibility=3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r>
              <a:rPr lang="en-US" dirty="0">
                <a:latin typeface="SF Pro Display Light" pitchFamily="2" charset="0"/>
                <a:ea typeface="SF Pro Display Light" pitchFamily="2" charset="0"/>
              </a:rPr>
              <a:t>All one line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>
                <a:latin typeface="SF Pro Display Light" pitchFamily="2" charset="0"/>
                <a:ea typeface="SF Pro Display Light" pitchFamily="2" charset="0"/>
              </a:rPr>
              <a:t>Visibility modes: 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hide=0, dense=1, full=2, pack=3, squish=4</a:t>
            </a:r>
          </a:p>
        </p:txBody>
      </p:sp>
    </p:spTree>
    <p:extLst>
      <p:ext uri="{BB962C8B-B14F-4D97-AF65-F5344CB8AC3E}">
        <p14:creationId xmlns:p14="http://schemas.microsoft.com/office/powerpoint/2010/main" val="1190158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E348-2FC5-104A-9F94-CBBC83AC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BED3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81829-BAE4-1348-8433-8558DE64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browser position chr22:1-10000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browser hide all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track name=Example1 description="HUGEN 2073"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color=255,0,0 visibility=3  </a:t>
            </a:r>
            <a:r>
              <a:rPr lang="en-US" dirty="0">
                <a:solidFill>
                  <a:srgbClr val="FF85FF"/>
                </a:solidFill>
                <a:latin typeface="SF Pro Display Thin" pitchFamily="2" charset="0"/>
                <a:ea typeface="SF Pro Display Thin" pitchFamily="2" charset="0"/>
              </a:rPr>
              <a:t>Make sure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  <a:ea typeface="SF Pro Display Thin" pitchFamily="2" charset="0"/>
              </a:rPr>
              <a:t>track</a:t>
            </a:r>
            <a:r>
              <a:rPr lang="en-US" dirty="0">
                <a:solidFill>
                  <a:srgbClr val="FF85FF"/>
                </a:solidFill>
                <a:latin typeface="SF Pro Display Thin" pitchFamily="2" charset="0"/>
                <a:ea typeface="SF Pro Display Thin" pitchFamily="2" charset="0"/>
              </a:rPr>
              <a:t> is all one line</a:t>
            </a:r>
            <a:br>
              <a:rPr lang="en-US" dirty="0">
                <a:solidFill>
                  <a:srgbClr val="FF85FF"/>
                </a:solidFill>
                <a:latin typeface="SF Pro Display Thin" pitchFamily="2" charset="0"/>
                <a:ea typeface="SF Pro Display Thin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chr22 1000 5000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chr22 2000 6000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  <a:ea typeface="SF Pro Display Thin" pitchFamily="2" charset="0"/>
            </a:endParaRPr>
          </a:p>
          <a:p>
            <a:pPr marL="0" indent="0">
              <a:buNone/>
            </a:pPr>
            <a:r>
              <a:rPr lang="en-US" dirty="0">
                <a:latin typeface="SF Pro Display Light" pitchFamily="2" charset="0"/>
                <a:ea typeface="SF Pro Display Light" pitchFamily="2" charset="0"/>
              </a:rPr>
              <a:t>Go to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F Pro Display Semibold" pitchFamily="2" charset="0"/>
                <a:ea typeface="SF Pro Display Semibold" pitchFamily="2" charset="0"/>
              </a:rPr>
              <a:t>My Data › Custom Tracks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in the UCSC Genome Browser and try adding this track</a:t>
            </a:r>
          </a:p>
        </p:txBody>
      </p:sp>
    </p:spTree>
    <p:extLst>
      <p:ext uri="{BB962C8B-B14F-4D97-AF65-F5344CB8AC3E}">
        <p14:creationId xmlns:p14="http://schemas.microsoft.com/office/powerpoint/2010/main" val="2287971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D057-D231-6B47-B9B8-0B9514A1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BED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1DBA-6A4C-8847-B2B8-82476BCC1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78879" cy="4931791"/>
          </a:xfrm>
        </p:spPr>
        <p:txBody>
          <a:bodyPr>
            <a:normAutofit/>
          </a:bodyPr>
          <a:lstStyle/>
          <a:p>
            <a:r>
              <a:rPr lang="en-US" dirty="0"/>
              <a:t>3–12 fields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			</a:t>
            </a:r>
            <a:r>
              <a:rPr lang="en-US" dirty="0">
                <a:solidFill>
                  <a:schemeClr val="bg1"/>
                </a:solidFill>
              </a:rPr>
              <a:t>Required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		</a:t>
            </a:r>
            <a:r>
              <a:rPr lang="en-US" dirty="0">
                <a:solidFill>
                  <a:schemeClr val="bg1"/>
                </a:solidFill>
                <a:latin typeface="SF Pro Display Light" pitchFamily="2" charset="0"/>
                <a:ea typeface="SF Pro Display Light" pitchFamily="2" charset="0"/>
              </a:rPr>
              <a:t>Required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			</a:t>
            </a:r>
            <a:r>
              <a:rPr lang="en-US" dirty="0">
                <a:solidFill>
                  <a:schemeClr val="bg1"/>
                </a:solidFill>
              </a:rPr>
              <a:t>Required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br>
              <a:rPr lang="en-US" sz="600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name			</a:t>
            </a:r>
            <a:r>
              <a:rPr lang="en-US" dirty="0">
                <a:solidFill>
                  <a:srgbClr val="FF85FF"/>
                </a:solidFill>
              </a:rPr>
              <a:t>These columns are optional, but “binding”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score			</a:t>
            </a:r>
            <a:r>
              <a:rPr lang="en-US" dirty="0">
                <a:solidFill>
                  <a:srgbClr val="FF85FF"/>
                </a:solidFill>
              </a:rPr>
              <a:t>If you include a column, all rows must include it, and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strand			</a:t>
            </a:r>
            <a:r>
              <a:rPr lang="en-US" dirty="0">
                <a:solidFill>
                  <a:srgbClr val="FF85FF"/>
                </a:solidFill>
              </a:rPr>
              <a:t>if you include a column, you must include the columns 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thickStart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			</a:t>
            </a:r>
            <a:r>
              <a:rPr lang="en-US" dirty="0">
                <a:solidFill>
                  <a:srgbClr val="FF85FF"/>
                </a:solidFill>
              </a:rPr>
              <a:t> before it. (Missing data =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.</a:t>
            </a:r>
            <a:r>
              <a:rPr lang="en-US" dirty="0">
                <a:solidFill>
                  <a:srgbClr val="FF85FF"/>
                </a:solidFill>
              </a:rPr>
              <a:t>)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thickEnd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			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itemRgb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				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blockCount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blockSizes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blockStarts</a:t>
            </a:r>
            <a:endParaRPr lang="en-US" dirty="0">
              <a:solidFill>
                <a:srgbClr val="FF85FF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882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A424-1728-2E4F-ACF8-2E02AF99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Fields (BED4 to BED12)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6A243-2BCC-434D-9F50-4D8C8FEB4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4359"/>
          </a:xfrm>
        </p:spPr>
        <p:txBody>
          <a:bodyPr>
            <a:normAutofit/>
          </a:bodyPr>
          <a:lstStyle/>
          <a:p>
            <a:r>
              <a:rPr lang="en-US" dirty="0">
                <a:latin typeface="SF Pro Display Light" pitchFamily="2" charset="0"/>
                <a:ea typeface="SF Pro Display Light" pitchFamily="2" charset="0"/>
              </a:rPr>
              <a:t>​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name</a:t>
            </a:r>
            <a:r>
              <a:rPr lang="en-US" dirty="0"/>
              <a:t>   A label for the feature</a:t>
            </a:r>
          </a:p>
          <a:p>
            <a:r>
              <a:rPr lang="en-US" dirty="0"/>
              <a:t>​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score</a:t>
            </a:r>
            <a:r>
              <a:rPr lang="en-US" dirty="0"/>
              <a:t>   Quantitative value from 0–1000 that will display the feature in shades of gray if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useScore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=1</a:t>
            </a:r>
          </a:p>
          <a:p>
            <a:r>
              <a:rPr lang="en-US" dirty="0"/>
              <a:t>​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strand</a:t>
            </a:r>
            <a:r>
              <a:rPr lang="en-US" dirty="0"/>
              <a:t>  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.</a:t>
            </a:r>
            <a:r>
              <a:rPr lang="en-US" dirty="0"/>
              <a:t> or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+</a:t>
            </a:r>
            <a:r>
              <a:rPr lang="en-US" dirty="0"/>
              <a:t> or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-</a:t>
            </a:r>
          </a:p>
          <a:p>
            <a:r>
              <a:rPr lang="en-US" dirty="0"/>
              <a:t>​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thickStart</a:t>
            </a:r>
            <a:r>
              <a:rPr lang="en-US" dirty="0"/>
              <a:t>   The starting point for going from a thin line to a thick bar (think TSS), set to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/>
              <a:t> for non-genes</a:t>
            </a:r>
          </a:p>
          <a:p>
            <a:r>
              <a:rPr lang="en-US" dirty="0"/>
              <a:t>​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thickEnd</a:t>
            </a:r>
            <a:r>
              <a:rPr lang="en-US" dirty="0"/>
              <a:t>   The starting point for going from a thin line to a thick bar (think TES), set to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/>
              <a:t> for non-genes</a:t>
            </a: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128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A424-1728-2E4F-ACF8-2E02AF99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Fields (BED4 to BED12)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6A243-2BCC-434D-9F50-4D8C8FEB4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4359"/>
          </a:xfrm>
        </p:spPr>
        <p:txBody>
          <a:bodyPr>
            <a:normAutofit/>
          </a:bodyPr>
          <a:lstStyle/>
          <a:p>
            <a:pPr>
              <a:tabLst>
                <a:tab pos="1703388" algn="l"/>
              </a:tabLst>
            </a:pPr>
            <a:r>
              <a:rPr lang="en-US" dirty="0"/>
              <a:t>​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itemRgb</a:t>
            </a:r>
            <a:r>
              <a:rPr lang="en-US" dirty="0"/>
              <a:t> · RGB value </a:t>
            </a:r>
            <a:r>
              <a:rPr lang="en-US" dirty="0">
                <a:latin typeface="Inconsolatazi4varl_qu" panose="02000503000000000000" pitchFamily="2" charset="0"/>
              </a:rPr>
              <a:t>255,0,0</a:t>
            </a:r>
            <a:r>
              <a:rPr lang="en-US" dirty="0"/>
              <a:t> that will display the feature in color if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itemRgb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=1</a:t>
            </a:r>
            <a:endParaRPr lang="en-US" dirty="0"/>
          </a:p>
          <a:p>
            <a:r>
              <a:rPr lang="en-US" dirty="0"/>
              <a:t>​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blockCount</a:t>
            </a:r>
            <a:r>
              <a:rPr lang="en-US" dirty="0"/>
              <a:t> · Number of thick bars blocks (think exons)</a:t>
            </a: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blockSizes</a:t>
            </a:r>
            <a:r>
              <a:rPr lang="en-US" dirty="0"/>
              <a:t> · List of block sizes (lengths) exon lengths</a:t>
            </a:r>
          </a:p>
          <a:p>
            <a:r>
              <a:rPr lang="en-US" dirty="0"/>
              <a:t>​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blockStarts</a:t>
            </a:r>
            <a:r>
              <a:rPr lang="en-US" dirty="0"/>
              <a:t> · List of starting points for blocks, relative to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chromStart</a:t>
            </a: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40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E348-2FC5-104A-9F94-CBBC83AC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BED12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81829-BAE4-1348-8433-8558DE644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6845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track name="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twoGenes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" description="Example Genes"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itemRgb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=1 visibility=3  </a:t>
            </a:r>
            <a:r>
              <a:rPr lang="en-US" dirty="0">
                <a:solidFill>
                  <a:srgbClr val="FF85FF"/>
                </a:solidFill>
                <a:latin typeface="SF Pro Display Thin" pitchFamily="2" charset="0"/>
                <a:ea typeface="SF Pro Display Thin" pitchFamily="2" charset="0"/>
              </a:rPr>
              <a:t>Make sure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  <a:ea typeface="SF Pro Display Thin" pitchFamily="2" charset="0"/>
              </a:rPr>
              <a:t>track</a:t>
            </a:r>
            <a:r>
              <a:rPr lang="en-US" dirty="0">
                <a:solidFill>
                  <a:srgbClr val="FF85FF"/>
                </a:solidFill>
                <a:latin typeface="SF Pro Display Thin" pitchFamily="2" charset="0"/>
                <a:ea typeface="SF Pro Display Thin" pitchFamily="2" charset="0"/>
              </a:rPr>
              <a:t> is all one line</a:t>
            </a:r>
            <a:br>
              <a:rPr lang="en-US" dirty="0">
                <a:solidFill>
                  <a:srgbClr val="FF85FF"/>
                </a:solidFill>
                <a:latin typeface="SF Pro Display Thin" pitchFamily="2" charset="0"/>
                <a:ea typeface="SF Pro Display Thin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chr22 1000 5000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geneA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 0 + 1000 5000 255,0,0 2 567,488 0,3512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chr22 2000 6000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geneB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 0 - 2000 6000 0,0,255 2 433,399 0,3601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</a:b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107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D057-D231-6B47-B9B8-0B9514A1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bedGraph</a:t>
            </a:r>
            <a:r>
              <a:rPr lang="en-US" dirty="0"/>
              <a:t>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1DBA-6A4C-8847-B2B8-82476BCC1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Adds a track of continuous values (with colors and shades etc.)</a:t>
            </a:r>
          </a:p>
        </p:txBody>
      </p:sp>
    </p:spTree>
    <p:extLst>
      <p:ext uri="{BB962C8B-B14F-4D97-AF65-F5344CB8AC3E}">
        <p14:creationId xmlns:p14="http://schemas.microsoft.com/office/powerpoint/2010/main" val="105293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D057-D231-6B47-B9B8-0B9514A1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bedGraph</a:t>
            </a:r>
            <a:r>
              <a:rPr lang="en-US" dirty="0"/>
              <a:t>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1DBA-6A4C-8847-B2B8-82476BCC1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1791"/>
          </a:xfrm>
        </p:spPr>
        <p:txBody>
          <a:bodyPr>
            <a:normAutofit/>
          </a:bodyPr>
          <a:lstStyle/>
          <a:p>
            <a:r>
              <a:rPr lang="en-US" dirty="0"/>
              <a:t>4 fields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			</a:t>
            </a:r>
            <a:r>
              <a:rPr lang="en-US" dirty="0">
                <a:solidFill>
                  <a:schemeClr val="bg1"/>
                </a:solidFill>
              </a:rPr>
              <a:t>Required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		</a:t>
            </a:r>
            <a:r>
              <a:rPr lang="en-US" dirty="0">
                <a:solidFill>
                  <a:schemeClr val="bg1"/>
                </a:solidFill>
                <a:latin typeface="SF Pro Display Light" pitchFamily="2" charset="0"/>
                <a:ea typeface="SF Pro Display Light" pitchFamily="2" charset="0"/>
              </a:rPr>
              <a:t>Required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		</a:t>
            </a:r>
            <a:r>
              <a:rPr lang="en-US" dirty="0">
                <a:solidFill>
                  <a:schemeClr val="bg1"/>
                </a:solidFill>
              </a:rPr>
              <a:t> 	Required</a:t>
            </a:r>
            <a:b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dataValue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		</a:t>
            </a:r>
            <a:r>
              <a:rPr lang="en-US" dirty="0">
                <a:solidFill>
                  <a:srgbClr val="FF85FF"/>
                </a:solidFill>
                <a:latin typeface="SF Pro Display Light" pitchFamily="2" charset="0"/>
                <a:ea typeface="SF Pro Display Light" pitchFamily="2" charset="0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947472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C2CE-0687-DE46-8A80-B951A08E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BEB38-A7F3-FE4E-A6D9-77FF55BB0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track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type=</a:t>
            </a:r>
            <a:r>
              <a:rPr lang="en-US" dirty="0" err="1">
                <a:solidFill>
                  <a:srgbClr val="FF85FF"/>
                </a:solidFill>
                <a:latin typeface="Inconsolatazi4varl_qu" panose="02000503000000000000" pitchFamily="2" charset="0"/>
              </a:rPr>
              <a:t>bedGraph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name=Example2 description="HUGEN 2073 2" color=255,0,0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altColor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=0,0,255 visibility=3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graphType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=points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  <a:p>
            <a:r>
              <a:rPr lang="en-US" dirty="0">
                <a:latin typeface="SF Pro Display Light" pitchFamily="2" charset="0"/>
                <a:ea typeface="SF Pro Display Light" pitchFamily="2" charset="0"/>
              </a:rPr>
              <a:t>All one line</a:t>
            </a:r>
          </a:p>
          <a:p>
            <a:r>
              <a:rPr lang="en-US" dirty="0">
                <a:solidFill>
                  <a:srgbClr val="FF85FF"/>
                </a:solidFill>
                <a:latin typeface="SF Pro Display Light" pitchFamily="2" charset="0"/>
                <a:ea typeface="SF Pro Display Light" pitchFamily="2" charset="0"/>
              </a:rPr>
              <a:t>Required</a:t>
            </a:r>
            <a:endParaRPr lang="en-US" dirty="0">
              <a:solidFill>
                <a:srgbClr val="FF85FF"/>
              </a:solidFill>
              <a:latin typeface="Inconsolatazi4varl_qu" panose="02000503000000000000" pitchFamily="2" charset="0"/>
            </a:endParaRPr>
          </a:p>
          <a:p>
            <a:r>
              <a:rPr lang="en-US" dirty="0"/>
              <a:t>Visibility modes: 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hide=0, dense=1, full=2, pack=3, squish=4</a:t>
            </a:r>
          </a:p>
          <a:p>
            <a:r>
              <a:rPr lang="en-US" dirty="0"/>
              <a:t>Graph types:  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bar, points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18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E348-2FC5-104A-9F94-CBBC83AC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bedGraph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81829-BAE4-1348-8433-8558DE64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track type=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bedGraph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name=Example2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description="HUGEN 2073 2" color=255,0,0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altColor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=0,0,255 visibility=3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graphType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=points </a:t>
            </a:r>
            <a:r>
              <a:rPr lang="en-US" dirty="0">
                <a:solidFill>
                  <a:srgbClr val="FF85FF"/>
                </a:solidFill>
                <a:latin typeface="SF Pro Display Thin" pitchFamily="2" charset="0"/>
                <a:ea typeface="SF Pro Display Thin" pitchFamily="2" charset="0"/>
              </a:rPr>
              <a:t>Make sure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  <a:ea typeface="SF Pro Display Thin" pitchFamily="2" charset="0"/>
              </a:rPr>
              <a:t>track</a:t>
            </a:r>
            <a:r>
              <a:rPr lang="en-US" dirty="0">
                <a:solidFill>
                  <a:srgbClr val="FF85FF"/>
                </a:solidFill>
                <a:latin typeface="SF Pro Display Thin" pitchFamily="2" charset="0"/>
                <a:ea typeface="SF Pro Display Thin" pitchFamily="2" charset="0"/>
              </a:rPr>
              <a:t> is all one line</a:t>
            </a:r>
            <a:br>
              <a:rPr lang="en-US" dirty="0">
                <a:solidFill>
                  <a:srgbClr val="FF85FF"/>
                </a:solidFill>
                <a:latin typeface="SF Pro Display Thin" pitchFamily="2" charset="0"/>
                <a:ea typeface="SF Pro Display Thin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chr22 1010 1011 10.1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chr22 1011 1025 3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chr22 1025 1030 -2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chr22 1030 1033 -6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  <a:ea typeface="SF Pro Display Thin" pitchFamily="2" charset="0"/>
              </a:rPr>
              <a:t>chr22 1033 1040 -3</a:t>
            </a: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313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D057-D231-6B47-B9B8-0B9514A1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Genome SNP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1DBA-6A4C-8847-B2B8-82476BCC1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1791"/>
          </a:xfrm>
        </p:spPr>
        <p:txBody>
          <a:bodyPr>
            <a:normAutofit/>
          </a:bodyPr>
          <a:lstStyle/>
          <a:p>
            <a:r>
              <a:rPr lang="en-US" dirty="0"/>
              <a:t>7 fields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chromStart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chromEnd</a:t>
            </a:r>
            <a:br>
              <a:rPr lang="en-US" sz="600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alleleNames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alleleCount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alleleFreq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alleleScores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chemeClr val="bg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659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E348-2FC5-104A-9F94-CBBC83AC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Genome SNP Format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81829-BAE4-1348-8433-8558DE64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track type=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pgSnp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visibility=3 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db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=hg38 name="</a:t>
            </a:r>
            <a:r>
              <a:rPr lang="en-US" dirty="0" err="1">
                <a:solidFill>
                  <a:schemeClr val="bg1"/>
                </a:solidFill>
                <a:latin typeface="Inconsolatazi4varl_qu" panose="02000503000000000000" pitchFamily="2" charset="0"/>
              </a:rPr>
              <a:t>pgSnp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" description="Personal Genome SNP example”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browser position chr22:1924-2937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chr22 2007 2008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T/G 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2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21,70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0,0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chr22 2035 2035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-/CGG 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2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20,80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0,0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chr22 2088 2093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CTCGG/- 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2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30,70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0,0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chr22 2277 2278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T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1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15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chr22 2771 2772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1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36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chr22 2827 2828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A/T 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2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15,5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0,0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chr22 2879 2880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C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1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0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0</a:t>
            </a:r>
            <a:b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chr22 2915 2916 </a:t>
            </a:r>
            <a:r>
              <a:rPr lang="en-US" dirty="0">
                <a:solidFill>
                  <a:srgbClr val="00B0F0"/>
                </a:solidFill>
                <a:latin typeface="Inconsolatazi4varl_qu" panose="02000503000000000000" pitchFamily="2" charset="0"/>
              </a:rPr>
              <a:t>-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92D050"/>
                </a:solidFill>
                <a:latin typeface="Inconsolatazi4varl_qu" panose="02000503000000000000" pitchFamily="2" charset="0"/>
              </a:rPr>
              <a:t>1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</a:t>
            </a:r>
            <a:r>
              <a:rPr lang="en-US" dirty="0">
                <a:solidFill>
                  <a:srgbClr val="FF85FF"/>
                </a:solidFill>
                <a:latin typeface="Inconsolatazi4varl_qu" panose="02000503000000000000" pitchFamily="2" charset="0"/>
              </a:rPr>
              <a:t>0</a:t>
            </a:r>
            <a:r>
              <a:rPr lang="en-US" dirty="0">
                <a:solidFill>
                  <a:schemeClr val="bg1"/>
                </a:solidFill>
                <a:latin typeface="Inconsolatazi4varl_qu" panose="02000503000000000000" pitchFamily="2" charset="0"/>
              </a:rPr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55437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3683</TotalTime>
  <Words>1641</Words>
  <Application>Microsoft Macintosh PowerPoint</Application>
  <PresentationFormat>Widescreen</PresentationFormat>
  <Paragraphs>173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SF PRO DISPLAY SEMIBOLD</vt:lpstr>
      <vt:lpstr>SF PRO DISPLAY THIN</vt:lpstr>
      <vt:lpstr>Inconsolatazi4varl_qu</vt:lpstr>
      <vt:lpstr>SF Pro Display Light</vt:lpstr>
      <vt:lpstr>Menlo</vt:lpstr>
      <vt:lpstr>Office Theme</vt:lpstr>
      <vt:lpstr>1_Office Theme</vt:lpstr>
      <vt:lpstr>Genome Browser Creating Custom Tracks</vt:lpstr>
      <vt:lpstr>Learning Objectives</vt:lpstr>
      <vt:lpstr>Chromosome Names</vt:lpstr>
      <vt:lpstr>Range Conventions</vt:lpstr>
      <vt:lpstr>Range Conventions</vt:lpstr>
      <vt:lpstr>Range Conventions</vt:lpstr>
      <vt:lpstr>Converting from 1-start to 0-start</vt:lpstr>
      <vt:lpstr>Converting from 1-start to 0-start</vt:lpstr>
      <vt:lpstr>Color Theory</vt:lpstr>
      <vt:lpstr>Additive vs Subtractive Color</vt:lpstr>
      <vt:lpstr>RGB Color Model</vt:lpstr>
      <vt:lpstr>RGB Color Model</vt:lpstr>
      <vt:lpstr>RGB Color Model</vt:lpstr>
      <vt:lpstr>RGB Color Model</vt:lpstr>
      <vt:lpstr>RGB Color Model</vt:lpstr>
      <vt:lpstr>Resources for Choosing Colors</vt:lpstr>
      <vt:lpstr>BED Format</vt:lpstr>
      <vt:lpstr>BED Format</vt:lpstr>
      <vt:lpstr>Required Fields (BED3)</vt:lpstr>
      <vt:lpstr>Metadata Lines</vt:lpstr>
      <vt:lpstr>Browser Line(s)</vt:lpstr>
      <vt:lpstr>Browser Line(s)</vt:lpstr>
      <vt:lpstr>Track Line</vt:lpstr>
      <vt:lpstr>Track Line</vt:lpstr>
      <vt:lpstr>BED3 Example</vt:lpstr>
      <vt:lpstr>BED Format</vt:lpstr>
      <vt:lpstr>Optional Fields (BED4 to BED12)</vt:lpstr>
      <vt:lpstr>Optional Fields (BED4 to BED12)</vt:lpstr>
      <vt:lpstr>BED12 Example</vt:lpstr>
      <vt:lpstr>bedGraph Format</vt:lpstr>
      <vt:lpstr>bedGraph Format</vt:lpstr>
      <vt:lpstr>Track Line</vt:lpstr>
      <vt:lpstr>bedGraph Example</vt:lpstr>
      <vt:lpstr>Personal Genome SNP Format</vt:lpstr>
      <vt:lpstr>Personal Genome SNP Format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Shell Scripting</dc:title>
  <dc:creator>Minster, Ryan L</dc:creator>
  <cp:lastModifiedBy>Chernus, Jonathan M</cp:lastModifiedBy>
  <cp:revision>285</cp:revision>
  <dcterms:created xsi:type="dcterms:W3CDTF">2018-11-09T14:32:06Z</dcterms:created>
  <dcterms:modified xsi:type="dcterms:W3CDTF">2025-04-01T16:22:20Z</dcterms:modified>
</cp:coreProperties>
</file>