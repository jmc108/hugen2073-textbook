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492" r:id="rId2"/>
    <p:sldId id="493" r:id="rId3"/>
    <p:sldId id="49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8C6A34-D363-1F4B-AD4E-6904804F13B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0229A-83A1-F543-8100-F6813AF10C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1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1292A3-D368-AC4F-AEF5-A524D033EA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32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33F1-49A1-FB1A-1173-17D4ED1FB0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1B6EC4-5C81-19BA-4A74-0226D8406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E7E19-3B8B-D4DF-BFCD-212B0428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AA464-D533-9B43-BD98-F49F3BFD678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1B823-0919-C7A0-1548-D1C59EB06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08569-C24D-F073-9352-E9F75BE2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156A-6233-FF4A-9C52-E51DDD7B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991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E0729-D7B7-A63C-03F8-9D4B167F1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FE8F3-F2AB-27A7-3113-C7F7CFC11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6C419-131F-6F2D-15F6-71F006606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AA464-D533-9B43-BD98-F49F3BFD678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78100-4B1A-ADF0-F4E3-B0F884E0E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515DF-1FEB-577D-C3B4-1A714822F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156A-6233-FF4A-9C52-E51DDD7B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547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58712-F15C-D7BF-5D5A-43D4A75A6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E0D03-35A2-1DBB-31E8-CD30DCFBD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16822-40E4-C0D2-65E8-AE4C97942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AA464-D533-9B43-BD98-F49F3BFD678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FB3A1-E723-98EC-BBB8-B8B85F426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A2B42-D0CF-3577-60A5-49BFA6310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156A-6233-FF4A-9C52-E51DDD7B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44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59E4F-87A8-7C67-AE99-8EDC0EC7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11955-8FB0-44A5-F68F-87965AF86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7D3BC-99E1-10CF-775F-71ADD57D6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A71F7-17C1-CF21-C9AB-13F669D65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AA464-D533-9B43-BD98-F49F3BFD678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99F24-8E17-0C49-C276-FCA39CFEC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33D82-B955-32C1-2E6D-38B80FAA6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156A-6233-FF4A-9C52-E51DDD7B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515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2830D-1DF5-5135-A512-0AFC0C1E6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53E56-E2EA-717C-873F-2DA8D11B7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4050A-CE50-A981-E969-1E5510254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95223E-E0EE-83FB-0C84-47DCE7814B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CC4046-3F12-D0A9-C134-9EBD394A47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7EA31A-3122-7C1B-EE33-C46237253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AA464-D533-9B43-BD98-F49F3BFD678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4421C6-0770-4037-D871-C25E3BB5C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653B55-8E50-B31D-CF32-2AD929AF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156A-6233-FF4A-9C52-E51DDD7B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88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99157-80B0-106C-D86E-FF1B1CF7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FE8D59-90B4-3184-80F3-601716096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AA464-D533-9B43-BD98-F49F3BFD678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10222B-6F92-AC20-6979-8349A9E2B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6A7A4-0AE1-65F6-4F0C-71128016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156A-6233-FF4A-9C52-E51DDD7B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090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4C7A5B-6787-0879-2FFB-6AB5862EB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AA464-D533-9B43-BD98-F49F3BFD678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5F97D2-3E29-96AD-1B5B-A7D0D1FB1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FEE41-6EAB-92F9-AAC0-D213C013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156A-6233-FF4A-9C52-E51DDD7B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50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1A2E-CB2A-C322-6227-6D9C0AFF7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14AD7-9C48-D6AF-4884-FDB72FCB1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6E9B44-A1CD-0EB9-EB88-EB79D0CB5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1899D-09A9-2425-72DF-29575D970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AA464-D533-9B43-BD98-F49F3BFD678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2058C-485F-9414-D567-F30F90F67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09EF8-AA02-41AC-3C2B-06D354CAF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156A-6233-FF4A-9C52-E51DDD7B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08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BEFE1-3248-8F09-DE26-29430D741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77F8ED-02C3-D5CA-AD50-E9CDE7A6A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16968-2ADD-C5C6-BC6A-52C796AFA6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5DD8E-462C-FF42-7EA4-3227038E3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AA464-D533-9B43-BD98-F49F3BFD678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EC6D4A-FCD6-8E73-1A88-A1C1DE52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FFD932-15E7-652E-5336-D42C268AE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156A-6233-FF4A-9C52-E51DDD7B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9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933A-25A3-C037-21F0-5DB4A8331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1231B-B39E-1CF8-7EAE-0CFE79E5D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CAA51-1B11-2E8F-3205-6F3FEB4B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AA464-D533-9B43-BD98-F49F3BFD678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5B7BF-E64D-F811-1F06-25F387B6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91D9D-4DF4-C4AA-AF85-C52345AE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156A-6233-FF4A-9C52-E51DDD7B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12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A941A-CE45-1225-8B35-A7EF4FBA4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258402-C185-8EED-D00E-C1BA78445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5A757-BA2F-4848-82FD-F282DD3A1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AA464-D533-9B43-BD98-F49F3BFD678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C9187-8DB8-C3C6-7D3E-922C6A895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672F9-E5C8-6650-8307-13FE4D87B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A156A-6233-FF4A-9C52-E51DDD7B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00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D2F900-284E-990D-D39E-CF75BC64E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AB044-1FB0-2558-BBDB-1CB5BA72B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838A7-B729-68DC-1C45-ECE93FC311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AA464-D533-9B43-BD98-F49F3BFD6784}" type="datetimeFigureOut">
              <a:rPr lang="en-US" smtClean="0"/>
              <a:t>1/18/26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35F2F-6675-063F-A81E-2C7C9062E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E9285-38D6-B6B4-F331-56ADBE452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A156A-6233-FF4A-9C52-E51DDD7B5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6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r>
              <a:rPr lang="en-US" dirty="0"/>
              <a:t>Visualizing regression (if there are lots of variables, or if there is a binary outcome)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-183862" y="1199214"/>
          <a:ext cx="7236734" cy="5592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5029024" imgH="3886200" progId="AcroExch.Document.DC">
                  <p:embed/>
                </p:oleObj>
              </mc:Choice>
              <mc:Fallback>
                <p:oleObj name="Acrobat Document" r:id="rId2" imgW="5029024" imgH="3886200" progId="AcroExch.Document.DC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83862" y="1199214"/>
                        <a:ext cx="7236734" cy="5592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6286500" y="3483733"/>
            <a:ext cx="766372" cy="573917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6286500" y="4743450"/>
            <a:ext cx="923925" cy="695325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21750B2-08E1-45B3-A11D-799498AD4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610" y="2047677"/>
            <a:ext cx="3880500" cy="26531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B3D9EC-C7A8-4163-80B3-9351587DB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3551" y="3999624"/>
            <a:ext cx="2838450" cy="2844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51C074-9048-4A95-BD11-8A77971FCC19}"/>
              </a:ext>
            </a:extLst>
          </p:cNvPr>
          <p:cNvSpPr txBox="1"/>
          <p:nvPr/>
        </p:nvSpPr>
        <p:spPr>
          <a:xfrm>
            <a:off x="8170674" y="1752928"/>
            <a:ext cx="1109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Effect size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8D5CB2-FC2B-4363-82A0-7DD95DB809BA}"/>
              </a:ext>
            </a:extLst>
          </p:cNvPr>
          <p:cNvSpPr txBox="1"/>
          <p:nvPr/>
        </p:nvSpPr>
        <p:spPr>
          <a:xfrm>
            <a:off x="9647857" y="3688318"/>
            <a:ext cx="2409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Prediction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ACF887-86AD-4BFC-9020-595A84FA53A6}"/>
              </a:ext>
            </a:extLst>
          </p:cNvPr>
          <p:cNvSpPr txBox="1"/>
          <p:nvPr/>
        </p:nvSpPr>
        <p:spPr>
          <a:xfrm>
            <a:off x="6756422" y="928983"/>
            <a:ext cx="51942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Regression analysis is predictive, so visualization can focus on prediction performance</a:t>
            </a:r>
          </a:p>
        </p:txBody>
      </p:sp>
    </p:spTree>
    <p:extLst>
      <p:ext uri="{BB962C8B-B14F-4D97-AF65-F5344CB8AC3E}">
        <p14:creationId xmlns:p14="http://schemas.microsoft.com/office/powerpoint/2010/main" val="1015361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D0E8D-99C2-462B-9346-B29DE4F47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1351"/>
            <a:ext cx="12192000" cy="1325563"/>
          </a:xfrm>
        </p:spPr>
        <p:txBody>
          <a:bodyPr/>
          <a:lstStyle/>
          <a:p>
            <a:r>
              <a:rPr lang="en-US" dirty="0"/>
              <a:t>Digression on visualizing classifier results</a:t>
            </a:r>
          </a:p>
        </p:txBody>
      </p:sp>
      <p:pic>
        <p:nvPicPr>
          <p:cNvPr id="1026" name="Picture 2" descr="ROC Curve Plot for a No Skill Classifier and a Logistic Regression Model">
            <a:extLst>
              <a:ext uri="{FF2B5EF4-FFF2-40B4-BE49-F238E27FC236}">
                <a16:creationId xmlns:a16="http://schemas.microsoft.com/office/drawing/2014/main" id="{8B8BD8C7-FF22-434D-A374-69B70266E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325" y="1950244"/>
            <a:ext cx="6543675" cy="4907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129F61-C7BB-4A91-A9FF-619D5AAF9634}"/>
              </a:ext>
            </a:extLst>
          </p:cNvPr>
          <p:cNvSpPr/>
          <p:nvPr/>
        </p:nvSpPr>
        <p:spPr>
          <a:xfrm>
            <a:off x="128271" y="1446905"/>
            <a:ext cx="451437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Receiver operating characteristic (ROC)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relationship between false positive rate and true positive rate as in a model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E7102BF-D494-4519-B7C7-089F9A678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532" y="3550303"/>
            <a:ext cx="4328204" cy="3171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7F39F92-4EDA-43AD-8D90-747A362282EF}"/>
              </a:ext>
            </a:extLst>
          </p:cNvPr>
          <p:cNvSpPr txBox="1"/>
          <p:nvPr/>
        </p:nvSpPr>
        <p:spPr>
          <a:xfrm>
            <a:off x="161925" y="6533695"/>
            <a:ext cx="67698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https://blog.floydhub.com/a-pirates-guide-to-accuracy-precision-recall-and-other-scores/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5F6097B-B014-3E2A-C6E1-0F566DBC7FFA}"/>
              </a:ext>
            </a:extLst>
          </p:cNvPr>
          <p:cNvGrpSpPr/>
          <p:nvPr/>
        </p:nvGrpSpPr>
        <p:grpSpPr>
          <a:xfrm>
            <a:off x="4809066" y="802196"/>
            <a:ext cx="7104696" cy="1375545"/>
            <a:chOff x="4242373" y="711024"/>
            <a:chExt cx="7818145" cy="1513676"/>
          </a:xfrm>
        </p:grpSpPr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96149A60-30DE-C0B6-5EE0-8A31DFF3E6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242373" y="711024"/>
              <a:ext cx="7772400" cy="970071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E12275B-5417-9BE9-5B40-5AB7EABE62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5067" y="711024"/>
              <a:ext cx="0" cy="970071"/>
            </a:xfrm>
            <a:prstGeom prst="lin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7FDB06A-DC01-9864-E04F-2D5663CB86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74796" y="1427888"/>
              <a:ext cx="1019500" cy="6434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617A570-67AB-B193-FFE0-24E4ADFE6734}"/>
                </a:ext>
              </a:extLst>
            </p:cNvPr>
            <p:cNvSpPr txBox="1"/>
            <p:nvPr/>
          </p:nvSpPr>
          <p:spPr>
            <a:xfrm>
              <a:off x="9344670" y="1855368"/>
              <a:ext cx="27158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One possible threshold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678B7A3-B26D-4D5C-44E3-1C1F57107681}"/>
              </a:ext>
            </a:extLst>
          </p:cNvPr>
          <p:cNvSpPr txBox="1"/>
          <p:nvPr/>
        </p:nvSpPr>
        <p:spPr>
          <a:xfrm>
            <a:off x="9615979" y="6488668"/>
            <a:ext cx="1659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1 - specificity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E6A041-17E8-AAE6-AC36-DC6B0B056BA3}"/>
              </a:ext>
            </a:extLst>
          </p:cNvPr>
          <p:cNvSpPr txBox="1"/>
          <p:nvPr/>
        </p:nvSpPr>
        <p:spPr>
          <a:xfrm rot="16200000">
            <a:off x="5157016" y="2772826"/>
            <a:ext cx="1659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= sensitivity</a:t>
            </a:r>
          </a:p>
        </p:txBody>
      </p:sp>
    </p:spTree>
    <p:extLst>
      <p:ext uri="{BB962C8B-B14F-4D97-AF65-F5344CB8AC3E}">
        <p14:creationId xmlns:p14="http://schemas.microsoft.com/office/powerpoint/2010/main" val="102468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D0E8D-99C2-462B-9346-B29DE4F47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/>
              <a:t>Digression on visualizing classifier results</a:t>
            </a:r>
          </a:p>
        </p:txBody>
      </p:sp>
      <p:pic>
        <p:nvPicPr>
          <p:cNvPr id="1026" name="Picture 2" descr="ROC Curve Plot for a No Skill Classifier and a Logistic Regression Model">
            <a:extLst>
              <a:ext uri="{FF2B5EF4-FFF2-40B4-BE49-F238E27FC236}">
                <a16:creationId xmlns:a16="http://schemas.microsoft.com/office/drawing/2014/main" id="{8B8BD8C7-FF22-434D-A374-69B70266E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8325" y="1950244"/>
            <a:ext cx="6543675" cy="4907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129F61-C7BB-4A91-A9FF-619D5AAF9634}"/>
              </a:ext>
            </a:extLst>
          </p:cNvPr>
          <p:cNvSpPr/>
          <p:nvPr/>
        </p:nvSpPr>
        <p:spPr>
          <a:xfrm>
            <a:off x="578347" y="1611311"/>
            <a:ext cx="48403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Diagonal line = random guessing (with different probabilities)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perfect model would have 0 FTP and 1 TPR no matter what.  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3805BA0-92AC-4366-8804-C41F76145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518" y="3248432"/>
            <a:ext cx="4328204" cy="3171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B6E8AA-21F3-4947-A088-E58F9F01BC3F}"/>
              </a:ext>
            </a:extLst>
          </p:cNvPr>
          <p:cNvSpPr txBox="1"/>
          <p:nvPr/>
        </p:nvSpPr>
        <p:spPr>
          <a:xfrm>
            <a:off x="0" y="6489977"/>
            <a:ext cx="67698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https://blog.floydhub.com/a-pirates-guide-to-accuracy-precision-recall-and-other-scores/</a:t>
            </a:r>
          </a:p>
        </p:txBody>
      </p:sp>
    </p:spTree>
    <p:extLst>
      <p:ext uri="{BB962C8B-B14F-4D97-AF65-F5344CB8AC3E}">
        <p14:creationId xmlns:p14="http://schemas.microsoft.com/office/powerpoint/2010/main" val="182523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</Words>
  <Application>Microsoft Macintosh PowerPoint</Application>
  <PresentationFormat>Widescreen</PresentationFormat>
  <Paragraphs>16</Paragraphs>
  <Slides>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Acrobat Document</vt:lpstr>
      <vt:lpstr>Visualizing regression (if there are lots of variables, or if there is a binary outcome)</vt:lpstr>
      <vt:lpstr>Digression on visualizing classifier results</vt:lpstr>
      <vt:lpstr>Digression on visualizing classifier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Chernus, Jonathan M</dc:creator>
  <cp:lastModifiedBy>Chernus, Jonathan M</cp:lastModifiedBy>
  <cp:revision>1</cp:revision>
  <dcterms:created xsi:type="dcterms:W3CDTF">2026-01-19T03:11:44Z</dcterms:created>
  <dcterms:modified xsi:type="dcterms:W3CDTF">2026-01-19T03:12:23Z</dcterms:modified>
</cp:coreProperties>
</file>