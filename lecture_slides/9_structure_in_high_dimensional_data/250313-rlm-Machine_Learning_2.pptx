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21"/>
  </p:notesMasterIdLst>
  <p:sldIdLst>
    <p:sldId id="256" r:id="rId2"/>
    <p:sldId id="290" r:id="rId3"/>
    <p:sldId id="292" r:id="rId4"/>
    <p:sldId id="258" r:id="rId5"/>
    <p:sldId id="288" r:id="rId6"/>
    <p:sldId id="286" r:id="rId7"/>
    <p:sldId id="287" r:id="rId8"/>
    <p:sldId id="271" r:id="rId9"/>
    <p:sldId id="289" r:id="rId10"/>
    <p:sldId id="293" r:id="rId11"/>
    <p:sldId id="272" r:id="rId12"/>
    <p:sldId id="276" r:id="rId13"/>
    <p:sldId id="277" r:id="rId14"/>
    <p:sldId id="279" r:id="rId15"/>
    <p:sldId id="278" r:id="rId16"/>
    <p:sldId id="280" r:id="rId17"/>
    <p:sldId id="281" r:id="rId18"/>
    <p:sldId id="282" r:id="rId19"/>
    <p:sldId id="29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8"/>
    <a:srgbClr val="FFFFF0"/>
    <a:srgbClr val="FF85FF"/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9"/>
    <p:restoredTop sz="94626"/>
  </p:normalViewPr>
  <p:slideViewPr>
    <p:cSldViewPr snapToGrid="0" snapToObjects="1">
      <p:cViewPr varScale="1">
        <p:scale>
          <a:sx n="116" d="100"/>
          <a:sy n="116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9" d="100"/>
        <a:sy n="3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28998-BB05-874E-879C-3FBB29AC65E7}" type="datetimeFigureOut">
              <a:t>3/12/25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E6191-75C4-684A-B956-6D9EF59C934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26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E6191-75C4-684A-B956-6D9EF59C9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1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0DB3-4AA2-C55D-55A8-31E764A2B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8601A-A769-C79C-9D9A-81942BEB8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18CB1-66E5-7AC0-B74B-B05A7AD2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0F72C-7B88-C712-876E-59B485B4D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BF756-EDA0-1BE9-2D36-AF8DBD63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676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E1C8-A55F-ED83-CBCA-B120C953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8740C-C05F-0B27-F0E1-74EEB010A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D1615-C5E7-3544-FBD8-430C98492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1C4F8-58E0-577F-B6F5-F6FF81A6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F7AE-0D41-8920-A6BB-73CC0C52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30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3AA5-57C2-E346-224F-1C07C42C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EA4D9-A42B-C2B8-F366-0AF5FCF25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C886D-B3C6-DDA9-2C54-277497D9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439AD-1364-6521-5892-C7EC8F983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109D3-A037-83DD-73E5-7766326C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E93D-383F-7491-83B8-966FE949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0D85E-8320-2030-EEFC-8CEDAA422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22F7A-372C-DB5A-FA08-D3471EFEE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9EBBC-3116-96A2-4DBC-EDDE7637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42070-B5F5-1D28-75C0-7CD05EE3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BE2C3-2A1C-69F6-E171-16780AE8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44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23C5B-F0E0-5E1B-67A2-D5D6854D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85113-508D-9F17-5484-B7F0927A8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5DC09-B7F8-9812-39F7-54263EF75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D8807-BB55-0F27-11E0-89234EC3D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ECD70-C4C2-682C-4506-005031160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D744A-014D-D323-2749-BCA28F7B4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3/12/25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95E5B8-E9E8-F0D8-E92D-8E2B90890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B6DFD0-2457-2C9A-605A-4910C0AE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63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1BCA-DD82-0DAF-4A7E-B637E415F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AA733-71F3-C668-BD87-71058A05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3/12/25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32B7D-033D-A67F-85F7-0AED865E6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86AE1-16AF-4B2A-3006-546CD096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63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B572CD-C359-B773-1D90-EDBD79492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3/12/25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B0782-467E-5D86-6B05-AA3FA7FDD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401FC-17EA-07D8-B35A-A56E662C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238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9CEA-56A4-2CDB-260D-18EC09DA8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5DF90-39C7-D569-B0D7-A4E756FC4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15B82-5399-A9AC-5A3A-C5DFC372C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88097-AD89-B6C3-DA86-5208057F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946F4-5FFE-410E-5598-12168DB1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235AD-60B2-82D3-9FF0-6F958AA54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268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E3B4-F4DC-A53C-3470-C3C1E5FE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322613-81B9-F527-B1AE-10B6EBA500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A7ABD-3008-0AB8-9522-A8810F256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5FC5C-77A4-9221-2525-8F0E643D9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695E4-3260-4EF6-AB2E-851D0DC4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B4373-7FFB-CB3B-0E94-15ACA337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670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543C-7DC2-A770-644A-6985E328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5280E-EF1C-506D-90D4-7367F149C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7E68A-BA81-95E0-1D95-A5F0E30A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4EF7D-D8A3-0C6B-4552-288A7127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975EB-8556-EAA6-C66C-D0B02CC4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3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470903-76BC-949B-1C79-E3D1770E9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69EF7-1359-653C-F1F1-4FC55F33B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05985-D9B3-6199-681E-B1A4F008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E7445-6E69-DA2D-F58A-018BCAE72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9E7DA-A3D5-90DD-6355-C8C8BB50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879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88AF46-D8E3-386D-3944-074A7336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A71AD-04DD-42CD-8212-89C3B3E0E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FD118-BCA5-531A-4712-1627F0B55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0650B6-570D-8448-B670-1346F08DF152}" type="datetimeFigureOut">
              <a:rPr lang="en-US" smtClean="0"/>
              <a:pPr/>
              <a:t>3/12/25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B0C88-2D58-3B2C-2247-14D7E1E64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43809-E30D-4564-DD11-89B0589F7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8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9ACB-4DB3-9F4D-9D27-EDA041F10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  <a:ea typeface="SF Pro Display Semibold" pitchFamily="2" charset="0"/>
              </a:rPr>
              <a:t>Machine Learning</a:t>
            </a:r>
            <a:b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  <a:ea typeface="SF Pro Display Semibold" pitchFamily="2" charset="0"/>
              </a:rPr>
            </a:br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  <a:ea typeface="SF Pro Display Semibold" pitchFamily="2" charset="0"/>
              </a:rPr>
              <a:t>Algorithms 2, Training/Testing, and Assessment</a:t>
            </a:r>
            <a:endParaRPr lang="en-US" b="1" dirty="0">
              <a:solidFill>
                <a:schemeClr val="accent1"/>
              </a:solidFill>
              <a:latin typeface="Aptos" panose="020B0004020202020204" pitchFamily="34" charset="0"/>
              <a:ea typeface="SF Pro Display Semibold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3BE67-90FF-404E-BD98-665F505C9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5873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HUGEN 2078</a:t>
            </a:r>
          </a:p>
          <a:p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Genomic Data Advanced Topics in Bioinformatics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Ryan L. Minster, PhD, MSIS</a:t>
            </a:r>
          </a:p>
          <a:p>
            <a:r>
              <a:rPr lang="en-US" dirty="0"/>
              <a:t>March 13,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Learning Objectives</a:t>
            </a:r>
            <a:endParaRPr lang="en-US" sz="4000" kern="1200" dirty="0">
              <a:solidFill>
                <a:schemeClr val="accent1"/>
              </a:solidFill>
              <a:latin typeface="Aptos Display" panose="020B0004020202020204" pitchFamily="34" charset="0"/>
              <a:ea typeface="SF Pro Display Thin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the end of this module, students will be able to </a:t>
            </a:r>
          </a:p>
          <a:p>
            <a:r>
              <a:rPr lang="en-US" dirty="0"/>
              <a:t>Describe the important of a </a:t>
            </a:r>
            <a:r>
              <a:rPr lang="en-US" b="1" dirty="0">
                <a:solidFill>
                  <a:schemeClr val="accent4"/>
                </a:solidFill>
                <a:latin typeface="Aptos" panose="020B0004020202020204" pitchFamily="34" charset="0"/>
                <a:ea typeface="SF Pro Display Semibold" pitchFamily="2" charset="0"/>
              </a:rPr>
              <a:t>training–validating–testing plan</a:t>
            </a:r>
            <a:r>
              <a:rPr lang="en-US" dirty="0"/>
              <a:t>, with </a:t>
            </a:r>
            <a:r>
              <a:rPr lang="en-US" i="1" dirty="0"/>
              <a:t>k</a:t>
            </a:r>
            <a:r>
              <a:rPr lang="en-US" dirty="0"/>
              <a:t>-fold cross validation in the training–testing phase</a:t>
            </a:r>
            <a:endParaRPr lang="en-US" b="1" dirty="0">
              <a:solidFill>
                <a:schemeClr val="accent4"/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r>
              <a:rPr lang="en-US" dirty="0"/>
              <a:t>Use </a:t>
            </a:r>
            <a:r>
              <a:rPr lang="en-US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confusion matrices and accuracy statistics </a:t>
            </a:r>
            <a:r>
              <a:rPr lang="en-US" dirty="0"/>
              <a:t>to assess validity of a classification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74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D3C3-3C4E-7444-0AA9-C16A231E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  <a:latin typeface="Aptos Display" panose="020B0004020202020204" pitchFamily="34" charset="0"/>
              </a:rPr>
              <a:t>Sampling and Training/Testing/Validation Methodologies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F1FEA-9032-1BBB-8414-B0ABF1F18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54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E1C0-AF58-0E41-B8C4-C4192D36C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Model Fitting &amp;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00520-F59B-B549-BFA2-51B2F4631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Partion</a:t>
            </a:r>
            <a:r>
              <a:rPr lang="en-US" dirty="0"/>
              <a:t> / Split</a:t>
            </a:r>
          </a:p>
          <a:p>
            <a:r>
              <a:rPr lang="en-US" dirty="0"/>
              <a:t>Training Set and Testing Set</a:t>
            </a:r>
          </a:p>
          <a:p>
            <a:r>
              <a:rPr lang="en-US" i="1" dirty="0"/>
              <a:t>k</a:t>
            </a:r>
            <a:r>
              <a:rPr lang="en-US" dirty="0"/>
              <a:t>-Fold Cross-Validation</a:t>
            </a:r>
          </a:p>
        </p:txBody>
      </p:sp>
    </p:spTree>
    <p:extLst>
      <p:ext uri="{BB962C8B-B14F-4D97-AF65-F5344CB8AC3E}">
        <p14:creationId xmlns:p14="http://schemas.microsoft.com/office/powerpoint/2010/main" val="126721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E1C0-AF58-0E41-B8C4-C4192D36C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Partition /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00520-F59B-B549-BFA2-51B2F4631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4"/>
                </a:solidFill>
                <a:latin typeface="Aptos" panose="020B0004020202020204" pitchFamily="34" charset="0"/>
                <a:ea typeface="SF Pro Display Semibold" pitchFamily="2" charset="0"/>
              </a:rPr>
              <a:t>Dividing the data </a:t>
            </a:r>
            <a:r>
              <a:rPr lang="en-US" dirty="0"/>
              <a:t>into subsets for different purposes, such as training, validation and testing; or training and testing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94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E1C0-AF58-0E41-B8C4-C4192D36C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Training, Validation and Test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00520-F59B-B549-BFA2-51B2F4631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4557"/>
          </a:xfrm>
        </p:spPr>
        <p:txBody>
          <a:bodyPr>
            <a:normAutofit/>
          </a:bodyPr>
          <a:lstStyle/>
          <a:p>
            <a:r>
              <a:rPr lang="en-US" b="1" dirty="0">
                <a:latin typeface="Aptos" panose="020B0004020202020204" pitchFamily="34" charset="0"/>
                <a:ea typeface="SF Pro Display Semibold" pitchFamily="2" charset="0"/>
              </a:rPr>
              <a:t>​</a:t>
            </a:r>
            <a:r>
              <a:rPr lang="en-US" b="1" dirty="0">
                <a:solidFill>
                  <a:schemeClr val="accent4"/>
                </a:solidFill>
                <a:latin typeface="Aptos" panose="020B0004020202020204" pitchFamily="34" charset="0"/>
                <a:ea typeface="SF Pro Display Semibold" pitchFamily="2" charset="0"/>
              </a:rPr>
              <a:t>Training Set  </a:t>
            </a:r>
            <a:r>
              <a:rPr lang="en-US" dirty="0"/>
              <a:t>used to fit a model (estimate parameters)</a:t>
            </a:r>
          </a:p>
          <a:p>
            <a:r>
              <a:rPr lang="en-US" b="1" dirty="0">
                <a:latin typeface="Aptos" panose="020B0004020202020204" pitchFamily="34" charset="0"/>
                <a:ea typeface="SF Pro Display Semibold" pitchFamily="2" charset="0"/>
              </a:rPr>
              <a:t>​</a:t>
            </a:r>
            <a:r>
              <a:rPr lang="en-US" b="1" dirty="0">
                <a:solidFill>
                  <a:schemeClr val="accent4"/>
                </a:solidFill>
                <a:latin typeface="Aptos" panose="020B0004020202020204" pitchFamily="34" charset="0"/>
                <a:ea typeface="SF Pro Display Semibold" pitchFamily="2" charset="0"/>
              </a:rPr>
              <a:t>Validation Set  </a:t>
            </a:r>
            <a:r>
              <a:rPr lang="en-US" dirty="0"/>
              <a:t>used to tune hyperparameters</a:t>
            </a:r>
          </a:p>
          <a:p>
            <a:r>
              <a:rPr lang="en-US" b="1" dirty="0">
                <a:latin typeface="Aptos" panose="020B0004020202020204" pitchFamily="34" charset="0"/>
                <a:ea typeface="SF Pro Display Semibold" pitchFamily="2" charset="0"/>
              </a:rPr>
              <a:t>​</a:t>
            </a:r>
            <a:r>
              <a:rPr lang="en-US" b="1" dirty="0">
                <a:solidFill>
                  <a:schemeClr val="accent4"/>
                </a:solidFill>
                <a:latin typeface="Aptos" panose="020B0004020202020204" pitchFamily="34" charset="0"/>
                <a:ea typeface="SF Pro Display Semibold" pitchFamily="2" charset="0"/>
              </a:rPr>
              <a:t>Test Set  </a:t>
            </a:r>
            <a:r>
              <a:rPr lang="en-US" dirty="0"/>
              <a:t>used for final model evaluation</a:t>
            </a:r>
          </a:p>
          <a:p>
            <a:endParaRPr lang="en-US" dirty="0"/>
          </a:p>
          <a:p>
            <a:r>
              <a:rPr lang="en-US" dirty="0"/>
              <a:t>Validation and test terminology are often reversed</a:t>
            </a:r>
          </a:p>
          <a:p>
            <a:endParaRPr lang="en-US" dirty="0"/>
          </a:p>
          <a:p>
            <a:r>
              <a:rPr lang="en-US" dirty="0"/>
              <a:t>Common splits: </a:t>
            </a:r>
            <a:r>
              <a:rPr lang="en-US" b="1" dirty="0">
                <a:solidFill>
                  <a:schemeClr val="accent4"/>
                </a:solidFill>
                <a:latin typeface="Aptos" panose="020B0004020202020204" pitchFamily="34" charset="0"/>
                <a:ea typeface="SF Pro Display Semibold" pitchFamily="2" charset="0"/>
              </a:rPr>
              <a:t>80% / 20%</a:t>
            </a:r>
            <a:r>
              <a:rPr lang="en-US" dirty="0"/>
              <a:t>, 67% / 33%, 50% / 50%</a:t>
            </a:r>
          </a:p>
          <a:p>
            <a:r>
              <a:rPr lang="en-US" dirty="0"/>
              <a:t>Both the training and sets sets must be large enough to be representative</a:t>
            </a:r>
          </a:p>
        </p:txBody>
      </p:sp>
    </p:spTree>
    <p:extLst>
      <p:ext uri="{BB962C8B-B14F-4D97-AF65-F5344CB8AC3E}">
        <p14:creationId xmlns:p14="http://schemas.microsoft.com/office/powerpoint/2010/main" val="55224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E1C0-AF58-0E41-B8C4-C4192D36C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4"/>
                </a:solidFill>
              </a:rPr>
              <a:t>k</a:t>
            </a:r>
            <a:r>
              <a:rPr lang="en-US" dirty="0">
                <a:solidFill>
                  <a:schemeClr val="accent4"/>
                </a:solidFill>
              </a:rPr>
              <a:t>-Fold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00520-F59B-B549-BFA2-51B2F4631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4557"/>
          </a:xfrm>
        </p:spPr>
        <p:txBody>
          <a:bodyPr>
            <a:normAutofit/>
          </a:bodyPr>
          <a:lstStyle/>
          <a:p>
            <a:r>
              <a:rPr lang="en-US" dirty="0"/>
              <a:t>Divide the training set into </a:t>
            </a:r>
            <a:r>
              <a:rPr lang="en-US" b="1" i="1" dirty="0">
                <a:solidFill>
                  <a:schemeClr val="accent4"/>
                </a:solidFill>
                <a:latin typeface="Aptos" panose="020B0004020202020204" pitchFamily="34" charset="0"/>
                <a:ea typeface="SF Pro Display Semibold" pitchFamily="2" charset="0"/>
              </a:rPr>
              <a:t>k</a:t>
            </a:r>
            <a:r>
              <a:rPr lang="en-US" b="1" dirty="0">
                <a:solidFill>
                  <a:schemeClr val="accent4"/>
                </a:solidFill>
                <a:latin typeface="Aptos" panose="020B0004020202020204" pitchFamily="34" charset="0"/>
                <a:ea typeface="SF Pro Display Semibold" pitchFamily="2" charset="0"/>
              </a:rPr>
              <a:t> partitions </a:t>
            </a:r>
            <a:r>
              <a:rPr lang="en-US" dirty="0"/>
              <a:t>(often </a:t>
            </a:r>
            <a:r>
              <a:rPr lang="en-US" i="1" dirty="0"/>
              <a:t>k</a:t>
            </a:r>
            <a:r>
              <a:rPr lang="en-US" dirty="0"/>
              <a:t> = 5 or </a:t>
            </a:r>
            <a:r>
              <a:rPr lang="en-US" i="1" dirty="0"/>
              <a:t>k</a:t>
            </a:r>
            <a:r>
              <a:rPr lang="en-US" dirty="0"/>
              <a:t> = 10)</a:t>
            </a:r>
          </a:p>
          <a:p>
            <a:r>
              <a:rPr lang="en-US" dirty="0"/>
              <a:t>If </a:t>
            </a:r>
            <a:r>
              <a:rPr lang="en-US" i="1" dirty="0"/>
              <a:t>k</a:t>
            </a:r>
            <a:r>
              <a:rPr lang="en-US" dirty="0"/>
              <a:t> = 10, for example, train with 90% of data and validate with 10%.</a:t>
            </a:r>
          </a:p>
          <a:p>
            <a:r>
              <a:rPr lang="en-US" dirty="0"/>
              <a:t>Then train again with 90% of data and validate with 10%.</a:t>
            </a:r>
          </a:p>
          <a:p>
            <a:r>
              <a:rPr lang="en-US" dirty="0"/>
              <a:t>Repeat 10×, keeping </a:t>
            </a:r>
            <a:r>
              <a:rPr lang="en-US" b="1" dirty="0">
                <a:solidFill>
                  <a:schemeClr val="accent4"/>
                </a:solidFill>
                <a:latin typeface="Aptos" panose="020B0004020202020204" pitchFamily="34" charset="0"/>
                <a:ea typeface="SF Pro Display Semibold" pitchFamily="2" charset="0"/>
              </a:rPr>
              <a:t>each element in the same split </a:t>
            </a:r>
            <a:r>
              <a:rPr lang="en-US" dirty="0"/>
              <a:t>or partition through the process (don’t randomly reassign with each training/validating operation)</a:t>
            </a:r>
          </a:p>
          <a:p>
            <a:r>
              <a:rPr lang="en-US" dirty="0"/>
              <a:t>Do not do any training on the whole data set</a:t>
            </a:r>
          </a:p>
        </p:txBody>
      </p:sp>
    </p:spTree>
    <p:extLst>
      <p:ext uri="{BB962C8B-B14F-4D97-AF65-F5344CB8AC3E}">
        <p14:creationId xmlns:p14="http://schemas.microsoft.com/office/powerpoint/2010/main" val="23367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29EAA-6B3E-1E45-BD8E-428181535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C60B5-C8FA-7B46-B340-18BB2D1E5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Choosing inputs to use in the model</a:t>
            </a:r>
          </a:p>
          <a:p>
            <a:r>
              <a:rPr lang="en-US" dirty="0"/>
              <a:t>Restricting the inputs can reduce computational burden and stabilize parameter estimates</a:t>
            </a:r>
          </a:p>
          <a:p>
            <a:r>
              <a:rPr lang="en-US" dirty="0"/>
              <a:t>Sometimes selection is manual</a:t>
            </a:r>
          </a:p>
          <a:p>
            <a:r>
              <a:rPr lang="en-US" dirty="0"/>
              <a:t>Sometimes it can be programmed in</a:t>
            </a:r>
          </a:p>
          <a:p>
            <a:r>
              <a:rPr lang="en-US" dirty="0"/>
              <a:t>Sometimes it is intrinsic to the method (LASSO, decision trees)</a:t>
            </a:r>
          </a:p>
        </p:txBody>
      </p:sp>
    </p:spTree>
    <p:extLst>
      <p:ext uri="{BB962C8B-B14F-4D97-AF65-F5344CB8AC3E}">
        <p14:creationId xmlns:p14="http://schemas.microsoft.com/office/powerpoint/2010/main" val="397635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29EAA-6B3E-1E45-BD8E-428181535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C60B5-C8FA-7B46-B340-18BB2D1E5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called </a:t>
            </a:r>
            <a:r>
              <a:rPr lang="en-US" b="1" dirty="0">
                <a:solidFill>
                  <a:schemeClr val="accent4"/>
                </a:solidFill>
                <a:latin typeface="Aptos" panose="020B0004020202020204" pitchFamily="34" charset="0"/>
                <a:ea typeface="SF Pro Display Semibold" pitchFamily="2" charset="0"/>
              </a:rPr>
              <a:t>feature extraction</a:t>
            </a:r>
          </a:p>
          <a:p>
            <a:r>
              <a:rPr lang="en-US" dirty="0"/>
              <a:t>Reduce the number of dimensions by finding underlying common dimensions among several variables</a:t>
            </a:r>
          </a:p>
          <a:p>
            <a:r>
              <a:rPr lang="en-US" dirty="0"/>
              <a:t>Principal components analysis (PCA), for example, can be used to select underlying orthogonal axes of variance</a:t>
            </a:r>
          </a:p>
        </p:txBody>
      </p:sp>
    </p:spTree>
    <p:extLst>
      <p:ext uri="{BB962C8B-B14F-4D97-AF65-F5344CB8AC3E}">
        <p14:creationId xmlns:p14="http://schemas.microsoft.com/office/powerpoint/2010/main" val="2458728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D3C3-3C4E-7444-0AA9-C16A231E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Aptos Display" panose="020B0004020202020204" pitchFamily="34" charset="0"/>
              </a:rPr>
              <a:t>Assessment of Algorithm/Model</a:t>
            </a:r>
            <a:br>
              <a:rPr lang="en-US" dirty="0">
                <a:solidFill>
                  <a:schemeClr val="accent2"/>
                </a:solidFill>
                <a:latin typeface="Aptos Display" panose="020B0004020202020204" pitchFamily="34" charset="0"/>
              </a:rPr>
            </a:br>
            <a:r>
              <a:rPr lang="en-US" dirty="0">
                <a:solidFill>
                  <a:schemeClr val="accent2"/>
                </a:solidFill>
                <a:latin typeface="Aptos Display" panose="020B0004020202020204" pitchFamily="34" charset="0"/>
              </a:rPr>
              <a:t>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F1FEA-9032-1BBB-8414-B0ABF1F18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92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216B9-201E-C848-B3C7-26E11805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Algorithm Accuracy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6FE12-1477-EB4C-B63D-F7C5B095C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  <a:p>
            <a:r>
              <a:rPr lang="en-US" dirty="0"/>
              <a:t>Accuracy</a:t>
            </a:r>
          </a:p>
          <a:p>
            <a:r>
              <a:rPr lang="en-US" i="1" dirty="0"/>
              <a:t>F</a:t>
            </a:r>
            <a:r>
              <a:rPr lang="en-US" dirty="0"/>
              <a:t>₁</a:t>
            </a:r>
          </a:p>
          <a:p>
            <a:r>
              <a:rPr lang="en-US" dirty="0"/>
              <a:t>Matthew’s correlation coefficient (MCC, also </a:t>
            </a:r>
            <a:r>
              <a:rPr lang="en-US" dirty="0" err="1"/>
              <a:t>φ</a:t>
            </a:r>
            <a:r>
              <a:rPr lang="en-US" dirty="0"/>
              <a:t> coefficient or </a:t>
            </a:r>
            <a:r>
              <a:rPr lang="en-US" i="1" dirty="0" err="1"/>
              <a:t>r</a:t>
            </a:r>
            <a:r>
              <a:rPr lang="en-US" baseline="-25000" dirty="0" err="1">
                <a:latin typeface="Aptos Light" panose="020B0004020202020204" pitchFamily="34" charset="0"/>
                <a:ea typeface="SF Pro Display" pitchFamily="2" charset="0"/>
              </a:rPr>
              <a:t>φ</a:t>
            </a:r>
            <a:r>
              <a:rPr lang="en-US" dirty="0"/>
              <a:t>)</a:t>
            </a:r>
          </a:p>
          <a:p>
            <a:r>
              <a:rPr lang="en-US" dirty="0"/>
              <a:t>Cohen’s </a:t>
            </a:r>
            <a:r>
              <a:rPr lang="en-US" dirty="0" err="1"/>
              <a:t>κ</a:t>
            </a:r>
            <a:r>
              <a:rPr lang="en-US" dirty="0"/>
              <a:t> coefficient</a:t>
            </a:r>
          </a:p>
          <a:p>
            <a:r>
              <a:rPr lang="en-US" dirty="0"/>
              <a:t>Sensitivity</a:t>
            </a:r>
          </a:p>
          <a:p>
            <a:r>
              <a:rPr lang="en-US" dirty="0"/>
              <a:t>Specificity</a:t>
            </a:r>
          </a:p>
          <a:p>
            <a:r>
              <a:rPr lang="en-US" dirty="0" err="1"/>
              <a:t>McNemar’s</a:t>
            </a:r>
            <a:r>
              <a:rPr lang="en-US" dirty="0"/>
              <a:t> test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46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8486-3CA0-1B4C-BA25-84F9CC2D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Confusion Matrix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4D4B84B-E7B9-694B-9ECA-CB0FD923C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3400580"/>
              </p:ext>
            </p:extLst>
          </p:nvPr>
        </p:nvGraphicFramePr>
        <p:xfrm>
          <a:off x="2453244" y="2075007"/>
          <a:ext cx="6892291" cy="33528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6793314"/>
                    </a:ext>
                  </a:extLst>
                </a:gridCol>
                <a:gridCol w="1667193">
                  <a:extLst>
                    <a:ext uri="{9D8B030D-6E8A-4147-A177-3AD203B41FA5}">
                      <a16:colId xmlns:a16="http://schemas.microsoft.com/office/drawing/2014/main" val="1641393297"/>
                    </a:ext>
                  </a:extLst>
                </a:gridCol>
                <a:gridCol w="2218055">
                  <a:extLst>
                    <a:ext uri="{9D8B030D-6E8A-4147-A177-3AD203B41FA5}">
                      <a16:colId xmlns:a16="http://schemas.microsoft.com/office/drawing/2014/main" val="1150625793"/>
                    </a:ext>
                  </a:extLst>
                </a:gridCol>
                <a:gridCol w="2397443">
                  <a:extLst>
                    <a:ext uri="{9D8B030D-6E8A-4147-A177-3AD203B41FA5}">
                      <a16:colId xmlns:a16="http://schemas.microsoft.com/office/drawing/2014/main" val="3002036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Predicted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i="0">
                        <a:solidFill>
                          <a:schemeClr val="accent4"/>
                        </a:solidFill>
                        <a:latin typeface="SF Pro Display Light" pitchFamily="2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07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Positive</a:t>
                      </a:r>
                    </a:p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Negative</a:t>
                      </a:r>
                    </a:p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69187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Actual</a:t>
                      </a:r>
                    </a:p>
                  </a:txBody>
                  <a:tcPr vert="vert2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Positive</a:t>
                      </a:r>
                      <a:b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</a:br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True Positive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(TP)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False Negative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(FN)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0533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Negative</a:t>
                      </a:r>
                      <a:b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</a:br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False Positive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(FP)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True Negative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(TN)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77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70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8486-3CA0-1B4C-BA25-84F9CC2D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Accuracy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  </a:t>
            </a:r>
            <a:r>
              <a:rPr lang="en-US" sz="4000" b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ranges from 0% to 100%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4D4B84B-E7B9-694B-9ECA-CB0FD923C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4887534"/>
              </p:ext>
            </p:extLst>
          </p:nvPr>
        </p:nvGraphicFramePr>
        <p:xfrm>
          <a:off x="2358242" y="1516867"/>
          <a:ext cx="6892291" cy="33528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6793314"/>
                    </a:ext>
                  </a:extLst>
                </a:gridCol>
                <a:gridCol w="1667193">
                  <a:extLst>
                    <a:ext uri="{9D8B030D-6E8A-4147-A177-3AD203B41FA5}">
                      <a16:colId xmlns:a16="http://schemas.microsoft.com/office/drawing/2014/main" val="1641393297"/>
                    </a:ext>
                  </a:extLst>
                </a:gridCol>
                <a:gridCol w="2218055">
                  <a:extLst>
                    <a:ext uri="{9D8B030D-6E8A-4147-A177-3AD203B41FA5}">
                      <a16:colId xmlns:a16="http://schemas.microsoft.com/office/drawing/2014/main" val="1150625793"/>
                    </a:ext>
                  </a:extLst>
                </a:gridCol>
                <a:gridCol w="2397443">
                  <a:extLst>
                    <a:ext uri="{9D8B030D-6E8A-4147-A177-3AD203B41FA5}">
                      <a16:colId xmlns:a16="http://schemas.microsoft.com/office/drawing/2014/main" val="3002036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Predicted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i="0">
                        <a:solidFill>
                          <a:schemeClr val="accent4"/>
                        </a:solidFill>
                        <a:latin typeface="SF Pro Display Light" pitchFamily="2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07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Positive</a:t>
                      </a:r>
                    </a:p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Negative</a:t>
                      </a:r>
                    </a:p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69187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Actual</a:t>
                      </a:r>
                    </a:p>
                  </a:txBody>
                  <a:tcPr vert="vert2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Positive</a:t>
                      </a:r>
                      <a:b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</a:br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True Positive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(TP)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False Negative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(FN)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0533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Negative</a:t>
                      </a:r>
                      <a:b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</a:br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False Positive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(FP)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True Negative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(TN)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779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919C1DB-A53D-8840-95F1-A2870079D5B8}"/>
              </a:ext>
            </a:extLst>
          </p:cNvPr>
          <p:cNvSpPr txBox="1"/>
          <p:nvPr/>
        </p:nvSpPr>
        <p:spPr>
          <a:xfrm>
            <a:off x="3930732" y="5498189"/>
            <a:ext cx="41207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ACC</a:t>
            </a:r>
            <a:r>
              <a:rPr lang="en-US" sz="2800" dirty="0">
                <a:solidFill>
                  <a:schemeClr val="accent4"/>
                </a:solidFill>
                <a:latin typeface="Aptos Light" panose="020B0004020202020204" pitchFamily="34" charset="0"/>
                <a:ea typeface="SF Pro Display Light" pitchFamily="2" charset="0"/>
              </a:rPr>
              <a:t> 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= (TP + TN) / (P + N)</a:t>
            </a:r>
          </a:p>
        </p:txBody>
      </p:sp>
    </p:spTree>
    <p:extLst>
      <p:ext uri="{BB962C8B-B14F-4D97-AF65-F5344CB8AC3E}">
        <p14:creationId xmlns:p14="http://schemas.microsoft.com/office/powerpoint/2010/main" val="406121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8486-3CA0-1B4C-BA25-84F9CC2D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accent2"/>
                </a:solidFill>
              </a:rPr>
              <a:t>F</a:t>
            </a:r>
            <a:r>
              <a:rPr lang="en-US" dirty="0">
                <a:solidFill>
                  <a:schemeClr val="accent2"/>
                </a:solidFill>
              </a:rPr>
              <a:t>₁   </a:t>
            </a:r>
            <a:r>
              <a:rPr lang="en-US" sz="4000" b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ranges from 0 to 1</a:t>
            </a:r>
            <a:endParaRPr lang="en-US" sz="4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4D4B84B-E7B9-694B-9ECA-CB0FD923C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6037410"/>
              </p:ext>
            </p:extLst>
          </p:nvPr>
        </p:nvGraphicFramePr>
        <p:xfrm>
          <a:off x="2358242" y="1516867"/>
          <a:ext cx="6892291" cy="33528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6793314"/>
                    </a:ext>
                  </a:extLst>
                </a:gridCol>
                <a:gridCol w="1667193">
                  <a:extLst>
                    <a:ext uri="{9D8B030D-6E8A-4147-A177-3AD203B41FA5}">
                      <a16:colId xmlns:a16="http://schemas.microsoft.com/office/drawing/2014/main" val="1641393297"/>
                    </a:ext>
                  </a:extLst>
                </a:gridCol>
                <a:gridCol w="2218055">
                  <a:extLst>
                    <a:ext uri="{9D8B030D-6E8A-4147-A177-3AD203B41FA5}">
                      <a16:colId xmlns:a16="http://schemas.microsoft.com/office/drawing/2014/main" val="1150625793"/>
                    </a:ext>
                  </a:extLst>
                </a:gridCol>
                <a:gridCol w="2397443">
                  <a:extLst>
                    <a:ext uri="{9D8B030D-6E8A-4147-A177-3AD203B41FA5}">
                      <a16:colId xmlns:a16="http://schemas.microsoft.com/office/drawing/2014/main" val="3002036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Predicted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i="0">
                        <a:solidFill>
                          <a:schemeClr val="accent4"/>
                        </a:solidFill>
                        <a:latin typeface="SF Pro Display Light" pitchFamily="2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07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Positive</a:t>
                      </a:r>
                    </a:p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Negative</a:t>
                      </a:r>
                    </a:p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69187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Actual</a:t>
                      </a:r>
                    </a:p>
                  </a:txBody>
                  <a:tcPr vert="vert2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Positive</a:t>
                      </a:r>
                      <a:b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</a:br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True Positive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(TP)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False Negative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(FN)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0533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Negative</a:t>
                      </a:r>
                      <a:b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</a:br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False Positive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(FP)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True Negative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(TN)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779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919C1DB-A53D-8840-95F1-A2870079D5B8}"/>
              </a:ext>
            </a:extLst>
          </p:cNvPr>
          <p:cNvSpPr txBox="1"/>
          <p:nvPr/>
        </p:nvSpPr>
        <p:spPr>
          <a:xfrm>
            <a:off x="3930732" y="5498189"/>
            <a:ext cx="41207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F</a:t>
            </a:r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₁</a:t>
            </a:r>
            <a:r>
              <a:rPr lang="en-US" sz="2800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Light" panose="020B0004020202020204" pitchFamily="34" charset="0"/>
                <a:ea typeface="SF Pro Display Light" pitchFamily="2" charset="0"/>
              </a:rPr>
              <a:t> 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= 2TP / (2TP + FP + FN)</a:t>
            </a:r>
          </a:p>
        </p:txBody>
      </p:sp>
    </p:spTree>
    <p:extLst>
      <p:ext uri="{BB962C8B-B14F-4D97-AF65-F5344CB8AC3E}">
        <p14:creationId xmlns:p14="http://schemas.microsoft.com/office/powerpoint/2010/main" val="295492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8486-3CA0-1B4C-BA25-84F9CC2D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MCC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  </a:t>
            </a:r>
            <a:r>
              <a:rPr lang="en-US" sz="4000" b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ranges from −1 to +1</a:t>
            </a:r>
            <a:endParaRPr lang="en-US" sz="4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4D4B84B-E7B9-694B-9ECA-CB0FD923C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494572"/>
              </p:ext>
            </p:extLst>
          </p:nvPr>
        </p:nvGraphicFramePr>
        <p:xfrm>
          <a:off x="2358242" y="1516867"/>
          <a:ext cx="6892291" cy="33528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6793314"/>
                    </a:ext>
                  </a:extLst>
                </a:gridCol>
                <a:gridCol w="1667193">
                  <a:extLst>
                    <a:ext uri="{9D8B030D-6E8A-4147-A177-3AD203B41FA5}">
                      <a16:colId xmlns:a16="http://schemas.microsoft.com/office/drawing/2014/main" val="1641393297"/>
                    </a:ext>
                  </a:extLst>
                </a:gridCol>
                <a:gridCol w="2218055">
                  <a:extLst>
                    <a:ext uri="{9D8B030D-6E8A-4147-A177-3AD203B41FA5}">
                      <a16:colId xmlns:a16="http://schemas.microsoft.com/office/drawing/2014/main" val="1150625793"/>
                    </a:ext>
                  </a:extLst>
                </a:gridCol>
                <a:gridCol w="2397443">
                  <a:extLst>
                    <a:ext uri="{9D8B030D-6E8A-4147-A177-3AD203B41FA5}">
                      <a16:colId xmlns:a16="http://schemas.microsoft.com/office/drawing/2014/main" val="3002036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Predicted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i="0">
                        <a:solidFill>
                          <a:schemeClr val="accent4"/>
                        </a:solidFill>
                        <a:latin typeface="SF Pro Display Light" pitchFamily="2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07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Positive</a:t>
                      </a:r>
                    </a:p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Negative</a:t>
                      </a:r>
                    </a:p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69187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Actual</a:t>
                      </a:r>
                    </a:p>
                  </a:txBody>
                  <a:tcPr vert="vert2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Positive</a:t>
                      </a:r>
                      <a:b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</a:br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True Positive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(TP)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False Negative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(FN)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0533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Negative</a:t>
                      </a:r>
                      <a:b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</a:br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False Positive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(FP)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True Negative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(TN)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779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919C1DB-A53D-8840-95F1-A2870079D5B8}"/>
              </a:ext>
            </a:extLst>
          </p:cNvPr>
          <p:cNvSpPr txBox="1"/>
          <p:nvPr/>
        </p:nvSpPr>
        <p:spPr>
          <a:xfrm>
            <a:off x="722415" y="5498189"/>
            <a:ext cx="10747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MCC</a:t>
            </a:r>
            <a:r>
              <a:rPr lang="en-US" sz="2800" dirty="0">
                <a:solidFill>
                  <a:schemeClr val="accent4"/>
                </a:solidFill>
                <a:latin typeface="Aptos Light" panose="020B0004020202020204" pitchFamily="34" charset="0"/>
                <a:ea typeface="SF Pro Display Light" pitchFamily="2" charset="0"/>
              </a:rPr>
              <a:t> 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= (TP × TN − FP × FN) / √[(TP + FP)(TP + FN)(TN + FP)(TN + FN)]</a:t>
            </a:r>
          </a:p>
        </p:txBody>
      </p:sp>
    </p:spTree>
    <p:extLst>
      <p:ext uri="{BB962C8B-B14F-4D97-AF65-F5344CB8AC3E}">
        <p14:creationId xmlns:p14="http://schemas.microsoft.com/office/powerpoint/2010/main" val="124861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8486-3CA0-1B4C-BA25-84F9CC2D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0186" cy="1325563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Cohen’s </a:t>
            </a:r>
            <a:r>
              <a:rPr lang="en-US" dirty="0" err="1">
                <a:solidFill>
                  <a:schemeClr val="accent2"/>
                </a:solidFill>
              </a:rPr>
              <a:t>κ</a:t>
            </a:r>
            <a:r>
              <a:rPr lang="en-US" dirty="0">
                <a:solidFill>
                  <a:schemeClr val="accent2"/>
                </a:solidFill>
              </a:rPr>
              <a:t> Coefficient   </a:t>
            </a:r>
            <a:r>
              <a:rPr lang="en-US" sz="4000" b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ranges from −1 to +1</a:t>
            </a:r>
            <a:endParaRPr lang="en-US" sz="4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4D4B84B-E7B9-694B-9ECA-CB0FD923C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345937"/>
              </p:ext>
            </p:extLst>
          </p:nvPr>
        </p:nvGraphicFramePr>
        <p:xfrm>
          <a:off x="2358242" y="1516867"/>
          <a:ext cx="6892291" cy="33528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6793314"/>
                    </a:ext>
                  </a:extLst>
                </a:gridCol>
                <a:gridCol w="1667193">
                  <a:extLst>
                    <a:ext uri="{9D8B030D-6E8A-4147-A177-3AD203B41FA5}">
                      <a16:colId xmlns:a16="http://schemas.microsoft.com/office/drawing/2014/main" val="1641393297"/>
                    </a:ext>
                  </a:extLst>
                </a:gridCol>
                <a:gridCol w="2218055">
                  <a:extLst>
                    <a:ext uri="{9D8B030D-6E8A-4147-A177-3AD203B41FA5}">
                      <a16:colId xmlns:a16="http://schemas.microsoft.com/office/drawing/2014/main" val="1150625793"/>
                    </a:ext>
                  </a:extLst>
                </a:gridCol>
                <a:gridCol w="2397443">
                  <a:extLst>
                    <a:ext uri="{9D8B030D-6E8A-4147-A177-3AD203B41FA5}">
                      <a16:colId xmlns:a16="http://schemas.microsoft.com/office/drawing/2014/main" val="3002036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Predicted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i="0">
                        <a:solidFill>
                          <a:schemeClr val="accent4"/>
                        </a:solidFill>
                        <a:latin typeface="SF Pro Display Light" pitchFamily="2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07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Positive</a:t>
                      </a:r>
                    </a:p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Negative</a:t>
                      </a:r>
                    </a:p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69187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Actual</a:t>
                      </a:r>
                    </a:p>
                  </a:txBody>
                  <a:tcPr vert="vert2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Positive</a:t>
                      </a:r>
                      <a:b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</a:br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True Positive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(TP)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False Negative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(FN)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0533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Negative</a:t>
                      </a:r>
                      <a:b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</a:br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False Positive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(FP)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True Negative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(TN)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779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919C1DB-A53D-8840-95F1-A2870079D5B8}"/>
              </a:ext>
            </a:extLst>
          </p:cNvPr>
          <p:cNvSpPr txBox="1"/>
          <p:nvPr/>
        </p:nvSpPr>
        <p:spPr>
          <a:xfrm>
            <a:off x="722415" y="5498189"/>
            <a:ext cx="10747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κ</a:t>
            </a:r>
            <a:r>
              <a:rPr lang="en-US" sz="2800" dirty="0">
                <a:solidFill>
                  <a:schemeClr val="accent4"/>
                </a:solidFill>
                <a:latin typeface="Aptos Light" panose="020B0004020202020204" pitchFamily="34" charset="0"/>
                <a:ea typeface="SF Pro Display Light" pitchFamily="2" charset="0"/>
              </a:rPr>
              <a:t> 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= 2(TP × TN − FP × FN) / [(TP + FP)(FP + TN) + (TP + FN)(TP + TN)]</a:t>
            </a:r>
          </a:p>
        </p:txBody>
      </p:sp>
    </p:spTree>
    <p:extLst>
      <p:ext uri="{BB962C8B-B14F-4D97-AF65-F5344CB8AC3E}">
        <p14:creationId xmlns:p14="http://schemas.microsoft.com/office/powerpoint/2010/main" val="416729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8486-3CA0-1B4C-BA25-84F9CC2D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Sensitivity (TPR) &amp; Specificity (TNR)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4D4B84B-E7B9-694B-9ECA-CB0FD923C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291392"/>
              </p:ext>
            </p:extLst>
          </p:nvPr>
        </p:nvGraphicFramePr>
        <p:xfrm>
          <a:off x="2358242" y="1516867"/>
          <a:ext cx="6892291" cy="33528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6793314"/>
                    </a:ext>
                  </a:extLst>
                </a:gridCol>
                <a:gridCol w="1667193">
                  <a:extLst>
                    <a:ext uri="{9D8B030D-6E8A-4147-A177-3AD203B41FA5}">
                      <a16:colId xmlns:a16="http://schemas.microsoft.com/office/drawing/2014/main" val="1641393297"/>
                    </a:ext>
                  </a:extLst>
                </a:gridCol>
                <a:gridCol w="2218055">
                  <a:extLst>
                    <a:ext uri="{9D8B030D-6E8A-4147-A177-3AD203B41FA5}">
                      <a16:colId xmlns:a16="http://schemas.microsoft.com/office/drawing/2014/main" val="1150625793"/>
                    </a:ext>
                  </a:extLst>
                </a:gridCol>
                <a:gridCol w="2397443">
                  <a:extLst>
                    <a:ext uri="{9D8B030D-6E8A-4147-A177-3AD203B41FA5}">
                      <a16:colId xmlns:a16="http://schemas.microsoft.com/office/drawing/2014/main" val="3002036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Predicted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i="0">
                        <a:solidFill>
                          <a:schemeClr val="accent4"/>
                        </a:solidFill>
                        <a:latin typeface="SF Pro Display Light" pitchFamily="2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07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Positive</a:t>
                      </a:r>
                    </a:p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Negative</a:t>
                      </a:r>
                    </a:p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69187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Actual</a:t>
                      </a:r>
                    </a:p>
                  </a:txBody>
                  <a:tcPr vert="vert2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Positive</a:t>
                      </a:r>
                      <a:b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</a:br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True Positive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(TP)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False Negative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(FN)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0533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Negative</a:t>
                      </a:r>
                      <a:b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</a:br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(N)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False Positive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(FP)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True Negative</a:t>
                      </a:r>
                    </a:p>
                    <a:p>
                      <a:pPr algn="ctr"/>
                      <a:r>
                        <a:rPr lang="en-US" sz="2800" b="0" i="0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(TN)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779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919C1DB-A53D-8840-95F1-A2870079D5B8}"/>
              </a:ext>
            </a:extLst>
          </p:cNvPr>
          <p:cNvSpPr txBox="1"/>
          <p:nvPr/>
        </p:nvSpPr>
        <p:spPr>
          <a:xfrm>
            <a:off x="722415" y="5498189"/>
            <a:ext cx="10747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TPR</a:t>
            </a:r>
            <a:r>
              <a:rPr lang="en-US" sz="2800" dirty="0">
                <a:solidFill>
                  <a:schemeClr val="accent4"/>
                </a:solidFill>
                <a:latin typeface="Aptos Light" panose="020B0004020202020204" pitchFamily="34" charset="0"/>
                <a:ea typeface="SF Pro Display Light" pitchFamily="2" charset="0"/>
              </a:rPr>
              <a:t> 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= TP / P = TP / (TP + FN)</a:t>
            </a:r>
            <a:r>
              <a:rPr lang="en-US" sz="2800" dirty="0">
                <a:solidFill>
                  <a:schemeClr val="accent4"/>
                </a:solidFill>
                <a:latin typeface="Aptos Light" panose="020B0004020202020204" pitchFamily="34" charset="0"/>
                <a:ea typeface="SF Pro Display Light" pitchFamily="2" charset="0"/>
              </a:rPr>
              <a:t>		</a:t>
            </a:r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TNR</a:t>
            </a:r>
            <a:r>
              <a:rPr lang="en-US" sz="2800" dirty="0">
                <a:solidFill>
                  <a:schemeClr val="accent4"/>
                </a:solidFill>
                <a:latin typeface="Aptos Light" panose="020B0004020202020204" pitchFamily="34" charset="0"/>
                <a:ea typeface="SF Pro Display Light" pitchFamily="2" charset="0"/>
              </a:rPr>
              <a:t> 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= TN / N = TN / (TN + FP)</a:t>
            </a:r>
          </a:p>
        </p:txBody>
      </p:sp>
    </p:spTree>
    <p:extLst>
      <p:ext uri="{BB962C8B-B14F-4D97-AF65-F5344CB8AC3E}">
        <p14:creationId xmlns:p14="http://schemas.microsoft.com/office/powerpoint/2010/main" val="206366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8486-3CA0-1B4C-BA25-84F9CC2D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11494" cy="1325563"/>
          </a:xfrm>
        </p:spPr>
        <p:txBody>
          <a:bodyPr/>
          <a:lstStyle/>
          <a:p>
            <a:r>
              <a:rPr lang="en-US" dirty="0" err="1">
                <a:solidFill>
                  <a:schemeClr val="accent2"/>
                </a:solidFill>
              </a:rPr>
              <a:t>McNemar’s</a:t>
            </a:r>
            <a:r>
              <a:rPr lang="en-US" dirty="0">
                <a:solidFill>
                  <a:schemeClr val="accent2"/>
                </a:solidFill>
              </a:rPr>
              <a:t> Test  </a:t>
            </a:r>
            <a:r>
              <a:rPr lang="en-US" b="0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Light" pitchFamily="2" charset="0"/>
              </a:rPr>
              <a:t>comparing two classifiers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4D4B84B-E7B9-694B-9ECA-CB0FD923C9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153719"/>
              </p:ext>
            </p:extLst>
          </p:nvPr>
        </p:nvGraphicFramePr>
        <p:xfrm>
          <a:off x="1939142" y="1690688"/>
          <a:ext cx="5600002" cy="3018922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6793314"/>
                    </a:ext>
                  </a:extLst>
                </a:gridCol>
                <a:gridCol w="1745742">
                  <a:extLst>
                    <a:ext uri="{9D8B030D-6E8A-4147-A177-3AD203B41FA5}">
                      <a16:colId xmlns:a16="http://schemas.microsoft.com/office/drawing/2014/main" val="1641393297"/>
                    </a:ext>
                  </a:extLst>
                </a:gridCol>
                <a:gridCol w="1498918">
                  <a:extLst>
                    <a:ext uri="{9D8B030D-6E8A-4147-A177-3AD203B41FA5}">
                      <a16:colId xmlns:a16="http://schemas.microsoft.com/office/drawing/2014/main" val="1150625793"/>
                    </a:ext>
                  </a:extLst>
                </a:gridCol>
                <a:gridCol w="1745742">
                  <a:extLst>
                    <a:ext uri="{9D8B030D-6E8A-4147-A177-3AD203B41FA5}">
                      <a16:colId xmlns:a16="http://schemas.microsoft.com/office/drawing/2014/main" val="3002036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Classifier 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b="0" i="0">
                        <a:solidFill>
                          <a:schemeClr val="accent4"/>
                        </a:solidFill>
                        <a:latin typeface="SF Pro Display Light" pitchFamily="2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07233"/>
                  </a:ext>
                </a:extLst>
              </a:tr>
              <a:tr h="303720">
                <a:tc>
                  <a:txBody>
                    <a:bodyPr/>
                    <a:lstStyle/>
                    <a:p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i="0" dirty="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SF Pro Display Light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Correct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Incorrect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691873"/>
                  </a:ext>
                </a:extLst>
              </a:tr>
              <a:tr h="950034">
                <a:tc rowSpan="2"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Classifier 1</a:t>
                      </a:r>
                    </a:p>
                  </a:txBody>
                  <a:tcPr vert="vert2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Correct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053305"/>
                  </a:ext>
                </a:extLst>
              </a:tr>
              <a:tr h="10325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SF Pro Display Semibold" pitchFamily="2" charset="0"/>
                        </a:rPr>
                        <a:t>Incorrect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dirty="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SF Pro Display Light" pitchFamily="2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7779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919C1DB-A53D-8840-95F1-A2870079D5B8}"/>
              </a:ext>
            </a:extLst>
          </p:cNvPr>
          <p:cNvSpPr txBox="1"/>
          <p:nvPr/>
        </p:nvSpPr>
        <p:spPr>
          <a:xfrm>
            <a:off x="793171" y="5015605"/>
            <a:ext cx="365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H</a:t>
            </a:r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₀:</a:t>
            </a:r>
            <a:r>
              <a:rPr lang="en-US" sz="2800" dirty="0">
                <a:solidFill>
                  <a:schemeClr val="accent4"/>
                </a:solidFill>
                <a:latin typeface="Aptos Light" panose="020B0004020202020204" pitchFamily="34" charset="0"/>
                <a:ea typeface="SF Pro Display Light" pitchFamily="2" charset="0"/>
              </a:rPr>
              <a:t> </a:t>
            </a:r>
            <a:r>
              <a:rPr lang="en-US" sz="2800" i="1" dirty="0">
                <a:latin typeface="Aptos Light" panose="020B0004020202020204" pitchFamily="34" charset="0"/>
                <a:ea typeface="SF Pro Display Light" pitchFamily="2" charset="0"/>
              </a:rPr>
              <a:t>p</a:t>
            </a:r>
            <a:r>
              <a:rPr lang="en-US" sz="2800" i="1" baseline="-25000" dirty="0">
                <a:latin typeface="Aptos" panose="020B0004020202020204" pitchFamily="34" charset="0"/>
                <a:ea typeface="SF Pro Display" pitchFamily="2" charset="0"/>
              </a:rPr>
              <a:t>b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 = </a:t>
            </a:r>
            <a:r>
              <a:rPr lang="en-US" sz="2800" i="1" dirty="0">
                <a:latin typeface="Aptos Light" panose="020B0004020202020204" pitchFamily="34" charset="0"/>
                <a:ea typeface="SF Pro Display Light" pitchFamily="2" charset="0"/>
              </a:rPr>
              <a:t>p</a:t>
            </a:r>
            <a:r>
              <a:rPr lang="en-US" sz="2800" i="1" baseline="-25000" dirty="0">
                <a:latin typeface="Aptos" panose="020B0004020202020204" pitchFamily="34" charset="0"/>
                <a:ea typeface="SF Pro Display" pitchFamily="2" charset="0"/>
              </a:rPr>
              <a:t>c</a:t>
            </a:r>
            <a:br>
              <a:rPr lang="en-US" sz="2800" dirty="0">
                <a:solidFill>
                  <a:schemeClr val="accent4"/>
                </a:solidFill>
                <a:latin typeface="Aptos Light" panose="020B0004020202020204" pitchFamily="34" charset="0"/>
                <a:ea typeface="SF Pro Display Light" pitchFamily="2" charset="0"/>
              </a:rPr>
            </a:br>
            <a:r>
              <a:rPr lang="en-US" sz="2800" b="1" i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H</a:t>
            </a:r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₁:</a:t>
            </a:r>
            <a:r>
              <a:rPr lang="en-US" sz="2800" dirty="0">
                <a:solidFill>
                  <a:schemeClr val="accent4"/>
                </a:solidFill>
                <a:latin typeface="Aptos Light" panose="020B0004020202020204" pitchFamily="34" charset="0"/>
                <a:ea typeface="SF Pro Display Light" pitchFamily="2" charset="0"/>
              </a:rPr>
              <a:t> </a:t>
            </a:r>
            <a:r>
              <a:rPr lang="en-US" sz="2800" i="1" dirty="0">
                <a:latin typeface="Aptos Light" panose="020B0004020202020204" pitchFamily="34" charset="0"/>
                <a:ea typeface="SF Pro Display Light" pitchFamily="2" charset="0"/>
              </a:rPr>
              <a:t>p</a:t>
            </a:r>
            <a:r>
              <a:rPr lang="en-US" sz="2800" i="1" baseline="-25000" dirty="0">
                <a:latin typeface="Aptos" panose="020B0004020202020204" pitchFamily="34" charset="0"/>
                <a:ea typeface="SF Pro Display" pitchFamily="2" charset="0"/>
              </a:rPr>
              <a:t>b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 ≠ </a:t>
            </a:r>
            <a:r>
              <a:rPr lang="en-US" sz="2800" i="1" dirty="0">
                <a:latin typeface="Aptos Light" panose="020B0004020202020204" pitchFamily="34" charset="0"/>
                <a:ea typeface="SF Pro Display Light" pitchFamily="2" charset="0"/>
              </a:rPr>
              <a:t>p</a:t>
            </a:r>
            <a:r>
              <a:rPr lang="en-US" sz="2800" i="1" baseline="-25000" dirty="0">
                <a:latin typeface="Aptos" panose="020B0004020202020204" pitchFamily="34" charset="0"/>
                <a:ea typeface="SF Pro Display" pitchFamily="2" charset="0"/>
              </a:rPr>
              <a:t>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5303D7-A16F-794A-9094-D146A3DB0745}"/>
              </a:ext>
            </a:extLst>
          </p:cNvPr>
          <p:cNvSpPr txBox="1"/>
          <p:nvPr/>
        </p:nvSpPr>
        <p:spPr>
          <a:xfrm>
            <a:off x="4611091" y="5015605"/>
            <a:ext cx="67877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χ²</a:t>
            </a:r>
            <a:r>
              <a:rPr lang="en-US" sz="2800" dirty="0">
                <a:solidFill>
                  <a:schemeClr val="accent4"/>
                </a:solidFill>
                <a:latin typeface="Aptos Light" panose="020B0004020202020204" pitchFamily="34" charset="0"/>
                <a:ea typeface="SF Pro Display Light" pitchFamily="2" charset="0"/>
              </a:rPr>
              <a:t> 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= (</a:t>
            </a:r>
            <a:r>
              <a:rPr lang="en-US" sz="2800" i="1" dirty="0">
                <a:latin typeface="Aptos Light" panose="020B0004020202020204" pitchFamily="34" charset="0"/>
                <a:ea typeface="SF Pro Display Light" pitchFamily="2" charset="0"/>
              </a:rPr>
              <a:t>b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 − </a:t>
            </a:r>
            <a:r>
              <a:rPr lang="en-US" sz="2800" i="1" dirty="0">
                <a:latin typeface="Aptos Light" panose="020B0004020202020204" pitchFamily="34" charset="0"/>
                <a:ea typeface="SF Pro Display Light" pitchFamily="2" charset="0"/>
              </a:rPr>
              <a:t>c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)² / (</a:t>
            </a:r>
            <a:r>
              <a:rPr lang="en-US" sz="2800" i="1" dirty="0">
                <a:latin typeface="Aptos Light" panose="020B0004020202020204" pitchFamily="34" charset="0"/>
                <a:ea typeface="SF Pro Display Light" pitchFamily="2" charset="0"/>
              </a:rPr>
              <a:t>b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 + </a:t>
            </a:r>
            <a:r>
              <a:rPr lang="en-US" sz="2800" i="1" dirty="0">
                <a:latin typeface="Aptos Light" panose="020B0004020202020204" pitchFamily="34" charset="0"/>
                <a:ea typeface="SF Pro Display Light" pitchFamily="2" charset="0"/>
              </a:rPr>
              <a:t>c</a:t>
            </a:r>
            <a: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  <a:t>)</a:t>
            </a:r>
            <a:br>
              <a:rPr lang="en-US" sz="2800" dirty="0">
                <a:latin typeface="Aptos Light" panose="020B0004020202020204" pitchFamily="34" charset="0"/>
                <a:ea typeface="SF Pro Display Light" pitchFamily="2" charset="0"/>
              </a:rPr>
            </a:br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1 </a:t>
            </a:r>
            <a:r>
              <a:rPr lang="en-US" sz="2800" b="1" dirty="0" err="1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d.f.</a:t>
            </a:r>
            <a:r>
              <a:rPr lang="en-US" sz="2800" dirty="0">
                <a:solidFill>
                  <a:schemeClr val="accent2"/>
                </a:solidFill>
                <a:latin typeface="Aptos Light" panose="020B0004020202020204" pitchFamily="34" charset="0"/>
                <a:ea typeface="SF Pro Display Light" pitchFamily="2" charset="0"/>
              </a:rPr>
              <a:t>	</a:t>
            </a:r>
            <a:r>
              <a:rPr lang="en-US" sz="2800" dirty="0">
                <a:solidFill>
                  <a:schemeClr val="accent4"/>
                </a:solidFill>
                <a:latin typeface="Aptos Light" panose="020B0004020202020204" pitchFamily="34" charset="0"/>
                <a:ea typeface="SF Pro Display Light" pitchFamily="2" charset="0"/>
              </a:rPr>
              <a:t>		</a:t>
            </a:r>
          </a:p>
          <a:p>
            <a:pPr algn="r"/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beware </a:t>
            </a:r>
            <a:r>
              <a:rPr lang="en-US" sz="2800" b="1" i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b</a:t>
            </a:r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 + </a:t>
            </a:r>
            <a:r>
              <a:rPr lang="en-US" sz="2800" b="1" i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c</a:t>
            </a:r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 &lt; 25 and</a:t>
            </a:r>
            <a:b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</a:br>
            <a:r>
              <a:rPr lang="en-US" sz="2800" b="1" dirty="0">
                <a:solidFill>
                  <a:schemeClr val="accent2"/>
                </a:solidFill>
                <a:latin typeface="Aptos" panose="020B0004020202020204" pitchFamily="34" charset="0"/>
                <a:ea typeface="SF Pro Display Semibold" pitchFamily="2" charset="0"/>
              </a:rPr>
              <a:t>think about independence</a:t>
            </a:r>
          </a:p>
        </p:txBody>
      </p:sp>
    </p:spTree>
    <p:extLst>
      <p:ext uri="{BB962C8B-B14F-4D97-AF65-F5344CB8AC3E}">
        <p14:creationId xmlns:p14="http://schemas.microsoft.com/office/powerpoint/2010/main" val="133393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Learning Objectives</a:t>
            </a:r>
            <a:endParaRPr lang="en-US" sz="4000" b="0" kern="1200" dirty="0">
              <a:solidFill>
                <a:schemeClr val="accent1"/>
              </a:solidFill>
              <a:latin typeface="Aptos Light" panose="020B0004020202020204" pitchFamily="34" charset="0"/>
              <a:ea typeface="SF Pro Display Thin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the end of this module, students will be able to </a:t>
            </a:r>
          </a:p>
          <a:p>
            <a:r>
              <a:rPr lang="en-US" dirty="0"/>
              <a:t>Describe the 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key classes of machine learning algorithms </a:t>
            </a:r>
            <a:r>
              <a:rPr lang="en-US" dirty="0"/>
              <a:t>and describe conceptually 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how they function</a:t>
            </a:r>
          </a:p>
          <a:p>
            <a:r>
              <a:rPr lang="en-US" dirty="0"/>
              <a:t>Describe the important of a 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training–validating–testing plan</a:t>
            </a:r>
            <a:r>
              <a:rPr lang="en-US" dirty="0"/>
              <a:t>, with </a:t>
            </a:r>
            <a:r>
              <a:rPr lang="en-US" i="1" dirty="0"/>
              <a:t>k</a:t>
            </a:r>
            <a:r>
              <a:rPr lang="en-US" dirty="0"/>
              <a:t>-fold cross validation in the training–testing phase, and to 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implement it in Python</a:t>
            </a:r>
          </a:p>
          <a:p>
            <a:r>
              <a:rPr lang="en-US" dirty="0"/>
              <a:t>Use 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confusion matrices and accuracy statistics </a:t>
            </a:r>
            <a:r>
              <a:rPr lang="en-US" dirty="0"/>
              <a:t>to assess validity of a classification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0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5838</TotalTime>
  <Words>936</Words>
  <Application>Microsoft Macintosh PowerPoint</Application>
  <PresentationFormat>Widescreen</PresentationFormat>
  <Paragraphs>180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Aptos Light</vt:lpstr>
      <vt:lpstr>Arial</vt:lpstr>
      <vt:lpstr>Calibri</vt:lpstr>
      <vt:lpstr>Office Theme</vt:lpstr>
      <vt:lpstr>Machine Learning Algorithms 2, Training/Testing, and Assessment</vt:lpstr>
      <vt:lpstr>Learning Objectives</vt:lpstr>
      <vt:lpstr>Sampling and Training/Testing/Validation Methodologies</vt:lpstr>
      <vt:lpstr>Model Fitting &amp; Testing</vt:lpstr>
      <vt:lpstr>Partition / Split</vt:lpstr>
      <vt:lpstr>Training, Validation and Test Sets</vt:lpstr>
      <vt:lpstr>k-Fold Cross-Validation</vt:lpstr>
      <vt:lpstr>Feature Selection</vt:lpstr>
      <vt:lpstr>Dimensionality Reduction</vt:lpstr>
      <vt:lpstr>Assessment of Algorithm/Model Performance</vt:lpstr>
      <vt:lpstr>Algorithm Accuracy Evaluation</vt:lpstr>
      <vt:lpstr>Confusion Matrix</vt:lpstr>
      <vt:lpstr>Accuracy   ranges from 0% to 100%</vt:lpstr>
      <vt:lpstr>F₁   ranges from 0 to 1</vt:lpstr>
      <vt:lpstr>MCC   ranges from −1 to +1</vt:lpstr>
      <vt:lpstr>Cohen’s κ Coefficient   ranges from −1 to +1</vt:lpstr>
      <vt:lpstr>Sensitivity (TPR) &amp; Specificity (TNR)</vt:lpstr>
      <vt:lpstr>McNemar’s Test  comparing two classifiers</vt:lpstr>
      <vt:lpstr>Learning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Shell Scripting</dc:title>
  <dc:creator>Minster, Ryan L</dc:creator>
  <cp:lastModifiedBy>Minster, Ryan</cp:lastModifiedBy>
  <cp:revision>576</cp:revision>
  <dcterms:created xsi:type="dcterms:W3CDTF">2018-11-09T14:32:06Z</dcterms:created>
  <dcterms:modified xsi:type="dcterms:W3CDTF">2025-03-13T10:57:21Z</dcterms:modified>
</cp:coreProperties>
</file>