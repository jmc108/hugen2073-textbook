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8"/>
    <a:srgbClr val="FF85FF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2"/>
    <p:restoredTop sz="94762"/>
  </p:normalViewPr>
  <p:slideViewPr>
    <p:cSldViewPr snapToGrid="0" snapToObjects="1">
      <p:cViewPr varScale="1">
        <p:scale>
          <a:sx n="117" d="100"/>
          <a:sy n="117" d="100"/>
        </p:scale>
        <p:origin x="8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9" d="100"/>
        <a:sy n="3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28998-BB05-874E-879C-3FBB29AC65E7}" type="datetimeFigureOut">
              <a:t>3/18/25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E6191-75C4-684A-B956-6D9EF59C93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2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E6191-75C4-684A-B956-6D9EF59C9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1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0DB3-4AA2-C55D-55A8-31E764A2B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8601A-A769-C79C-9D9A-81942BEB8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18CB1-66E5-7AC0-B74B-B05A7AD2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0F72C-7B88-C712-876E-59B485B4D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F756-EDA0-1BE9-2D36-AF8DBD63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084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E1C8-A55F-ED83-CBCA-B120C953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8740C-C05F-0B27-F0E1-74EEB010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D1615-C5E7-3544-FBD8-430C9849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1C4F8-58E0-577F-B6F5-F6FF81A6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F7AE-0D41-8920-A6BB-73CC0C52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48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3AA5-57C2-E346-224F-1C07C42C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EA4D9-A42B-C2B8-F366-0AF5FCF25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886D-B3C6-DDA9-2C54-277497D9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439AD-1364-6521-5892-C7EC8F98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109D3-A037-83DD-73E5-7766326C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09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E93D-383F-7491-83B8-966FE949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0D85E-8320-2030-EEFC-8CEDAA422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22F7A-372C-DB5A-FA08-D3471EFEE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9EBBC-3116-96A2-4DBC-EDDE7637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42070-B5F5-1D28-75C0-7CD05EE3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BE2C3-2A1C-69F6-E171-16780AE8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46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3C5B-F0E0-5E1B-67A2-D5D6854D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85113-508D-9F17-5484-B7F0927A8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5DC09-B7F8-9812-39F7-54263EF75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D8807-BB55-0F27-11E0-89234EC3D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ECD70-C4C2-682C-4506-005031160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D744A-014D-D323-2749-BCA28F7B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95E5B8-E9E8-F0D8-E92D-8E2B9089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6DFD0-2457-2C9A-605A-4910C0AE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18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1BCA-DD82-0DAF-4A7E-B637E415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AA733-71F3-C668-BD87-71058A05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32B7D-033D-A67F-85F7-0AED865E6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86AE1-16AF-4B2A-3006-546CD096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7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572CD-C359-B773-1D90-EDBD79492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B0782-467E-5D86-6B05-AA3FA7FDD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401FC-17EA-07D8-B35A-A56E662C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93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9CEA-56A4-2CDB-260D-18EC09DA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5DF90-39C7-D569-B0D7-A4E756FC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15B82-5399-A9AC-5A3A-C5DFC372C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8097-AD89-B6C3-DA86-5208057F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946F4-5FFE-410E-5598-12168DB1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235AD-60B2-82D3-9FF0-6F958AA5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6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E3B4-F4DC-A53C-3470-C3C1E5FE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22613-81B9-F527-B1AE-10B6EBA50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A7ABD-3008-0AB8-9522-A8810F256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5FC5C-77A4-9221-2525-8F0E643D9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695E4-3260-4EF6-AB2E-851D0DC4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4373-7FFB-CB3B-0E94-15ACA337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93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543C-7DC2-A770-644A-6985E328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5280E-EF1C-506D-90D4-7367F149C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7E68A-BA81-95E0-1D95-A5F0E30A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4EF7D-D8A3-0C6B-4552-288A7127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975EB-8556-EAA6-C66C-D0B02CC4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70903-76BC-949B-1C79-E3D1770E9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69EF7-1359-653C-F1F1-4FC55F33B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05985-D9B3-6199-681E-B1A4F008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E7445-6E69-DA2D-F58A-018BCAE72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9E7DA-A3D5-90DD-6355-C8C8BB50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44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88AF46-D8E3-386D-3944-074A7336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A71AD-04DD-42CD-8212-89C3B3E0E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FD118-BCA5-531A-4712-1627F0B55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690650B6-570D-8448-B670-1346F08DF152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B0C88-2D58-3B2C-2247-14D7E1E64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43809-E30D-4564-DD11-89B0589F7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77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web/views/MachineLearning.html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crc.pitt.ed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9ACB-4DB3-9F4D-9D27-EDA041F10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+mj-lt"/>
              </a:rPr>
              <a:t>Machine Learning:</a:t>
            </a:r>
            <a:br>
              <a:rPr lang="en-US" dirty="0">
                <a:solidFill>
                  <a:schemeClr val="accent1"/>
                </a:solidFill>
                <a:latin typeface="+mj-lt"/>
              </a:rPr>
            </a:br>
            <a:r>
              <a:rPr lang="en-US" dirty="0">
                <a:solidFill>
                  <a:schemeClr val="accent1"/>
                </a:solidFill>
                <a:latin typeface="+mj-lt"/>
              </a:rPr>
              <a:t>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3BE67-90FF-404E-BD98-665F505C9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5873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HUGEN 2078</a:t>
            </a:r>
          </a:p>
          <a:p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Genomic Data Advanced Topics in Bioinformatics</a:t>
            </a:r>
          </a:p>
          <a:p>
            <a:endParaRPr lang="en-US" dirty="0"/>
          </a:p>
          <a:p>
            <a:r>
              <a:rPr lang="en-US" dirty="0"/>
              <a:t>Ryan L. Minster, PhD, MSIS</a:t>
            </a:r>
          </a:p>
          <a:p>
            <a:r>
              <a:rPr lang="en-US" dirty="0"/>
              <a:t>March 18,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82E0-A8B0-2745-A704-7CA3EED0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R Packages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4A560-A657-E243-BD8E-46AC22625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/>
          <a:lstStyle/>
          <a:p>
            <a:r>
              <a:rPr lang="en-US" sz="2800" dirty="0">
                <a:solidFill>
                  <a:schemeClr val="accent1"/>
                </a:solidFill>
                <a:latin typeface="Inconsolatazi4varl_qu" panose="02000503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cran.r-project.org/web/views/MachineLearning.html</a:t>
            </a:r>
            <a:endParaRPr lang="en-US" sz="2800" dirty="0">
              <a:solidFill>
                <a:schemeClr val="accent1"/>
              </a:solidFill>
              <a:latin typeface="Inconsolatazi4varl_qu" panose="02000503000000000000" pitchFamily="2" charset="0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AE17-11AB-E549-866C-ED65F40BB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256212" cy="4352924"/>
          </a:xfrm>
        </p:spPr>
        <p:txBody>
          <a:bodyPr>
            <a:noAutofit/>
          </a:bodyPr>
          <a:lstStyle/>
          <a:p>
            <a:r>
              <a:rPr lang="en-US" dirty="0"/>
              <a:t>​​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</a:rPr>
              <a:t>caret</a:t>
            </a:r>
            <a:r>
              <a:rPr lang="en-US" dirty="0"/>
              <a:t>  model building, tuning</a:t>
            </a:r>
            <a:endParaRPr lang="en-US" dirty="0">
              <a:latin typeface="Inconsolatazi4varl_qu" panose="02000503000000000000" pitchFamily="2" charset="0"/>
            </a:endParaRPr>
          </a:p>
          <a:p>
            <a:endParaRPr lang="en-US" dirty="0"/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nnet</a:t>
            </a:r>
            <a:r>
              <a:rPr lang="en-US" dirty="0"/>
              <a:t>  neural networks (single)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deepnet</a:t>
            </a:r>
            <a:r>
              <a:rPr lang="en-US" dirty="0"/>
              <a:t>  neural networks (deep)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RWeka</a:t>
            </a:r>
            <a:r>
              <a:rPr lang="en-US" dirty="0"/>
              <a:t>  C4.5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</a:rPr>
              <a:t>tree</a:t>
            </a:r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rpart</a:t>
            </a:r>
            <a:r>
              <a:rPr lang="en-US" dirty="0"/>
              <a:t>  CART-like trees</a:t>
            </a:r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mclust</a:t>
            </a:r>
            <a:r>
              <a:rPr lang="en-US" dirty="0"/>
              <a:t>  EM clustering</a:t>
            </a:r>
            <a:endParaRPr lang="en-US" dirty="0">
              <a:latin typeface="Inconsolatazi4varl_qu" panose="02000503000000000000" pitchFamily="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B96A64-DB78-E545-A2BF-A62343AD4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477494" cy="4352925"/>
          </a:xfrm>
        </p:spPr>
        <p:txBody>
          <a:bodyPr>
            <a:normAutofit/>
          </a:bodyPr>
          <a:lstStyle/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randomForest</a:t>
            </a:r>
            <a:endParaRPr lang="en-US" b="1" dirty="0">
              <a:solidFill>
                <a:schemeClr val="accent1"/>
              </a:solidFill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glmnet</a:t>
            </a:r>
            <a:r>
              <a:rPr lang="en-US" dirty="0"/>
              <a:t>  LASSO, ridge, elastic net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</a:rPr>
              <a:t>e1071</a:t>
            </a:r>
            <a:r>
              <a:rPr lang="en-US" dirty="0"/>
              <a:t>  SVM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naivebayes</a:t>
            </a:r>
            <a:endParaRPr lang="en-US" b="1" dirty="0">
              <a:solidFill>
                <a:schemeClr val="accent1"/>
              </a:solidFill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</a:rPr>
              <a:t>class</a:t>
            </a:r>
            <a:r>
              <a:rPr lang="en-US" dirty="0"/>
              <a:t>  </a:t>
            </a:r>
            <a:r>
              <a:rPr lang="en-US" i="1" dirty="0"/>
              <a:t>k</a:t>
            </a:r>
            <a:r>
              <a:rPr lang="en-US" dirty="0"/>
              <a:t>-NN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</a:rPr>
              <a:t>stats</a:t>
            </a:r>
            <a:r>
              <a:rPr lang="en-US" dirty="0"/>
              <a:t>  </a:t>
            </a:r>
            <a:r>
              <a:rPr lang="en-US" i="1" dirty="0"/>
              <a:t>k</a:t>
            </a:r>
            <a:r>
              <a:rPr lang="en-US" dirty="0"/>
              <a:t>-means clustering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​​​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arules</a:t>
            </a:r>
            <a:r>
              <a:rPr lang="en-US" dirty="0"/>
              <a:t>  </a:t>
            </a:r>
            <a:r>
              <a:rPr lang="en-US" dirty="0" err="1"/>
              <a:t>Apriori</a:t>
            </a:r>
            <a:endParaRPr lang="en-US" dirty="0"/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JOUSBoost</a:t>
            </a:r>
            <a:r>
              <a:rPr lang="en-US" dirty="0"/>
              <a:t>  AdaBoost</a:t>
            </a:r>
            <a:endParaRPr lang="en-US" dirty="0"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1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82E0-A8B0-2745-A704-7CA3EED0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Python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AE17-11AB-E549-866C-ED65F40BB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89623" cy="4850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latin typeface="Inconsolatazi4varl_qu" panose="02000503000000000000" pitchFamily="2" charset="0"/>
              </a:rPr>
              <a:t>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scikit-learn.org</a:t>
            </a:r>
            <a:endParaRPr lang="en-US" b="1" dirty="0">
              <a:solidFill>
                <a:schemeClr val="accent1"/>
              </a:solidFill>
              <a:latin typeface="Inconsolatazi4varl_qu" panose="02000503000000000000" pitchFamily="2" charset="0"/>
            </a:endParaRPr>
          </a:p>
          <a:p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sklearn</a:t>
            </a:r>
            <a:r>
              <a:rPr lang="en-US" dirty="0"/>
              <a:t>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scikit-learn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/>
              <a:t>machine learning</a:t>
            </a:r>
            <a:endParaRPr lang="en-US" dirty="0">
              <a:latin typeface="Inconsolatazi4varl_qu" panose="02000503000000000000" pitchFamily="2" charset="0"/>
            </a:endParaRPr>
          </a:p>
          <a:p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scipy</a:t>
            </a:r>
            <a:r>
              <a:rPr lang="en-US" dirty="0"/>
              <a:t>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SciPy</a:t>
            </a:r>
            <a:r>
              <a:rPr lang="en-US" dirty="0"/>
              <a:t>  scientific computing · linear algebra, signal processing</a:t>
            </a:r>
          </a:p>
          <a:p>
            <a:r>
              <a:rPr lang="en-US" dirty="0"/>
              <a:t>​</a:t>
            </a:r>
            <a:r>
              <a:rPr lang="en-US" b="1" dirty="0" err="1">
                <a:solidFill>
                  <a:schemeClr val="accent1"/>
                </a:solidFill>
                <a:latin typeface="Inconsolatazi4varl_qu" panose="02000503000000000000" pitchFamily="2" charset="0"/>
              </a:rPr>
              <a:t>numpy</a:t>
            </a:r>
            <a:r>
              <a:rPr lang="en-US" dirty="0"/>
              <a:t>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NumPy</a:t>
            </a:r>
            <a:r>
              <a:rPr lang="en-US" dirty="0"/>
              <a:t>  multidimensional arrays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</a:rPr>
              <a:t>pandas</a:t>
            </a:r>
            <a:r>
              <a:rPr lang="en-US" dirty="0"/>
              <a:t>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pandas</a:t>
            </a:r>
            <a:r>
              <a:rPr lang="en-US" dirty="0"/>
              <a:t>  data structures (</a:t>
            </a:r>
            <a:r>
              <a:rPr lang="en-US" dirty="0" err="1"/>
              <a:t>dataframes</a:t>
            </a:r>
            <a:r>
              <a:rPr lang="en-US" dirty="0"/>
              <a:t>), manipulation, analysis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</a:rPr>
              <a:t>matplotlib</a:t>
            </a:r>
            <a:r>
              <a:rPr lang="en-US" dirty="0"/>
              <a:t>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Matplotlib</a:t>
            </a:r>
            <a:r>
              <a:rPr lang="en-US" dirty="0"/>
              <a:t>  2D plotting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</a:rPr>
              <a:t>seaborn</a:t>
            </a:r>
            <a:r>
              <a:rPr lang="en-US" dirty="0"/>
              <a:t>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seaborn</a:t>
            </a:r>
            <a:r>
              <a:rPr lang="en-US" dirty="0"/>
              <a:t>  statistical plotting</a:t>
            </a:r>
            <a:endParaRPr lang="en-US" dirty="0">
              <a:latin typeface="Inconsolatazi4varl_qu" panose="02000503000000000000" pitchFamily="2" charset="0"/>
            </a:endParaRPr>
          </a:p>
          <a:p>
            <a:endParaRPr lang="en-US" dirty="0"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99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82E0-A8B0-2745-A704-7CA3EED0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  <a:latin typeface="Aptos Display" panose="020B0004020202020204" pitchFamily="34" charset="0"/>
              </a:rPr>
              <a:t>Jupyter</a:t>
            </a:r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 at the CRC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AE17-11AB-E549-866C-ED65F40B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</a:rPr>
              <a:t>​</a:t>
            </a:r>
            <a:r>
              <a:rPr lang="en-US" b="1" dirty="0">
                <a:solidFill>
                  <a:schemeClr val="accent1"/>
                </a:solidFill>
                <a:latin typeface="Inconsolatazi4varl_qu" panose="02000503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hugen.crc.pitt.edu</a:t>
            </a:r>
            <a:endParaRPr lang="en-US" b="1" dirty="0">
              <a:solidFill>
                <a:schemeClr val="accent1"/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47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5551</TotalTime>
  <Words>162</Words>
  <Application>Microsoft Macintosh PowerPoint</Application>
  <PresentationFormat>Widescreen</PresentationFormat>
  <Paragraphs>37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Aptos Light</vt:lpstr>
      <vt:lpstr>Arial</vt:lpstr>
      <vt:lpstr>Calibri</vt:lpstr>
      <vt:lpstr>Inconsolatazi4varl_qu</vt:lpstr>
      <vt:lpstr>Office Theme</vt:lpstr>
      <vt:lpstr>Machine Learning: Coding</vt:lpstr>
      <vt:lpstr>R Packages</vt:lpstr>
      <vt:lpstr>Python Libraries</vt:lpstr>
      <vt:lpstr>Jupyter at the CRC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Shell Scripting</dc:title>
  <dc:creator>Minster, Ryan L</dc:creator>
  <cp:lastModifiedBy>Minster, Ryan</cp:lastModifiedBy>
  <cp:revision>566</cp:revision>
  <dcterms:created xsi:type="dcterms:W3CDTF">2018-11-09T14:32:06Z</dcterms:created>
  <dcterms:modified xsi:type="dcterms:W3CDTF">2025-03-18T16:26:11Z</dcterms:modified>
</cp:coreProperties>
</file>