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notesMasterIdLst>
    <p:notesMasterId r:id="rId21"/>
  </p:notesMasterIdLst>
  <p:sldIdLst>
    <p:sldId id="256" r:id="rId2"/>
    <p:sldId id="298" r:id="rId3"/>
    <p:sldId id="257" r:id="rId4"/>
    <p:sldId id="295" r:id="rId5"/>
    <p:sldId id="296" r:id="rId6"/>
    <p:sldId id="291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7" r:id="rId15"/>
    <p:sldId id="266" r:id="rId16"/>
    <p:sldId id="268" r:id="rId17"/>
    <p:sldId id="269" r:id="rId18"/>
    <p:sldId id="270" r:id="rId19"/>
    <p:sldId id="29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8"/>
    <a:srgbClr val="FFFFF0"/>
    <a:srgbClr val="FF85FF"/>
    <a:srgbClr val="FF2F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39"/>
    <p:restoredTop sz="94626"/>
  </p:normalViewPr>
  <p:slideViewPr>
    <p:cSldViewPr snapToGrid="0" snapToObjects="1">
      <p:cViewPr varScale="1">
        <p:scale>
          <a:sx n="116" d="100"/>
          <a:sy n="116" d="100"/>
        </p:scale>
        <p:origin x="5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9" d="100"/>
        <a:sy n="39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928998-BB05-874E-879C-3FBB29AC65E7}" type="datetimeFigureOut">
              <a:t>3/11/25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7E6191-75C4-684A-B956-6D9EF59C934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126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7E6191-75C4-684A-B956-6D9EF59C934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016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30DB3-4AA2-C55D-55A8-31E764A2B3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C8601A-A769-C79C-9D9A-81942BEB83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18CB1-66E5-7AC0-B74B-B05A7AD26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50B6-570D-8448-B670-1346F08DF152}" type="datetimeFigureOut">
              <a:rPr lang="en-US" smtClean="0"/>
              <a:pPr/>
              <a:t>3/11/25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0F72C-7B88-C712-876E-59B485B4D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BF756-EDA0-1BE9-2D36-AF8DBD639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676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E1C8-A55F-ED83-CBCA-B120C9537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8740C-C05F-0B27-F0E1-74EEB010A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4D1615-C5E7-3544-FBD8-430C98492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50B6-570D-8448-B670-1346F08DF152}" type="datetimeFigureOut">
              <a:rPr lang="en-US" smtClean="0"/>
              <a:pPr/>
              <a:t>3/11/25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1C4F8-58E0-577F-B6F5-F6FF81A68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BFF7AE-0D41-8920-A6BB-73CC0C523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430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A3AA5-57C2-E346-224F-1C07C42CD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1EA4D9-A42B-C2B8-F366-0AF5FCF255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C886D-B3C6-DDA9-2C54-277497D9C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50B6-570D-8448-B670-1346F08DF152}" type="datetimeFigureOut">
              <a:rPr lang="en-US" smtClean="0"/>
              <a:pPr/>
              <a:t>3/11/25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439AD-1364-6521-5892-C7EC8F983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109D3-A037-83DD-73E5-7766326C6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585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3E93D-383F-7491-83B8-966FE9499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0D85E-8320-2030-EEFC-8CEDAA4224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F22F7A-372C-DB5A-FA08-D3471EFEEA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39EBBC-3116-96A2-4DBC-EDDE76374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50B6-570D-8448-B670-1346F08DF152}" type="datetimeFigureOut">
              <a:rPr lang="en-US" smtClean="0"/>
              <a:pPr/>
              <a:t>3/11/25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42070-B5F5-1D28-75C0-7CD05EE36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BE2C3-2A1C-69F6-E171-16780AE8D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444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23C5B-F0E0-5E1B-67A2-D5D6854D2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C85113-508D-9F17-5484-B7F0927A8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35DC09-B7F8-9812-39F7-54263EF75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3D8807-BB55-0F27-11E0-89234EC3D9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8ECD70-C4C2-682C-4506-0050311605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6D744A-014D-D323-2749-BCA28F7B4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50B6-570D-8448-B670-1346F08DF152}" type="datetimeFigureOut">
              <a:rPr lang="en-US" smtClean="0"/>
              <a:pPr/>
              <a:t>3/11/25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95E5B8-E9E8-F0D8-E92D-8E2B90890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B6DFD0-2457-2C9A-605A-4910C0AEA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3637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C1BCA-DD82-0DAF-4A7E-B637E415F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3AA733-71F3-C668-BD87-71058A05E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50B6-570D-8448-B670-1346F08DF152}" type="datetimeFigureOut">
              <a:rPr lang="en-US" smtClean="0"/>
              <a:pPr/>
              <a:t>3/11/25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E32B7D-033D-A67F-85F7-0AED865E6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C86AE1-16AF-4B2A-3006-546CD096F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637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B572CD-C359-B773-1D90-EDBD79492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50B6-570D-8448-B670-1346F08DF152}" type="datetimeFigureOut">
              <a:rPr lang="en-US" smtClean="0"/>
              <a:pPr/>
              <a:t>3/11/25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1B0782-467E-5D86-6B05-AA3FA7FDD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F401FC-17EA-07D8-B35A-A56E662C2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238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F9CEA-56A4-2CDB-260D-18EC09DA8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5DF90-39C7-D569-B0D7-A4E756FC4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815B82-5399-A9AC-5A3A-C5DFC372CC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A88097-AD89-B6C3-DA86-5208057FF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50B6-570D-8448-B670-1346F08DF152}" type="datetimeFigureOut">
              <a:rPr lang="en-US" smtClean="0"/>
              <a:pPr/>
              <a:t>3/11/25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C946F4-5FFE-410E-5598-12168DB13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0235AD-60B2-82D3-9FF0-6F958AA54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268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5E3B4-F4DC-A53C-3470-C3C1E5FE8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322613-81B9-F527-B1AE-10B6EBA500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7A7ABD-3008-0AB8-9522-A8810F256A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55FC5C-77A4-9221-2525-8F0E643D9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50B6-570D-8448-B670-1346F08DF152}" type="datetimeFigureOut">
              <a:rPr lang="en-US" smtClean="0"/>
              <a:pPr/>
              <a:t>3/11/25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A695E4-3260-4EF6-AB2E-851D0DC40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B4373-7FFB-CB3B-0E94-15ACA337F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670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B543C-7DC2-A770-644A-6985E3287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45280E-EF1C-506D-90D4-7367F149C2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7E68A-BA81-95E0-1D95-A5F0E30AB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50B6-570D-8448-B670-1346F08DF152}" type="datetimeFigureOut">
              <a:rPr lang="en-US" smtClean="0"/>
              <a:pPr/>
              <a:t>3/11/25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4EF7D-D8A3-0C6B-4552-288A7127E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975EB-8556-EAA6-C66C-D0B02CC49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430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470903-76BC-949B-1C79-E3D1770E9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F69EF7-1359-653C-F1F1-4FC55F33BC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05985-D9B3-6199-681E-B1A4F008D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50B6-570D-8448-B670-1346F08DF152}" type="datetimeFigureOut">
              <a:rPr lang="en-US" smtClean="0"/>
              <a:pPr/>
              <a:t>3/11/25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E7445-6E69-DA2D-F58A-018BCAE72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9E7DA-A3D5-90DD-6355-C8C8BB50A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879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88AF46-D8E3-386D-3944-074A7336B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DA71AD-04DD-42CD-8212-89C3B3E0E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FD118-BCA5-531A-4712-1627F0B55C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0650B6-570D-8448-B670-1346F08DF152}" type="datetimeFigureOut">
              <a:rPr lang="en-US" smtClean="0"/>
              <a:pPr/>
              <a:t>3/11/25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B0C88-2D58-3B2C-2247-14D7E1E644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43809-E30D-4564-DD11-89B0589F72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1691A3-6870-964A-B880-79D78A8787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380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ptos Light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ptos Light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ptos Light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ptos Light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ptos Light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99ACB-4DB3-9F4D-9D27-EDA041F108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chemeClr val="accent1"/>
                </a:solidFill>
                <a:latin typeface="Aptos Display" panose="020B0004020202020204" pitchFamily="34" charset="0"/>
                <a:ea typeface="SF Pro Display Semibold" pitchFamily="2" charset="0"/>
              </a:rPr>
              <a:t>Machine Learning</a:t>
            </a:r>
            <a:br>
              <a:rPr lang="en-US">
                <a:solidFill>
                  <a:schemeClr val="accent1"/>
                </a:solidFill>
                <a:latin typeface="Aptos Display" panose="020B0004020202020204" pitchFamily="34" charset="0"/>
                <a:ea typeface="SF Pro Display Semibold" pitchFamily="2" charset="0"/>
              </a:rPr>
            </a:br>
            <a:r>
              <a:rPr lang="en-US">
                <a:solidFill>
                  <a:schemeClr val="accent1"/>
                </a:solidFill>
                <a:latin typeface="Aptos Display" panose="020B0004020202020204" pitchFamily="34" charset="0"/>
                <a:ea typeface="SF Pro Display Semibold" pitchFamily="2" charset="0"/>
              </a:rPr>
              <a:t>Algorithms 1</a:t>
            </a:r>
            <a:br>
              <a:rPr lang="en-US" b="1" dirty="0">
                <a:solidFill>
                  <a:schemeClr val="accent1"/>
                </a:solidFill>
                <a:latin typeface="Aptos" panose="020B0004020202020204" pitchFamily="34" charset="0"/>
                <a:ea typeface="SF Pro Display Semibold" pitchFamily="2" charset="0"/>
              </a:rPr>
            </a:br>
            <a:endParaRPr lang="en-US" b="1" dirty="0">
              <a:solidFill>
                <a:schemeClr val="accent1"/>
              </a:solidFill>
              <a:latin typeface="Aptos" panose="020B0004020202020204" pitchFamily="34" charset="0"/>
              <a:ea typeface="SF Pro Display Semibold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13BE67-90FF-404E-BD98-665F505C95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55873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</a:rPr>
              <a:t>HUGEN 2078</a:t>
            </a:r>
          </a:p>
          <a:p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</a:rPr>
              <a:t>Genomic Data Advanced Topics in Bioinformatics</a:t>
            </a:r>
          </a:p>
          <a:p>
            <a:endParaRPr lang="en-US" dirty="0">
              <a:solidFill>
                <a:schemeClr val="accent1"/>
              </a:solidFill>
            </a:endParaRPr>
          </a:p>
          <a:p>
            <a:r>
              <a:rPr lang="en-US" dirty="0"/>
              <a:t>Ryan L. Minster, PhD, MSIS</a:t>
            </a:r>
          </a:p>
          <a:p>
            <a:r>
              <a:rPr lang="en-US" dirty="0"/>
              <a:t>March 11, 2025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588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8B9C5-6A7E-C1A7-ECA3-A0D15A948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324DD-93A1-9EAC-C6A0-2C2E7680C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Aptos Display" panose="020B0004020202020204" pitchFamily="34" charset="0"/>
              </a:rPr>
              <a:t>Learning Objectives</a:t>
            </a:r>
            <a:endParaRPr lang="en-US" sz="4000" kern="1200" dirty="0">
              <a:solidFill>
                <a:schemeClr val="accent1"/>
              </a:solidFill>
              <a:latin typeface="Aptos Display" panose="020B0004020202020204" pitchFamily="34" charset="0"/>
              <a:ea typeface="SF Pro Display Thin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9CC4E-056F-3C43-2860-C8E0A0313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At the end of this module, students will be able to </a:t>
            </a:r>
          </a:p>
          <a:p>
            <a:r>
              <a:rPr lang="en-US" dirty="0"/>
              <a:t>Define </a:t>
            </a: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  <a:ea typeface="SF Pro Display Semibold" pitchFamily="2" charset="0"/>
              </a:rPr>
              <a:t>machine learning</a:t>
            </a:r>
          </a:p>
          <a:p>
            <a:r>
              <a:rPr lang="en-US" dirty="0"/>
              <a:t>Describe the challenges of </a:t>
            </a: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  <a:ea typeface="SF Pro Display Semibold" pitchFamily="2" charset="0"/>
              </a:rPr>
              <a:t>feature selection </a:t>
            </a:r>
            <a:r>
              <a:rPr lang="en-US" dirty="0"/>
              <a:t>and </a:t>
            </a: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  <a:ea typeface="SF Pro Display Semibold" pitchFamily="2" charset="0"/>
              </a:rPr>
              <a:t>overfitting</a:t>
            </a:r>
            <a:r>
              <a:rPr lang="en-US" dirty="0"/>
              <a:t> and how to overcome them</a:t>
            </a:r>
          </a:p>
          <a:p>
            <a:r>
              <a:rPr lang="en-US" dirty="0"/>
              <a:t>Describe the </a:t>
            </a:r>
            <a:r>
              <a:rPr lang="en-US" b="1" dirty="0">
                <a:solidFill>
                  <a:schemeClr val="accent5"/>
                </a:solidFill>
                <a:latin typeface="Aptos" panose="020B0004020202020204" pitchFamily="34" charset="0"/>
                <a:ea typeface="SF Pro Display Semibold" pitchFamily="2" charset="0"/>
              </a:rPr>
              <a:t>key classes of machine learning algorithms </a:t>
            </a:r>
            <a:r>
              <a:rPr lang="en-US" dirty="0"/>
              <a:t>and describe conceptually </a:t>
            </a:r>
            <a:r>
              <a:rPr lang="en-US" b="1" dirty="0">
                <a:solidFill>
                  <a:schemeClr val="accent5"/>
                </a:solidFill>
                <a:latin typeface="Aptos" panose="020B0004020202020204" pitchFamily="34" charset="0"/>
                <a:ea typeface="SF Pro Display Semibold" pitchFamily="2" charset="0"/>
              </a:rPr>
              <a:t>how they function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242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A5C50-C6E4-8F4B-9476-A1621E62E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Aptos Display" panose="020B0004020202020204" pitchFamily="34" charset="0"/>
              </a:rPr>
              <a:t>Machine Learning   </a:t>
            </a:r>
            <a:r>
              <a:rPr lang="en-US" sz="4000" b="0" kern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ptos Light" panose="020B0004020202020204" pitchFamily="34" charset="0"/>
                <a:ea typeface="SF Pro Display Thin" pitchFamily="2" charset="0"/>
              </a:rPr>
              <a:t>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7C14D-CBB8-DF4A-B068-46DB9AADB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​</a:t>
            </a: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  <a:ea typeface="SF Pro Display Semibold" pitchFamily="2" charset="0"/>
              </a:rPr>
              <a:t>Artificial Intelligence   </a:t>
            </a:r>
            <a:r>
              <a:rPr lang="en-US" dirty="0"/>
              <a:t>use of machines to reason, solve problems, represent knowledge, plan, learn, or perceive</a:t>
            </a:r>
            <a:endParaRPr lang="en-US" b="1" dirty="0">
              <a:solidFill>
                <a:schemeClr val="accent4">
                  <a:lumMod val="60000"/>
                  <a:lumOff val="40000"/>
                </a:schemeClr>
              </a:solidFill>
              <a:latin typeface="Aptos" panose="020B0004020202020204" pitchFamily="34" charset="0"/>
              <a:ea typeface="SF Pro Display Semibold" pitchFamily="2" charset="0"/>
            </a:endParaRPr>
          </a:p>
          <a:p>
            <a:r>
              <a:rPr lang="en-US" dirty="0"/>
              <a:t>​</a:t>
            </a: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  <a:ea typeface="SF Pro Display Semibold" pitchFamily="2" charset="0"/>
              </a:rPr>
              <a:t>Machine Learning   </a:t>
            </a:r>
            <a:r>
              <a:rPr lang="en-US" dirty="0"/>
              <a:t>algorithms that classify, predict, and find patterns</a:t>
            </a:r>
          </a:p>
          <a:p>
            <a:r>
              <a:rPr lang="en-US" dirty="0"/>
              <a:t>​</a:t>
            </a: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  <a:ea typeface="SF Pro Display Semibold" pitchFamily="2" charset="0"/>
              </a:rPr>
              <a:t>Deep Learning   </a:t>
            </a:r>
            <a:r>
              <a:rPr lang="en-US" dirty="0"/>
              <a:t>machine learning algorithms that implement multiple layers within a network</a:t>
            </a:r>
          </a:p>
          <a:p>
            <a:r>
              <a:rPr lang="en-US" dirty="0"/>
              <a:t>​</a:t>
            </a: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  <a:ea typeface="SF Pro Display Semibold" pitchFamily="2" charset="0"/>
              </a:rPr>
              <a:t>Statistical Learning   </a:t>
            </a:r>
            <a:r>
              <a:rPr lang="en-US" dirty="0"/>
              <a:t>statistics combined with machine learning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943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A1D41-0F8C-A536-2692-9C554E9E7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0FE07-5909-78CF-AD8D-FFA88A59B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Aptos Display" panose="020B0004020202020204" pitchFamily="34" charset="0"/>
              </a:rPr>
              <a:t>Machine Learning   </a:t>
            </a:r>
            <a:r>
              <a:rPr lang="en-US" sz="4000" b="0" kern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ptos Light" panose="020B0004020202020204" pitchFamily="34" charset="0"/>
                <a:ea typeface="SF Pro Display Thin" pitchFamily="2" charset="0"/>
              </a:rPr>
              <a:t>feature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30933-A940-599F-2DBC-02925AE13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61615"/>
          </a:xfrm>
        </p:spPr>
        <p:txBody>
          <a:bodyPr>
            <a:normAutofit/>
          </a:bodyPr>
          <a:lstStyle/>
          <a:p>
            <a:r>
              <a:rPr lang="en-US" dirty="0"/>
              <a:t>​</a:t>
            </a: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  <a:ea typeface="SF Pro Display Semibold" pitchFamily="2" charset="0"/>
              </a:rPr>
              <a:t>Feature Selection   </a:t>
            </a:r>
            <a:r>
              <a:rPr lang="en-US" dirty="0"/>
              <a:t>processes for choosing input variables (features) for the algorithm</a:t>
            </a:r>
            <a:endParaRPr lang="en-US" b="1" dirty="0">
              <a:solidFill>
                <a:schemeClr val="accent4">
                  <a:lumMod val="60000"/>
                  <a:lumOff val="40000"/>
                </a:schemeClr>
              </a:solidFill>
              <a:latin typeface="Aptos" panose="020B0004020202020204" pitchFamily="34" charset="0"/>
              <a:ea typeface="SF Pro Display Semibold" pitchFamily="2" charset="0"/>
            </a:endParaRPr>
          </a:p>
          <a:p>
            <a:pPr lvl="1"/>
            <a:r>
              <a:rPr lang="en-US" sz="2800" dirty="0"/>
              <a:t>​</a:t>
            </a:r>
            <a:r>
              <a:rPr lang="en-US" sz="2800" b="1" dirty="0">
                <a:solidFill>
                  <a:schemeClr val="accent1"/>
                </a:solidFill>
                <a:latin typeface="Aptos" panose="020B0004020202020204" pitchFamily="34" charset="0"/>
                <a:ea typeface="SF Pro Display Semibold" pitchFamily="2" charset="0"/>
              </a:rPr>
              <a:t>Feature Reduction   </a:t>
            </a:r>
            <a:r>
              <a:rPr lang="en-US" sz="2800" dirty="0"/>
              <a:t>alternative processes where input variables are recombined in ways that make them more useful</a:t>
            </a:r>
          </a:p>
          <a:p>
            <a:r>
              <a:rPr lang="en-US" dirty="0"/>
              <a:t>Restricting the number of inputs can reduce computational burden and stabilize parameter estimates</a:t>
            </a:r>
          </a:p>
          <a:p>
            <a:endParaRPr lang="en-US" sz="3200" dirty="0"/>
          </a:p>
          <a:p>
            <a:r>
              <a:rPr lang="en-US" dirty="0"/>
              <a:t>​</a:t>
            </a: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  <a:ea typeface="SF Pro Display Semibold" pitchFamily="2" charset="0"/>
              </a:rPr>
              <a:t>Manual Selection</a:t>
            </a:r>
          </a:p>
          <a:p>
            <a:r>
              <a:rPr lang="en-US" dirty="0"/>
              <a:t>​</a:t>
            </a: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  <a:ea typeface="SF Pro Display Semibold" pitchFamily="2" charset="0"/>
              </a:rPr>
              <a:t>Programmatic Selection</a:t>
            </a:r>
          </a:p>
          <a:p>
            <a:r>
              <a:rPr lang="en-US" dirty="0"/>
              <a:t>​</a:t>
            </a: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  <a:ea typeface="SF Pro Display Semibold" pitchFamily="2" charset="0"/>
              </a:rPr>
              <a:t>Intrinsic Selection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221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26085-628E-7631-F9C8-B5C3CD4EB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2156C-50E6-6E9A-7521-AE52B9E39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Aptos Display" panose="020B0004020202020204" pitchFamily="34" charset="0"/>
              </a:rPr>
              <a:t>Machine Learning   </a:t>
            </a:r>
            <a:r>
              <a:rPr lang="en-US" sz="4000" b="0" kern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Aptos Light" panose="020B0004020202020204" pitchFamily="34" charset="0"/>
                <a:ea typeface="SF Pro Display Thin" pitchFamily="2" charset="0"/>
              </a:rPr>
              <a:t>overfitting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99ACF-4FB3-3F28-2209-63807937A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​</a:t>
            </a: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  <a:ea typeface="SF Pro Display Semibold" pitchFamily="2" charset="0"/>
              </a:rPr>
              <a:t>Overfitting   </a:t>
            </a:r>
            <a:r>
              <a:rPr lang="en-US" dirty="0"/>
              <a:t>the phenomenon that arises when a model works really well for one particular data set but fails to work well when applied to new data sets</a:t>
            </a:r>
          </a:p>
          <a:p>
            <a:pPr lvl="1"/>
            <a:r>
              <a:rPr lang="en-US" sz="2800" dirty="0"/>
              <a:t>​</a:t>
            </a:r>
            <a:r>
              <a:rPr lang="en-US" sz="2800" b="1" dirty="0">
                <a:solidFill>
                  <a:schemeClr val="accent1"/>
                </a:solidFill>
                <a:latin typeface="Aptos" panose="020B0004020202020204" pitchFamily="34" charset="0"/>
                <a:ea typeface="SF Pro Display Semibold" pitchFamily="2" charset="0"/>
              </a:rPr>
              <a:t>Underfitting</a:t>
            </a:r>
            <a:r>
              <a:rPr lang="en-US" sz="2800" dirty="0"/>
              <a:t> is also possible but is less commonly encountered (generally) in machine learning</a:t>
            </a:r>
          </a:p>
          <a:p>
            <a:endParaRPr lang="en-US" sz="3200" dirty="0"/>
          </a:p>
          <a:p>
            <a:r>
              <a:rPr lang="en-US" dirty="0"/>
              <a:t>​</a:t>
            </a: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  <a:ea typeface="SF Pro Display Semibold" pitchFamily="2" charset="0"/>
              </a:rPr>
              <a:t>Good Feature Selection</a:t>
            </a:r>
          </a:p>
          <a:p>
            <a:r>
              <a:rPr lang="en-US" sz="2800" dirty="0"/>
              <a:t>​</a:t>
            </a: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  <a:ea typeface="SF Pro Display Semibold" pitchFamily="2" charset="0"/>
              </a:rPr>
              <a:t>Training/Validating/Testing Paradigms</a:t>
            </a:r>
          </a:p>
          <a:p>
            <a:r>
              <a:rPr lang="en-US" sz="2800" dirty="0"/>
              <a:t>​</a:t>
            </a: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  <a:ea typeface="SF Pro Display Semibold" pitchFamily="2" charset="0"/>
              </a:rPr>
              <a:t>Model Assessment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355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1D3C3-3C4E-7444-0AA9-C16A231E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5"/>
                </a:solidFill>
                <a:latin typeface="Aptos Display" panose="020B0004020202020204" pitchFamily="34" charset="0"/>
              </a:rPr>
              <a:t>Machine Learning Approaches</a:t>
            </a:r>
            <a:r>
              <a:rPr lang="en-US" dirty="0">
                <a:solidFill>
                  <a:schemeClr val="accent5"/>
                </a:solidFill>
                <a:latin typeface="Aptos Display" panose="020B0004020202020204" pitchFamily="34" charset="0"/>
              </a:rPr>
              <a:t>, Classes, and Algorithms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4F1FEA-9032-1BBB-8414-B0ABF1F18D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185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A5C50-C6E4-8F4B-9476-A1621E62E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/>
                </a:solidFill>
                <a:latin typeface="Aptos Display" panose="020B0004020202020204" pitchFamily="34" charset="0"/>
              </a:rPr>
              <a:t>Machine Learning   </a:t>
            </a:r>
            <a:r>
              <a:rPr lang="en-US" sz="4000" b="0" kern="1200" dirty="0">
                <a:solidFill>
                  <a:schemeClr val="accent5">
                    <a:lumMod val="60000"/>
                    <a:lumOff val="40000"/>
                  </a:schemeClr>
                </a:solidFill>
                <a:latin typeface="Aptos Light" panose="020B0004020202020204" pitchFamily="34" charset="0"/>
                <a:ea typeface="SF Pro Display Thin" pitchFamily="2" charset="0"/>
              </a:rPr>
              <a:t>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7C14D-CBB8-DF4A-B068-46DB9AADB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​</a:t>
            </a:r>
            <a:r>
              <a:rPr lang="en-US" b="1" dirty="0">
                <a:solidFill>
                  <a:schemeClr val="accent5"/>
                </a:solidFill>
                <a:latin typeface="Aptos" panose="020B0004020202020204" pitchFamily="34" charset="0"/>
                <a:ea typeface="SF Pro Display Semibold" pitchFamily="2" charset="0"/>
              </a:rPr>
              <a:t>Supervised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ptos" panose="020B0004020202020204" pitchFamily="34" charset="0"/>
                <a:ea typeface="SF Pro Display Semibold" pitchFamily="2" charset="0"/>
              </a:rPr>
              <a:t>   </a:t>
            </a:r>
            <a:r>
              <a:rPr lang="en-US" dirty="0"/>
              <a:t>methods that create algorithms for classification or regression based on known classes or information</a:t>
            </a:r>
            <a:endParaRPr lang="en-US" b="1" dirty="0">
              <a:solidFill>
                <a:schemeClr val="accent4">
                  <a:lumMod val="60000"/>
                  <a:lumOff val="40000"/>
                </a:schemeClr>
              </a:solidFill>
              <a:latin typeface="Aptos" panose="020B0004020202020204" pitchFamily="34" charset="0"/>
              <a:ea typeface="SF Pro Display Semibold" pitchFamily="2" charset="0"/>
            </a:endParaRPr>
          </a:p>
          <a:p>
            <a:r>
              <a:rPr lang="en-US" dirty="0"/>
              <a:t>​</a:t>
            </a:r>
            <a:r>
              <a:rPr lang="en-US" b="1" dirty="0">
                <a:solidFill>
                  <a:schemeClr val="accent5"/>
                </a:solidFill>
                <a:latin typeface="Aptos" panose="020B0004020202020204" pitchFamily="34" charset="0"/>
                <a:ea typeface="SF Pro Display Semibold" pitchFamily="2" charset="0"/>
              </a:rPr>
              <a:t>Unsupervised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ptos" panose="020B0004020202020204" pitchFamily="34" charset="0"/>
                <a:ea typeface="SF Pro Display Semibold" pitchFamily="2" charset="0"/>
              </a:rPr>
              <a:t>   </a:t>
            </a:r>
            <a:r>
              <a:rPr lang="en-US" dirty="0"/>
              <a:t>methods that find patterns in data without prior known classes, used for clustering, dimensionality reduction, feature extraction</a:t>
            </a:r>
          </a:p>
          <a:p>
            <a:r>
              <a:rPr lang="en-US" dirty="0"/>
              <a:t>​</a:t>
            </a:r>
            <a:r>
              <a:rPr lang="en-US" b="1" dirty="0">
                <a:solidFill>
                  <a:schemeClr val="accent5"/>
                </a:solidFill>
                <a:latin typeface="Aptos" panose="020B0004020202020204" pitchFamily="34" charset="0"/>
                <a:ea typeface="SF Pro Display Semibold" pitchFamily="2" charset="0"/>
              </a:rPr>
              <a:t>Reinforcement</a:t>
            </a:r>
            <a:r>
              <a:rPr lang="en-US" dirty="0"/>
              <a:t>   methods that dynamically change algorithms based on new information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8498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A5C50-C6E4-8F4B-9476-A1621E62E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Machine Learning   </a:t>
            </a:r>
            <a:r>
              <a:rPr lang="en-US" sz="4000" b="0" kern="1200" dirty="0">
                <a:solidFill>
                  <a:schemeClr val="accent5">
                    <a:lumMod val="60000"/>
                    <a:lumOff val="40000"/>
                  </a:schemeClr>
                </a:solidFill>
                <a:latin typeface="Aptos Light" panose="020B0004020202020204" pitchFamily="34" charset="0"/>
                <a:ea typeface="SF Pro Display Thin" pitchFamily="2" charset="0"/>
              </a:rPr>
              <a:t>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7C14D-CBB8-DF4A-B068-46DB9AADB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​</a:t>
            </a:r>
            <a:r>
              <a:rPr lang="en-US" b="1" dirty="0">
                <a:solidFill>
                  <a:schemeClr val="accent5"/>
                </a:solidFill>
                <a:latin typeface="Aptos" panose="020B0004020202020204" pitchFamily="34" charset="0"/>
                <a:ea typeface="SF Pro Display Semibold" pitchFamily="2" charset="0"/>
              </a:rPr>
              <a:t>Regression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ptos" panose="020B0004020202020204" pitchFamily="34" charset="0"/>
                <a:ea typeface="SF Pro Display Semibold" pitchFamily="2" charset="0"/>
              </a:rPr>
              <a:t> </a:t>
            </a:r>
            <a:r>
              <a:rPr lang="en-US" b="1" dirty="0">
                <a:solidFill>
                  <a:schemeClr val="accent5"/>
                </a:solidFill>
                <a:latin typeface="Aptos" panose="020B0004020202020204" pitchFamily="34" charset="0"/>
                <a:ea typeface="SF Pro Display Semibold" pitchFamily="2" charset="0"/>
              </a:rPr>
              <a:t>Algorithms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ptos" panose="020B0004020202020204" pitchFamily="34" charset="0"/>
                <a:ea typeface="SF Pro Display Semibold" pitchFamily="2" charset="0"/>
              </a:rPr>
              <a:t>   </a:t>
            </a:r>
            <a:r>
              <a:rPr lang="en-US" dirty="0"/>
              <a:t>models relationships between variables</a:t>
            </a:r>
            <a:endParaRPr lang="en-US" b="1" dirty="0">
              <a:solidFill>
                <a:schemeClr val="accent4">
                  <a:lumMod val="60000"/>
                  <a:lumOff val="40000"/>
                </a:schemeClr>
              </a:solidFill>
              <a:latin typeface="Aptos" panose="020B0004020202020204" pitchFamily="34" charset="0"/>
              <a:ea typeface="SF Pro Display Semibold" pitchFamily="2" charset="0"/>
            </a:endParaRPr>
          </a:p>
          <a:p>
            <a:pPr lvl="1"/>
            <a:r>
              <a:rPr lang="en-US" sz="2800" dirty="0"/>
              <a:t>​​</a:t>
            </a:r>
            <a:r>
              <a:rPr lang="en-US" sz="2800" b="1" dirty="0">
                <a:solidFill>
                  <a:schemeClr val="accent5"/>
                </a:solidFill>
                <a:latin typeface="Aptos" panose="020B0004020202020204" pitchFamily="34" charset="0"/>
                <a:ea typeface="SF Pro Display Semibold" pitchFamily="2" charset="0"/>
              </a:rPr>
              <a:t>Linear Regression</a:t>
            </a:r>
          </a:p>
          <a:p>
            <a:pPr lvl="1"/>
            <a:r>
              <a:rPr lang="en-US" sz="2800" dirty="0"/>
              <a:t>​​</a:t>
            </a:r>
            <a:r>
              <a:rPr lang="en-US" sz="2800" b="1" dirty="0">
                <a:solidFill>
                  <a:schemeClr val="accent5"/>
                </a:solidFill>
                <a:latin typeface="Aptos" panose="020B0004020202020204" pitchFamily="34" charset="0"/>
                <a:ea typeface="SF Pro Display Semibold" pitchFamily="2" charset="0"/>
              </a:rPr>
              <a:t>Logistic Regression</a:t>
            </a:r>
          </a:p>
          <a:p>
            <a:pPr lvl="1"/>
            <a:r>
              <a:rPr lang="en-US" sz="2800" dirty="0"/>
              <a:t>​Stepwise Regression</a:t>
            </a:r>
          </a:p>
          <a:p>
            <a:pPr lvl="1"/>
            <a:r>
              <a:rPr lang="en-US" sz="2800" dirty="0"/>
              <a:t>​Multivariate Adaptive Regression Splines (MARS)</a:t>
            </a:r>
          </a:p>
          <a:p>
            <a:pPr lvl="1"/>
            <a:r>
              <a:rPr lang="en-US" sz="2800" dirty="0"/>
              <a:t>​Locally Estimated Scatterplot Smoothing (LOESS)</a:t>
            </a:r>
          </a:p>
          <a:p>
            <a:pPr lvl="1"/>
            <a:endParaRPr lang="en-US" sz="2800" dirty="0"/>
          </a:p>
          <a:p>
            <a:pPr lvl="1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79340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A5C50-C6E4-8F4B-9476-A1621E62E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Machine Learning   </a:t>
            </a:r>
            <a:r>
              <a:rPr lang="en-US" sz="4000" b="0" kern="1200" dirty="0">
                <a:solidFill>
                  <a:schemeClr val="accent5">
                    <a:lumMod val="60000"/>
                    <a:lumOff val="40000"/>
                  </a:schemeClr>
                </a:solidFill>
                <a:latin typeface="Aptos Light" panose="020B0004020202020204" pitchFamily="34" charset="0"/>
                <a:ea typeface="SF Pro Display Thin" pitchFamily="2" charset="0"/>
              </a:rPr>
              <a:t>classes</a:t>
            </a:r>
            <a:endParaRPr lang="en-US" b="0" kern="1200" dirty="0">
              <a:solidFill>
                <a:schemeClr val="accent5">
                  <a:lumMod val="60000"/>
                  <a:lumOff val="40000"/>
                </a:schemeClr>
              </a:solidFill>
              <a:latin typeface="Aptos Light" panose="020B0004020202020204" pitchFamily="34" charset="0"/>
              <a:ea typeface="SF Pro Display Light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7C14D-CBB8-DF4A-B068-46DB9AADB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​</a:t>
            </a:r>
            <a:r>
              <a:rPr lang="en-US" b="1" dirty="0">
                <a:solidFill>
                  <a:schemeClr val="accent5"/>
                </a:solidFill>
                <a:latin typeface="Aptos" panose="020B0004020202020204" pitchFamily="34" charset="0"/>
                <a:ea typeface="SF Pro Display Semibold" pitchFamily="2" charset="0"/>
              </a:rPr>
              <a:t>Instance-Based Algorithms   </a:t>
            </a:r>
            <a:r>
              <a:rPr lang="en-US" dirty="0"/>
              <a:t>uses examples of training data to decide on class membership</a:t>
            </a:r>
            <a:endParaRPr lang="en-US" b="1" dirty="0">
              <a:solidFill>
                <a:schemeClr val="accent4">
                  <a:lumMod val="60000"/>
                  <a:lumOff val="40000"/>
                </a:schemeClr>
              </a:solidFill>
              <a:latin typeface="Aptos" panose="020B0004020202020204" pitchFamily="34" charset="0"/>
              <a:ea typeface="SF Pro Display Semibold" pitchFamily="2" charset="0"/>
            </a:endParaRPr>
          </a:p>
          <a:p>
            <a:pPr lvl="1"/>
            <a:r>
              <a:rPr lang="en-US" sz="2800" dirty="0"/>
              <a:t>​​</a:t>
            </a:r>
            <a:r>
              <a:rPr lang="en-US" sz="2800" b="1" i="1" dirty="0">
                <a:solidFill>
                  <a:schemeClr val="accent5"/>
                </a:solidFill>
                <a:latin typeface="Aptos" panose="020B0004020202020204" pitchFamily="34" charset="0"/>
                <a:ea typeface="SF Pro Display Semibold" pitchFamily="2" charset="0"/>
              </a:rPr>
              <a:t>k</a:t>
            </a:r>
            <a:r>
              <a:rPr lang="en-US" sz="2800" b="1" dirty="0">
                <a:solidFill>
                  <a:schemeClr val="accent5"/>
                </a:solidFill>
                <a:latin typeface="Aptos" panose="020B0004020202020204" pitchFamily="34" charset="0"/>
                <a:ea typeface="SF Pro Display Semibold" pitchFamily="2" charset="0"/>
              </a:rPr>
              <a:t>-Nearest Neighbor (</a:t>
            </a:r>
            <a:r>
              <a:rPr lang="en-US" sz="2800" b="1" i="1" dirty="0">
                <a:solidFill>
                  <a:schemeClr val="accent5"/>
                </a:solidFill>
                <a:latin typeface="Aptos" panose="020B0004020202020204" pitchFamily="34" charset="0"/>
                <a:ea typeface="SF Pro Display Semibold" pitchFamily="2" charset="0"/>
              </a:rPr>
              <a:t>k</a:t>
            </a:r>
            <a:r>
              <a:rPr lang="en-US" sz="2800" b="1" dirty="0">
                <a:solidFill>
                  <a:schemeClr val="accent5"/>
                </a:solidFill>
                <a:latin typeface="Aptos" panose="020B0004020202020204" pitchFamily="34" charset="0"/>
                <a:ea typeface="SF Pro Display Semibold" pitchFamily="2" charset="0"/>
              </a:rPr>
              <a:t>-NN)</a:t>
            </a:r>
          </a:p>
          <a:p>
            <a:pPr lvl="1"/>
            <a:r>
              <a:rPr lang="en-US" sz="2800" dirty="0"/>
              <a:t>​</a:t>
            </a:r>
            <a:r>
              <a:rPr lang="en-US" sz="2800" b="1" dirty="0">
                <a:solidFill>
                  <a:schemeClr val="accent5"/>
                </a:solidFill>
                <a:latin typeface="Aptos" panose="020B0004020202020204" pitchFamily="34" charset="0"/>
                <a:ea typeface="SF Pro Display Semibold" pitchFamily="2" charset="0"/>
              </a:rPr>
              <a:t>Support Vector Machines (SVM)</a:t>
            </a:r>
          </a:p>
          <a:p>
            <a:pPr lvl="1"/>
            <a:r>
              <a:rPr lang="en-US" sz="2800" dirty="0"/>
              <a:t>Learning Vector Quantization (LVQ)</a:t>
            </a:r>
          </a:p>
          <a:p>
            <a:pPr lvl="1"/>
            <a:r>
              <a:rPr lang="en-US" sz="2800" dirty="0"/>
              <a:t>Self-Organizing Map (SOM)</a:t>
            </a:r>
          </a:p>
          <a:p>
            <a:pPr lvl="1"/>
            <a:r>
              <a:rPr lang="en-US" sz="2800" dirty="0"/>
              <a:t>Locally Weighted Learning (LWL)</a:t>
            </a:r>
          </a:p>
          <a:p>
            <a:pPr lvl="1"/>
            <a:endParaRPr lang="en-US" sz="2800" dirty="0"/>
          </a:p>
          <a:p>
            <a:pPr lvl="1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70791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A5C50-C6E4-8F4B-9476-A1621E62E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Machine Learning   </a:t>
            </a:r>
            <a:r>
              <a:rPr lang="en-US" sz="4000" b="0" kern="1200" dirty="0">
                <a:solidFill>
                  <a:schemeClr val="accent5">
                    <a:lumMod val="60000"/>
                    <a:lumOff val="40000"/>
                  </a:schemeClr>
                </a:solidFill>
                <a:latin typeface="Aptos Light" panose="020B0004020202020204" pitchFamily="34" charset="0"/>
                <a:ea typeface="SF Pro Display Thin" pitchFamily="2" charset="0"/>
              </a:rPr>
              <a:t>classes</a:t>
            </a:r>
            <a:endParaRPr lang="en-US" b="0" kern="1200" dirty="0">
              <a:solidFill>
                <a:schemeClr val="accent5">
                  <a:lumMod val="60000"/>
                  <a:lumOff val="40000"/>
                </a:schemeClr>
              </a:solidFill>
              <a:latin typeface="Aptos Light" panose="020B0004020202020204" pitchFamily="34" charset="0"/>
              <a:ea typeface="SF Pro Display Light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7C14D-CBB8-DF4A-B068-46DB9AADB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​</a:t>
            </a:r>
            <a:r>
              <a:rPr lang="en-US" b="1" dirty="0">
                <a:solidFill>
                  <a:schemeClr val="accent5"/>
                </a:solidFill>
                <a:latin typeface="Aptos" panose="020B0004020202020204" pitchFamily="34" charset="0"/>
                <a:ea typeface="SF Pro Display Semibold" pitchFamily="2" charset="0"/>
              </a:rPr>
              <a:t>Regularization Algorithms   </a:t>
            </a:r>
            <a:r>
              <a:rPr lang="en-US" dirty="0"/>
              <a:t>extension of regression methods that favor simpler models over complex</a:t>
            </a:r>
            <a:endParaRPr lang="en-US" b="1" dirty="0">
              <a:solidFill>
                <a:schemeClr val="accent4">
                  <a:lumMod val="60000"/>
                  <a:lumOff val="40000"/>
                </a:schemeClr>
              </a:solidFill>
              <a:latin typeface="Aptos" panose="020B0004020202020204" pitchFamily="34" charset="0"/>
              <a:ea typeface="SF Pro Display Semibold" pitchFamily="2" charset="0"/>
            </a:endParaRPr>
          </a:p>
          <a:p>
            <a:pPr lvl="1"/>
            <a:r>
              <a:rPr lang="en-US" sz="2800" dirty="0"/>
              <a:t>Ridge Regression</a:t>
            </a:r>
          </a:p>
          <a:p>
            <a:pPr lvl="1"/>
            <a:r>
              <a:rPr lang="en-US" sz="2800" dirty="0"/>
              <a:t>Least Absolute Shrinkage and Selection Operator (LASSO)</a:t>
            </a:r>
          </a:p>
          <a:p>
            <a:pPr lvl="1"/>
            <a:r>
              <a:rPr lang="en-US" sz="2800" dirty="0"/>
              <a:t>Elastic Net</a:t>
            </a:r>
          </a:p>
          <a:p>
            <a:pPr lvl="1"/>
            <a:r>
              <a:rPr lang="en-US" sz="2800" dirty="0"/>
              <a:t>Least-Angle Regression (LARS)</a:t>
            </a:r>
          </a:p>
          <a:p>
            <a:pPr lvl="1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83035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A5C50-C6E4-8F4B-9476-A1621E62E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Machine Learning   </a:t>
            </a:r>
            <a:r>
              <a:rPr lang="en-US" sz="4000" b="0" kern="1200" dirty="0">
                <a:solidFill>
                  <a:schemeClr val="accent5">
                    <a:lumMod val="60000"/>
                    <a:lumOff val="40000"/>
                  </a:schemeClr>
                </a:solidFill>
                <a:latin typeface="Aptos Light" panose="020B0004020202020204" pitchFamily="34" charset="0"/>
                <a:ea typeface="SF Pro Display Thin" pitchFamily="2" charset="0"/>
              </a:rPr>
              <a:t>classes</a:t>
            </a:r>
            <a:endParaRPr lang="en-US" b="0" kern="1200" dirty="0">
              <a:solidFill>
                <a:schemeClr val="accent5">
                  <a:lumMod val="60000"/>
                  <a:lumOff val="40000"/>
                </a:schemeClr>
              </a:solidFill>
              <a:latin typeface="Aptos Light" panose="020B0004020202020204" pitchFamily="34" charset="0"/>
              <a:ea typeface="SF Pro Display Light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7C14D-CBB8-DF4A-B068-46DB9AADB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​</a:t>
            </a:r>
            <a:r>
              <a:rPr lang="en-US" b="1" dirty="0">
                <a:solidFill>
                  <a:schemeClr val="accent5"/>
                </a:solidFill>
                <a:latin typeface="Aptos" panose="020B0004020202020204" pitchFamily="34" charset="0"/>
                <a:ea typeface="SF Pro Display Semibold" pitchFamily="2" charset="0"/>
              </a:rPr>
              <a:t>Decision Tree Algorithms   </a:t>
            </a:r>
            <a:r>
              <a:rPr lang="en-US" dirty="0"/>
              <a:t>models are based on values of attributes of the data</a:t>
            </a:r>
            <a:endParaRPr lang="en-US" b="1" dirty="0">
              <a:solidFill>
                <a:schemeClr val="accent4">
                  <a:lumMod val="60000"/>
                  <a:lumOff val="40000"/>
                </a:schemeClr>
              </a:solidFill>
              <a:latin typeface="Aptos" panose="020B0004020202020204" pitchFamily="34" charset="0"/>
              <a:ea typeface="SF Pro Display Semibold" pitchFamily="2" charset="0"/>
            </a:endParaRPr>
          </a:p>
          <a:p>
            <a:pPr lvl="1"/>
            <a:r>
              <a:rPr lang="en-US" sz="2800" b="1" dirty="0">
                <a:latin typeface="Aptos" panose="020B0004020202020204" pitchFamily="34" charset="0"/>
                <a:ea typeface="SF Pro Display Semibold" pitchFamily="2" charset="0"/>
              </a:rPr>
              <a:t>​</a:t>
            </a:r>
            <a:r>
              <a:rPr lang="en-US" sz="2800" b="1" dirty="0">
                <a:solidFill>
                  <a:schemeClr val="accent5"/>
                </a:solidFill>
                <a:latin typeface="Aptos" panose="020B0004020202020204" pitchFamily="34" charset="0"/>
                <a:ea typeface="SF Pro Display Semibold" pitchFamily="2" charset="0"/>
              </a:rPr>
              <a:t>C4.5</a:t>
            </a:r>
            <a:r>
              <a:rPr lang="en-US" sz="2800" dirty="0">
                <a:solidFill>
                  <a:schemeClr val="accent5"/>
                </a:solidFill>
              </a:rPr>
              <a:t> </a:t>
            </a:r>
            <a:r>
              <a:rPr lang="en-US" sz="2800" dirty="0"/>
              <a:t>and C5.0</a:t>
            </a:r>
          </a:p>
          <a:p>
            <a:pPr lvl="1"/>
            <a:r>
              <a:rPr lang="en-US" sz="2800" b="1" dirty="0">
                <a:latin typeface="Aptos" panose="020B0004020202020204" pitchFamily="34" charset="0"/>
                <a:ea typeface="SF Pro Display Semibold" pitchFamily="2" charset="0"/>
              </a:rPr>
              <a:t>​</a:t>
            </a:r>
            <a:r>
              <a:rPr lang="en-US" sz="2800" b="1" dirty="0">
                <a:solidFill>
                  <a:schemeClr val="accent5"/>
                </a:solidFill>
                <a:latin typeface="Aptos" panose="020B0004020202020204" pitchFamily="34" charset="0"/>
                <a:ea typeface="SF Pro Display Semibold" pitchFamily="2" charset="0"/>
              </a:rPr>
              <a:t>Classification and Regression Tree (CART)</a:t>
            </a:r>
          </a:p>
          <a:p>
            <a:pPr lvl="1"/>
            <a:r>
              <a:rPr lang="en-US" sz="2800" dirty="0"/>
              <a:t>Iterative </a:t>
            </a:r>
            <a:r>
              <a:rPr lang="en-US" sz="2800" dirty="0" err="1"/>
              <a:t>Dichotomiser</a:t>
            </a:r>
            <a:r>
              <a:rPr lang="en-US" sz="2800" dirty="0"/>
              <a:t> 3 (ID3)</a:t>
            </a:r>
          </a:p>
          <a:p>
            <a:pPr lvl="1"/>
            <a:r>
              <a:rPr lang="en-US" sz="2800" dirty="0"/>
              <a:t>χ² Automatic Interaction Detection (CHAID)</a:t>
            </a:r>
          </a:p>
          <a:p>
            <a:pPr lvl="1"/>
            <a:r>
              <a:rPr lang="en-US" sz="2800" dirty="0"/>
              <a:t>Decision Stump</a:t>
            </a:r>
          </a:p>
          <a:p>
            <a:pPr lvl="1"/>
            <a:r>
              <a:rPr lang="en-US" sz="2800" dirty="0"/>
              <a:t>M5</a:t>
            </a:r>
          </a:p>
          <a:p>
            <a:pPr lvl="1"/>
            <a:r>
              <a:rPr lang="en-US" sz="2800" dirty="0"/>
              <a:t>Conditional Decision Trees</a:t>
            </a:r>
          </a:p>
        </p:txBody>
      </p:sp>
    </p:spTree>
    <p:extLst>
      <p:ext uri="{BB962C8B-B14F-4D97-AF65-F5344CB8AC3E}">
        <p14:creationId xmlns:p14="http://schemas.microsoft.com/office/powerpoint/2010/main" val="550118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A5C50-C6E4-8F4B-9476-A1621E62E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Machine Learning   </a:t>
            </a:r>
            <a:r>
              <a:rPr lang="en-US" sz="4000" b="0" kern="1200" dirty="0">
                <a:solidFill>
                  <a:schemeClr val="accent5">
                    <a:lumMod val="60000"/>
                    <a:lumOff val="40000"/>
                  </a:schemeClr>
                </a:solidFill>
                <a:latin typeface="Aptos Light" panose="020B0004020202020204" pitchFamily="34" charset="0"/>
                <a:ea typeface="SF Pro Display Thin" pitchFamily="2" charset="0"/>
              </a:rPr>
              <a:t>classes</a:t>
            </a:r>
            <a:endParaRPr lang="en-US" b="0" kern="1200" dirty="0">
              <a:solidFill>
                <a:schemeClr val="accent5">
                  <a:lumMod val="60000"/>
                  <a:lumOff val="40000"/>
                </a:schemeClr>
              </a:solidFill>
              <a:latin typeface="Aptos Light" panose="020B0004020202020204" pitchFamily="34" charset="0"/>
              <a:ea typeface="SF Pro Display Light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7C14D-CBB8-DF4A-B068-46DB9AADB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​</a:t>
            </a:r>
            <a:r>
              <a:rPr lang="en-US" b="1" dirty="0">
                <a:solidFill>
                  <a:schemeClr val="accent5"/>
                </a:solidFill>
                <a:latin typeface="Aptos" panose="020B0004020202020204" pitchFamily="34" charset="0"/>
                <a:ea typeface="SF Pro Display Semibold" pitchFamily="2" charset="0"/>
              </a:rPr>
              <a:t>Bayesian Algorithms   </a:t>
            </a:r>
            <a:r>
              <a:rPr lang="en-US" dirty="0"/>
              <a:t>explicitly apply Bayes’ Theorem for classification</a:t>
            </a:r>
            <a:endParaRPr lang="en-US" b="1" dirty="0">
              <a:solidFill>
                <a:schemeClr val="accent4">
                  <a:lumMod val="60000"/>
                  <a:lumOff val="40000"/>
                </a:schemeClr>
              </a:solidFill>
              <a:latin typeface="Aptos" panose="020B0004020202020204" pitchFamily="34" charset="0"/>
              <a:ea typeface="SF Pro Display Semibold" pitchFamily="2" charset="0"/>
            </a:endParaRPr>
          </a:p>
          <a:p>
            <a:pPr lvl="1"/>
            <a:r>
              <a:rPr lang="en-US" sz="2800" b="1" dirty="0">
                <a:latin typeface="Aptos" panose="020B0004020202020204" pitchFamily="34" charset="0"/>
                <a:ea typeface="SF Pro Display Semibold" pitchFamily="2" charset="0"/>
              </a:rPr>
              <a:t>​</a:t>
            </a:r>
            <a:r>
              <a:rPr lang="en-US" sz="2800" b="1" dirty="0">
                <a:solidFill>
                  <a:schemeClr val="accent5"/>
                </a:solidFill>
                <a:latin typeface="Aptos" panose="020B0004020202020204" pitchFamily="34" charset="0"/>
                <a:ea typeface="SF Pro Display Semibold" pitchFamily="2" charset="0"/>
              </a:rPr>
              <a:t>Naïve Bayes</a:t>
            </a:r>
          </a:p>
          <a:p>
            <a:pPr lvl="1"/>
            <a:r>
              <a:rPr lang="en-US" sz="2800" dirty="0"/>
              <a:t>Gaussian Naive Bayes</a:t>
            </a:r>
          </a:p>
          <a:p>
            <a:pPr lvl="1"/>
            <a:r>
              <a:rPr lang="en-US" sz="2800" dirty="0"/>
              <a:t>Multinomial Naive Bayes</a:t>
            </a:r>
          </a:p>
          <a:p>
            <a:pPr lvl="1"/>
            <a:r>
              <a:rPr lang="en-US" sz="2800" dirty="0"/>
              <a:t>Averaged One-Dependence Estimators (AODE)</a:t>
            </a:r>
          </a:p>
          <a:p>
            <a:pPr lvl="1"/>
            <a:r>
              <a:rPr lang="en-US" sz="2800" dirty="0"/>
              <a:t>Bayesian Belief Network (BBN)</a:t>
            </a:r>
          </a:p>
          <a:p>
            <a:pPr lvl="1"/>
            <a:r>
              <a:rPr lang="en-US" sz="2800" dirty="0"/>
              <a:t>Bayesian Network (BN)</a:t>
            </a:r>
          </a:p>
        </p:txBody>
      </p:sp>
    </p:spTree>
    <p:extLst>
      <p:ext uri="{BB962C8B-B14F-4D97-AF65-F5344CB8AC3E}">
        <p14:creationId xmlns:p14="http://schemas.microsoft.com/office/powerpoint/2010/main" val="1934613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A5C50-C6E4-8F4B-9476-A1621E62E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Machine Learning   </a:t>
            </a:r>
            <a:r>
              <a:rPr lang="en-US" sz="4000" b="0" kern="1200" dirty="0">
                <a:solidFill>
                  <a:schemeClr val="accent5">
                    <a:lumMod val="60000"/>
                    <a:lumOff val="40000"/>
                  </a:schemeClr>
                </a:solidFill>
                <a:latin typeface="Aptos Light" panose="020B0004020202020204" pitchFamily="34" charset="0"/>
                <a:ea typeface="SF Pro Display Thin" pitchFamily="2" charset="0"/>
              </a:rPr>
              <a:t>classes</a:t>
            </a:r>
            <a:endParaRPr lang="en-US" b="0" kern="1200" dirty="0">
              <a:solidFill>
                <a:schemeClr val="accent5">
                  <a:lumMod val="60000"/>
                  <a:lumOff val="40000"/>
                </a:schemeClr>
              </a:solidFill>
              <a:latin typeface="Aptos Light" panose="020B0004020202020204" pitchFamily="34" charset="0"/>
              <a:ea typeface="SF Pro Display Light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7C14D-CBB8-DF4A-B068-46DB9AADB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​</a:t>
            </a:r>
            <a:r>
              <a:rPr lang="en-US" b="1" dirty="0">
                <a:solidFill>
                  <a:schemeClr val="accent5"/>
                </a:solidFill>
                <a:latin typeface="Aptos" panose="020B0004020202020204" pitchFamily="34" charset="0"/>
                <a:ea typeface="SF Pro Display Semibold" pitchFamily="2" charset="0"/>
              </a:rPr>
              <a:t>Clustering Algorithms   </a:t>
            </a:r>
            <a:r>
              <a:rPr lang="en-US" dirty="0"/>
              <a:t>use the inherent structure in the data to organize the data into groups of maximal commonality</a:t>
            </a:r>
            <a:endParaRPr lang="en-US" b="1" dirty="0">
              <a:solidFill>
                <a:schemeClr val="accent4">
                  <a:lumMod val="60000"/>
                  <a:lumOff val="40000"/>
                </a:schemeClr>
              </a:solidFill>
              <a:latin typeface="Aptos" panose="020B0004020202020204" pitchFamily="34" charset="0"/>
              <a:ea typeface="SF Pro Display Semibold" pitchFamily="2" charset="0"/>
            </a:endParaRPr>
          </a:p>
          <a:p>
            <a:pPr lvl="1"/>
            <a:r>
              <a:rPr lang="en-US" sz="2800" b="1" i="1" dirty="0">
                <a:latin typeface="Aptos" panose="020B0004020202020204" pitchFamily="34" charset="0"/>
                <a:ea typeface="SF Pro Display Semibold" pitchFamily="2" charset="0"/>
              </a:rPr>
              <a:t>​</a:t>
            </a:r>
            <a:r>
              <a:rPr lang="en-US" sz="2800" b="1" i="1" dirty="0">
                <a:solidFill>
                  <a:schemeClr val="accent5"/>
                </a:solidFill>
                <a:latin typeface="Aptos" panose="020B0004020202020204" pitchFamily="34" charset="0"/>
                <a:ea typeface="SF Pro Display Semibold" pitchFamily="2" charset="0"/>
              </a:rPr>
              <a:t>k</a:t>
            </a:r>
            <a:r>
              <a:rPr lang="en-US" sz="2800" b="1" dirty="0">
                <a:solidFill>
                  <a:schemeClr val="accent5"/>
                </a:solidFill>
                <a:latin typeface="Aptos" panose="020B0004020202020204" pitchFamily="34" charset="0"/>
                <a:ea typeface="SF Pro Display Semibold" pitchFamily="2" charset="0"/>
              </a:rPr>
              <a:t>-Means</a:t>
            </a:r>
          </a:p>
          <a:p>
            <a:pPr lvl="1"/>
            <a:r>
              <a:rPr lang="en-US" sz="2800" b="1" dirty="0">
                <a:latin typeface="Aptos" panose="020B0004020202020204" pitchFamily="34" charset="0"/>
                <a:ea typeface="SF Pro Display Semibold" pitchFamily="2" charset="0"/>
              </a:rPr>
              <a:t>​</a:t>
            </a:r>
            <a:r>
              <a:rPr lang="en-US" sz="2800" b="1" dirty="0">
                <a:solidFill>
                  <a:schemeClr val="accent5"/>
                </a:solidFill>
                <a:latin typeface="Aptos" panose="020B0004020202020204" pitchFamily="34" charset="0"/>
                <a:ea typeface="SF Pro Display Semibold" pitchFamily="2" charset="0"/>
              </a:rPr>
              <a:t>Expectation Maximization (EM)</a:t>
            </a:r>
          </a:p>
          <a:p>
            <a:pPr lvl="1"/>
            <a:r>
              <a:rPr lang="en-US" sz="2800" i="1" dirty="0"/>
              <a:t>k</a:t>
            </a:r>
            <a:r>
              <a:rPr lang="en-US" sz="2800" dirty="0"/>
              <a:t>-Medians</a:t>
            </a:r>
          </a:p>
          <a:p>
            <a:pPr lvl="1"/>
            <a:r>
              <a:rPr lang="en-US" sz="2800" i="1" dirty="0"/>
              <a:t>k</a:t>
            </a:r>
            <a:r>
              <a:rPr lang="en-US" sz="2800" dirty="0"/>
              <a:t>-Medoids</a:t>
            </a:r>
          </a:p>
          <a:p>
            <a:pPr lvl="1"/>
            <a:r>
              <a:rPr lang="en-US" sz="2800" dirty="0"/>
              <a:t>Hierarchical Clustering</a:t>
            </a:r>
          </a:p>
        </p:txBody>
      </p:sp>
    </p:spTree>
    <p:extLst>
      <p:ext uri="{BB962C8B-B14F-4D97-AF65-F5344CB8AC3E}">
        <p14:creationId xmlns:p14="http://schemas.microsoft.com/office/powerpoint/2010/main" val="2767999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A5C50-C6E4-8F4B-9476-A1621E62E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Machine Learning   </a:t>
            </a:r>
            <a:r>
              <a:rPr lang="en-US" sz="4000" b="0" kern="1200" dirty="0">
                <a:solidFill>
                  <a:schemeClr val="accent5">
                    <a:lumMod val="60000"/>
                    <a:lumOff val="40000"/>
                  </a:schemeClr>
                </a:solidFill>
                <a:latin typeface="Aptos Light" panose="020B0004020202020204" pitchFamily="34" charset="0"/>
                <a:ea typeface="SF Pro Display Thin" pitchFamily="2" charset="0"/>
              </a:rPr>
              <a:t>classes</a:t>
            </a:r>
            <a:endParaRPr lang="en-US" b="0" kern="1200" dirty="0">
              <a:solidFill>
                <a:schemeClr val="accent5">
                  <a:lumMod val="60000"/>
                  <a:lumOff val="40000"/>
                </a:schemeClr>
              </a:solidFill>
              <a:latin typeface="Aptos Light" panose="020B0004020202020204" pitchFamily="34" charset="0"/>
              <a:ea typeface="SF Pro Display Light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7C14D-CBB8-DF4A-B068-46DB9AADB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​</a:t>
            </a:r>
            <a:r>
              <a:rPr lang="en-US" b="1" dirty="0">
                <a:solidFill>
                  <a:schemeClr val="accent5"/>
                </a:solidFill>
                <a:latin typeface="Aptos" panose="020B0004020202020204" pitchFamily="34" charset="0"/>
                <a:ea typeface="SF Pro Display Semibold" pitchFamily="2" charset="0"/>
              </a:rPr>
              <a:t>Artificial Neural Network Algorithms   </a:t>
            </a:r>
            <a:r>
              <a:rPr lang="en-US" dirty="0"/>
              <a:t>pattern matching with hidden layers of nodes between input and output</a:t>
            </a:r>
            <a:endParaRPr lang="en-US" b="1" dirty="0">
              <a:solidFill>
                <a:schemeClr val="accent4">
                  <a:lumMod val="60000"/>
                  <a:lumOff val="40000"/>
                </a:schemeClr>
              </a:solidFill>
              <a:latin typeface="Aptos" panose="020B0004020202020204" pitchFamily="34" charset="0"/>
              <a:ea typeface="SF Pro Display Semibold" pitchFamily="2" charset="0"/>
            </a:endParaRPr>
          </a:p>
          <a:p>
            <a:pPr lvl="1"/>
            <a:r>
              <a:rPr lang="en-US" sz="2800" dirty="0"/>
              <a:t>Perceptron</a:t>
            </a:r>
          </a:p>
          <a:p>
            <a:pPr lvl="1"/>
            <a:r>
              <a:rPr lang="en-US" sz="2800" dirty="0"/>
              <a:t>Multilayer </a:t>
            </a:r>
            <a:r>
              <a:rPr lang="en-US" sz="2800" dirty="0" err="1"/>
              <a:t>Perceptrons</a:t>
            </a:r>
            <a:r>
              <a:rPr lang="en-US" sz="2800" dirty="0"/>
              <a:t> (MLP)</a:t>
            </a:r>
          </a:p>
          <a:p>
            <a:pPr lvl="1"/>
            <a:r>
              <a:rPr lang="en-US" sz="2800" dirty="0"/>
              <a:t>Back-Propagation</a:t>
            </a:r>
          </a:p>
          <a:p>
            <a:pPr lvl="1"/>
            <a:r>
              <a:rPr lang="en-US" sz="2800" dirty="0"/>
              <a:t>Stochastic Gradient Descent</a:t>
            </a:r>
          </a:p>
          <a:p>
            <a:pPr lvl="1"/>
            <a:r>
              <a:rPr lang="en-US" sz="2800" dirty="0"/>
              <a:t>Hopfield Network</a:t>
            </a:r>
          </a:p>
          <a:p>
            <a:pPr lvl="1"/>
            <a:r>
              <a:rPr lang="en-US" sz="2800" dirty="0"/>
              <a:t>Radial Basis Function Network (RBFN)</a:t>
            </a:r>
          </a:p>
        </p:txBody>
      </p:sp>
    </p:spTree>
    <p:extLst>
      <p:ext uri="{BB962C8B-B14F-4D97-AF65-F5344CB8AC3E}">
        <p14:creationId xmlns:p14="http://schemas.microsoft.com/office/powerpoint/2010/main" val="2512738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A5C50-C6E4-8F4B-9476-A1621E62E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Machine Learning   </a:t>
            </a:r>
            <a:r>
              <a:rPr lang="en-US" sz="4000" b="0" kern="1200" dirty="0">
                <a:solidFill>
                  <a:schemeClr val="accent5">
                    <a:lumMod val="60000"/>
                    <a:lumOff val="40000"/>
                  </a:schemeClr>
                </a:solidFill>
                <a:latin typeface="Aptos Light" panose="020B0004020202020204" pitchFamily="34" charset="0"/>
                <a:ea typeface="SF Pro Display Thin" pitchFamily="2" charset="0"/>
              </a:rPr>
              <a:t>classes</a:t>
            </a:r>
            <a:endParaRPr lang="en-US" b="0" kern="1200" dirty="0">
              <a:solidFill>
                <a:schemeClr val="accent5">
                  <a:lumMod val="60000"/>
                  <a:lumOff val="40000"/>
                </a:schemeClr>
              </a:solidFill>
              <a:latin typeface="Aptos Light" panose="020B0004020202020204" pitchFamily="34" charset="0"/>
              <a:ea typeface="SF Pro Display Light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7C14D-CBB8-DF4A-B068-46DB9AADB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​</a:t>
            </a:r>
            <a:r>
              <a:rPr lang="en-US" b="1" dirty="0">
                <a:solidFill>
                  <a:schemeClr val="accent5"/>
                </a:solidFill>
                <a:latin typeface="Aptos" panose="020B0004020202020204" pitchFamily="34" charset="0"/>
                <a:ea typeface="SF Pro Display Semibold" pitchFamily="2" charset="0"/>
              </a:rPr>
              <a:t>Association Rule Learning Algorithms   </a:t>
            </a:r>
            <a:r>
              <a:rPr lang="en-US" dirty="0"/>
              <a:t>extract rules that best explain observed relationships between variables in data</a:t>
            </a:r>
            <a:endParaRPr lang="en-US" b="1" dirty="0">
              <a:solidFill>
                <a:schemeClr val="accent4">
                  <a:lumMod val="60000"/>
                  <a:lumOff val="40000"/>
                </a:schemeClr>
              </a:solidFill>
              <a:latin typeface="Aptos" panose="020B0004020202020204" pitchFamily="34" charset="0"/>
              <a:ea typeface="SF Pro Display Semibold" pitchFamily="2" charset="0"/>
            </a:endParaRPr>
          </a:p>
          <a:p>
            <a:pPr lvl="1"/>
            <a:r>
              <a:rPr lang="en-US" sz="2800" b="1" dirty="0" err="1">
                <a:solidFill>
                  <a:schemeClr val="accent5"/>
                </a:solidFill>
                <a:latin typeface="Aptos" panose="020B0004020202020204" pitchFamily="34" charset="0"/>
                <a:ea typeface="SF Pro Display Semibold" pitchFamily="2" charset="0"/>
              </a:rPr>
              <a:t>Apriori</a:t>
            </a:r>
            <a:endParaRPr lang="en-US" sz="2800" b="1" dirty="0">
              <a:solidFill>
                <a:schemeClr val="accent5"/>
              </a:solidFill>
              <a:latin typeface="Aptos" panose="020B0004020202020204" pitchFamily="34" charset="0"/>
              <a:ea typeface="SF Pro Display Semibold" pitchFamily="2" charset="0"/>
            </a:endParaRPr>
          </a:p>
          <a:p>
            <a:pPr lvl="1"/>
            <a:r>
              <a:rPr lang="en-US" sz="2800" dirty="0"/>
              <a:t>Equivalence Class Clustering and bottom-up Lattice Traversal (Eclat or ECLAT)</a:t>
            </a:r>
          </a:p>
        </p:txBody>
      </p:sp>
    </p:spTree>
    <p:extLst>
      <p:ext uri="{BB962C8B-B14F-4D97-AF65-F5344CB8AC3E}">
        <p14:creationId xmlns:p14="http://schemas.microsoft.com/office/powerpoint/2010/main" val="389366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A5C50-C6E4-8F4B-9476-A1621E62E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Machine Learning   </a:t>
            </a:r>
            <a:r>
              <a:rPr lang="en-US" sz="4000" b="0" kern="1200" dirty="0">
                <a:solidFill>
                  <a:schemeClr val="accent5">
                    <a:lumMod val="60000"/>
                    <a:lumOff val="40000"/>
                  </a:schemeClr>
                </a:solidFill>
                <a:latin typeface="Aptos Light" panose="020B0004020202020204" pitchFamily="34" charset="0"/>
                <a:ea typeface="SF Pro Display Thin" pitchFamily="2" charset="0"/>
              </a:rPr>
              <a:t>classes</a:t>
            </a:r>
            <a:endParaRPr lang="en-US" b="0" kern="1200" dirty="0">
              <a:solidFill>
                <a:schemeClr val="accent5">
                  <a:lumMod val="60000"/>
                  <a:lumOff val="40000"/>
                </a:schemeClr>
              </a:solidFill>
              <a:latin typeface="Aptos Light" panose="020B0004020202020204" pitchFamily="34" charset="0"/>
              <a:ea typeface="SF Pro Display Light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7C14D-CBB8-DF4A-B068-46DB9AADB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​</a:t>
            </a:r>
            <a:r>
              <a:rPr lang="en-US" b="1" dirty="0">
                <a:solidFill>
                  <a:schemeClr val="accent5"/>
                </a:solidFill>
                <a:latin typeface="Aptos" panose="020B0004020202020204" pitchFamily="34" charset="0"/>
                <a:ea typeface="SF Pro Display Semibold" pitchFamily="2" charset="0"/>
              </a:rPr>
              <a:t>Deep Learning Algorithms   </a:t>
            </a:r>
            <a:r>
              <a:rPr lang="en-US" dirty="0"/>
              <a:t>expansion of neural networks exploiting fast computation</a:t>
            </a:r>
            <a:endParaRPr lang="en-US" b="1" dirty="0">
              <a:solidFill>
                <a:schemeClr val="accent4">
                  <a:lumMod val="60000"/>
                  <a:lumOff val="40000"/>
                </a:schemeClr>
              </a:solidFill>
              <a:latin typeface="Aptos" panose="020B0004020202020204" pitchFamily="34" charset="0"/>
              <a:ea typeface="SF Pro Display Semibold" pitchFamily="2" charset="0"/>
            </a:endParaRPr>
          </a:p>
          <a:p>
            <a:pPr lvl="1"/>
            <a:r>
              <a:rPr lang="en-US" sz="2800" dirty="0"/>
              <a:t>Convolutional Neural Network (CNN)</a:t>
            </a:r>
          </a:p>
          <a:p>
            <a:pPr lvl="1"/>
            <a:r>
              <a:rPr lang="en-US" sz="2800" dirty="0"/>
              <a:t>Recurrent Neural Networks (RNNs)</a:t>
            </a:r>
          </a:p>
          <a:p>
            <a:pPr lvl="1"/>
            <a:r>
              <a:rPr lang="en-US" sz="2800" dirty="0"/>
              <a:t>Long Short-Term Memory Networks (LSTMs)</a:t>
            </a:r>
          </a:p>
          <a:p>
            <a:pPr lvl="1"/>
            <a:r>
              <a:rPr lang="en-US" sz="2800" dirty="0"/>
              <a:t>Stacked Auto-Encoders</a:t>
            </a:r>
          </a:p>
          <a:p>
            <a:pPr lvl="1"/>
            <a:r>
              <a:rPr lang="en-US" sz="2800" dirty="0"/>
              <a:t>Deep Boltzmann Machine (DBM)</a:t>
            </a:r>
          </a:p>
          <a:p>
            <a:pPr lvl="1"/>
            <a:r>
              <a:rPr lang="en-US" sz="2800" dirty="0"/>
              <a:t>Deep Belief Networks (DBN)</a:t>
            </a:r>
          </a:p>
        </p:txBody>
      </p:sp>
    </p:spTree>
    <p:extLst>
      <p:ext uri="{BB962C8B-B14F-4D97-AF65-F5344CB8AC3E}">
        <p14:creationId xmlns:p14="http://schemas.microsoft.com/office/powerpoint/2010/main" val="3473923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A5C50-C6E4-8F4B-9476-A1621E62E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Machine Learning   </a:t>
            </a:r>
            <a:r>
              <a:rPr lang="en-US" sz="4000" b="0" kern="1200" dirty="0">
                <a:solidFill>
                  <a:schemeClr val="accent5">
                    <a:lumMod val="60000"/>
                    <a:lumOff val="40000"/>
                  </a:schemeClr>
                </a:solidFill>
                <a:latin typeface="Aptos Light" panose="020B0004020202020204" pitchFamily="34" charset="0"/>
                <a:ea typeface="SF Pro Display Thin" pitchFamily="2" charset="0"/>
              </a:rPr>
              <a:t>classes</a:t>
            </a:r>
            <a:endParaRPr lang="en-US" b="0" kern="1200" dirty="0">
              <a:solidFill>
                <a:schemeClr val="accent5">
                  <a:lumMod val="60000"/>
                  <a:lumOff val="40000"/>
                </a:schemeClr>
              </a:solidFill>
              <a:latin typeface="Aptos Light" panose="020B0004020202020204" pitchFamily="34" charset="0"/>
              <a:ea typeface="SF Pro Display Light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7C14D-CBB8-DF4A-B068-46DB9AADB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323320"/>
          </a:xfrm>
        </p:spPr>
        <p:txBody>
          <a:bodyPr>
            <a:normAutofit/>
          </a:bodyPr>
          <a:lstStyle/>
          <a:p>
            <a:r>
              <a:rPr lang="en-US" dirty="0"/>
              <a:t>​</a:t>
            </a:r>
            <a:r>
              <a:rPr lang="en-US" b="1" dirty="0">
                <a:solidFill>
                  <a:schemeClr val="accent5"/>
                </a:solidFill>
                <a:latin typeface="Aptos" panose="020B0004020202020204" pitchFamily="34" charset="0"/>
                <a:ea typeface="SF Pro Display Semibold" pitchFamily="2" charset="0"/>
              </a:rPr>
              <a:t>Dimensionality Reduction Algorithms   </a:t>
            </a:r>
            <a:r>
              <a:rPr lang="en-US" dirty="0"/>
              <a:t>find patterns in the structure of unsupervised data</a:t>
            </a:r>
            <a:endParaRPr lang="en-US" b="1" dirty="0">
              <a:solidFill>
                <a:schemeClr val="accent4">
                  <a:lumMod val="60000"/>
                  <a:lumOff val="40000"/>
                </a:schemeClr>
              </a:solidFill>
              <a:latin typeface="Aptos" panose="020B0004020202020204" pitchFamily="34" charset="0"/>
              <a:ea typeface="SF Pro Display Semibold" pitchFamily="2" charset="0"/>
            </a:endParaRPr>
          </a:p>
          <a:p>
            <a:pPr lvl="1"/>
            <a:r>
              <a:rPr lang="en-US" sz="2800" dirty="0"/>
              <a:t>Principal Component Analysis (PCA)</a:t>
            </a:r>
          </a:p>
          <a:p>
            <a:pPr lvl="1"/>
            <a:r>
              <a:rPr lang="en-US" sz="2800" dirty="0"/>
              <a:t>Principal Component Regression (PCR)</a:t>
            </a:r>
          </a:p>
          <a:p>
            <a:pPr lvl="1"/>
            <a:r>
              <a:rPr lang="en-US" sz="2800" dirty="0"/>
              <a:t>Partial Least Squares Regression (PLSR)</a:t>
            </a:r>
          </a:p>
          <a:p>
            <a:pPr lvl="1"/>
            <a:r>
              <a:rPr lang="en-US" sz="2800" dirty="0" err="1"/>
              <a:t>Sammon</a:t>
            </a:r>
            <a:r>
              <a:rPr lang="en-US" sz="2800" dirty="0"/>
              <a:t> Mapping</a:t>
            </a:r>
          </a:p>
          <a:p>
            <a:pPr lvl="1"/>
            <a:r>
              <a:rPr lang="en-US" sz="2800" dirty="0"/>
              <a:t>Multidimensional Scaling (MDS)</a:t>
            </a:r>
          </a:p>
          <a:p>
            <a:pPr lvl="1"/>
            <a:r>
              <a:rPr lang="en-US" sz="2800" dirty="0"/>
              <a:t>Projection Pursuit</a:t>
            </a:r>
          </a:p>
          <a:p>
            <a:pPr lvl="1"/>
            <a:r>
              <a:rPr lang="en-US" sz="2800" dirty="0"/>
              <a:t>Linear Discriminant Analysis (LDA)</a:t>
            </a:r>
          </a:p>
          <a:p>
            <a:pPr lvl="1"/>
            <a:r>
              <a:rPr lang="en-US" sz="2800" dirty="0"/>
              <a:t>Mixture Discriminant Analysis (MDA)</a:t>
            </a:r>
          </a:p>
          <a:p>
            <a:pPr lvl="1"/>
            <a:r>
              <a:rPr lang="en-US" sz="2800" dirty="0"/>
              <a:t>Quadratic Discriminant Analysis (QDA)</a:t>
            </a:r>
          </a:p>
        </p:txBody>
      </p:sp>
    </p:spTree>
    <p:extLst>
      <p:ext uri="{BB962C8B-B14F-4D97-AF65-F5344CB8AC3E}">
        <p14:creationId xmlns:p14="http://schemas.microsoft.com/office/powerpoint/2010/main" val="1290745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A5C50-C6E4-8F4B-9476-A1621E62E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Machine Learning   </a:t>
            </a:r>
            <a:r>
              <a:rPr lang="en-US" sz="4000" b="0" kern="1200" dirty="0">
                <a:solidFill>
                  <a:schemeClr val="accent5">
                    <a:lumMod val="60000"/>
                    <a:lumOff val="40000"/>
                  </a:schemeClr>
                </a:solidFill>
                <a:latin typeface="Aptos Light" panose="020B0004020202020204" pitchFamily="34" charset="0"/>
                <a:ea typeface="SF Pro Display Thin" pitchFamily="2" charset="0"/>
              </a:rPr>
              <a:t>classes</a:t>
            </a:r>
            <a:endParaRPr lang="en-US" b="0" kern="1200" dirty="0">
              <a:solidFill>
                <a:schemeClr val="accent5">
                  <a:lumMod val="60000"/>
                  <a:lumOff val="40000"/>
                </a:schemeClr>
              </a:solidFill>
              <a:latin typeface="Aptos Light" panose="020B0004020202020204" pitchFamily="34" charset="0"/>
              <a:ea typeface="SF Pro Display Light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7C14D-CBB8-DF4A-B068-46DB9AADB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323320"/>
          </a:xfrm>
        </p:spPr>
        <p:txBody>
          <a:bodyPr>
            <a:normAutofit/>
          </a:bodyPr>
          <a:lstStyle/>
          <a:p>
            <a:r>
              <a:rPr lang="en-US" dirty="0"/>
              <a:t>​</a:t>
            </a:r>
            <a:r>
              <a:rPr lang="en-US" b="1" dirty="0">
                <a:solidFill>
                  <a:schemeClr val="accent5"/>
                </a:solidFill>
                <a:latin typeface="Aptos" panose="020B0004020202020204" pitchFamily="34" charset="0"/>
                <a:ea typeface="SF Pro Display Semibold" pitchFamily="2" charset="0"/>
              </a:rPr>
              <a:t>Ensemble Algorithms   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/>
              <a:t>builds models by combining multiple weaker models that are independently trained</a:t>
            </a:r>
            <a:endParaRPr lang="en-US" b="1" dirty="0">
              <a:solidFill>
                <a:schemeClr val="accent4">
                  <a:lumMod val="60000"/>
                  <a:lumOff val="40000"/>
                </a:schemeClr>
              </a:solidFill>
              <a:latin typeface="Aptos" panose="020B0004020202020204" pitchFamily="34" charset="0"/>
              <a:ea typeface="SF Pro Display Semibold" pitchFamily="2" charset="0"/>
            </a:endParaRPr>
          </a:p>
          <a:p>
            <a:pPr lvl="1"/>
            <a:r>
              <a:rPr lang="en-US" sz="2800" b="1" dirty="0">
                <a:latin typeface="Aptos" panose="020B0004020202020204" pitchFamily="34" charset="0"/>
                <a:ea typeface="SF Pro Display Semibold" pitchFamily="2" charset="0"/>
              </a:rPr>
              <a:t>​</a:t>
            </a:r>
            <a:r>
              <a:rPr lang="en-US" sz="2800" b="1" dirty="0">
                <a:solidFill>
                  <a:schemeClr val="accent5"/>
                </a:solidFill>
                <a:latin typeface="Aptos" panose="020B0004020202020204" pitchFamily="34" charset="0"/>
                <a:ea typeface="SF Pro Display Semibold" pitchFamily="2" charset="0"/>
              </a:rPr>
              <a:t>Random Forest</a:t>
            </a:r>
          </a:p>
          <a:p>
            <a:pPr lvl="1"/>
            <a:r>
              <a:rPr lang="en-US" sz="2800" dirty="0"/>
              <a:t>Boosting</a:t>
            </a:r>
          </a:p>
          <a:p>
            <a:pPr lvl="1"/>
            <a:r>
              <a:rPr lang="en-US" sz="2800" dirty="0"/>
              <a:t>Bootstrapped Aggregation (Bagging)</a:t>
            </a:r>
          </a:p>
          <a:p>
            <a:pPr lvl="1"/>
            <a:r>
              <a:rPr lang="en-US" sz="2800" b="1" dirty="0">
                <a:latin typeface="Aptos" panose="020B0004020202020204" pitchFamily="34" charset="0"/>
                <a:ea typeface="SF Pro Display Semibold" pitchFamily="2" charset="0"/>
              </a:rPr>
              <a:t>​</a:t>
            </a:r>
            <a:r>
              <a:rPr lang="en-US" sz="2800" b="1" dirty="0">
                <a:solidFill>
                  <a:schemeClr val="accent5"/>
                </a:solidFill>
                <a:latin typeface="Aptos" panose="020B0004020202020204" pitchFamily="34" charset="0"/>
                <a:ea typeface="SF Pro Display Semibold" pitchFamily="2" charset="0"/>
              </a:rPr>
              <a:t>AdaBoost</a:t>
            </a:r>
          </a:p>
          <a:p>
            <a:pPr lvl="1"/>
            <a:r>
              <a:rPr lang="en-US" sz="2800" dirty="0"/>
              <a:t>Weighted Average (Blending)</a:t>
            </a:r>
          </a:p>
          <a:p>
            <a:pPr lvl="1"/>
            <a:r>
              <a:rPr lang="en-US" sz="2800" dirty="0"/>
              <a:t>Stacked Generalization (Stacking)</a:t>
            </a:r>
          </a:p>
          <a:p>
            <a:pPr lvl="1"/>
            <a:r>
              <a:rPr lang="en-US" sz="2800" dirty="0"/>
              <a:t>Gradient Boosting Machines (GBM)</a:t>
            </a:r>
          </a:p>
          <a:p>
            <a:pPr lvl="1"/>
            <a:r>
              <a:rPr lang="en-US" sz="2800" dirty="0"/>
              <a:t>Gradient Boosted Regression Trees (GBRT)</a:t>
            </a:r>
          </a:p>
        </p:txBody>
      </p:sp>
    </p:spTree>
    <p:extLst>
      <p:ext uri="{BB962C8B-B14F-4D97-AF65-F5344CB8AC3E}">
        <p14:creationId xmlns:p14="http://schemas.microsoft.com/office/powerpoint/2010/main" val="2334290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A6916-425F-4AAD-19ED-693EB138C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A3132-47E2-BEB0-245F-AEE0A7825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Aptos Display" panose="020B0004020202020204" pitchFamily="34" charset="0"/>
              </a:rPr>
              <a:t>Learning Objectives</a:t>
            </a:r>
            <a:endParaRPr lang="en-US" sz="4000" kern="1200" dirty="0">
              <a:solidFill>
                <a:schemeClr val="accent1"/>
              </a:solidFill>
              <a:latin typeface="Aptos Display" panose="020B0004020202020204" pitchFamily="34" charset="0"/>
              <a:ea typeface="SF Pro Display Thin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79125-A244-88A8-4090-021AE4134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At the end of this module, students will be able to </a:t>
            </a:r>
          </a:p>
          <a:p>
            <a:r>
              <a:rPr lang="en-US" dirty="0"/>
              <a:t>Define </a:t>
            </a: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  <a:ea typeface="SF Pro Display Semibold" pitchFamily="2" charset="0"/>
              </a:rPr>
              <a:t>machine learning</a:t>
            </a:r>
          </a:p>
          <a:p>
            <a:r>
              <a:rPr lang="en-US" dirty="0"/>
              <a:t>Describe the challenges of </a:t>
            </a: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  <a:ea typeface="SF Pro Display Semibold" pitchFamily="2" charset="0"/>
              </a:rPr>
              <a:t>feature selection </a:t>
            </a:r>
            <a:r>
              <a:rPr lang="en-US" dirty="0"/>
              <a:t>and </a:t>
            </a: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  <a:ea typeface="SF Pro Display Semibold" pitchFamily="2" charset="0"/>
              </a:rPr>
              <a:t>overfitting</a:t>
            </a:r>
            <a:r>
              <a:rPr lang="en-US" dirty="0"/>
              <a:t> and how to overcome them</a:t>
            </a:r>
          </a:p>
          <a:p>
            <a:r>
              <a:rPr lang="en-US" dirty="0"/>
              <a:t>Describe the </a:t>
            </a:r>
            <a:r>
              <a:rPr lang="en-US" b="1" dirty="0">
                <a:solidFill>
                  <a:schemeClr val="accent5"/>
                </a:solidFill>
                <a:latin typeface="Aptos" panose="020B0004020202020204" pitchFamily="34" charset="0"/>
                <a:ea typeface="SF Pro Display Semibold" pitchFamily="2" charset="0"/>
              </a:rPr>
              <a:t>key classes of machine learning algorithms </a:t>
            </a:r>
            <a:r>
              <a:rPr lang="en-US" dirty="0"/>
              <a:t>and describe conceptually </a:t>
            </a:r>
            <a:r>
              <a:rPr lang="en-US" b="1" dirty="0">
                <a:solidFill>
                  <a:schemeClr val="accent5"/>
                </a:solidFill>
                <a:latin typeface="Aptos" panose="020B0004020202020204" pitchFamily="34" charset="0"/>
                <a:ea typeface="SF Pro Display Semibold" pitchFamily="2" charset="0"/>
              </a:rPr>
              <a:t>how they function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85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5261</TotalTime>
  <Words>815</Words>
  <Application>Microsoft Macintosh PowerPoint</Application>
  <PresentationFormat>Widescreen</PresentationFormat>
  <Paragraphs>127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Aptos Light</vt:lpstr>
      <vt:lpstr>Arial</vt:lpstr>
      <vt:lpstr>Calibri</vt:lpstr>
      <vt:lpstr>Office Theme</vt:lpstr>
      <vt:lpstr>Machine Learning Algorithms 1 </vt:lpstr>
      <vt:lpstr>Learning Objectives</vt:lpstr>
      <vt:lpstr>Machine Learning   terminology</vt:lpstr>
      <vt:lpstr>Machine Learning   feature selection</vt:lpstr>
      <vt:lpstr>Machine Learning   overfitting</vt:lpstr>
      <vt:lpstr>Machine Learning Approaches, Classes, and Algorithms</vt:lpstr>
      <vt:lpstr>Machine Learning   approaches</vt:lpstr>
      <vt:lpstr>Machine Learning   classes</vt:lpstr>
      <vt:lpstr>Machine Learning   classes</vt:lpstr>
      <vt:lpstr>Machine Learning   classes</vt:lpstr>
      <vt:lpstr>Machine Learning   classes</vt:lpstr>
      <vt:lpstr>Machine Learning   classes</vt:lpstr>
      <vt:lpstr>Machine Learning   classes</vt:lpstr>
      <vt:lpstr>Machine Learning   classes</vt:lpstr>
      <vt:lpstr>Machine Learning   classes</vt:lpstr>
      <vt:lpstr>Machine Learning   classes</vt:lpstr>
      <vt:lpstr>Machine Learning   classes</vt:lpstr>
      <vt:lpstr>Machine Learning   classes</vt:lpstr>
      <vt:lpstr>Learning Objectives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Unix Shell Scripting</dc:title>
  <dc:creator>Minster, Ryan L</dc:creator>
  <cp:lastModifiedBy>Minster, Ryan</cp:lastModifiedBy>
  <cp:revision>577</cp:revision>
  <dcterms:created xsi:type="dcterms:W3CDTF">2018-11-09T14:32:06Z</dcterms:created>
  <dcterms:modified xsi:type="dcterms:W3CDTF">2025-03-11T13:42:27Z</dcterms:modified>
</cp:coreProperties>
</file>