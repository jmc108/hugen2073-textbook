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9"/>
  </p:notesMasterIdLst>
  <p:sldIdLst>
    <p:sldId id="256" r:id="rId2"/>
    <p:sldId id="257" r:id="rId3"/>
    <p:sldId id="258" r:id="rId4"/>
    <p:sldId id="265" r:id="rId5"/>
    <p:sldId id="259" r:id="rId6"/>
    <p:sldId id="260" r:id="rId7"/>
    <p:sldId id="261" r:id="rId8"/>
    <p:sldId id="262" r:id="rId9"/>
    <p:sldId id="451" r:id="rId10"/>
    <p:sldId id="512" r:id="rId11"/>
    <p:sldId id="268" r:id="rId12"/>
    <p:sldId id="511" r:id="rId13"/>
    <p:sldId id="263" r:id="rId14"/>
    <p:sldId id="521" r:id="rId15"/>
    <p:sldId id="455" r:id="rId16"/>
    <p:sldId id="454" r:id="rId17"/>
    <p:sldId id="456" r:id="rId18"/>
    <p:sldId id="458" r:id="rId19"/>
    <p:sldId id="459" r:id="rId20"/>
    <p:sldId id="457" r:id="rId21"/>
    <p:sldId id="460" r:id="rId22"/>
    <p:sldId id="418" r:id="rId23"/>
    <p:sldId id="419" r:id="rId24"/>
    <p:sldId id="522" r:id="rId25"/>
    <p:sldId id="523" r:id="rId26"/>
    <p:sldId id="525" r:id="rId27"/>
    <p:sldId id="499" r:id="rId28"/>
    <p:sldId id="520" r:id="rId29"/>
    <p:sldId id="498" r:id="rId30"/>
    <p:sldId id="367" r:id="rId31"/>
    <p:sldId id="368" r:id="rId32"/>
    <p:sldId id="463" r:id="rId33"/>
    <p:sldId id="350" r:id="rId34"/>
    <p:sldId id="352" r:id="rId35"/>
    <p:sldId id="466" r:id="rId36"/>
    <p:sldId id="356" r:id="rId37"/>
    <p:sldId id="357" r:id="rId38"/>
    <p:sldId id="358" r:id="rId39"/>
    <p:sldId id="524" r:id="rId40"/>
    <p:sldId id="264" r:id="rId41"/>
    <p:sldId id="526" r:id="rId42"/>
    <p:sldId id="527" r:id="rId43"/>
    <p:sldId id="528" r:id="rId44"/>
    <p:sldId id="543" r:id="rId45"/>
    <p:sldId id="545" r:id="rId46"/>
    <p:sldId id="540" r:id="rId47"/>
    <p:sldId id="541" r:id="rId48"/>
    <p:sldId id="493" r:id="rId49"/>
    <p:sldId id="542" r:id="rId50"/>
    <p:sldId id="544" r:id="rId51"/>
    <p:sldId id="547" r:id="rId52"/>
    <p:sldId id="529" r:id="rId53"/>
    <p:sldId id="530" r:id="rId54"/>
    <p:sldId id="546" r:id="rId55"/>
    <p:sldId id="531" r:id="rId56"/>
    <p:sldId id="532" r:id="rId57"/>
    <p:sldId id="538"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82"/>
    <p:restoredTop sz="94554"/>
  </p:normalViewPr>
  <p:slideViewPr>
    <p:cSldViewPr snapToGrid="0">
      <p:cViewPr>
        <p:scale>
          <a:sx n="100" d="100"/>
          <a:sy n="100" d="100"/>
        </p:scale>
        <p:origin x="352" y="1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53B621-37E1-FF45-B396-9F283F989628}" type="datetimeFigureOut">
              <a:rPr lang="en-US" smtClean="0"/>
              <a:t>2/17/26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6408639-2EBE-844D-A655-BB439C65C397}" type="slidenum">
              <a:rPr lang="en-US" smtClean="0"/>
              <a:t>‹#›</a:t>
            </a:fld>
            <a:endParaRPr lang="en-US"/>
          </a:p>
        </p:txBody>
      </p:sp>
    </p:spTree>
    <p:extLst>
      <p:ext uri="{BB962C8B-B14F-4D97-AF65-F5344CB8AC3E}">
        <p14:creationId xmlns:p14="http://schemas.microsoft.com/office/powerpoint/2010/main" val="2678122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www.statisticshowto.datasciencecentral.com/probability-and-statistics/correlation-coefficient-formula/"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www.statisticshowto.datasciencecentral.com/probability-and-statistics/correlation-coefficient-formula/"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commons.wikimedia.org</a:t>
            </a:r>
            <a:r>
              <a:rPr lang="en-US" dirty="0"/>
              <a:t>/wiki/File:AI_relation_to_Generative_Models_subset,_</a:t>
            </a:r>
            <a:r>
              <a:rPr lang="en-US" dirty="0" err="1"/>
              <a:t>venn_diagram.png</a:t>
            </a:r>
            <a:endParaRPr lang="en-US" dirty="0"/>
          </a:p>
        </p:txBody>
      </p:sp>
      <p:sp>
        <p:nvSpPr>
          <p:cNvPr id="4" name="Slide Number Placeholder 3"/>
          <p:cNvSpPr>
            <a:spLocks noGrp="1"/>
          </p:cNvSpPr>
          <p:nvPr>
            <p:ph type="sldNum" sz="quarter" idx="5"/>
          </p:nvPr>
        </p:nvSpPr>
        <p:spPr/>
        <p:txBody>
          <a:bodyPr/>
          <a:lstStyle/>
          <a:p>
            <a:fld id="{26408639-2EBE-844D-A655-BB439C65C397}" type="slidenum">
              <a:rPr lang="en-US" smtClean="0"/>
              <a:t>2</a:t>
            </a:fld>
            <a:endParaRPr lang="en-US"/>
          </a:p>
        </p:txBody>
      </p:sp>
    </p:spTree>
    <p:extLst>
      <p:ext uri="{BB962C8B-B14F-4D97-AF65-F5344CB8AC3E}">
        <p14:creationId xmlns:p14="http://schemas.microsoft.com/office/powerpoint/2010/main" val="32991650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When you have more than 2 features or dimensions, you can still calculate distances in a similar way. </a:t>
            </a:r>
          </a:p>
        </p:txBody>
      </p:sp>
      <p:sp>
        <p:nvSpPr>
          <p:cNvPr id="4" name="Slide Number Placeholder 3"/>
          <p:cNvSpPr>
            <a:spLocks noGrp="1"/>
          </p:cNvSpPr>
          <p:nvPr>
            <p:ph type="sldNum" sz="quarter" idx="10"/>
          </p:nvPr>
        </p:nvSpPr>
        <p:spPr/>
        <p:txBody>
          <a:bodyPr/>
          <a:lstStyle/>
          <a:p>
            <a:fld id="{4BAF0735-F145-4B9C-9BE5-23AA3F3DE317}" type="slidenum">
              <a:rPr lang="en-US" smtClean="0"/>
              <a:t>9</a:t>
            </a:fld>
            <a:endParaRPr lang="en-US"/>
          </a:p>
        </p:txBody>
      </p:sp>
    </p:spTree>
    <p:extLst>
      <p:ext uri="{BB962C8B-B14F-4D97-AF65-F5344CB8AC3E}">
        <p14:creationId xmlns:p14="http://schemas.microsoft.com/office/powerpoint/2010/main" val="31996553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3668E-EE8E-2272-C032-3E34FCBA70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FEE75C-CB9A-4069-FAA8-07BED32CD1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36FB26-9A2F-672D-DBB0-7F73302699BA}"/>
              </a:ext>
            </a:extLst>
          </p:cNvPr>
          <p:cNvSpPr>
            <a:spLocks noGrp="1"/>
          </p:cNvSpPr>
          <p:nvPr>
            <p:ph type="body" idx="1"/>
          </p:nvPr>
        </p:nvSpPr>
        <p:spPr/>
        <p:txBody>
          <a:bodyPr/>
          <a:lstStyle/>
          <a:p>
            <a:r>
              <a:rPr lang="en-US"/>
              <a:t>When you have more than 2 features or dimensions, you can still calculate distances in a similar way. </a:t>
            </a:r>
          </a:p>
        </p:txBody>
      </p:sp>
      <p:sp>
        <p:nvSpPr>
          <p:cNvPr id="4" name="Slide Number Placeholder 3">
            <a:extLst>
              <a:ext uri="{FF2B5EF4-FFF2-40B4-BE49-F238E27FC236}">
                <a16:creationId xmlns:a16="http://schemas.microsoft.com/office/drawing/2014/main" id="{98DE745E-35C8-E21B-DFC5-DEE3EBB166C5}"/>
              </a:ext>
            </a:extLst>
          </p:cNvPr>
          <p:cNvSpPr>
            <a:spLocks noGrp="1"/>
          </p:cNvSpPr>
          <p:nvPr>
            <p:ph type="sldNum" sz="quarter" idx="10"/>
          </p:nvPr>
        </p:nvSpPr>
        <p:spPr/>
        <p:txBody>
          <a:bodyPr/>
          <a:lstStyle/>
          <a:p>
            <a:fld id="{4BAF0735-F145-4B9C-9BE5-23AA3F3DE317}" type="slidenum">
              <a:rPr lang="en-US" smtClean="0"/>
              <a:t>10</a:t>
            </a:fld>
            <a:endParaRPr lang="en-US"/>
          </a:p>
        </p:txBody>
      </p:sp>
    </p:spTree>
    <p:extLst>
      <p:ext uri="{BB962C8B-B14F-4D97-AF65-F5344CB8AC3E}">
        <p14:creationId xmlns:p14="http://schemas.microsoft.com/office/powerpoint/2010/main" val="30692035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BAF0735-F145-4B9C-9BE5-23AA3F3DE317}" type="slidenum">
              <a:rPr lang="en-US" smtClean="0"/>
              <a:t>12</a:t>
            </a:fld>
            <a:endParaRPr lang="en-US"/>
          </a:p>
        </p:txBody>
      </p:sp>
    </p:spTree>
    <p:extLst>
      <p:ext uri="{BB962C8B-B14F-4D97-AF65-F5344CB8AC3E}">
        <p14:creationId xmlns:p14="http://schemas.microsoft.com/office/powerpoint/2010/main" val="36082133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PCA is useful for eliminating dimensions. Below, we've plotted the data along a pair of lines: one composed of the x-values and another of the y-values.</a:t>
            </a:r>
          </a:p>
          <a:p>
            <a:r>
              <a:rPr lang="en-US" sz="1200" b="0" i="0" kern="1200" dirty="0">
                <a:solidFill>
                  <a:schemeClr val="tx1"/>
                </a:solidFill>
                <a:effectLst/>
                <a:latin typeface="+mn-lt"/>
                <a:ea typeface="+mn-ea"/>
                <a:cs typeface="+mn-cs"/>
              </a:rPr>
              <a:t>If we're going to only see the data along one dimension, though, it might be better to make that dimension the principal component with most variation. We don't lose much by dropping PC2 since it contributes the least to the variation in the data set.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By</a:t>
            </a:r>
            <a:r>
              <a:rPr lang="en-US" sz="1200" b="0" i="0" kern="1200" baseline="0" dirty="0">
                <a:solidFill>
                  <a:schemeClr val="tx1"/>
                </a:solidFill>
                <a:effectLst/>
                <a:latin typeface="+mn-lt"/>
                <a:ea typeface="+mn-ea"/>
                <a:cs typeface="+mn-cs"/>
              </a:rPr>
              <a:t> comping up with the variable </a:t>
            </a:r>
            <a:r>
              <a:rPr lang="en-US" sz="1200" b="0" i="0" kern="1200" dirty="0">
                <a:solidFill>
                  <a:schemeClr val="tx1"/>
                </a:solidFill>
                <a:effectLst/>
                <a:latin typeface="+mn-lt"/>
                <a:ea typeface="+mn-ea"/>
                <a:cs typeface="+mn-cs"/>
              </a:rPr>
              <a:t>maximizing variance within a</a:t>
            </a:r>
            <a:r>
              <a:rPr lang="en-US" sz="1200" b="0" i="0" kern="1200" baseline="0" dirty="0">
                <a:solidFill>
                  <a:schemeClr val="tx1"/>
                </a:solidFill>
                <a:effectLst/>
                <a:latin typeface="+mn-lt"/>
                <a:ea typeface="+mn-ea"/>
                <a:cs typeface="+mn-cs"/>
              </a:rPr>
              <a:t> data set, the data set might need a small number of variables. </a:t>
            </a:r>
          </a:p>
          <a:p>
            <a:r>
              <a:rPr lang="en-US" sz="1200" b="0" i="0" kern="1200" baseline="0" dirty="0">
                <a:solidFill>
                  <a:schemeClr val="tx1"/>
                </a:solidFill>
                <a:effectLst/>
                <a:latin typeface="+mn-lt"/>
                <a:ea typeface="+mn-ea"/>
                <a:cs typeface="+mn-cs"/>
              </a:rPr>
              <a:t>In this example when two variables x and y represent the data set, the first principal component, the extracted variable that maximize the variance explains all the difference in the data and it effectively reduces dimensionality. </a:t>
            </a:r>
            <a:endParaRPr lang="en-US" dirty="0"/>
          </a:p>
        </p:txBody>
      </p:sp>
      <p:sp>
        <p:nvSpPr>
          <p:cNvPr id="4" name="Slide Number Placeholder 3"/>
          <p:cNvSpPr>
            <a:spLocks noGrp="1"/>
          </p:cNvSpPr>
          <p:nvPr>
            <p:ph type="sldNum" sz="quarter" idx="10"/>
          </p:nvPr>
        </p:nvSpPr>
        <p:spPr/>
        <p:txBody>
          <a:bodyPr/>
          <a:lstStyle/>
          <a:p>
            <a:fld id="{4BAF0735-F145-4B9C-9BE5-23AA3F3DE317}" type="slidenum">
              <a:rPr lang="en-US" smtClean="0"/>
              <a:t>14</a:t>
            </a:fld>
            <a:endParaRPr lang="en-US"/>
          </a:p>
        </p:txBody>
      </p:sp>
    </p:spTree>
    <p:extLst>
      <p:ext uri="{BB962C8B-B14F-4D97-AF65-F5344CB8AC3E}">
        <p14:creationId xmlns:p14="http://schemas.microsoft.com/office/powerpoint/2010/main" val="1489491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PCA is useful for eliminating dimensions. Below, we've plotted the data along a pair of lines: one composed of the x-values and another of the y-values.</a:t>
            </a:r>
          </a:p>
          <a:p>
            <a:r>
              <a:rPr lang="en-US" sz="1200" b="0" i="0" kern="1200" dirty="0">
                <a:solidFill>
                  <a:schemeClr val="tx1"/>
                </a:solidFill>
                <a:effectLst/>
                <a:latin typeface="+mn-lt"/>
                <a:ea typeface="+mn-ea"/>
                <a:cs typeface="+mn-cs"/>
              </a:rPr>
              <a:t>If we're going to only see the data along one dimension, though, it might be better to make that dimension the principal component with most variation. We don't lose much by dropping PC2 since it contributes the least to the variation in the data set.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By</a:t>
            </a:r>
            <a:r>
              <a:rPr lang="en-US" sz="1200" b="0" i="0" kern="1200" baseline="0" dirty="0">
                <a:solidFill>
                  <a:schemeClr val="tx1"/>
                </a:solidFill>
                <a:effectLst/>
                <a:latin typeface="+mn-lt"/>
                <a:ea typeface="+mn-ea"/>
                <a:cs typeface="+mn-cs"/>
              </a:rPr>
              <a:t> comping up with the variable </a:t>
            </a:r>
            <a:r>
              <a:rPr lang="en-US" sz="1200" b="0" i="0" kern="1200" dirty="0">
                <a:solidFill>
                  <a:schemeClr val="tx1"/>
                </a:solidFill>
                <a:effectLst/>
                <a:latin typeface="+mn-lt"/>
                <a:ea typeface="+mn-ea"/>
                <a:cs typeface="+mn-cs"/>
              </a:rPr>
              <a:t>maximizing variance within a</a:t>
            </a:r>
            <a:r>
              <a:rPr lang="en-US" sz="1200" b="0" i="0" kern="1200" baseline="0" dirty="0">
                <a:solidFill>
                  <a:schemeClr val="tx1"/>
                </a:solidFill>
                <a:effectLst/>
                <a:latin typeface="+mn-lt"/>
                <a:ea typeface="+mn-ea"/>
                <a:cs typeface="+mn-cs"/>
              </a:rPr>
              <a:t> data set, the data set might need a small number of variables. </a:t>
            </a:r>
          </a:p>
          <a:p>
            <a:r>
              <a:rPr lang="en-US" sz="1200" b="0" i="0" kern="1200" baseline="0" dirty="0">
                <a:solidFill>
                  <a:schemeClr val="tx1"/>
                </a:solidFill>
                <a:effectLst/>
                <a:latin typeface="+mn-lt"/>
                <a:ea typeface="+mn-ea"/>
                <a:cs typeface="+mn-cs"/>
              </a:rPr>
              <a:t>In this example when two variables x and y represent the data set, the first principal component, the extracted variable that maximize the variance explains all the difference in the data and it effectively reduces dimensionality. </a:t>
            </a:r>
            <a:endParaRPr lang="en-US" dirty="0"/>
          </a:p>
        </p:txBody>
      </p:sp>
      <p:sp>
        <p:nvSpPr>
          <p:cNvPr id="4" name="Slide Number Placeholder 3"/>
          <p:cNvSpPr>
            <a:spLocks noGrp="1"/>
          </p:cNvSpPr>
          <p:nvPr>
            <p:ph type="sldNum" sz="quarter" idx="10"/>
          </p:nvPr>
        </p:nvSpPr>
        <p:spPr/>
        <p:txBody>
          <a:bodyPr/>
          <a:lstStyle/>
          <a:p>
            <a:fld id="{4BAF0735-F145-4B9C-9BE5-23AA3F3DE317}" type="slidenum">
              <a:rPr lang="en-US" smtClean="0"/>
              <a:t>15</a:t>
            </a:fld>
            <a:endParaRPr lang="en-US"/>
          </a:p>
        </p:txBody>
      </p:sp>
    </p:spTree>
    <p:extLst>
      <p:ext uri="{BB962C8B-B14F-4D97-AF65-F5344CB8AC3E}">
        <p14:creationId xmlns:p14="http://schemas.microsoft.com/office/powerpoint/2010/main" val="167325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If we're going to only see the data along one dimension, though, it might be better to make that dimension the principal component with most variation. We don't lose much by dropping PC2 since it contributes the least to the variation in the data set.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By</a:t>
            </a:r>
            <a:r>
              <a:rPr lang="en-US" sz="1200" b="0" i="0" kern="1200" baseline="0" dirty="0">
                <a:solidFill>
                  <a:schemeClr val="tx1"/>
                </a:solidFill>
                <a:effectLst/>
                <a:latin typeface="+mn-lt"/>
                <a:ea typeface="+mn-ea"/>
                <a:cs typeface="+mn-cs"/>
              </a:rPr>
              <a:t> comping up with the variable </a:t>
            </a:r>
            <a:r>
              <a:rPr lang="en-US" sz="1200" b="0" i="0" kern="1200" dirty="0">
                <a:solidFill>
                  <a:schemeClr val="tx1"/>
                </a:solidFill>
                <a:effectLst/>
                <a:latin typeface="+mn-lt"/>
                <a:ea typeface="+mn-ea"/>
                <a:cs typeface="+mn-cs"/>
              </a:rPr>
              <a:t>maximizing variance within a</a:t>
            </a:r>
            <a:r>
              <a:rPr lang="en-US" sz="1200" b="0" i="0" kern="1200" baseline="0" dirty="0">
                <a:solidFill>
                  <a:schemeClr val="tx1"/>
                </a:solidFill>
                <a:effectLst/>
                <a:latin typeface="+mn-lt"/>
                <a:ea typeface="+mn-ea"/>
                <a:cs typeface="+mn-cs"/>
              </a:rPr>
              <a:t> data set, the data set might need a small number of variables. </a:t>
            </a:r>
          </a:p>
          <a:p>
            <a:r>
              <a:rPr lang="en-US" sz="1200" b="0" i="0" kern="1200" baseline="0" dirty="0">
                <a:solidFill>
                  <a:schemeClr val="tx1"/>
                </a:solidFill>
                <a:effectLst/>
                <a:latin typeface="+mn-lt"/>
                <a:ea typeface="+mn-ea"/>
                <a:cs typeface="+mn-cs"/>
              </a:rPr>
              <a:t>In this example when two variables x and y represent the data set, the first principal component, the extracted variable that maximize the variance explains all the difference in the data and it effectively reduces dimensionality. </a:t>
            </a:r>
            <a:endParaRPr lang="en-US" dirty="0"/>
          </a:p>
        </p:txBody>
      </p:sp>
      <p:sp>
        <p:nvSpPr>
          <p:cNvPr id="4" name="Slide Number Placeholder 3"/>
          <p:cNvSpPr>
            <a:spLocks noGrp="1"/>
          </p:cNvSpPr>
          <p:nvPr>
            <p:ph type="sldNum" sz="quarter" idx="10"/>
          </p:nvPr>
        </p:nvSpPr>
        <p:spPr/>
        <p:txBody>
          <a:bodyPr/>
          <a:lstStyle/>
          <a:p>
            <a:fld id="{4BAF0735-F145-4B9C-9BE5-23AA3F3DE317}" type="slidenum">
              <a:rPr lang="en-US" smtClean="0"/>
              <a:t>16</a:t>
            </a:fld>
            <a:endParaRPr lang="en-US"/>
          </a:p>
        </p:txBody>
      </p:sp>
    </p:spTree>
    <p:extLst>
      <p:ext uri="{BB962C8B-B14F-4D97-AF65-F5344CB8AC3E}">
        <p14:creationId xmlns:p14="http://schemas.microsoft.com/office/powerpoint/2010/main" val="6855461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Principal component analysis (PCA) is a technique used to emphasize variation and bring out strong patterns in a dataset. It's often used to make data easy to explore and visualize.</a:t>
            </a:r>
          </a:p>
          <a:p>
            <a:r>
              <a:rPr lang="en-US" sz="1200" b="0" i="0" kern="1200" dirty="0">
                <a:solidFill>
                  <a:schemeClr val="tx1"/>
                </a:solidFill>
                <a:effectLst/>
                <a:latin typeface="+mn-lt"/>
                <a:ea typeface="+mn-ea"/>
                <a:cs typeface="+mn-cs"/>
              </a:rPr>
              <a:t>First, consider a dataset in only two dimensions, like (height, weight). This dataset can be plotted as points in a plane. But if we want to tease out variation, PCA finds a new coordinate system in which every point has a new (</a:t>
            </a:r>
            <a:r>
              <a:rPr lang="en-US" sz="1200" b="0" i="0" kern="1200" dirty="0" err="1">
                <a:solidFill>
                  <a:schemeClr val="tx1"/>
                </a:solidFill>
                <a:effectLst/>
                <a:latin typeface="+mn-lt"/>
                <a:ea typeface="+mn-ea"/>
                <a:cs typeface="+mn-cs"/>
              </a:rPr>
              <a:t>x,y</a:t>
            </a:r>
            <a:r>
              <a:rPr lang="en-US" sz="1200" b="0" i="0" kern="1200" dirty="0">
                <a:solidFill>
                  <a:schemeClr val="tx1"/>
                </a:solidFill>
                <a:effectLst/>
                <a:latin typeface="+mn-lt"/>
                <a:ea typeface="+mn-ea"/>
                <a:cs typeface="+mn-cs"/>
              </a:rPr>
              <a:t>) value. The axes don't actually mean anything physical; they're combinations of height and weight called "principal components" that are chosen to give one axes lots of variation.</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PCA is useful for eliminating dimensions. Below, we've plotted the data along a pair of lines: one composed of the x-values and another of the y-values.</a:t>
            </a:r>
          </a:p>
          <a:p>
            <a:r>
              <a:rPr lang="en-US" sz="1200" b="0" i="0" kern="1200" dirty="0">
                <a:solidFill>
                  <a:schemeClr val="tx1"/>
                </a:solidFill>
                <a:effectLst/>
                <a:latin typeface="+mn-lt"/>
                <a:ea typeface="+mn-ea"/>
                <a:cs typeface="+mn-cs"/>
              </a:rPr>
              <a:t>If we're going to only see the data along one dimension, though, it might be better to make that dimension the principal component with most variation. We don't lose much by dropping PC2 since it contributes the least to the variation in the data set.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By</a:t>
            </a:r>
            <a:r>
              <a:rPr lang="en-US" sz="1200" b="0" i="0" kern="1200" baseline="0" dirty="0">
                <a:solidFill>
                  <a:schemeClr val="tx1"/>
                </a:solidFill>
                <a:effectLst/>
                <a:latin typeface="+mn-lt"/>
                <a:ea typeface="+mn-ea"/>
                <a:cs typeface="+mn-cs"/>
              </a:rPr>
              <a:t> comping up with the variable </a:t>
            </a:r>
            <a:r>
              <a:rPr lang="en-US" sz="1200" b="0" i="0" kern="1200" dirty="0">
                <a:solidFill>
                  <a:schemeClr val="tx1"/>
                </a:solidFill>
                <a:effectLst/>
                <a:latin typeface="+mn-lt"/>
                <a:ea typeface="+mn-ea"/>
                <a:cs typeface="+mn-cs"/>
              </a:rPr>
              <a:t>maximizing variance within a</a:t>
            </a:r>
            <a:r>
              <a:rPr lang="en-US" sz="1200" b="0" i="0" kern="1200" baseline="0" dirty="0">
                <a:solidFill>
                  <a:schemeClr val="tx1"/>
                </a:solidFill>
                <a:effectLst/>
                <a:latin typeface="+mn-lt"/>
                <a:ea typeface="+mn-ea"/>
                <a:cs typeface="+mn-cs"/>
              </a:rPr>
              <a:t> data set, the data set might need a small number of variables. </a:t>
            </a:r>
          </a:p>
          <a:p>
            <a:r>
              <a:rPr lang="en-US" sz="1200" b="0" i="0" kern="1200" baseline="0" dirty="0">
                <a:solidFill>
                  <a:schemeClr val="tx1"/>
                </a:solidFill>
                <a:effectLst/>
                <a:latin typeface="+mn-lt"/>
                <a:ea typeface="+mn-ea"/>
                <a:cs typeface="+mn-cs"/>
              </a:rPr>
              <a:t>In this example when two variables x and y represent the data set, the first principal component, the extracted variable that maximize the variance explains all the difference in the data and it effectively reduces dimensionality. </a:t>
            </a:r>
            <a:endParaRPr lang="en-US" dirty="0"/>
          </a:p>
        </p:txBody>
      </p:sp>
      <p:sp>
        <p:nvSpPr>
          <p:cNvPr id="4" name="Slide Number Placeholder 3"/>
          <p:cNvSpPr>
            <a:spLocks noGrp="1"/>
          </p:cNvSpPr>
          <p:nvPr>
            <p:ph type="sldNum" sz="quarter" idx="10"/>
          </p:nvPr>
        </p:nvSpPr>
        <p:spPr/>
        <p:txBody>
          <a:bodyPr/>
          <a:lstStyle/>
          <a:p>
            <a:fld id="{4BAF0735-F145-4B9C-9BE5-23AA3F3DE317}" type="slidenum">
              <a:rPr lang="en-US" smtClean="0"/>
              <a:t>17</a:t>
            </a:fld>
            <a:endParaRPr lang="en-US"/>
          </a:p>
        </p:txBody>
      </p:sp>
    </p:spTree>
    <p:extLst>
      <p:ext uri="{BB962C8B-B14F-4D97-AF65-F5344CB8AC3E}">
        <p14:creationId xmlns:p14="http://schemas.microsoft.com/office/powerpoint/2010/main" val="19724131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a:solidFill>
                  <a:schemeClr val="tx1"/>
                </a:solidFill>
                <a:effectLst/>
                <a:latin typeface="+mn-lt"/>
                <a:ea typeface="+mn-ea"/>
                <a:cs typeface="+mn-cs"/>
              </a:rPr>
              <a:t>Principal component analysis (PCA) is a technique used to emphasize variation and bring out strong patterns in a dataset. It's often used to make data easy to explore and visualize.</a:t>
            </a:r>
          </a:p>
          <a:p>
            <a:r>
              <a:rPr lang="en-US" sz="1200" b="0" i="0" kern="1200">
                <a:solidFill>
                  <a:schemeClr val="tx1"/>
                </a:solidFill>
                <a:effectLst/>
                <a:latin typeface="+mn-lt"/>
                <a:ea typeface="+mn-ea"/>
                <a:cs typeface="+mn-cs"/>
              </a:rPr>
              <a:t>First, consider a dataset in only two dimensions, like (height, weight). This dataset can be plotted as points in a plane. But if we want to tease out variation, PCA finds a new coordinate system in which every point has a new (x,y) value. The axes don't actually mean anything physical; they're combinations of height and weight called "principal components" that are chosen to give one axes lots of variation.</a:t>
            </a:r>
          </a:p>
          <a:p>
            <a:endParaRPr lang="en-US" sz="1200" b="0"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PCA is useful for eliminating dimensions. Below, we've plotted the data along a pair of lines: one composed of the x-values and another of the y-values.</a:t>
            </a:r>
          </a:p>
          <a:p>
            <a:r>
              <a:rPr lang="en-US" sz="1200" b="0" i="0" kern="1200">
                <a:solidFill>
                  <a:schemeClr val="tx1"/>
                </a:solidFill>
                <a:effectLst/>
                <a:latin typeface="+mn-lt"/>
                <a:ea typeface="+mn-ea"/>
                <a:cs typeface="+mn-cs"/>
              </a:rPr>
              <a:t>If we're going to only see the data along one dimension, though, it might be better to make that dimension the principal component with most variation. We don't lose much by dropping PC2 since it contributes the least to the variation in the data set.</a:t>
            </a:r>
          </a:p>
          <a:p>
            <a:endParaRPr lang="en-US" sz="1200" b="0"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By</a:t>
            </a:r>
            <a:r>
              <a:rPr lang="en-US" sz="1200" b="0" i="0" kern="1200" baseline="0">
                <a:solidFill>
                  <a:schemeClr val="tx1"/>
                </a:solidFill>
                <a:effectLst/>
                <a:latin typeface="+mn-lt"/>
                <a:ea typeface="+mn-ea"/>
                <a:cs typeface="+mn-cs"/>
              </a:rPr>
              <a:t> comping up with the variable </a:t>
            </a:r>
            <a:r>
              <a:rPr lang="en-US" sz="1200" b="0" i="0" kern="1200">
                <a:solidFill>
                  <a:schemeClr val="tx1"/>
                </a:solidFill>
                <a:effectLst/>
                <a:latin typeface="+mn-lt"/>
                <a:ea typeface="+mn-ea"/>
                <a:cs typeface="+mn-cs"/>
              </a:rPr>
              <a:t>maximizing variance within a</a:t>
            </a:r>
            <a:r>
              <a:rPr lang="en-US" sz="1200" b="0" i="0" kern="1200" baseline="0">
                <a:solidFill>
                  <a:schemeClr val="tx1"/>
                </a:solidFill>
                <a:effectLst/>
                <a:latin typeface="+mn-lt"/>
                <a:ea typeface="+mn-ea"/>
                <a:cs typeface="+mn-cs"/>
              </a:rPr>
              <a:t> data set, the data set might need a small number of variables. </a:t>
            </a:r>
          </a:p>
          <a:p>
            <a:r>
              <a:rPr lang="en-US" sz="1200" b="0" i="0" kern="1200" baseline="0">
                <a:solidFill>
                  <a:schemeClr val="tx1"/>
                </a:solidFill>
                <a:effectLst/>
                <a:latin typeface="+mn-lt"/>
                <a:ea typeface="+mn-ea"/>
                <a:cs typeface="+mn-cs"/>
              </a:rPr>
              <a:t>In this example when two variables x and y represent the data set, the first principal component, the extracted variable that maximize the variance explains all the difference in the data and it effectively reduces dimensionality. </a:t>
            </a:r>
            <a:endParaRPr lang="en-US"/>
          </a:p>
        </p:txBody>
      </p:sp>
      <p:sp>
        <p:nvSpPr>
          <p:cNvPr id="4" name="Slide Number Placeholder 3"/>
          <p:cNvSpPr>
            <a:spLocks noGrp="1"/>
          </p:cNvSpPr>
          <p:nvPr>
            <p:ph type="sldNum" sz="quarter" idx="10"/>
          </p:nvPr>
        </p:nvSpPr>
        <p:spPr/>
        <p:txBody>
          <a:bodyPr/>
          <a:lstStyle/>
          <a:p>
            <a:fld id="{4BAF0735-F145-4B9C-9BE5-23AA3F3DE317}" type="slidenum">
              <a:rPr lang="en-US" smtClean="0"/>
              <a:t>18</a:t>
            </a:fld>
            <a:endParaRPr lang="en-US"/>
          </a:p>
        </p:txBody>
      </p:sp>
    </p:spTree>
    <p:extLst>
      <p:ext uri="{BB962C8B-B14F-4D97-AF65-F5344CB8AC3E}">
        <p14:creationId xmlns:p14="http://schemas.microsoft.com/office/powerpoint/2010/main" val="7121823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Principal component analysis (PCA) is a technique used to emphasize variation and bring out strong patterns in a dataset. It's often used to make data easy to explore and visualize.</a:t>
            </a:r>
          </a:p>
          <a:p>
            <a:r>
              <a:rPr lang="en-US" sz="1200" b="0" i="0" kern="1200" dirty="0">
                <a:solidFill>
                  <a:schemeClr val="tx1"/>
                </a:solidFill>
                <a:effectLst/>
                <a:latin typeface="+mn-lt"/>
                <a:ea typeface="+mn-ea"/>
                <a:cs typeface="+mn-cs"/>
              </a:rPr>
              <a:t>First, consider a dataset in only two dimensions, like (height, weight). This dataset can be plotted as points in a plane. But if we want to tease out variation, PCA finds a new coordinate system in which every point has a new (</a:t>
            </a:r>
            <a:r>
              <a:rPr lang="en-US" sz="1200" b="0" i="0" kern="1200" dirty="0" err="1">
                <a:solidFill>
                  <a:schemeClr val="tx1"/>
                </a:solidFill>
                <a:effectLst/>
                <a:latin typeface="+mn-lt"/>
                <a:ea typeface="+mn-ea"/>
                <a:cs typeface="+mn-cs"/>
              </a:rPr>
              <a:t>x,y</a:t>
            </a:r>
            <a:r>
              <a:rPr lang="en-US" sz="1200" b="0" i="0" kern="1200" dirty="0">
                <a:solidFill>
                  <a:schemeClr val="tx1"/>
                </a:solidFill>
                <a:effectLst/>
                <a:latin typeface="+mn-lt"/>
                <a:ea typeface="+mn-ea"/>
                <a:cs typeface="+mn-cs"/>
              </a:rPr>
              <a:t>) value. The axes don't actually mean anything physical; they're combinations of height and weight called "principal components" that are chosen to give one axes lots of variation.</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PCA is useful for eliminating dimensions. Below, we've plotted the data along a pair of lines: one composed of the x-values and another of the y-values.</a:t>
            </a:r>
          </a:p>
          <a:p>
            <a:r>
              <a:rPr lang="en-US" sz="1200" b="0" i="0" kern="1200" dirty="0">
                <a:solidFill>
                  <a:schemeClr val="tx1"/>
                </a:solidFill>
                <a:effectLst/>
                <a:latin typeface="+mn-lt"/>
                <a:ea typeface="+mn-ea"/>
                <a:cs typeface="+mn-cs"/>
              </a:rPr>
              <a:t>If we're going to only see the data along one dimension, though, it might be better to make that dimension the principal component with most variation. We don't lose much by dropping PC2 since it contributes the least to the variation in the data set.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By</a:t>
            </a:r>
            <a:r>
              <a:rPr lang="en-US" sz="1200" b="0" i="0" kern="1200" baseline="0" dirty="0">
                <a:solidFill>
                  <a:schemeClr val="tx1"/>
                </a:solidFill>
                <a:effectLst/>
                <a:latin typeface="+mn-lt"/>
                <a:ea typeface="+mn-ea"/>
                <a:cs typeface="+mn-cs"/>
              </a:rPr>
              <a:t> comping up with the variable </a:t>
            </a:r>
            <a:r>
              <a:rPr lang="en-US" sz="1200" b="0" i="0" kern="1200" dirty="0">
                <a:solidFill>
                  <a:schemeClr val="tx1"/>
                </a:solidFill>
                <a:effectLst/>
                <a:latin typeface="+mn-lt"/>
                <a:ea typeface="+mn-ea"/>
                <a:cs typeface="+mn-cs"/>
              </a:rPr>
              <a:t>maximizing variance within a</a:t>
            </a:r>
            <a:r>
              <a:rPr lang="en-US" sz="1200" b="0" i="0" kern="1200" baseline="0" dirty="0">
                <a:solidFill>
                  <a:schemeClr val="tx1"/>
                </a:solidFill>
                <a:effectLst/>
                <a:latin typeface="+mn-lt"/>
                <a:ea typeface="+mn-ea"/>
                <a:cs typeface="+mn-cs"/>
              </a:rPr>
              <a:t> data set, the data set might need a small number of variables. </a:t>
            </a:r>
          </a:p>
          <a:p>
            <a:r>
              <a:rPr lang="en-US" sz="1200" b="0" i="0" kern="1200" baseline="0" dirty="0">
                <a:solidFill>
                  <a:schemeClr val="tx1"/>
                </a:solidFill>
                <a:effectLst/>
                <a:latin typeface="+mn-lt"/>
                <a:ea typeface="+mn-ea"/>
                <a:cs typeface="+mn-cs"/>
              </a:rPr>
              <a:t>In this example when two variables x and y represent the data set, the first principal component, the extracted variable that maximize the variance explains all the difference in the data and it effectively reduces dimensionality. </a:t>
            </a:r>
            <a:endParaRPr lang="en-US" dirty="0"/>
          </a:p>
        </p:txBody>
      </p:sp>
      <p:sp>
        <p:nvSpPr>
          <p:cNvPr id="4" name="Slide Number Placeholder 3"/>
          <p:cNvSpPr>
            <a:spLocks noGrp="1"/>
          </p:cNvSpPr>
          <p:nvPr>
            <p:ph type="sldNum" sz="quarter" idx="10"/>
          </p:nvPr>
        </p:nvSpPr>
        <p:spPr/>
        <p:txBody>
          <a:bodyPr/>
          <a:lstStyle/>
          <a:p>
            <a:fld id="{4BAF0735-F145-4B9C-9BE5-23AA3F3DE317}" type="slidenum">
              <a:rPr lang="en-US" smtClean="0"/>
              <a:t>19</a:t>
            </a:fld>
            <a:endParaRPr lang="en-US"/>
          </a:p>
        </p:txBody>
      </p:sp>
    </p:spTree>
    <p:extLst>
      <p:ext uri="{BB962C8B-B14F-4D97-AF65-F5344CB8AC3E}">
        <p14:creationId xmlns:p14="http://schemas.microsoft.com/office/powerpoint/2010/main" val="15928350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a:solidFill>
                  <a:schemeClr val="tx1"/>
                </a:solidFill>
                <a:effectLst/>
                <a:latin typeface="+mn-lt"/>
                <a:ea typeface="+mn-ea"/>
                <a:cs typeface="+mn-cs"/>
              </a:rPr>
              <a:t>Principal component analysis (PCA) is a technique used to emphasize variation and bring out strong patterns in a dataset. It's often used to make data easy to explore and visualize.</a:t>
            </a:r>
          </a:p>
          <a:p>
            <a:r>
              <a:rPr lang="en-US" sz="1200" b="0" i="0" kern="1200">
                <a:solidFill>
                  <a:schemeClr val="tx1"/>
                </a:solidFill>
                <a:effectLst/>
                <a:latin typeface="+mn-lt"/>
                <a:ea typeface="+mn-ea"/>
                <a:cs typeface="+mn-cs"/>
              </a:rPr>
              <a:t>First, consider a dataset in only two dimensions, like (height, weight). This dataset can be plotted as points in a plane. But if we want to tease out variation, PCA finds a new coordinate system in which every point has a new (x,y) value. The axes don't actually mean anything physical; they're combinations of height and weight called "principal components" that are chosen to give one axes lots of variation.</a:t>
            </a:r>
          </a:p>
          <a:p>
            <a:endParaRPr lang="en-US" sz="1200" b="0"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PCA is useful for eliminating dimensions. Below, we've plotted the data along a pair of lines: one composed of the x-values and another of the y-values.</a:t>
            </a:r>
          </a:p>
          <a:p>
            <a:r>
              <a:rPr lang="en-US" sz="1200" b="0" i="0" kern="1200">
                <a:solidFill>
                  <a:schemeClr val="tx1"/>
                </a:solidFill>
                <a:effectLst/>
                <a:latin typeface="+mn-lt"/>
                <a:ea typeface="+mn-ea"/>
                <a:cs typeface="+mn-cs"/>
              </a:rPr>
              <a:t>If we're going to only see the data along one dimension, though, it might be better to make that dimension the principal component with most variation. We don't lose much by dropping PC2 since it contributes the least to the variation in the data set.</a:t>
            </a:r>
          </a:p>
          <a:p>
            <a:endParaRPr lang="en-US" sz="1200" b="0"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By</a:t>
            </a:r>
            <a:r>
              <a:rPr lang="en-US" sz="1200" b="0" i="0" kern="1200" baseline="0">
                <a:solidFill>
                  <a:schemeClr val="tx1"/>
                </a:solidFill>
                <a:effectLst/>
                <a:latin typeface="+mn-lt"/>
                <a:ea typeface="+mn-ea"/>
                <a:cs typeface="+mn-cs"/>
              </a:rPr>
              <a:t> comping up with the variable </a:t>
            </a:r>
            <a:r>
              <a:rPr lang="en-US" sz="1200" b="0" i="0" kern="1200">
                <a:solidFill>
                  <a:schemeClr val="tx1"/>
                </a:solidFill>
                <a:effectLst/>
                <a:latin typeface="+mn-lt"/>
                <a:ea typeface="+mn-ea"/>
                <a:cs typeface="+mn-cs"/>
              </a:rPr>
              <a:t>maximizing variance within a</a:t>
            </a:r>
            <a:r>
              <a:rPr lang="en-US" sz="1200" b="0" i="0" kern="1200" baseline="0">
                <a:solidFill>
                  <a:schemeClr val="tx1"/>
                </a:solidFill>
                <a:effectLst/>
                <a:latin typeface="+mn-lt"/>
                <a:ea typeface="+mn-ea"/>
                <a:cs typeface="+mn-cs"/>
              </a:rPr>
              <a:t> data set, the data set might need a small number of variables. </a:t>
            </a:r>
          </a:p>
          <a:p>
            <a:r>
              <a:rPr lang="en-US" sz="1200" b="0" i="0" kern="1200" baseline="0">
                <a:solidFill>
                  <a:schemeClr val="tx1"/>
                </a:solidFill>
                <a:effectLst/>
                <a:latin typeface="+mn-lt"/>
                <a:ea typeface="+mn-ea"/>
                <a:cs typeface="+mn-cs"/>
              </a:rPr>
              <a:t>In this example when two variables x and y represent the data set, the first principal component, the extracted variable that maximize the variance explains all the difference in the data and it effectively reduces dimensionality. </a:t>
            </a:r>
            <a:endParaRPr lang="en-US"/>
          </a:p>
        </p:txBody>
      </p:sp>
      <p:sp>
        <p:nvSpPr>
          <p:cNvPr id="4" name="Slide Number Placeholder 3"/>
          <p:cNvSpPr>
            <a:spLocks noGrp="1"/>
          </p:cNvSpPr>
          <p:nvPr>
            <p:ph type="sldNum" sz="quarter" idx="10"/>
          </p:nvPr>
        </p:nvSpPr>
        <p:spPr/>
        <p:txBody>
          <a:bodyPr/>
          <a:lstStyle/>
          <a:p>
            <a:fld id="{4BAF0735-F145-4B9C-9BE5-23AA3F3DE317}" type="slidenum">
              <a:rPr lang="en-US" smtClean="0"/>
              <a:t>20</a:t>
            </a:fld>
            <a:endParaRPr lang="en-US"/>
          </a:p>
        </p:txBody>
      </p:sp>
    </p:spTree>
    <p:extLst>
      <p:ext uri="{BB962C8B-B14F-4D97-AF65-F5344CB8AC3E}">
        <p14:creationId xmlns:p14="http://schemas.microsoft.com/office/powerpoint/2010/main" val="3110838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a:solidFill>
                  <a:schemeClr val="tx1"/>
                </a:solidFill>
                <a:effectLst/>
                <a:latin typeface="+mn-lt"/>
                <a:ea typeface="+mn-ea"/>
                <a:cs typeface="+mn-cs"/>
              </a:rPr>
              <a:t>Principal component analysis (PCA) is a technique used to emphasize variation and bring out strong patterns in a dataset. It's often used to make data easy to explore and visualize.</a:t>
            </a:r>
          </a:p>
          <a:p>
            <a:r>
              <a:rPr lang="en-US" sz="1200" b="0" i="0" kern="1200">
                <a:solidFill>
                  <a:schemeClr val="tx1"/>
                </a:solidFill>
                <a:effectLst/>
                <a:latin typeface="+mn-lt"/>
                <a:ea typeface="+mn-ea"/>
                <a:cs typeface="+mn-cs"/>
              </a:rPr>
              <a:t>First, consider a dataset in only two dimensions, like (height, weight). This dataset can be plotted as points in a plane. But if we want to tease out variation, PCA finds a new coordinate system in which every point has a new (x,y) value. The axes don't actually mean anything physical; they're combinations of height and weight called "principal components" that are chosen to give one axes lots of variation.</a:t>
            </a:r>
          </a:p>
          <a:p>
            <a:endParaRPr lang="en-US" sz="1200" b="0"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PCA is useful for eliminating dimensions. Below, we've plotted the data along a pair of lines: one composed of the x-values and another of the y-values.</a:t>
            </a:r>
          </a:p>
          <a:p>
            <a:r>
              <a:rPr lang="en-US" sz="1200" b="0" i="0" kern="1200">
                <a:solidFill>
                  <a:schemeClr val="tx1"/>
                </a:solidFill>
                <a:effectLst/>
                <a:latin typeface="+mn-lt"/>
                <a:ea typeface="+mn-ea"/>
                <a:cs typeface="+mn-cs"/>
              </a:rPr>
              <a:t>If we're going to only see the data along one dimension, though, it might be better to make that dimension the principal component with most variation. We don't lose much by dropping PC2 since it contributes the least to the variation in the data set.</a:t>
            </a:r>
          </a:p>
          <a:p>
            <a:endParaRPr lang="en-US" sz="1200" b="0"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By</a:t>
            </a:r>
            <a:r>
              <a:rPr lang="en-US" sz="1200" b="0" i="0" kern="1200" baseline="0">
                <a:solidFill>
                  <a:schemeClr val="tx1"/>
                </a:solidFill>
                <a:effectLst/>
                <a:latin typeface="+mn-lt"/>
                <a:ea typeface="+mn-ea"/>
                <a:cs typeface="+mn-cs"/>
              </a:rPr>
              <a:t> comping up with the variable </a:t>
            </a:r>
            <a:r>
              <a:rPr lang="en-US" sz="1200" b="0" i="0" kern="1200">
                <a:solidFill>
                  <a:schemeClr val="tx1"/>
                </a:solidFill>
                <a:effectLst/>
                <a:latin typeface="+mn-lt"/>
                <a:ea typeface="+mn-ea"/>
                <a:cs typeface="+mn-cs"/>
              </a:rPr>
              <a:t>maximizing variance within a</a:t>
            </a:r>
            <a:r>
              <a:rPr lang="en-US" sz="1200" b="0" i="0" kern="1200" baseline="0">
                <a:solidFill>
                  <a:schemeClr val="tx1"/>
                </a:solidFill>
                <a:effectLst/>
                <a:latin typeface="+mn-lt"/>
                <a:ea typeface="+mn-ea"/>
                <a:cs typeface="+mn-cs"/>
              </a:rPr>
              <a:t> data set, the data set might need a small number of variables. </a:t>
            </a:r>
          </a:p>
          <a:p>
            <a:r>
              <a:rPr lang="en-US" sz="1200" b="0" i="0" kern="1200" baseline="0">
                <a:solidFill>
                  <a:schemeClr val="tx1"/>
                </a:solidFill>
                <a:effectLst/>
                <a:latin typeface="+mn-lt"/>
                <a:ea typeface="+mn-ea"/>
                <a:cs typeface="+mn-cs"/>
              </a:rPr>
              <a:t>In this example when two variables x and y represent the data set, the first principal component, the extracted variable that maximize the variance explains all the difference in the data and it effectively reduces dimensionality. </a:t>
            </a:r>
            <a:endParaRPr lang="en-US"/>
          </a:p>
        </p:txBody>
      </p:sp>
      <p:sp>
        <p:nvSpPr>
          <p:cNvPr id="4" name="Slide Number Placeholder 3"/>
          <p:cNvSpPr>
            <a:spLocks noGrp="1"/>
          </p:cNvSpPr>
          <p:nvPr>
            <p:ph type="sldNum" sz="quarter" idx="10"/>
          </p:nvPr>
        </p:nvSpPr>
        <p:spPr/>
        <p:txBody>
          <a:bodyPr/>
          <a:lstStyle/>
          <a:p>
            <a:fld id="{4BAF0735-F145-4B9C-9BE5-23AA3F3DE317}" type="slidenum">
              <a:rPr lang="en-US" smtClean="0"/>
              <a:t>21</a:t>
            </a:fld>
            <a:endParaRPr lang="en-US"/>
          </a:p>
        </p:txBody>
      </p:sp>
    </p:spTree>
    <p:extLst>
      <p:ext uri="{BB962C8B-B14F-4D97-AF65-F5344CB8AC3E}">
        <p14:creationId xmlns:p14="http://schemas.microsoft.com/office/powerpoint/2010/main" val="33433091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US" sz="1200" b="0" i="0" kern="1200" dirty="0">
                <a:solidFill>
                  <a:schemeClr val="tx1"/>
                </a:solidFill>
                <a:effectLst/>
                <a:latin typeface="+mn-lt"/>
                <a:ea typeface="+mn-ea"/>
                <a:cs typeface="+mn-cs"/>
              </a:rPr>
              <a:t>Suppose we had another data set with a different set of variables,</a:t>
            </a:r>
            <a:r>
              <a:rPr lang="en-US" sz="1200" b="0" i="0" kern="1200" baseline="0" dirty="0">
                <a:solidFill>
                  <a:schemeClr val="tx1"/>
                </a:solidFill>
                <a:effectLst/>
                <a:latin typeface="+mn-lt"/>
                <a:ea typeface="+mn-ea"/>
                <a:cs typeface="+mn-cs"/>
              </a:rPr>
              <a:t> such as NPC2, UGT8 and so on. </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See how these vectors are pinned at the origin of PCs (PC1 = 0 and PC2 = 0)? Their project values on each PC show how much weight they have on that PC. In this example, NPC2 and CHIT1 strongly influence PC1, while GBA and LCAT have more say in PC2.</a:t>
            </a:r>
          </a:p>
          <a:p>
            <a:pPr fontAlgn="base"/>
            <a:r>
              <a:rPr lang="en-US" sz="1200" b="0" i="0" kern="1200" dirty="0">
                <a:solidFill>
                  <a:schemeClr val="tx1"/>
                </a:solidFill>
                <a:effectLst/>
                <a:latin typeface="+mn-lt"/>
                <a:ea typeface="+mn-ea"/>
                <a:cs typeface="+mn-cs"/>
              </a:rPr>
              <a:t>Another nice thing about loading plots: the angles between the vectors tell us how characteristics correlate with one another. Let’s look at Figure 2.</a:t>
            </a:r>
          </a:p>
          <a:p>
            <a:pPr fontAlgn="base"/>
            <a:r>
              <a:rPr lang="en-US" sz="1200" b="0" i="0" kern="1200" dirty="0">
                <a:solidFill>
                  <a:schemeClr val="tx1"/>
                </a:solidFill>
                <a:effectLst/>
                <a:latin typeface="+mn-lt"/>
                <a:ea typeface="+mn-ea"/>
                <a:cs typeface="+mn-cs"/>
              </a:rPr>
              <a:t>When two vectors are close, forming a small angle, the two variables they represent are positively correlated. Example: APOD and PSAP</a:t>
            </a:r>
          </a:p>
          <a:p>
            <a:pPr fontAlgn="base"/>
            <a:r>
              <a:rPr lang="en-US" sz="1200" b="0" i="0" kern="1200" dirty="0">
                <a:solidFill>
                  <a:schemeClr val="tx1"/>
                </a:solidFill>
                <a:effectLst/>
                <a:latin typeface="+mn-lt"/>
                <a:ea typeface="+mn-ea"/>
                <a:cs typeface="+mn-cs"/>
              </a:rPr>
              <a:t>If they meet each other at 90°, they are not likely to be correlated. Example: NPC2 and GBA.</a:t>
            </a:r>
          </a:p>
          <a:p>
            <a:pPr fontAlgn="base"/>
            <a:r>
              <a:rPr lang="en-US" sz="1200" b="0" i="0" kern="1200" dirty="0">
                <a:solidFill>
                  <a:schemeClr val="tx1"/>
                </a:solidFill>
                <a:effectLst/>
                <a:latin typeface="+mn-lt"/>
                <a:ea typeface="+mn-ea"/>
                <a:cs typeface="+mn-cs"/>
              </a:rPr>
              <a:t>When they diverge and form a large angle (close to 180°), they are negative correlated. Example: NPC2 and MAG.</a:t>
            </a:r>
          </a:p>
          <a:p>
            <a:pPr fontAlgn="base"/>
            <a:r>
              <a:rPr lang="en-US" sz="1200" b="0" i="0" kern="1200" dirty="0">
                <a:solidFill>
                  <a:schemeClr val="tx1"/>
                </a:solidFill>
                <a:effectLst/>
                <a:latin typeface="+mn-lt"/>
                <a:ea typeface="+mn-ea"/>
                <a:cs typeface="+mn-cs"/>
              </a:rPr>
              <a:t>Now that you know all that, reading a PCA biplot is a piece of cake.</a:t>
            </a:r>
          </a:p>
        </p:txBody>
      </p:sp>
      <p:sp>
        <p:nvSpPr>
          <p:cNvPr id="4" name="Slide Number Placeholder 3"/>
          <p:cNvSpPr>
            <a:spLocks noGrp="1"/>
          </p:cNvSpPr>
          <p:nvPr>
            <p:ph type="sldNum" sz="quarter" idx="10"/>
          </p:nvPr>
        </p:nvSpPr>
        <p:spPr/>
        <p:txBody>
          <a:bodyPr/>
          <a:lstStyle/>
          <a:p>
            <a:fld id="{4BAF0735-F145-4B9C-9BE5-23AA3F3DE317}" type="slidenum">
              <a:rPr lang="en-US" smtClean="0"/>
              <a:t>22</a:t>
            </a:fld>
            <a:endParaRPr lang="en-US"/>
          </a:p>
        </p:txBody>
      </p:sp>
    </p:spTree>
    <p:extLst>
      <p:ext uri="{BB962C8B-B14F-4D97-AF65-F5344CB8AC3E}">
        <p14:creationId xmlns:p14="http://schemas.microsoft.com/office/powerpoint/2010/main" val="2587991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US" sz="1200" b="0" i="0" kern="1200">
                <a:solidFill>
                  <a:schemeClr val="tx1"/>
                </a:solidFill>
                <a:effectLst/>
                <a:latin typeface="+mn-lt"/>
                <a:ea typeface="+mn-ea"/>
                <a:cs typeface="+mn-cs"/>
              </a:rPr>
              <a:t>You probably notice that a PCA biplot simply merge an usual PCA plot with a plot of loadings. The arrangement is like this:</a:t>
            </a:r>
          </a:p>
          <a:p>
            <a:pPr fontAlgn="base"/>
            <a:r>
              <a:rPr lang="en-US" sz="1200" b="0" i="0" kern="1200">
                <a:solidFill>
                  <a:schemeClr val="tx1"/>
                </a:solidFill>
                <a:effectLst/>
                <a:latin typeface="+mn-lt"/>
                <a:ea typeface="+mn-ea"/>
                <a:cs typeface="+mn-cs"/>
              </a:rPr>
              <a:t>In other words, the left and bottom axes are of the PCA plot — use them to read PCA scores of the samples (dots). The top and right axes belong to the loading plot — use them to read how strongly each characteristic (vector) influence the principal components.</a:t>
            </a:r>
          </a:p>
        </p:txBody>
      </p:sp>
      <p:sp>
        <p:nvSpPr>
          <p:cNvPr id="4" name="Slide Number Placeholder 3"/>
          <p:cNvSpPr>
            <a:spLocks noGrp="1"/>
          </p:cNvSpPr>
          <p:nvPr>
            <p:ph type="sldNum" sz="quarter" idx="10"/>
          </p:nvPr>
        </p:nvSpPr>
        <p:spPr/>
        <p:txBody>
          <a:bodyPr/>
          <a:lstStyle/>
          <a:p>
            <a:fld id="{4BAF0735-F145-4B9C-9BE5-23AA3F3DE317}" type="slidenum">
              <a:rPr lang="en-US" smtClean="0"/>
              <a:t>23</a:t>
            </a:fld>
            <a:endParaRPr lang="en-US"/>
          </a:p>
        </p:txBody>
      </p:sp>
    </p:spTree>
    <p:extLst>
      <p:ext uri="{BB962C8B-B14F-4D97-AF65-F5344CB8AC3E}">
        <p14:creationId xmlns:p14="http://schemas.microsoft.com/office/powerpoint/2010/main" val="29168804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dendogram</a:t>
            </a:r>
            <a:r>
              <a:rPr lang="en-US" sz="1200" b="0" i="0" kern="1200" dirty="0">
                <a:solidFill>
                  <a:schemeClr val="tx1"/>
                </a:solidFill>
                <a:effectLst/>
                <a:latin typeface="+mn-lt"/>
                <a:ea typeface="+mn-ea"/>
                <a:cs typeface="+mn-cs"/>
              </a:rPr>
              <a:t> can be a column graph (as in the image below) or a row graph. Some </a:t>
            </a:r>
            <a:r>
              <a:rPr lang="en-US" sz="1200" b="0" i="0" kern="1200" dirty="0" err="1">
                <a:solidFill>
                  <a:schemeClr val="tx1"/>
                </a:solidFill>
                <a:effectLst/>
                <a:latin typeface="+mn-lt"/>
                <a:ea typeface="+mn-ea"/>
                <a:cs typeface="+mn-cs"/>
              </a:rPr>
              <a:t>dendograms</a:t>
            </a:r>
            <a:r>
              <a:rPr lang="en-US" sz="1200" b="0" i="0" kern="1200" dirty="0">
                <a:solidFill>
                  <a:schemeClr val="tx1"/>
                </a:solidFill>
                <a:effectLst/>
                <a:latin typeface="+mn-lt"/>
                <a:ea typeface="+mn-ea"/>
                <a:cs typeface="+mn-cs"/>
              </a:rPr>
              <a:t> are circular or have a fluid-shape, but software will usually produce a row or column graph. No matter what the shape, the basic graph comprises of the same parts:</a:t>
            </a:r>
          </a:p>
          <a:p>
            <a:pPr fontAlgn="base"/>
            <a:r>
              <a:rPr lang="en-US" sz="1200" b="0" i="0" kern="1200" dirty="0">
                <a:solidFill>
                  <a:schemeClr val="tx1"/>
                </a:solidFill>
                <a:effectLst/>
                <a:latin typeface="+mn-lt"/>
                <a:ea typeface="+mn-ea"/>
                <a:cs typeface="+mn-cs"/>
              </a:rPr>
              <a:t>The </a:t>
            </a:r>
            <a:r>
              <a:rPr lang="en-US" sz="1200" b="0" i="1" kern="1200" dirty="0">
                <a:solidFill>
                  <a:schemeClr val="tx1"/>
                </a:solidFill>
                <a:effectLst/>
                <a:latin typeface="+mn-lt"/>
                <a:ea typeface="+mn-ea"/>
                <a:cs typeface="+mn-cs"/>
              </a:rPr>
              <a:t>clade</a:t>
            </a:r>
            <a:r>
              <a:rPr lang="en-US" sz="1200" b="0" i="0" kern="1200" dirty="0">
                <a:solidFill>
                  <a:schemeClr val="tx1"/>
                </a:solidFill>
                <a:effectLst/>
                <a:latin typeface="+mn-lt"/>
                <a:ea typeface="+mn-ea"/>
                <a:cs typeface="+mn-cs"/>
              </a:rPr>
              <a:t> is the branch. Usually labeled with Greek letters from left to right (e.g. α β, </a:t>
            </a:r>
            <a:r>
              <a:rPr lang="en-US" sz="1200" b="0" i="0" kern="1200" dirty="0" err="1">
                <a:solidFill>
                  <a:schemeClr val="tx1"/>
                </a:solidFill>
                <a:effectLst/>
                <a:latin typeface="+mn-lt"/>
                <a:ea typeface="+mn-ea"/>
                <a:cs typeface="+mn-cs"/>
              </a:rPr>
              <a:t>δ</a:t>
            </a:r>
            <a:r>
              <a:rPr lang="en-US" sz="1200" b="0" i="0" kern="1200" dirty="0">
                <a:solidFill>
                  <a:schemeClr val="tx1"/>
                </a:solidFill>
                <a:effectLst/>
                <a:latin typeface="+mn-lt"/>
                <a:ea typeface="+mn-ea"/>
                <a:cs typeface="+mn-cs"/>
              </a:rPr>
              <a:t>…).</a:t>
            </a:r>
          </a:p>
          <a:p>
            <a:pPr fontAlgn="base"/>
            <a:r>
              <a:rPr lang="en-US" sz="1200" b="0" i="0" kern="1200" dirty="0">
                <a:solidFill>
                  <a:schemeClr val="tx1"/>
                </a:solidFill>
                <a:effectLst/>
                <a:latin typeface="+mn-lt"/>
                <a:ea typeface="+mn-ea"/>
                <a:cs typeface="+mn-cs"/>
              </a:rPr>
              <a:t>Each clade has one or more </a:t>
            </a:r>
            <a:r>
              <a:rPr lang="en-US" sz="1200" b="0" i="1" kern="1200" dirty="0">
                <a:solidFill>
                  <a:schemeClr val="tx1"/>
                </a:solidFill>
                <a:effectLst/>
                <a:latin typeface="+mn-lt"/>
                <a:ea typeface="+mn-ea"/>
                <a:cs typeface="+mn-cs"/>
              </a:rPr>
              <a:t>leaves</a:t>
            </a:r>
            <a:r>
              <a:rPr lang="en-US" sz="1200" b="0" i="0" kern="1200" dirty="0">
                <a:solidFill>
                  <a:schemeClr val="tx1"/>
                </a:solidFill>
                <a:effectLst/>
                <a:latin typeface="+mn-lt"/>
                <a:ea typeface="+mn-ea"/>
                <a:cs typeface="+mn-cs"/>
              </a:rPr>
              <a:t>. The leaves in the above image are:</a:t>
            </a:r>
          </a:p>
          <a:p>
            <a:pPr lvl="1" fontAlgn="base"/>
            <a:r>
              <a:rPr lang="en-US" sz="1200" b="0" i="0" kern="1200" dirty="0">
                <a:solidFill>
                  <a:schemeClr val="tx1"/>
                </a:solidFill>
                <a:effectLst/>
                <a:latin typeface="+mn-lt"/>
                <a:ea typeface="+mn-ea"/>
                <a:cs typeface="+mn-cs"/>
              </a:rPr>
              <a:t>Single (</a:t>
            </a:r>
            <a:r>
              <a:rPr lang="en-US" sz="1200" b="0" i="0" kern="1200" dirty="0" err="1">
                <a:solidFill>
                  <a:schemeClr val="tx1"/>
                </a:solidFill>
                <a:effectLst/>
                <a:latin typeface="+mn-lt"/>
                <a:ea typeface="+mn-ea"/>
                <a:cs typeface="+mn-cs"/>
              </a:rPr>
              <a:t>simplicifolius</a:t>
            </a:r>
            <a:r>
              <a:rPr lang="en-US" sz="1200" b="0" i="0" kern="1200" dirty="0">
                <a:solidFill>
                  <a:schemeClr val="tx1"/>
                </a:solidFill>
                <a:effectLst/>
                <a:latin typeface="+mn-lt"/>
                <a:ea typeface="+mn-ea"/>
                <a:cs typeface="+mn-cs"/>
              </a:rPr>
              <a:t>): F</a:t>
            </a:r>
          </a:p>
          <a:p>
            <a:pPr lvl="1" fontAlgn="base"/>
            <a:r>
              <a:rPr lang="en-US" sz="1200" b="0" i="0" kern="1200" dirty="0">
                <a:solidFill>
                  <a:schemeClr val="tx1"/>
                </a:solidFill>
                <a:effectLst/>
                <a:latin typeface="+mn-lt"/>
                <a:ea typeface="+mn-ea"/>
                <a:cs typeface="+mn-cs"/>
              </a:rPr>
              <a:t>Double (</a:t>
            </a:r>
            <a:r>
              <a:rPr lang="en-US" sz="1200" b="0" i="0" kern="1200" dirty="0" err="1">
                <a:solidFill>
                  <a:schemeClr val="tx1"/>
                </a:solidFill>
                <a:effectLst/>
                <a:latin typeface="+mn-lt"/>
                <a:ea typeface="+mn-ea"/>
                <a:cs typeface="+mn-cs"/>
              </a:rPr>
              <a:t>bifolius</a:t>
            </a:r>
            <a:r>
              <a:rPr lang="en-US" sz="1200" b="0" i="0" kern="1200" dirty="0">
                <a:solidFill>
                  <a:schemeClr val="tx1"/>
                </a:solidFill>
                <a:effectLst/>
                <a:latin typeface="+mn-lt"/>
                <a:ea typeface="+mn-ea"/>
                <a:cs typeface="+mn-cs"/>
              </a:rPr>
              <a:t>): D E</a:t>
            </a:r>
          </a:p>
          <a:p>
            <a:pPr lvl="1" fontAlgn="base"/>
            <a:r>
              <a:rPr lang="en-US" sz="1200" b="0" i="0" kern="1200" dirty="0">
                <a:solidFill>
                  <a:schemeClr val="tx1"/>
                </a:solidFill>
                <a:effectLst/>
                <a:latin typeface="+mn-lt"/>
                <a:ea typeface="+mn-ea"/>
                <a:cs typeface="+mn-cs"/>
              </a:rPr>
              <a:t>Triple (</a:t>
            </a:r>
            <a:r>
              <a:rPr lang="en-US" sz="1200" b="0" i="0" kern="1200" dirty="0" err="1">
                <a:solidFill>
                  <a:schemeClr val="tx1"/>
                </a:solidFill>
                <a:effectLst/>
                <a:latin typeface="+mn-lt"/>
                <a:ea typeface="+mn-ea"/>
                <a:cs typeface="+mn-cs"/>
              </a:rPr>
              <a:t>trifolious</a:t>
            </a:r>
            <a:r>
              <a:rPr lang="en-US" sz="1200" b="0" i="0" kern="1200" dirty="0">
                <a:solidFill>
                  <a:schemeClr val="tx1"/>
                </a:solidFill>
                <a:effectLst/>
                <a:latin typeface="+mn-lt"/>
                <a:ea typeface="+mn-ea"/>
                <a:cs typeface="+mn-cs"/>
              </a:rPr>
              <a:t>): A B C</a:t>
            </a:r>
          </a:p>
          <a:p>
            <a:pPr fontAlgn="base"/>
            <a:r>
              <a:rPr lang="en-US" sz="1200" b="0" i="0" kern="1200" dirty="0">
                <a:solidFill>
                  <a:schemeClr val="tx1"/>
                </a:solidFill>
                <a:effectLst/>
                <a:latin typeface="+mn-lt"/>
                <a:ea typeface="+mn-ea"/>
                <a:cs typeface="+mn-cs"/>
              </a:rPr>
              <a:t>A clade can theoretically have an infinite amount of leaves. However, the more leaves you have, the harder the graph will be to read with the naked eye.</a:t>
            </a:r>
          </a:p>
          <a:p>
            <a:endParaRPr lang="en-US" dirty="0"/>
          </a:p>
        </p:txBody>
      </p:sp>
      <p:sp>
        <p:nvSpPr>
          <p:cNvPr id="4" name="Slide Number Placeholder 3"/>
          <p:cNvSpPr>
            <a:spLocks noGrp="1"/>
          </p:cNvSpPr>
          <p:nvPr>
            <p:ph type="sldNum" sz="quarter" idx="10"/>
          </p:nvPr>
        </p:nvSpPr>
        <p:spPr/>
        <p:txBody>
          <a:bodyPr/>
          <a:lstStyle/>
          <a:p>
            <a:fld id="{4BAF0735-F145-4B9C-9BE5-23AA3F3DE317}" type="slidenum">
              <a:rPr lang="en-US" smtClean="0"/>
              <a:t>30</a:t>
            </a:fld>
            <a:endParaRPr lang="en-US"/>
          </a:p>
        </p:txBody>
      </p:sp>
    </p:spTree>
    <p:extLst>
      <p:ext uri="{BB962C8B-B14F-4D97-AF65-F5344CB8AC3E}">
        <p14:creationId xmlns:p14="http://schemas.microsoft.com/office/powerpoint/2010/main" val="9263145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a:solidFill>
                  <a:schemeClr val="tx1"/>
                </a:solidFill>
                <a:effectLst/>
                <a:latin typeface="+mn-lt"/>
                <a:ea typeface="+mn-ea"/>
                <a:cs typeface="+mn-cs"/>
              </a:rPr>
              <a:t>The clades are arranged according to how similar (or dissimilar) they are. Clades that are close to the same height are similar to each other; clades with different heights are dissimilar — </a:t>
            </a:r>
            <a:r>
              <a:rPr lang="en-US" sz="1200" b="1" i="0" kern="1200">
                <a:solidFill>
                  <a:schemeClr val="tx1"/>
                </a:solidFill>
                <a:effectLst/>
                <a:latin typeface="+mn-lt"/>
                <a:ea typeface="+mn-ea"/>
                <a:cs typeface="+mn-cs"/>
              </a:rPr>
              <a:t>the greater the difference in height, the more dissimilarity</a:t>
            </a:r>
            <a:r>
              <a:rPr lang="en-US" sz="1200" b="0" i="0" kern="1200">
                <a:solidFill>
                  <a:schemeClr val="tx1"/>
                </a:solidFill>
                <a:effectLst/>
                <a:latin typeface="+mn-lt"/>
                <a:ea typeface="+mn-ea"/>
                <a:cs typeface="+mn-cs"/>
              </a:rPr>
              <a:t> (you can measure similarity in many different ways; One of the most popular measures is </a:t>
            </a:r>
            <a:r>
              <a:rPr lang="en-US" sz="1200" b="0" i="0" u="none" strike="noStrike" kern="1200">
                <a:solidFill>
                  <a:schemeClr val="tx1"/>
                </a:solidFill>
                <a:effectLst/>
                <a:latin typeface="+mn-lt"/>
                <a:ea typeface="+mn-ea"/>
                <a:cs typeface="+mn-cs"/>
                <a:hlinkClick r:id="rId3"/>
              </a:rPr>
              <a:t>Pearson’s Correlation Coefficient</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Note that on the above graph, the same clave, β joins leaves A, B, C, D,and E. That means that the two groups (A,B,C &amp; D,E) are more similar to each other than they are to F.</a:t>
            </a:r>
            <a:endParaRPr lang="en-US"/>
          </a:p>
        </p:txBody>
      </p:sp>
      <p:sp>
        <p:nvSpPr>
          <p:cNvPr id="4" name="Slide Number Placeholder 3"/>
          <p:cNvSpPr>
            <a:spLocks noGrp="1"/>
          </p:cNvSpPr>
          <p:nvPr>
            <p:ph type="sldNum" sz="quarter" idx="10"/>
          </p:nvPr>
        </p:nvSpPr>
        <p:spPr/>
        <p:txBody>
          <a:bodyPr/>
          <a:lstStyle/>
          <a:p>
            <a:fld id="{4BAF0735-F145-4B9C-9BE5-23AA3F3DE317}" type="slidenum">
              <a:rPr lang="en-US" smtClean="0"/>
              <a:t>31</a:t>
            </a:fld>
            <a:endParaRPr lang="en-US"/>
          </a:p>
        </p:txBody>
      </p:sp>
    </p:spTree>
    <p:extLst>
      <p:ext uri="{BB962C8B-B14F-4D97-AF65-F5344CB8AC3E}">
        <p14:creationId xmlns:p14="http://schemas.microsoft.com/office/powerpoint/2010/main" val="14373677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a:solidFill>
                  <a:schemeClr val="tx1"/>
                </a:solidFill>
                <a:effectLst/>
                <a:latin typeface="+mn-lt"/>
                <a:ea typeface="+mn-ea"/>
                <a:cs typeface="+mn-cs"/>
              </a:rPr>
              <a:t>The clades are arranged according to how similar (or dissimilar) they are. Clades that are close to the same height are similar to each other; clades with different heights are dissimilar — </a:t>
            </a:r>
            <a:r>
              <a:rPr lang="en-US" sz="1200" b="1" i="0" kern="1200">
                <a:solidFill>
                  <a:schemeClr val="tx1"/>
                </a:solidFill>
                <a:effectLst/>
                <a:latin typeface="+mn-lt"/>
                <a:ea typeface="+mn-ea"/>
                <a:cs typeface="+mn-cs"/>
              </a:rPr>
              <a:t>the greater the difference in height, the more dissimilarity</a:t>
            </a:r>
            <a:r>
              <a:rPr lang="en-US" sz="1200" b="0" i="0" kern="1200">
                <a:solidFill>
                  <a:schemeClr val="tx1"/>
                </a:solidFill>
                <a:effectLst/>
                <a:latin typeface="+mn-lt"/>
                <a:ea typeface="+mn-ea"/>
                <a:cs typeface="+mn-cs"/>
              </a:rPr>
              <a:t> (you can measure similarity in many different ways; One of the most popular measures is </a:t>
            </a:r>
            <a:r>
              <a:rPr lang="en-US" sz="1200" b="0" i="0" u="none" strike="noStrike" kern="1200">
                <a:solidFill>
                  <a:schemeClr val="tx1"/>
                </a:solidFill>
                <a:effectLst/>
                <a:latin typeface="+mn-lt"/>
                <a:ea typeface="+mn-ea"/>
                <a:cs typeface="+mn-cs"/>
                <a:hlinkClick r:id="rId3"/>
              </a:rPr>
              <a:t>Pearson’s Correlation Coefficient</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Note that on the above graph, the same clave, β joins leaves A, B, C, D,and E. That means that the two groups (A,B,C &amp; D,E) are more similar to each other than they are to F.</a:t>
            </a:r>
            <a:endParaRPr lang="en-US"/>
          </a:p>
        </p:txBody>
      </p:sp>
      <p:sp>
        <p:nvSpPr>
          <p:cNvPr id="4" name="Slide Number Placeholder 3"/>
          <p:cNvSpPr>
            <a:spLocks noGrp="1"/>
          </p:cNvSpPr>
          <p:nvPr>
            <p:ph type="sldNum" sz="quarter" idx="10"/>
          </p:nvPr>
        </p:nvSpPr>
        <p:spPr/>
        <p:txBody>
          <a:bodyPr/>
          <a:lstStyle/>
          <a:p>
            <a:fld id="{4BAF0735-F145-4B9C-9BE5-23AA3F3DE317}" type="slidenum">
              <a:rPr lang="en-US" smtClean="0"/>
              <a:t>32</a:t>
            </a:fld>
            <a:endParaRPr lang="en-US"/>
          </a:p>
        </p:txBody>
      </p:sp>
    </p:spTree>
    <p:extLst>
      <p:ext uri="{BB962C8B-B14F-4D97-AF65-F5344CB8AC3E}">
        <p14:creationId xmlns:p14="http://schemas.microsoft.com/office/powerpoint/2010/main" val="1624967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Note that there are a</a:t>
            </a:r>
            <a:r>
              <a:rPr lang="en-US" baseline="0"/>
              <a:t> wealth of methods to determine </a:t>
            </a:r>
            <a:endParaRPr lang="en-US"/>
          </a:p>
        </p:txBody>
      </p:sp>
      <p:sp>
        <p:nvSpPr>
          <p:cNvPr id="4" name="Slide Number Placeholder 3"/>
          <p:cNvSpPr>
            <a:spLocks noGrp="1"/>
          </p:cNvSpPr>
          <p:nvPr>
            <p:ph type="sldNum" sz="quarter" idx="10"/>
          </p:nvPr>
        </p:nvSpPr>
        <p:spPr/>
        <p:txBody>
          <a:bodyPr/>
          <a:lstStyle/>
          <a:p>
            <a:fld id="{4BAF0735-F145-4B9C-9BE5-23AA3F3DE317}" type="slidenum">
              <a:rPr lang="en-US" smtClean="0"/>
              <a:t>34</a:t>
            </a:fld>
            <a:endParaRPr lang="en-US"/>
          </a:p>
        </p:txBody>
      </p:sp>
    </p:spTree>
    <p:extLst>
      <p:ext uri="{BB962C8B-B14F-4D97-AF65-F5344CB8AC3E}">
        <p14:creationId xmlns:p14="http://schemas.microsoft.com/office/powerpoint/2010/main" val="32889313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Note that there are a</a:t>
            </a:r>
            <a:r>
              <a:rPr lang="en-US" baseline="0"/>
              <a:t> wealth of methods to determine </a:t>
            </a:r>
            <a:endParaRPr lang="en-US"/>
          </a:p>
        </p:txBody>
      </p:sp>
      <p:sp>
        <p:nvSpPr>
          <p:cNvPr id="4" name="Slide Number Placeholder 3"/>
          <p:cNvSpPr>
            <a:spLocks noGrp="1"/>
          </p:cNvSpPr>
          <p:nvPr>
            <p:ph type="sldNum" sz="quarter" idx="10"/>
          </p:nvPr>
        </p:nvSpPr>
        <p:spPr/>
        <p:txBody>
          <a:bodyPr/>
          <a:lstStyle/>
          <a:p>
            <a:fld id="{4BAF0735-F145-4B9C-9BE5-23AA3F3DE317}" type="slidenum">
              <a:rPr lang="en-US" smtClean="0"/>
              <a:t>35</a:t>
            </a:fld>
            <a:endParaRPr lang="en-US"/>
          </a:p>
        </p:txBody>
      </p:sp>
    </p:spTree>
    <p:extLst>
      <p:ext uri="{BB962C8B-B14F-4D97-AF65-F5344CB8AC3E}">
        <p14:creationId xmlns:p14="http://schemas.microsoft.com/office/powerpoint/2010/main" val="16006521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BAF0735-F145-4B9C-9BE5-23AA3F3DE317}" type="slidenum">
              <a:rPr lang="en-US" smtClean="0"/>
              <a:t>38</a:t>
            </a:fld>
            <a:endParaRPr lang="en-US"/>
          </a:p>
        </p:txBody>
      </p:sp>
    </p:spTree>
    <p:extLst>
      <p:ext uri="{BB962C8B-B14F-4D97-AF65-F5344CB8AC3E}">
        <p14:creationId xmlns:p14="http://schemas.microsoft.com/office/powerpoint/2010/main" val="10098426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1292A3-D368-AC4F-AEF5-A524D033EA29}" type="slidenum">
              <a:rPr lang="en-US" smtClean="0"/>
              <a:t>48</a:t>
            </a:fld>
            <a:endParaRPr lang="en-US"/>
          </a:p>
        </p:txBody>
      </p:sp>
    </p:spTree>
    <p:extLst>
      <p:ext uri="{BB962C8B-B14F-4D97-AF65-F5344CB8AC3E}">
        <p14:creationId xmlns:p14="http://schemas.microsoft.com/office/powerpoint/2010/main" val="7456321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2875FA-86F8-171D-C7E3-624DF23410C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13B0B97-A775-C935-D79E-5F906921A50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44B80A2-117B-52C0-2CF0-53857ADB2099}"/>
              </a:ext>
            </a:extLst>
          </p:cNvPr>
          <p:cNvSpPr>
            <a:spLocks noGrp="1"/>
          </p:cNvSpPr>
          <p:nvPr>
            <p:ph type="dt" sz="half" idx="10"/>
          </p:nvPr>
        </p:nvSpPr>
        <p:spPr/>
        <p:txBody>
          <a:bodyPr/>
          <a:lstStyle/>
          <a:p>
            <a:fld id="{C986F8B0-BA74-0148-8AEE-4A6414E81F50}" type="datetimeFigureOut">
              <a:rPr lang="en-US" smtClean="0"/>
              <a:t>2/17/26</a:t>
            </a:fld>
            <a:endParaRPr lang="en-US"/>
          </a:p>
        </p:txBody>
      </p:sp>
      <p:sp>
        <p:nvSpPr>
          <p:cNvPr id="5" name="Footer Placeholder 4">
            <a:extLst>
              <a:ext uri="{FF2B5EF4-FFF2-40B4-BE49-F238E27FC236}">
                <a16:creationId xmlns:a16="http://schemas.microsoft.com/office/drawing/2014/main" id="{E107BC23-0693-F158-D62C-28A54DC82A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99F5A6-3A44-7141-2978-7A0CB0193D49}"/>
              </a:ext>
            </a:extLst>
          </p:cNvPr>
          <p:cNvSpPr>
            <a:spLocks noGrp="1"/>
          </p:cNvSpPr>
          <p:nvPr>
            <p:ph type="sldNum" sz="quarter" idx="12"/>
          </p:nvPr>
        </p:nvSpPr>
        <p:spPr/>
        <p:txBody>
          <a:bodyPr/>
          <a:lstStyle/>
          <a:p>
            <a:fld id="{BAEF3343-CC17-8F4D-A8D8-9221F9783F14}" type="slidenum">
              <a:rPr lang="en-US" smtClean="0"/>
              <a:t>‹#›</a:t>
            </a:fld>
            <a:endParaRPr lang="en-US"/>
          </a:p>
        </p:txBody>
      </p:sp>
    </p:spTree>
    <p:extLst>
      <p:ext uri="{BB962C8B-B14F-4D97-AF65-F5344CB8AC3E}">
        <p14:creationId xmlns:p14="http://schemas.microsoft.com/office/powerpoint/2010/main" val="15066515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B5269-EC7B-37E7-8381-2B6D8FF7952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DF1C0D-894A-1BD8-98F7-0F4B34CBFA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D6CF6BF-EC52-5C04-15CB-C0584D12A9A6}"/>
              </a:ext>
            </a:extLst>
          </p:cNvPr>
          <p:cNvSpPr>
            <a:spLocks noGrp="1"/>
          </p:cNvSpPr>
          <p:nvPr>
            <p:ph type="dt" sz="half" idx="10"/>
          </p:nvPr>
        </p:nvSpPr>
        <p:spPr/>
        <p:txBody>
          <a:bodyPr/>
          <a:lstStyle/>
          <a:p>
            <a:fld id="{C986F8B0-BA74-0148-8AEE-4A6414E81F50}" type="datetimeFigureOut">
              <a:rPr lang="en-US" smtClean="0"/>
              <a:t>2/17/26</a:t>
            </a:fld>
            <a:endParaRPr lang="en-US"/>
          </a:p>
        </p:txBody>
      </p:sp>
      <p:sp>
        <p:nvSpPr>
          <p:cNvPr id="5" name="Footer Placeholder 4">
            <a:extLst>
              <a:ext uri="{FF2B5EF4-FFF2-40B4-BE49-F238E27FC236}">
                <a16:creationId xmlns:a16="http://schemas.microsoft.com/office/drawing/2014/main" id="{6C52D5C0-0DB8-B462-FD10-6408D406AE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2B67B9-E913-5B7F-4090-99C5A1E16510}"/>
              </a:ext>
            </a:extLst>
          </p:cNvPr>
          <p:cNvSpPr>
            <a:spLocks noGrp="1"/>
          </p:cNvSpPr>
          <p:nvPr>
            <p:ph type="sldNum" sz="quarter" idx="12"/>
          </p:nvPr>
        </p:nvSpPr>
        <p:spPr/>
        <p:txBody>
          <a:bodyPr/>
          <a:lstStyle/>
          <a:p>
            <a:fld id="{BAEF3343-CC17-8F4D-A8D8-9221F9783F14}" type="slidenum">
              <a:rPr lang="en-US" smtClean="0"/>
              <a:t>‹#›</a:t>
            </a:fld>
            <a:endParaRPr lang="en-US"/>
          </a:p>
        </p:txBody>
      </p:sp>
    </p:spTree>
    <p:extLst>
      <p:ext uri="{BB962C8B-B14F-4D97-AF65-F5344CB8AC3E}">
        <p14:creationId xmlns:p14="http://schemas.microsoft.com/office/powerpoint/2010/main" val="18671025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E6C55-0B77-D794-6C17-763DCB63CF0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13C1B56-BFCA-94A9-55EA-038AD133712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20B39E5-9379-19BC-59FB-F6CDF97AD218}"/>
              </a:ext>
            </a:extLst>
          </p:cNvPr>
          <p:cNvSpPr>
            <a:spLocks noGrp="1"/>
          </p:cNvSpPr>
          <p:nvPr>
            <p:ph type="dt" sz="half" idx="10"/>
          </p:nvPr>
        </p:nvSpPr>
        <p:spPr/>
        <p:txBody>
          <a:bodyPr/>
          <a:lstStyle/>
          <a:p>
            <a:fld id="{C986F8B0-BA74-0148-8AEE-4A6414E81F50}" type="datetimeFigureOut">
              <a:rPr lang="en-US" smtClean="0"/>
              <a:t>2/17/26</a:t>
            </a:fld>
            <a:endParaRPr lang="en-US"/>
          </a:p>
        </p:txBody>
      </p:sp>
      <p:sp>
        <p:nvSpPr>
          <p:cNvPr id="5" name="Footer Placeholder 4">
            <a:extLst>
              <a:ext uri="{FF2B5EF4-FFF2-40B4-BE49-F238E27FC236}">
                <a16:creationId xmlns:a16="http://schemas.microsoft.com/office/drawing/2014/main" id="{957E6947-BD1B-34A0-77ED-7CFCF268EF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ABBDBA6-0419-21F1-6201-CDDEE0C56E44}"/>
              </a:ext>
            </a:extLst>
          </p:cNvPr>
          <p:cNvSpPr>
            <a:spLocks noGrp="1"/>
          </p:cNvSpPr>
          <p:nvPr>
            <p:ph type="sldNum" sz="quarter" idx="12"/>
          </p:nvPr>
        </p:nvSpPr>
        <p:spPr/>
        <p:txBody>
          <a:bodyPr/>
          <a:lstStyle/>
          <a:p>
            <a:fld id="{BAEF3343-CC17-8F4D-A8D8-9221F9783F14}" type="slidenum">
              <a:rPr lang="en-US" smtClean="0"/>
              <a:t>‹#›</a:t>
            </a:fld>
            <a:endParaRPr lang="en-US"/>
          </a:p>
        </p:txBody>
      </p:sp>
    </p:spTree>
    <p:extLst>
      <p:ext uri="{BB962C8B-B14F-4D97-AF65-F5344CB8AC3E}">
        <p14:creationId xmlns:p14="http://schemas.microsoft.com/office/powerpoint/2010/main" val="5759966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959CD-16B9-2B89-0D99-C526E93A088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54E4109-D2FA-8349-594C-F8B1C8B69E9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21F91A9-B50B-4B94-6855-8C928274FC6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71C2CA3-86A5-5195-7A84-2F83BF1AF532}"/>
              </a:ext>
            </a:extLst>
          </p:cNvPr>
          <p:cNvSpPr>
            <a:spLocks noGrp="1"/>
          </p:cNvSpPr>
          <p:nvPr>
            <p:ph type="dt" sz="half" idx="10"/>
          </p:nvPr>
        </p:nvSpPr>
        <p:spPr/>
        <p:txBody>
          <a:bodyPr/>
          <a:lstStyle/>
          <a:p>
            <a:fld id="{C986F8B0-BA74-0148-8AEE-4A6414E81F50}" type="datetimeFigureOut">
              <a:rPr lang="en-US" smtClean="0"/>
              <a:t>2/17/26</a:t>
            </a:fld>
            <a:endParaRPr lang="en-US"/>
          </a:p>
        </p:txBody>
      </p:sp>
      <p:sp>
        <p:nvSpPr>
          <p:cNvPr id="6" name="Footer Placeholder 5">
            <a:extLst>
              <a:ext uri="{FF2B5EF4-FFF2-40B4-BE49-F238E27FC236}">
                <a16:creationId xmlns:a16="http://schemas.microsoft.com/office/drawing/2014/main" id="{D9225B52-80CD-68BD-22B9-5DBF69B249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989DE28-F9CA-A44D-3A27-45DE21A5076F}"/>
              </a:ext>
            </a:extLst>
          </p:cNvPr>
          <p:cNvSpPr>
            <a:spLocks noGrp="1"/>
          </p:cNvSpPr>
          <p:nvPr>
            <p:ph type="sldNum" sz="quarter" idx="12"/>
          </p:nvPr>
        </p:nvSpPr>
        <p:spPr/>
        <p:txBody>
          <a:bodyPr/>
          <a:lstStyle/>
          <a:p>
            <a:fld id="{BAEF3343-CC17-8F4D-A8D8-9221F9783F14}" type="slidenum">
              <a:rPr lang="en-US" smtClean="0"/>
              <a:t>‹#›</a:t>
            </a:fld>
            <a:endParaRPr lang="en-US"/>
          </a:p>
        </p:txBody>
      </p:sp>
    </p:spTree>
    <p:extLst>
      <p:ext uri="{BB962C8B-B14F-4D97-AF65-F5344CB8AC3E}">
        <p14:creationId xmlns:p14="http://schemas.microsoft.com/office/powerpoint/2010/main" val="4546844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45465-E7FE-F477-6058-7921DA2297A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4852204-A285-7E70-E3AE-3C14D713F3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106372-0901-5C3E-0582-BBE16D90C1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25A62F1-39B1-C9D4-18C6-91198B3EDA6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C462A86-A413-5DF4-54DF-3085B8ACB3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358E040-8593-FE03-FEDF-EB01B4705570}"/>
              </a:ext>
            </a:extLst>
          </p:cNvPr>
          <p:cNvSpPr>
            <a:spLocks noGrp="1"/>
          </p:cNvSpPr>
          <p:nvPr>
            <p:ph type="dt" sz="half" idx="10"/>
          </p:nvPr>
        </p:nvSpPr>
        <p:spPr/>
        <p:txBody>
          <a:bodyPr/>
          <a:lstStyle/>
          <a:p>
            <a:fld id="{C986F8B0-BA74-0148-8AEE-4A6414E81F50}" type="datetimeFigureOut">
              <a:rPr lang="en-US" smtClean="0"/>
              <a:t>2/17/26</a:t>
            </a:fld>
            <a:endParaRPr lang="en-US"/>
          </a:p>
        </p:txBody>
      </p:sp>
      <p:sp>
        <p:nvSpPr>
          <p:cNvPr id="8" name="Footer Placeholder 7">
            <a:extLst>
              <a:ext uri="{FF2B5EF4-FFF2-40B4-BE49-F238E27FC236}">
                <a16:creationId xmlns:a16="http://schemas.microsoft.com/office/drawing/2014/main" id="{23ECFD38-19E4-5627-74B2-AB5C28F6C2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60D2A1-C8E3-1658-6F3F-46FA3D5BFA98}"/>
              </a:ext>
            </a:extLst>
          </p:cNvPr>
          <p:cNvSpPr>
            <a:spLocks noGrp="1"/>
          </p:cNvSpPr>
          <p:nvPr>
            <p:ph type="sldNum" sz="quarter" idx="12"/>
          </p:nvPr>
        </p:nvSpPr>
        <p:spPr/>
        <p:txBody>
          <a:bodyPr/>
          <a:lstStyle/>
          <a:p>
            <a:fld id="{BAEF3343-CC17-8F4D-A8D8-9221F9783F14}" type="slidenum">
              <a:rPr lang="en-US" smtClean="0"/>
              <a:t>‹#›</a:t>
            </a:fld>
            <a:endParaRPr lang="en-US"/>
          </a:p>
        </p:txBody>
      </p:sp>
    </p:spTree>
    <p:extLst>
      <p:ext uri="{BB962C8B-B14F-4D97-AF65-F5344CB8AC3E}">
        <p14:creationId xmlns:p14="http://schemas.microsoft.com/office/powerpoint/2010/main" val="19176170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2A116A-8F58-0D04-3EA4-2D278C2FD13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008808B-BD79-EEED-A63B-E4179B81B2CB}"/>
              </a:ext>
            </a:extLst>
          </p:cNvPr>
          <p:cNvSpPr>
            <a:spLocks noGrp="1"/>
          </p:cNvSpPr>
          <p:nvPr>
            <p:ph type="dt" sz="half" idx="10"/>
          </p:nvPr>
        </p:nvSpPr>
        <p:spPr/>
        <p:txBody>
          <a:bodyPr/>
          <a:lstStyle/>
          <a:p>
            <a:fld id="{C986F8B0-BA74-0148-8AEE-4A6414E81F50}" type="datetimeFigureOut">
              <a:rPr lang="en-US" smtClean="0"/>
              <a:t>2/17/26</a:t>
            </a:fld>
            <a:endParaRPr lang="en-US"/>
          </a:p>
        </p:txBody>
      </p:sp>
      <p:sp>
        <p:nvSpPr>
          <p:cNvPr id="4" name="Footer Placeholder 3">
            <a:extLst>
              <a:ext uri="{FF2B5EF4-FFF2-40B4-BE49-F238E27FC236}">
                <a16:creationId xmlns:a16="http://schemas.microsoft.com/office/drawing/2014/main" id="{EE01D6AE-E0CD-FC0A-EB11-C72A9FC4D10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6B8FD0F-BCA6-4F33-A5AE-F77C5F14D739}"/>
              </a:ext>
            </a:extLst>
          </p:cNvPr>
          <p:cNvSpPr>
            <a:spLocks noGrp="1"/>
          </p:cNvSpPr>
          <p:nvPr>
            <p:ph type="sldNum" sz="quarter" idx="12"/>
          </p:nvPr>
        </p:nvSpPr>
        <p:spPr/>
        <p:txBody>
          <a:bodyPr/>
          <a:lstStyle/>
          <a:p>
            <a:fld id="{BAEF3343-CC17-8F4D-A8D8-9221F9783F14}" type="slidenum">
              <a:rPr lang="en-US" smtClean="0"/>
              <a:t>‹#›</a:t>
            </a:fld>
            <a:endParaRPr lang="en-US"/>
          </a:p>
        </p:txBody>
      </p:sp>
    </p:spTree>
    <p:extLst>
      <p:ext uri="{BB962C8B-B14F-4D97-AF65-F5344CB8AC3E}">
        <p14:creationId xmlns:p14="http://schemas.microsoft.com/office/powerpoint/2010/main" val="40464456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874956A-CF92-1104-778C-35A6B7DA0DD2}"/>
              </a:ext>
            </a:extLst>
          </p:cNvPr>
          <p:cNvSpPr>
            <a:spLocks noGrp="1"/>
          </p:cNvSpPr>
          <p:nvPr>
            <p:ph type="dt" sz="half" idx="10"/>
          </p:nvPr>
        </p:nvSpPr>
        <p:spPr/>
        <p:txBody>
          <a:bodyPr/>
          <a:lstStyle/>
          <a:p>
            <a:fld id="{C986F8B0-BA74-0148-8AEE-4A6414E81F50}" type="datetimeFigureOut">
              <a:rPr lang="en-US" smtClean="0"/>
              <a:t>2/17/26</a:t>
            </a:fld>
            <a:endParaRPr lang="en-US"/>
          </a:p>
        </p:txBody>
      </p:sp>
      <p:sp>
        <p:nvSpPr>
          <p:cNvPr id="3" name="Footer Placeholder 2">
            <a:extLst>
              <a:ext uri="{FF2B5EF4-FFF2-40B4-BE49-F238E27FC236}">
                <a16:creationId xmlns:a16="http://schemas.microsoft.com/office/drawing/2014/main" id="{1E6489FD-818C-552E-A60A-7A23C76AA80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E2D1EB7-8F9B-6DBC-5888-F2E22C6B208A}"/>
              </a:ext>
            </a:extLst>
          </p:cNvPr>
          <p:cNvSpPr>
            <a:spLocks noGrp="1"/>
          </p:cNvSpPr>
          <p:nvPr>
            <p:ph type="sldNum" sz="quarter" idx="12"/>
          </p:nvPr>
        </p:nvSpPr>
        <p:spPr/>
        <p:txBody>
          <a:bodyPr/>
          <a:lstStyle/>
          <a:p>
            <a:fld id="{BAEF3343-CC17-8F4D-A8D8-9221F9783F14}" type="slidenum">
              <a:rPr lang="en-US" smtClean="0"/>
              <a:t>‹#›</a:t>
            </a:fld>
            <a:endParaRPr lang="en-US"/>
          </a:p>
        </p:txBody>
      </p:sp>
    </p:spTree>
    <p:extLst>
      <p:ext uri="{BB962C8B-B14F-4D97-AF65-F5344CB8AC3E}">
        <p14:creationId xmlns:p14="http://schemas.microsoft.com/office/powerpoint/2010/main" val="3570287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386C7-E81C-A0CF-643C-B04C8484B2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40912EB-0F16-9716-CCB3-A71F4BC641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9F8013C-6DD6-D370-0474-B5B338B8CC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B0F8E5-25B1-40B7-7077-E35CE4B2F67C}"/>
              </a:ext>
            </a:extLst>
          </p:cNvPr>
          <p:cNvSpPr>
            <a:spLocks noGrp="1"/>
          </p:cNvSpPr>
          <p:nvPr>
            <p:ph type="dt" sz="half" idx="10"/>
          </p:nvPr>
        </p:nvSpPr>
        <p:spPr/>
        <p:txBody>
          <a:bodyPr/>
          <a:lstStyle/>
          <a:p>
            <a:fld id="{C986F8B0-BA74-0148-8AEE-4A6414E81F50}" type="datetimeFigureOut">
              <a:rPr lang="en-US" smtClean="0"/>
              <a:t>2/17/26</a:t>
            </a:fld>
            <a:endParaRPr lang="en-US"/>
          </a:p>
        </p:txBody>
      </p:sp>
      <p:sp>
        <p:nvSpPr>
          <p:cNvPr id="6" name="Footer Placeholder 5">
            <a:extLst>
              <a:ext uri="{FF2B5EF4-FFF2-40B4-BE49-F238E27FC236}">
                <a16:creationId xmlns:a16="http://schemas.microsoft.com/office/drawing/2014/main" id="{352B80D6-84A4-147E-A6A3-55497AAC755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EA086C-C56E-C779-F0F0-A1D2E9042FCB}"/>
              </a:ext>
            </a:extLst>
          </p:cNvPr>
          <p:cNvSpPr>
            <a:spLocks noGrp="1"/>
          </p:cNvSpPr>
          <p:nvPr>
            <p:ph type="sldNum" sz="quarter" idx="12"/>
          </p:nvPr>
        </p:nvSpPr>
        <p:spPr/>
        <p:txBody>
          <a:bodyPr/>
          <a:lstStyle/>
          <a:p>
            <a:fld id="{BAEF3343-CC17-8F4D-A8D8-9221F9783F14}" type="slidenum">
              <a:rPr lang="en-US" smtClean="0"/>
              <a:t>‹#›</a:t>
            </a:fld>
            <a:endParaRPr lang="en-US"/>
          </a:p>
        </p:txBody>
      </p:sp>
    </p:spTree>
    <p:extLst>
      <p:ext uri="{BB962C8B-B14F-4D97-AF65-F5344CB8AC3E}">
        <p14:creationId xmlns:p14="http://schemas.microsoft.com/office/powerpoint/2010/main" val="7448385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77EA9-F990-9BEF-056D-650CEBC259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DBCFBB4-E352-AAB9-9BC4-59AC9D706A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9B948CE-C1CE-25CF-34EF-E996736FC3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1F40D7-67D9-5C6D-3E6F-A1D7806DAD59}"/>
              </a:ext>
            </a:extLst>
          </p:cNvPr>
          <p:cNvSpPr>
            <a:spLocks noGrp="1"/>
          </p:cNvSpPr>
          <p:nvPr>
            <p:ph type="dt" sz="half" idx="10"/>
          </p:nvPr>
        </p:nvSpPr>
        <p:spPr/>
        <p:txBody>
          <a:bodyPr/>
          <a:lstStyle/>
          <a:p>
            <a:fld id="{C986F8B0-BA74-0148-8AEE-4A6414E81F50}" type="datetimeFigureOut">
              <a:rPr lang="en-US" smtClean="0"/>
              <a:t>2/17/26</a:t>
            </a:fld>
            <a:endParaRPr lang="en-US"/>
          </a:p>
        </p:txBody>
      </p:sp>
      <p:sp>
        <p:nvSpPr>
          <p:cNvPr id="6" name="Footer Placeholder 5">
            <a:extLst>
              <a:ext uri="{FF2B5EF4-FFF2-40B4-BE49-F238E27FC236}">
                <a16:creationId xmlns:a16="http://schemas.microsoft.com/office/drawing/2014/main" id="{5E593AB4-FBE0-DFCE-A071-869E0F4D201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C24D0C0-2460-6B06-9D66-43DA9118F5C2}"/>
              </a:ext>
            </a:extLst>
          </p:cNvPr>
          <p:cNvSpPr>
            <a:spLocks noGrp="1"/>
          </p:cNvSpPr>
          <p:nvPr>
            <p:ph type="sldNum" sz="quarter" idx="12"/>
          </p:nvPr>
        </p:nvSpPr>
        <p:spPr/>
        <p:txBody>
          <a:bodyPr/>
          <a:lstStyle/>
          <a:p>
            <a:fld id="{BAEF3343-CC17-8F4D-A8D8-9221F9783F14}" type="slidenum">
              <a:rPr lang="en-US" smtClean="0"/>
              <a:t>‹#›</a:t>
            </a:fld>
            <a:endParaRPr lang="en-US"/>
          </a:p>
        </p:txBody>
      </p:sp>
    </p:spTree>
    <p:extLst>
      <p:ext uri="{BB962C8B-B14F-4D97-AF65-F5344CB8AC3E}">
        <p14:creationId xmlns:p14="http://schemas.microsoft.com/office/powerpoint/2010/main" val="20661489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C7D75-7CF2-FD23-0CBC-8CB2D960098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4497FC3-9768-8FC5-8C09-F0683F35874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FF2B12-600E-CC1C-D15B-0DB8B833AF17}"/>
              </a:ext>
            </a:extLst>
          </p:cNvPr>
          <p:cNvSpPr>
            <a:spLocks noGrp="1"/>
          </p:cNvSpPr>
          <p:nvPr>
            <p:ph type="dt" sz="half" idx="10"/>
          </p:nvPr>
        </p:nvSpPr>
        <p:spPr/>
        <p:txBody>
          <a:bodyPr/>
          <a:lstStyle/>
          <a:p>
            <a:fld id="{C986F8B0-BA74-0148-8AEE-4A6414E81F50}" type="datetimeFigureOut">
              <a:rPr lang="en-US" smtClean="0"/>
              <a:t>2/17/26</a:t>
            </a:fld>
            <a:endParaRPr lang="en-US"/>
          </a:p>
        </p:txBody>
      </p:sp>
      <p:sp>
        <p:nvSpPr>
          <p:cNvPr id="5" name="Footer Placeholder 4">
            <a:extLst>
              <a:ext uri="{FF2B5EF4-FFF2-40B4-BE49-F238E27FC236}">
                <a16:creationId xmlns:a16="http://schemas.microsoft.com/office/drawing/2014/main" id="{88964319-2B94-C699-7CBC-4F2B4D5A89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3A1E42-889C-D54D-4FB2-65C49991F719}"/>
              </a:ext>
            </a:extLst>
          </p:cNvPr>
          <p:cNvSpPr>
            <a:spLocks noGrp="1"/>
          </p:cNvSpPr>
          <p:nvPr>
            <p:ph type="sldNum" sz="quarter" idx="12"/>
          </p:nvPr>
        </p:nvSpPr>
        <p:spPr/>
        <p:txBody>
          <a:bodyPr/>
          <a:lstStyle/>
          <a:p>
            <a:fld id="{BAEF3343-CC17-8F4D-A8D8-9221F9783F14}" type="slidenum">
              <a:rPr lang="en-US" smtClean="0"/>
              <a:t>‹#›</a:t>
            </a:fld>
            <a:endParaRPr lang="en-US"/>
          </a:p>
        </p:txBody>
      </p:sp>
    </p:spTree>
    <p:extLst>
      <p:ext uri="{BB962C8B-B14F-4D97-AF65-F5344CB8AC3E}">
        <p14:creationId xmlns:p14="http://schemas.microsoft.com/office/powerpoint/2010/main" val="7776243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7DE07F-4AD7-15D5-C5D5-0666381A028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7636540-105B-F401-A1FF-52C5367BE5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E20E34-4AA9-214C-8093-5E63444BCCA3}"/>
              </a:ext>
            </a:extLst>
          </p:cNvPr>
          <p:cNvSpPr>
            <a:spLocks noGrp="1"/>
          </p:cNvSpPr>
          <p:nvPr>
            <p:ph type="dt" sz="half" idx="10"/>
          </p:nvPr>
        </p:nvSpPr>
        <p:spPr/>
        <p:txBody>
          <a:bodyPr/>
          <a:lstStyle/>
          <a:p>
            <a:fld id="{C986F8B0-BA74-0148-8AEE-4A6414E81F50}" type="datetimeFigureOut">
              <a:rPr lang="en-US" smtClean="0"/>
              <a:t>2/17/26</a:t>
            </a:fld>
            <a:endParaRPr lang="en-US"/>
          </a:p>
        </p:txBody>
      </p:sp>
      <p:sp>
        <p:nvSpPr>
          <p:cNvPr id="5" name="Footer Placeholder 4">
            <a:extLst>
              <a:ext uri="{FF2B5EF4-FFF2-40B4-BE49-F238E27FC236}">
                <a16:creationId xmlns:a16="http://schemas.microsoft.com/office/drawing/2014/main" id="{1FA164C5-F447-BDA4-D634-737DAC8D3C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EDDC8-DD50-5A8F-2C3B-967F49CC673F}"/>
              </a:ext>
            </a:extLst>
          </p:cNvPr>
          <p:cNvSpPr>
            <a:spLocks noGrp="1"/>
          </p:cNvSpPr>
          <p:nvPr>
            <p:ph type="sldNum" sz="quarter" idx="12"/>
          </p:nvPr>
        </p:nvSpPr>
        <p:spPr/>
        <p:txBody>
          <a:bodyPr/>
          <a:lstStyle/>
          <a:p>
            <a:fld id="{BAEF3343-CC17-8F4D-A8D8-9221F9783F14}" type="slidenum">
              <a:rPr lang="en-US" smtClean="0"/>
              <a:t>‹#›</a:t>
            </a:fld>
            <a:endParaRPr lang="en-US"/>
          </a:p>
        </p:txBody>
      </p:sp>
    </p:spTree>
    <p:extLst>
      <p:ext uri="{BB962C8B-B14F-4D97-AF65-F5344CB8AC3E}">
        <p14:creationId xmlns:p14="http://schemas.microsoft.com/office/powerpoint/2010/main" val="19756539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C928AF-0205-E8FB-8669-777422D017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23CE598-58E9-98AA-21F5-4489BAC187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3E373B-B9D4-C554-A208-690FFBCA73C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986F8B0-BA74-0148-8AEE-4A6414E81F50}" type="datetimeFigureOut">
              <a:rPr lang="en-US" smtClean="0"/>
              <a:t>2/17/26</a:t>
            </a:fld>
            <a:endParaRPr lang="en-US"/>
          </a:p>
        </p:txBody>
      </p:sp>
      <p:sp>
        <p:nvSpPr>
          <p:cNvPr id="5" name="Footer Placeholder 4">
            <a:extLst>
              <a:ext uri="{FF2B5EF4-FFF2-40B4-BE49-F238E27FC236}">
                <a16:creationId xmlns:a16="http://schemas.microsoft.com/office/drawing/2014/main" id="{C1D6DD83-62FA-8FFF-2F4E-6B3D54CC21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2B5522-72E1-864E-C087-6F5D3E4292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AEF3343-CC17-8F4D-A8D8-9221F9783F14}" type="slidenum">
              <a:rPr lang="en-US" smtClean="0"/>
              <a:t>‹#›</a:t>
            </a:fld>
            <a:endParaRPr lang="en-US"/>
          </a:p>
        </p:txBody>
      </p:sp>
    </p:spTree>
    <p:extLst>
      <p:ext uri="{BB962C8B-B14F-4D97-AF65-F5344CB8AC3E}">
        <p14:creationId xmlns:p14="http://schemas.microsoft.com/office/powerpoint/2010/main" val="39497985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0.png"/><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50.png"/></Relationships>
</file>

<file path=ppt/slides/_rels/slide3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80.png"/><Relationship Id="rId4" Type="http://schemas.openxmlformats.org/officeDocument/2006/relationships/image" Target="../media/image170.png"/></Relationships>
</file>

<file path=ppt/slides/_rels/slide3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4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CB105-7385-4938-3B1E-FDFB184058C8}"/>
              </a:ext>
            </a:extLst>
          </p:cNvPr>
          <p:cNvSpPr>
            <a:spLocks noGrp="1"/>
          </p:cNvSpPr>
          <p:nvPr>
            <p:ph type="ctrTitle"/>
          </p:nvPr>
        </p:nvSpPr>
        <p:spPr/>
        <p:txBody>
          <a:bodyPr/>
          <a:lstStyle/>
          <a:p>
            <a:r>
              <a:rPr lang="en-US" dirty="0"/>
              <a:t>Machine Learning 1</a:t>
            </a:r>
          </a:p>
        </p:txBody>
      </p:sp>
      <p:sp>
        <p:nvSpPr>
          <p:cNvPr id="3" name="Subtitle 2">
            <a:extLst>
              <a:ext uri="{FF2B5EF4-FFF2-40B4-BE49-F238E27FC236}">
                <a16:creationId xmlns:a16="http://schemas.microsoft.com/office/drawing/2014/main" id="{8F57CB07-9465-F7EF-3975-0003023471F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405231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BB072-6433-3220-91AC-CB242CDC37D0}"/>
              </a:ext>
            </a:extLst>
          </p:cNvPr>
          <p:cNvSpPr>
            <a:spLocks noGrp="1"/>
          </p:cNvSpPr>
          <p:nvPr>
            <p:ph type="title"/>
          </p:nvPr>
        </p:nvSpPr>
        <p:spPr/>
        <p:txBody>
          <a:bodyPr/>
          <a:lstStyle/>
          <a:p>
            <a:r>
              <a:rPr lang="en-US" dirty="0"/>
              <a:t>Terminology</a:t>
            </a:r>
          </a:p>
        </p:txBody>
      </p:sp>
      <p:sp>
        <p:nvSpPr>
          <p:cNvPr id="3" name="Content Placeholder 2">
            <a:extLst>
              <a:ext uri="{FF2B5EF4-FFF2-40B4-BE49-F238E27FC236}">
                <a16:creationId xmlns:a16="http://schemas.microsoft.com/office/drawing/2014/main" id="{FC62857A-B3B9-8A51-D8EB-4A3A9F5D1D3E}"/>
              </a:ext>
            </a:extLst>
          </p:cNvPr>
          <p:cNvSpPr>
            <a:spLocks noGrp="1"/>
          </p:cNvSpPr>
          <p:nvPr>
            <p:ph idx="1"/>
          </p:nvPr>
        </p:nvSpPr>
        <p:spPr/>
        <p:txBody>
          <a:bodyPr/>
          <a:lstStyle/>
          <a:p>
            <a:r>
              <a:rPr lang="en-US" dirty="0"/>
              <a:t>AI</a:t>
            </a:r>
          </a:p>
          <a:p>
            <a:r>
              <a:rPr lang="en-US" dirty="0"/>
              <a:t>ML</a:t>
            </a:r>
          </a:p>
          <a:p>
            <a:r>
              <a:rPr lang="en-US" dirty="0"/>
              <a:t>Deep learning</a:t>
            </a:r>
          </a:p>
          <a:p>
            <a:r>
              <a:rPr lang="en-US" dirty="0"/>
              <a:t>Statistical learning</a:t>
            </a:r>
          </a:p>
        </p:txBody>
      </p:sp>
      <p:pic>
        <p:nvPicPr>
          <p:cNvPr id="1026" name="Picture 2">
            <a:extLst>
              <a:ext uri="{FF2B5EF4-FFF2-40B4-BE49-F238E27FC236}">
                <a16:creationId xmlns:a16="http://schemas.microsoft.com/office/drawing/2014/main" id="{5C7B0B1C-BD38-44AC-9544-939581EBEB0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53648" y="803188"/>
            <a:ext cx="4522573" cy="452257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850B94D6-3105-4778-A0C2-93AACDDE44ED}"/>
              </a:ext>
            </a:extLst>
          </p:cNvPr>
          <p:cNvSpPr txBox="1"/>
          <p:nvPr/>
        </p:nvSpPr>
        <p:spPr>
          <a:xfrm>
            <a:off x="10524461" y="5842337"/>
            <a:ext cx="1667539" cy="1015663"/>
          </a:xfrm>
          <a:prstGeom prst="rect">
            <a:avLst/>
          </a:prstGeom>
          <a:noFill/>
        </p:spPr>
        <p:txBody>
          <a:bodyPr wrap="square">
            <a:spAutoFit/>
          </a:bodyPr>
          <a:lstStyle/>
          <a:p>
            <a:r>
              <a:rPr lang="en-US" sz="1200" dirty="0"/>
              <a:t>https://</a:t>
            </a:r>
            <a:r>
              <a:rPr lang="en-US" sz="1200" dirty="0" err="1"/>
              <a:t>commons.wikimedia.org</a:t>
            </a:r>
            <a:r>
              <a:rPr lang="en-US" sz="1200" dirty="0"/>
              <a:t>/wiki/File:AI_relation_to_Generative_Models_subset,_</a:t>
            </a:r>
            <a:r>
              <a:rPr lang="en-US" sz="1200" dirty="0" err="1"/>
              <a:t>venn_diagram.png</a:t>
            </a:r>
            <a:endParaRPr lang="en-US" sz="1200" dirty="0"/>
          </a:p>
        </p:txBody>
      </p:sp>
    </p:spTree>
    <p:extLst>
      <p:ext uri="{BB962C8B-B14F-4D97-AF65-F5344CB8AC3E}">
        <p14:creationId xmlns:p14="http://schemas.microsoft.com/office/powerpoint/2010/main" val="634652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2918F-DB26-7CD8-7BC1-5D83DE2D688E}"/>
              </a:ext>
            </a:extLst>
          </p:cNvPr>
          <p:cNvSpPr>
            <a:spLocks noGrp="1"/>
          </p:cNvSpPr>
          <p:nvPr>
            <p:ph type="title"/>
          </p:nvPr>
        </p:nvSpPr>
        <p:spPr/>
        <p:txBody>
          <a:bodyPr/>
          <a:lstStyle/>
          <a:p>
            <a:r>
              <a:rPr lang="en-US" dirty="0"/>
              <a:t>High-dimension datasets (n &lt;&lt; p)</a:t>
            </a:r>
          </a:p>
        </p:txBody>
      </p:sp>
      <p:sp>
        <p:nvSpPr>
          <p:cNvPr id="3" name="Content Placeholder 2">
            <a:extLst>
              <a:ext uri="{FF2B5EF4-FFF2-40B4-BE49-F238E27FC236}">
                <a16:creationId xmlns:a16="http://schemas.microsoft.com/office/drawing/2014/main" id="{9593915E-4A98-5F51-3261-DB089549AD35}"/>
              </a:ext>
            </a:extLst>
          </p:cNvPr>
          <p:cNvSpPr>
            <a:spLocks noGrp="1"/>
          </p:cNvSpPr>
          <p:nvPr>
            <p:ph idx="1"/>
          </p:nvPr>
        </p:nvSpPr>
        <p:spPr/>
        <p:txBody>
          <a:bodyPr>
            <a:normAutofit lnSpcReduction="10000"/>
          </a:bodyPr>
          <a:lstStyle/>
          <a:p>
            <a:r>
              <a:rPr lang="en-US" dirty="0"/>
              <a:t>SNP arrays</a:t>
            </a:r>
          </a:p>
          <a:p>
            <a:r>
              <a:rPr lang="en-US" dirty="0"/>
              <a:t>RNA-seq</a:t>
            </a:r>
          </a:p>
          <a:p>
            <a:r>
              <a:rPr lang="en-US" dirty="0"/>
              <a:t>Single-cell RNA-seq</a:t>
            </a:r>
          </a:p>
          <a:p>
            <a:r>
              <a:rPr lang="en-US" dirty="0"/>
              <a:t>Methylation/epigenetics</a:t>
            </a:r>
          </a:p>
          <a:p>
            <a:r>
              <a:rPr lang="en-US" dirty="0"/>
              <a:t>Proteomics</a:t>
            </a:r>
          </a:p>
          <a:p>
            <a:r>
              <a:rPr lang="en-US" dirty="0"/>
              <a:t>Metabolomics</a:t>
            </a:r>
          </a:p>
          <a:p>
            <a:r>
              <a:rPr lang="en-US" dirty="0"/>
              <a:t>Images</a:t>
            </a:r>
          </a:p>
          <a:p>
            <a:r>
              <a:rPr lang="en-US" dirty="0"/>
              <a:t>Text/language</a:t>
            </a:r>
          </a:p>
          <a:p>
            <a:r>
              <a:rPr lang="en-US" dirty="0"/>
              <a:t>…</a:t>
            </a:r>
          </a:p>
        </p:txBody>
      </p:sp>
    </p:spTree>
    <p:extLst>
      <p:ext uri="{BB962C8B-B14F-4D97-AF65-F5344CB8AC3E}">
        <p14:creationId xmlns:p14="http://schemas.microsoft.com/office/powerpoint/2010/main" val="17359656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91B6CA-282E-A27B-5BF6-7314D4CD4945}"/>
              </a:ext>
            </a:extLst>
          </p:cNvPr>
          <p:cNvSpPr>
            <a:spLocks noGrp="1"/>
          </p:cNvSpPr>
          <p:nvPr>
            <p:ph type="title"/>
          </p:nvPr>
        </p:nvSpPr>
        <p:spPr/>
        <p:txBody>
          <a:bodyPr/>
          <a:lstStyle/>
          <a:p>
            <a:r>
              <a:rPr lang="en-US" dirty="0"/>
              <a:t>2D plots are not enough</a:t>
            </a:r>
          </a:p>
        </p:txBody>
      </p:sp>
      <p:sp>
        <p:nvSpPr>
          <p:cNvPr id="3" name="Content Placeholder 2">
            <a:extLst>
              <a:ext uri="{FF2B5EF4-FFF2-40B4-BE49-F238E27FC236}">
                <a16:creationId xmlns:a16="http://schemas.microsoft.com/office/drawing/2014/main" id="{8256129C-79C5-65B5-2FA5-0E9A81A28BCD}"/>
              </a:ext>
            </a:extLst>
          </p:cNvPr>
          <p:cNvSpPr>
            <a:spLocks noGrp="1"/>
          </p:cNvSpPr>
          <p:nvPr>
            <p:ph idx="1"/>
          </p:nvPr>
        </p:nvSpPr>
        <p:spPr/>
        <p:txBody>
          <a:bodyPr/>
          <a:lstStyle/>
          <a:p>
            <a:r>
              <a:rPr lang="en-US" dirty="0"/>
              <a:t>Try exercises 1 and 2</a:t>
            </a:r>
          </a:p>
        </p:txBody>
      </p:sp>
    </p:spTree>
    <p:extLst>
      <p:ext uri="{BB962C8B-B14F-4D97-AF65-F5344CB8AC3E}">
        <p14:creationId xmlns:p14="http://schemas.microsoft.com/office/powerpoint/2010/main" val="30341883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16E22-AE8A-8F86-3C05-759D53735A5C}"/>
              </a:ext>
            </a:extLst>
          </p:cNvPr>
          <p:cNvSpPr>
            <a:spLocks noGrp="1"/>
          </p:cNvSpPr>
          <p:nvPr>
            <p:ph type="title"/>
          </p:nvPr>
        </p:nvSpPr>
        <p:spPr/>
        <p:txBody>
          <a:bodyPr/>
          <a:lstStyle/>
          <a:p>
            <a:r>
              <a:rPr lang="en-US" dirty="0"/>
              <a:t>The curse of dimensionality</a:t>
            </a:r>
          </a:p>
        </p:txBody>
      </p:sp>
      <p:sp>
        <p:nvSpPr>
          <p:cNvPr id="3" name="Content Placeholder 2">
            <a:extLst>
              <a:ext uri="{FF2B5EF4-FFF2-40B4-BE49-F238E27FC236}">
                <a16:creationId xmlns:a16="http://schemas.microsoft.com/office/drawing/2014/main" id="{62BEC9CE-E7A2-B3FC-98B6-5AA7F238DD0B}"/>
              </a:ext>
            </a:extLst>
          </p:cNvPr>
          <p:cNvSpPr>
            <a:spLocks noGrp="1"/>
          </p:cNvSpPr>
          <p:nvPr>
            <p:ph idx="1"/>
          </p:nvPr>
        </p:nvSpPr>
        <p:spPr/>
        <p:txBody>
          <a:bodyPr>
            <a:normAutofit fontScale="55000" lnSpcReduction="20000"/>
          </a:bodyPr>
          <a:lstStyle/>
          <a:p>
            <a:pPr marL="0" indent="0">
              <a:buNone/>
            </a:pPr>
            <a:r>
              <a:rPr lang="en-US" dirty="0"/>
              <a:t>Not just “there are a lot of variables, and we don’t know which are important”</a:t>
            </a:r>
          </a:p>
          <a:p>
            <a:r>
              <a:rPr lang="en-US" dirty="0"/>
              <a:t>Distance concentration</a:t>
            </a:r>
          </a:p>
          <a:p>
            <a:pPr lvl="1"/>
            <a:r>
              <a:rPr lang="en-US" dirty="0"/>
              <a:t>Points become ~equidistant</a:t>
            </a:r>
          </a:p>
          <a:p>
            <a:pPr lvl="1"/>
            <a:r>
              <a:rPr lang="en-US" dirty="0">
                <a:sym typeface="Wingdings" pitchFamily="2" charset="2"/>
              </a:rPr>
              <a:t> “Nearest neighbor” means less</a:t>
            </a:r>
          </a:p>
          <a:p>
            <a:r>
              <a:rPr lang="en-US" dirty="0">
                <a:sym typeface="Wingdings" pitchFamily="2" charset="2"/>
              </a:rPr>
              <a:t>Volume</a:t>
            </a:r>
          </a:p>
          <a:p>
            <a:pPr lvl="1"/>
            <a:r>
              <a:rPr lang="en-US" dirty="0"/>
              <a:t>Grows exponentially with p</a:t>
            </a:r>
          </a:p>
          <a:p>
            <a:pPr lvl="1"/>
            <a:r>
              <a:rPr lang="en-US" dirty="0">
                <a:sym typeface="Wingdings" pitchFamily="2" charset="2"/>
              </a:rPr>
              <a:t> Data extremely sparse</a:t>
            </a:r>
          </a:p>
          <a:p>
            <a:pPr lvl="1"/>
            <a:r>
              <a:rPr lang="en-US" dirty="0">
                <a:sym typeface="Wingdings" pitchFamily="2" charset="2"/>
              </a:rPr>
              <a:t> Huge sample size needed to cover the space</a:t>
            </a:r>
          </a:p>
          <a:p>
            <a:r>
              <a:rPr lang="en-US" dirty="0"/>
              <a:t>Most of the volume is near the boundary</a:t>
            </a:r>
          </a:p>
          <a:p>
            <a:pPr lvl="1"/>
            <a:r>
              <a:rPr lang="en-US" dirty="0"/>
              <a:t>Very little interior</a:t>
            </a:r>
          </a:p>
          <a:p>
            <a:pPr lvl="1"/>
            <a:r>
              <a:rPr lang="en-US" dirty="0"/>
              <a:t>“Distance from center” means less</a:t>
            </a:r>
          </a:p>
          <a:p>
            <a:r>
              <a:rPr lang="en-US" dirty="0"/>
              <a:t>Projections are deceptive</a:t>
            </a:r>
          </a:p>
          <a:p>
            <a:pPr lvl="1"/>
            <a:r>
              <a:rPr lang="en-US" dirty="0"/>
              <a:t>Lower-dimensional subsets will </a:t>
            </a:r>
            <a:r>
              <a:rPr lang="en-US" i="1" dirty="0"/>
              <a:t>appear </a:t>
            </a:r>
            <a:r>
              <a:rPr lang="en-US" dirty="0"/>
              <a:t> to have structure even if they’re pure noise</a:t>
            </a:r>
          </a:p>
          <a:p>
            <a:r>
              <a:rPr lang="en-US" dirty="0"/>
              <a:t>Statistical problems (more variables than datapoints)</a:t>
            </a:r>
          </a:p>
          <a:p>
            <a:pPr lvl="1"/>
            <a:r>
              <a:rPr lang="en-US" dirty="0">
                <a:sym typeface="Wingdings" pitchFamily="2" charset="2"/>
              </a:rPr>
              <a:t> need for feature selection/extraction</a:t>
            </a:r>
          </a:p>
          <a:p>
            <a:pPr lvl="1"/>
            <a:r>
              <a:rPr lang="en-US" dirty="0">
                <a:sym typeface="Wingdings" pitchFamily="2" charset="2"/>
              </a:rPr>
              <a:t> easy to find “perfect fit” based on noise alone (overfitting)</a:t>
            </a:r>
          </a:p>
          <a:p>
            <a:pPr marL="0" indent="0">
              <a:buNone/>
            </a:pPr>
            <a:endParaRPr lang="en-US" dirty="0">
              <a:sym typeface="Wingdings" pitchFamily="2" charset="2"/>
            </a:endParaRPr>
          </a:p>
          <a:p>
            <a:pPr marL="0" indent="0">
              <a:buNone/>
            </a:pPr>
            <a:r>
              <a:rPr lang="en-US" dirty="0">
                <a:sym typeface="Wingdings" pitchFamily="2" charset="2"/>
              </a:rPr>
              <a:t>See Example 3</a:t>
            </a:r>
            <a:endParaRPr lang="en-US" dirty="0"/>
          </a:p>
        </p:txBody>
      </p:sp>
    </p:spTree>
    <p:extLst>
      <p:ext uri="{BB962C8B-B14F-4D97-AF65-F5344CB8AC3E}">
        <p14:creationId xmlns:p14="http://schemas.microsoft.com/office/powerpoint/2010/main" val="4148609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1F393-0538-6A0D-A3A0-F7DD974DE31A}"/>
              </a:ext>
            </a:extLst>
          </p:cNvPr>
          <p:cNvSpPr>
            <a:spLocks noGrp="1"/>
          </p:cNvSpPr>
          <p:nvPr>
            <p:ph type="title"/>
          </p:nvPr>
        </p:nvSpPr>
        <p:spPr/>
        <p:txBody>
          <a:bodyPr/>
          <a:lstStyle/>
          <a:p>
            <a:r>
              <a:rPr lang="en-US" dirty="0"/>
              <a:t>What kind of structure?</a:t>
            </a:r>
          </a:p>
        </p:txBody>
      </p:sp>
      <p:sp>
        <p:nvSpPr>
          <p:cNvPr id="3" name="Content Placeholder 2">
            <a:extLst>
              <a:ext uri="{FF2B5EF4-FFF2-40B4-BE49-F238E27FC236}">
                <a16:creationId xmlns:a16="http://schemas.microsoft.com/office/drawing/2014/main" id="{8150EDBA-AAF9-5FC4-B097-5EB61CFFC34C}"/>
              </a:ext>
            </a:extLst>
          </p:cNvPr>
          <p:cNvSpPr>
            <a:spLocks noGrp="1"/>
          </p:cNvSpPr>
          <p:nvPr>
            <p:ph idx="1"/>
          </p:nvPr>
        </p:nvSpPr>
        <p:spPr/>
        <p:txBody>
          <a:bodyPr>
            <a:normAutofit fontScale="92500"/>
          </a:bodyPr>
          <a:lstStyle/>
          <a:p>
            <a:pPr marL="0" indent="0">
              <a:buNone/>
            </a:pPr>
            <a:r>
              <a:rPr lang="en-US" dirty="0"/>
              <a:t>ML methods assume structure.</a:t>
            </a:r>
          </a:p>
          <a:p>
            <a:pPr marL="0" indent="0">
              <a:buNone/>
            </a:pPr>
            <a:r>
              <a:rPr lang="en-US" dirty="0"/>
              <a:t>It’s up to you to ask the right question and choose the right tool.</a:t>
            </a:r>
          </a:p>
          <a:p>
            <a:r>
              <a:rPr lang="en-US" dirty="0"/>
              <a:t>Are there clusters/groups?</a:t>
            </a:r>
          </a:p>
          <a:p>
            <a:r>
              <a:rPr lang="en-US" dirty="0"/>
              <a:t>Does variation exist globally along smooth gradients?</a:t>
            </a:r>
          </a:p>
          <a:p>
            <a:r>
              <a:rPr lang="en-US" dirty="0"/>
              <a:t>Is there predictive structure (i.e., can some variables predict others?)</a:t>
            </a:r>
          </a:p>
          <a:p>
            <a:r>
              <a:rPr lang="en-US" dirty="0"/>
              <a:t>Are there local structures?</a:t>
            </a:r>
          </a:p>
          <a:p>
            <a:r>
              <a:rPr lang="en-US" dirty="0"/>
              <a:t>Is there hierarchical structure?</a:t>
            </a:r>
          </a:p>
          <a:p>
            <a:r>
              <a:rPr lang="en-US" dirty="0"/>
              <a:t>Are there networks/relational structures?</a:t>
            </a:r>
          </a:p>
          <a:p>
            <a:r>
              <a:rPr lang="en-US" dirty="0"/>
              <a:t>How complex is the structure? What is the intrinsic dimensionality?</a:t>
            </a:r>
          </a:p>
        </p:txBody>
      </p:sp>
    </p:spTree>
    <p:extLst>
      <p:ext uri="{BB962C8B-B14F-4D97-AF65-F5344CB8AC3E}">
        <p14:creationId xmlns:p14="http://schemas.microsoft.com/office/powerpoint/2010/main" val="40774720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0611B-CFCC-518B-236C-084DE819A2F6}"/>
              </a:ext>
            </a:extLst>
          </p:cNvPr>
          <p:cNvSpPr>
            <a:spLocks noGrp="1"/>
          </p:cNvSpPr>
          <p:nvPr>
            <p:ph type="title"/>
          </p:nvPr>
        </p:nvSpPr>
        <p:spPr/>
        <p:txBody>
          <a:bodyPr/>
          <a:lstStyle/>
          <a:p>
            <a:r>
              <a:rPr lang="en-US" dirty="0"/>
              <a:t>Supervised vs. unsupervised ML answer different questions</a:t>
            </a:r>
          </a:p>
        </p:txBody>
      </p:sp>
      <p:graphicFrame>
        <p:nvGraphicFramePr>
          <p:cNvPr id="7" name="Content Placeholder 6">
            <a:extLst>
              <a:ext uri="{FF2B5EF4-FFF2-40B4-BE49-F238E27FC236}">
                <a16:creationId xmlns:a16="http://schemas.microsoft.com/office/drawing/2014/main" id="{C81CC0C5-594C-D6E4-F18B-44ADFD937736}"/>
              </a:ext>
            </a:extLst>
          </p:cNvPr>
          <p:cNvGraphicFramePr>
            <a:graphicFrameLocks noGrp="1"/>
          </p:cNvGraphicFramePr>
          <p:nvPr>
            <p:ph idx="1"/>
            <p:extLst>
              <p:ext uri="{D42A27DB-BD31-4B8C-83A1-F6EECF244321}">
                <p14:modId xmlns:p14="http://schemas.microsoft.com/office/powerpoint/2010/main" val="3483060966"/>
              </p:ext>
            </p:extLst>
          </p:nvPr>
        </p:nvGraphicFramePr>
        <p:xfrm>
          <a:off x="177800" y="2192020"/>
          <a:ext cx="11455654" cy="357124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1644731968"/>
                    </a:ext>
                  </a:extLst>
                </a:gridCol>
                <a:gridCol w="2103120">
                  <a:extLst>
                    <a:ext uri="{9D8B030D-6E8A-4147-A177-3AD203B41FA5}">
                      <a16:colId xmlns:a16="http://schemas.microsoft.com/office/drawing/2014/main" val="2803646451"/>
                    </a:ext>
                  </a:extLst>
                </a:gridCol>
                <a:gridCol w="3043174">
                  <a:extLst>
                    <a:ext uri="{9D8B030D-6E8A-4147-A177-3AD203B41FA5}">
                      <a16:colId xmlns:a16="http://schemas.microsoft.com/office/drawing/2014/main" val="4170807727"/>
                    </a:ext>
                  </a:extLst>
                </a:gridCol>
                <a:gridCol w="2103120">
                  <a:extLst>
                    <a:ext uri="{9D8B030D-6E8A-4147-A177-3AD203B41FA5}">
                      <a16:colId xmlns:a16="http://schemas.microsoft.com/office/drawing/2014/main" val="1260282904"/>
                    </a:ext>
                  </a:extLst>
                </a:gridCol>
                <a:gridCol w="2103120">
                  <a:extLst>
                    <a:ext uri="{9D8B030D-6E8A-4147-A177-3AD203B41FA5}">
                      <a16:colId xmlns:a16="http://schemas.microsoft.com/office/drawing/2014/main" val="1262646446"/>
                    </a:ext>
                  </a:extLst>
                </a:gridCol>
              </a:tblGrid>
              <a:tr h="370840">
                <a:tc>
                  <a:txBody>
                    <a:bodyPr/>
                    <a:lstStyle/>
                    <a:p>
                      <a:r>
                        <a:rPr lang="en-US" dirty="0"/>
                        <a:t>Type of ML</a:t>
                      </a:r>
                    </a:p>
                  </a:txBody>
                  <a:tcPr/>
                </a:tc>
                <a:tc>
                  <a:txBody>
                    <a:bodyPr/>
                    <a:lstStyle/>
                    <a:p>
                      <a:r>
                        <a:rPr lang="en-US" dirty="0"/>
                        <a:t>Kind of question</a:t>
                      </a:r>
                    </a:p>
                  </a:txBody>
                  <a:tcPr/>
                </a:tc>
                <a:tc>
                  <a:txBody>
                    <a:bodyPr/>
                    <a:lstStyle/>
                    <a:p>
                      <a:r>
                        <a:rPr lang="en-US" dirty="0"/>
                        <a:t>You are given</a:t>
                      </a:r>
                    </a:p>
                  </a:txBody>
                  <a:tcPr/>
                </a:tc>
                <a:tc>
                  <a:txBody>
                    <a:bodyPr/>
                    <a:lstStyle/>
                    <a:p>
                      <a:r>
                        <a:rPr lang="en-US" dirty="0"/>
                        <a:t>Goal</a:t>
                      </a:r>
                    </a:p>
                  </a:txBody>
                  <a:tcPr/>
                </a:tc>
                <a:tc>
                  <a:txBody>
                    <a:bodyPr/>
                    <a:lstStyle/>
                    <a:p>
                      <a:r>
                        <a:rPr lang="en-US" dirty="0"/>
                        <a:t>Assumptions</a:t>
                      </a:r>
                    </a:p>
                  </a:txBody>
                  <a:tcPr/>
                </a:tc>
                <a:extLst>
                  <a:ext uri="{0D108BD9-81ED-4DB2-BD59-A6C34878D82A}">
                    <a16:rowId xmlns:a16="http://schemas.microsoft.com/office/drawing/2014/main" val="985870170"/>
                  </a:ext>
                </a:extLst>
              </a:tr>
              <a:tr h="370840">
                <a:tc>
                  <a:txBody>
                    <a:bodyPr/>
                    <a:lstStyle/>
                    <a:p>
                      <a:r>
                        <a:rPr lang="en-US" dirty="0"/>
                        <a:t>Supervised</a:t>
                      </a:r>
                    </a:p>
                  </a:txBody>
                  <a:tcPr/>
                </a:tc>
                <a:tc>
                  <a:txBody>
                    <a:bodyPr/>
                    <a:lstStyle/>
                    <a:p>
                      <a:r>
                        <a:rPr lang="en-US" dirty="0"/>
                        <a:t>Is there a mapping from X</a:t>
                      </a:r>
                      <a:r>
                        <a:rPr lang="en-US" dirty="0">
                          <a:sym typeface="Wingdings" pitchFamily="2" charset="2"/>
                        </a:rPr>
                        <a:t>Y?</a:t>
                      </a:r>
                      <a:endParaRPr lang="en-US" dirty="0"/>
                    </a:p>
                  </a:txBody>
                  <a:tcPr/>
                </a:tc>
                <a:tc>
                  <a:txBody>
                    <a:bodyPr/>
                    <a:lstStyle/>
                    <a:p>
                      <a:pPr marL="285750" indent="-285750">
                        <a:buFont typeface="Arial" panose="020B0604020202020204" pitchFamily="34" charset="0"/>
                        <a:buChar char="•"/>
                      </a:pPr>
                      <a:r>
                        <a:rPr lang="en-US" dirty="0"/>
                        <a:t>Input variables (X)</a:t>
                      </a:r>
                    </a:p>
                    <a:p>
                      <a:pPr marL="285750" indent="-285750">
                        <a:buFont typeface="Arial" panose="020B0604020202020204" pitchFamily="34" charset="0"/>
                        <a:buChar char="•"/>
                      </a:pPr>
                      <a:r>
                        <a:rPr lang="en-US" dirty="0"/>
                        <a:t>Target/outcome/labels (Y)</a:t>
                      </a:r>
                    </a:p>
                  </a:txBody>
                  <a:tcPr/>
                </a:tc>
                <a:tc>
                  <a:txBody>
                    <a:bodyPr/>
                    <a:lstStyle/>
                    <a:p>
                      <a:pPr marL="285750" indent="-285750">
                        <a:buFont typeface="Arial" panose="020B0604020202020204" pitchFamily="34" charset="0"/>
                        <a:buChar char="•"/>
                      </a:pPr>
                      <a:r>
                        <a:rPr lang="en-US" dirty="0"/>
                        <a:t>Predict Y</a:t>
                      </a:r>
                    </a:p>
                    <a:p>
                      <a:pPr marL="285750" indent="-285750">
                        <a:buFont typeface="Arial" panose="020B0604020202020204" pitchFamily="34" charset="0"/>
                        <a:buChar char="•"/>
                      </a:pPr>
                      <a:r>
                        <a:rPr lang="en-US" dirty="0"/>
                        <a:t>Estimate relationships between X and Y</a:t>
                      </a:r>
                    </a:p>
                  </a:txBody>
                  <a:tcPr/>
                </a:tc>
                <a:tc>
                  <a:txBody>
                    <a:bodyPr/>
                    <a:lstStyle/>
                    <a:p>
                      <a:pPr marL="285750" indent="-285750">
                        <a:buFont typeface="Arial" panose="020B0604020202020204" pitchFamily="34" charset="0"/>
                        <a:buChar char="•"/>
                      </a:pPr>
                      <a:r>
                        <a:rPr lang="en-US" dirty="0"/>
                        <a:t>The predictive structure (model type)</a:t>
                      </a:r>
                    </a:p>
                    <a:p>
                      <a:pPr marL="285750" indent="-285750">
                        <a:buFont typeface="Arial" panose="020B0604020202020204" pitchFamily="34" charset="0"/>
                        <a:buChar char="•"/>
                      </a:pPr>
                      <a:r>
                        <a:rPr lang="en-US" dirty="0"/>
                        <a:t>Signal in X could explain Y</a:t>
                      </a:r>
                    </a:p>
                  </a:txBody>
                  <a:tcPr/>
                </a:tc>
                <a:extLst>
                  <a:ext uri="{0D108BD9-81ED-4DB2-BD59-A6C34878D82A}">
                    <a16:rowId xmlns:a16="http://schemas.microsoft.com/office/drawing/2014/main" val="265033129"/>
                  </a:ext>
                </a:extLst>
              </a:tr>
              <a:tr h="370840">
                <a:tc>
                  <a:txBody>
                    <a:bodyPr/>
                    <a:lstStyle/>
                    <a:p>
                      <a:r>
                        <a:rPr lang="en-US" dirty="0"/>
                        <a:t>Unsupervised</a:t>
                      </a:r>
                    </a:p>
                  </a:txBody>
                  <a:tcPr/>
                </a:tc>
                <a:tc>
                  <a:txBody>
                    <a:bodyPr/>
                    <a:lstStyle/>
                    <a:p>
                      <a:r>
                        <a:rPr lang="en-US" dirty="0"/>
                        <a:t>What structure exists in X?</a:t>
                      </a:r>
                    </a:p>
                  </a:txBody>
                  <a:tcPr/>
                </a:tc>
                <a:tc>
                  <a:txBody>
                    <a:bodyPr/>
                    <a:lstStyle/>
                    <a:p>
                      <a:pPr marL="285750" indent="-285750">
                        <a:buFont typeface="Arial" panose="020B0604020202020204" pitchFamily="34" charset="0"/>
                        <a:buChar char="•"/>
                      </a:pPr>
                      <a:r>
                        <a:rPr lang="en-US" dirty="0"/>
                        <a:t>Only the data (X)</a:t>
                      </a:r>
                    </a:p>
                    <a:p>
                      <a:pPr marL="285750" indent="-285750">
                        <a:buFont typeface="Arial" panose="020B0604020202020204" pitchFamily="34" charset="0"/>
                        <a:buChar char="•"/>
                      </a:pPr>
                      <a:r>
                        <a:rPr lang="en-US" dirty="0"/>
                        <a:t>No outcome/labels</a:t>
                      </a:r>
                    </a:p>
                  </a:txBody>
                  <a:tcPr/>
                </a:tc>
                <a:tc>
                  <a:txBody>
                    <a:bodyPr/>
                    <a:lstStyle/>
                    <a:p>
                      <a:pPr marL="285750" indent="-285750">
                        <a:buFont typeface="Arial" panose="020B0604020202020204" pitchFamily="34" charset="0"/>
                        <a:buChar char="•"/>
                      </a:pPr>
                      <a:r>
                        <a:rPr lang="en-US" dirty="0"/>
                        <a:t>Describe variation</a:t>
                      </a:r>
                    </a:p>
                    <a:p>
                      <a:pPr marL="285750" indent="-285750">
                        <a:buFont typeface="Arial" panose="020B0604020202020204" pitchFamily="34" charset="0"/>
                        <a:buChar char="•"/>
                      </a:pPr>
                      <a:r>
                        <a:rPr lang="en-US" dirty="0"/>
                        <a:t>Find groups, dimensions, gradients, etc.</a:t>
                      </a:r>
                    </a:p>
                  </a:txBody>
                  <a:tcPr/>
                </a:tc>
                <a:tc>
                  <a:txBody>
                    <a:bodyPr/>
                    <a:lstStyle/>
                    <a:p>
                      <a:pPr marL="285750" indent="-285750">
                        <a:buFont typeface="Arial" panose="020B0604020202020204" pitchFamily="34" charset="0"/>
                        <a:buChar char="•"/>
                      </a:pPr>
                      <a:r>
                        <a:rPr lang="en-US" dirty="0"/>
                        <a:t>Continuous or discrete structure</a:t>
                      </a:r>
                    </a:p>
                    <a:p>
                      <a:pPr marL="285750" indent="-285750">
                        <a:buFont typeface="Arial" panose="020B0604020202020204" pitchFamily="34" charset="0"/>
                        <a:buChar char="•"/>
                      </a:pPr>
                      <a:r>
                        <a:rPr lang="en-US" dirty="0"/>
                        <a:t>Local or relational structure</a:t>
                      </a:r>
                    </a:p>
                  </a:txBody>
                  <a:tcPr/>
                </a:tc>
                <a:extLst>
                  <a:ext uri="{0D108BD9-81ED-4DB2-BD59-A6C34878D82A}">
                    <a16:rowId xmlns:a16="http://schemas.microsoft.com/office/drawing/2014/main" val="1767588008"/>
                  </a:ext>
                </a:extLst>
              </a:tr>
            </a:tbl>
          </a:graphicData>
        </a:graphic>
      </p:graphicFrame>
    </p:spTree>
    <p:extLst>
      <p:ext uri="{BB962C8B-B14F-4D97-AF65-F5344CB8AC3E}">
        <p14:creationId xmlns:p14="http://schemas.microsoft.com/office/powerpoint/2010/main" val="32744072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DE46063-A338-696D-2670-B6C6F6E5FF82}"/>
              </a:ext>
            </a:extLst>
          </p:cNvPr>
          <p:cNvPicPr>
            <a:picLocks noChangeAspect="1"/>
          </p:cNvPicPr>
          <p:nvPr/>
        </p:nvPicPr>
        <p:blipFill>
          <a:blip r:embed="rId2"/>
          <a:stretch>
            <a:fillRect/>
          </a:stretch>
        </p:blipFill>
        <p:spPr>
          <a:xfrm>
            <a:off x="4451350" y="1593851"/>
            <a:ext cx="2832100" cy="927100"/>
          </a:xfrm>
          <a:prstGeom prst="rect">
            <a:avLst/>
          </a:prstGeom>
        </p:spPr>
      </p:pic>
      <p:sp>
        <p:nvSpPr>
          <p:cNvPr id="2" name="Title 1">
            <a:extLst>
              <a:ext uri="{FF2B5EF4-FFF2-40B4-BE49-F238E27FC236}">
                <a16:creationId xmlns:a16="http://schemas.microsoft.com/office/drawing/2014/main" id="{56D8892B-24D7-17D4-7ADD-2E524FE82CBD}"/>
              </a:ext>
            </a:extLst>
          </p:cNvPr>
          <p:cNvSpPr>
            <a:spLocks noGrp="1"/>
          </p:cNvSpPr>
          <p:nvPr>
            <p:ph type="title"/>
          </p:nvPr>
        </p:nvSpPr>
        <p:spPr/>
        <p:txBody>
          <a:bodyPr/>
          <a:lstStyle/>
          <a:p>
            <a:r>
              <a:rPr lang="en-US" dirty="0"/>
              <a:t>How to measure distance</a:t>
            </a:r>
          </a:p>
        </p:txBody>
      </p:sp>
      <p:sp>
        <p:nvSpPr>
          <p:cNvPr id="3" name="Content Placeholder 2">
            <a:extLst>
              <a:ext uri="{FF2B5EF4-FFF2-40B4-BE49-F238E27FC236}">
                <a16:creationId xmlns:a16="http://schemas.microsoft.com/office/drawing/2014/main" id="{28E9EA28-8FB9-2C3B-717E-D283E8508C87}"/>
              </a:ext>
            </a:extLst>
          </p:cNvPr>
          <p:cNvSpPr>
            <a:spLocks noGrp="1"/>
          </p:cNvSpPr>
          <p:nvPr>
            <p:ph idx="1"/>
          </p:nvPr>
        </p:nvSpPr>
        <p:spPr/>
        <p:txBody>
          <a:bodyPr/>
          <a:lstStyle/>
          <a:p>
            <a:r>
              <a:rPr lang="en-US" dirty="0"/>
              <a:t>Minkowski distance =</a:t>
            </a:r>
          </a:p>
          <a:p>
            <a:pPr lvl="1"/>
            <a:r>
              <a:rPr lang="en-US" dirty="0"/>
              <a:t>Euclidean distance (p=2)</a:t>
            </a:r>
          </a:p>
          <a:p>
            <a:pPr lvl="1"/>
            <a:r>
              <a:rPr lang="en-US" dirty="0"/>
              <a:t>Manhattan Distance (p=1)</a:t>
            </a:r>
          </a:p>
          <a:p>
            <a:pPr lvl="1"/>
            <a:r>
              <a:rPr lang="en-US" dirty="0"/>
              <a:t>More generally, p &gt;= 1</a:t>
            </a:r>
          </a:p>
          <a:p>
            <a:r>
              <a:rPr lang="en-US" dirty="0"/>
              <a:t>Correlation distance</a:t>
            </a:r>
          </a:p>
          <a:p>
            <a:r>
              <a:rPr lang="en-US" dirty="0" err="1"/>
              <a:t>Mahalanobis</a:t>
            </a:r>
            <a:r>
              <a:rPr lang="en-US" dirty="0"/>
              <a:t> distance (analogous to a higher-dimensional z-score)</a:t>
            </a:r>
          </a:p>
        </p:txBody>
      </p:sp>
      <p:pic>
        <p:nvPicPr>
          <p:cNvPr id="5" name="Picture 4">
            <a:extLst>
              <a:ext uri="{FF2B5EF4-FFF2-40B4-BE49-F238E27FC236}">
                <a16:creationId xmlns:a16="http://schemas.microsoft.com/office/drawing/2014/main" id="{66BBDCBB-5A51-D80A-B2E9-DE0B908D6601}"/>
              </a:ext>
            </a:extLst>
          </p:cNvPr>
          <p:cNvPicPr>
            <a:picLocks noChangeAspect="1"/>
          </p:cNvPicPr>
          <p:nvPr/>
        </p:nvPicPr>
        <p:blipFill>
          <a:blip r:embed="rId3"/>
          <a:stretch>
            <a:fillRect/>
          </a:stretch>
        </p:blipFill>
        <p:spPr>
          <a:xfrm>
            <a:off x="2768600" y="4508498"/>
            <a:ext cx="4419600" cy="774700"/>
          </a:xfrm>
          <a:prstGeom prst="rect">
            <a:avLst/>
          </a:prstGeom>
        </p:spPr>
      </p:pic>
      <p:pic>
        <p:nvPicPr>
          <p:cNvPr id="6" name="Picture 2" descr="Example of different Minkowski distance contour curves when the value of P alters.">
            <a:extLst>
              <a:ext uri="{FF2B5EF4-FFF2-40B4-BE49-F238E27FC236}">
                <a16:creationId xmlns:a16="http://schemas.microsoft.com/office/drawing/2014/main" id="{D79E9464-4061-5BD4-C930-F4EB30359D3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83450" y="203994"/>
            <a:ext cx="4618600" cy="277971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D8941BF-6DAD-D3D7-1410-9AF02FD562DA}"/>
              </a:ext>
            </a:extLst>
          </p:cNvPr>
          <p:cNvSpPr txBox="1"/>
          <p:nvPr/>
        </p:nvSpPr>
        <p:spPr>
          <a:xfrm>
            <a:off x="7685054" y="3144838"/>
            <a:ext cx="5305425" cy="307777"/>
          </a:xfrm>
          <a:prstGeom prst="rect">
            <a:avLst/>
          </a:prstGeom>
          <a:noFill/>
        </p:spPr>
        <p:txBody>
          <a:bodyPr wrap="square">
            <a:spAutoFit/>
          </a:bodyPr>
          <a:lstStyle/>
          <a:p>
            <a:r>
              <a:rPr lang="en-US" sz="1400" dirty="0"/>
              <a:t>Xu et al. 2018 IEEE Transactions on Cybernetics 49(11)</a:t>
            </a:r>
          </a:p>
        </p:txBody>
      </p:sp>
    </p:spTree>
    <p:extLst>
      <p:ext uri="{BB962C8B-B14F-4D97-AF65-F5344CB8AC3E}">
        <p14:creationId xmlns:p14="http://schemas.microsoft.com/office/powerpoint/2010/main" val="41589101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a:xfrm>
            <a:off x="7118765" y="1283533"/>
            <a:ext cx="2431627" cy="3642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p:cNvGraphicFramePr>
            <a:graphicFrameLocks noGrp="1"/>
          </p:cNvGraphicFramePr>
          <p:nvPr/>
        </p:nvGraphicFramePr>
        <p:xfrm>
          <a:off x="6011694" y="2563937"/>
          <a:ext cx="5457217" cy="1832232"/>
        </p:xfrm>
        <a:graphic>
          <a:graphicData uri="http://schemas.openxmlformats.org/drawingml/2006/table">
            <a:tbl>
              <a:tblPr/>
              <a:tblGrid>
                <a:gridCol w="1339181">
                  <a:extLst>
                    <a:ext uri="{9D8B030D-6E8A-4147-A177-3AD203B41FA5}">
                      <a16:colId xmlns:a16="http://schemas.microsoft.com/office/drawing/2014/main" val="2809128138"/>
                    </a:ext>
                  </a:extLst>
                </a:gridCol>
                <a:gridCol w="853812">
                  <a:extLst>
                    <a:ext uri="{9D8B030D-6E8A-4147-A177-3AD203B41FA5}">
                      <a16:colId xmlns:a16="http://schemas.microsoft.com/office/drawing/2014/main" val="2667562099"/>
                    </a:ext>
                  </a:extLst>
                </a:gridCol>
                <a:gridCol w="879218">
                  <a:extLst>
                    <a:ext uri="{9D8B030D-6E8A-4147-A177-3AD203B41FA5}">
                      <a16:colId xmlns:a16="http://schemas.microsoft.com/office/drawing/2014/main" val="3553510567"/>
                    </a:ext>
                  </a:extLst>
                </a:gridCol>
                <a:gridCol w="760486">
                  <a:extLst>
                    <a:ext uri="{9D8B030D-6E8A-4147-A177-3AD203B41FA5}">
                      <a16:colId xmlns:a16="http://schemas.microsoft.com/office/drawing/2014/main" val="497599556"/>
                    </a:ext>
                  </a:extLst>
                </a:gridCol>
                <a:gridCol w="749030">
                  <a:extLst>
                    <a:ext uri="{9D8B030D-6E8A-4147-A177-3AD203B41FA5}">
                      <a16:colId xmlns:a16="http://schemas.microsoft.com/office/drawing/2014/main" val="3368297842"/>
                    </a:ext>
                  </a:extLst>
                </a:gridCol>
                <a:gridCol w="875490">
                  <a:extLst>
                    <a:ext uri="{9D8B030D-6E8A-4147-A177-3AD203B41FA5}">
                      <a16:colId xmlns:a16="http://schemas.microsoft.com/office/drawing/2014/main" val="1082688981"/>
                    </a:ext>
                  </a:extLst>
                </a:gridCol>
              </a:tblGrid>
              <a:tr h="610744">
                <a:tc>
                  <a:txBody>
                    <a:bodyPr/>
                    <a:lstStyle/>
                    <a:p>
                      <a:pPr algn="l" fontAlgn="b"/>
                      <a:r>
                        <a:rPr lang="en-US" sz="1600" b="0" i="0" u="none" strike="noStrike" dirty="0">
                          <a:solidFill>
                            <a:srgbClr val="000000"/>
                          </a:solidFill>
                          <a:effectLst/>
                          <a:latin typeface="Calibri" panose="020F0502020204030204" pitchFamily="34" charset="0"/>
                        </a:rPr>
                        <a:t>Observation\features</a:t>
                      </a:r>
                    </a:p>
                  </a:txBody>
                  <a:tcPr marL="5359" marR="5359" marT="5359"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1600" b="0" i="0" u="none" strike="noStrike" dirty="0">
                          <a:solidFill>
                            <a:srgbClr val="000000"/>
                          </a:solidFill>
                          <a:effectLst/>
                          <a:latin typeface="Calibri" panose="020F0502020204030204" pitchFamily="34" charset="0"/>
                        </a:rPr>
                        <a:t>Feature 1</a:t>
                      </a:r>
                    </a:p>
                  </a:txBody>
                  <a:tcPr marL="5359" marR="5359" marT="5359" marB="0" anchor="b">
                    <a:lnL>
                      <a:noFill/>
                    </a:lnL>
                    <a:lnR>
                      <a:noFill/>
                    </a:lnR>
                    <a:lnT>
                      <a:noFill/>
                    </a:lnT>
                    <a:lnB w="12700" cap="flat" cmpd="sng" algn="ctr">
                      <a:solidFill>
                        <a:schemeClr val="tx1"/>
                      </a:solidFill>
                      <a:prstDash val="solid"/>
                      <a:round/>
                      <a:headEnd type="none" w="med" len="med"/>
                      <a:tailEnd type="none" w="med" len="med"/>
                    </a:lnB>
                    <a:solidFill>
                      <a:srgbClr val="808080"/>
                    </a:solidFill>
                  </a:tcPr>
                </a:tc>
                <a:tc>
                  <a:txBody>
                    <a:bodyPr/>
                    <a:lstStyle/>
                    <a:p>
                      <a:pPr algn="l" fontAlgn="b"/>
                      <a:r>
                        <a:rPr lang="en-US" sz="1600" b="0" i="0" u="none" strike="noStrike" dirty="0">
                          <a:solidFill>
                            <a:srgbClr val="000000"/>
                          </a:solidFill>
                          <a:effectLst/>
                          <a:latin typeface="Calibri" panose="020F0502020204030204" pitchFamily="34" charset="0"/>
                        </a:rPr>
                        <a:t>Feature 2</a:t>
                      </a:r>
                    </a:p>
                  </a:txBody>
                  <a:tcPr marL="5359" marR="5359" marT="5359" marB="0" anchor="b">
                    <a:lnL>
                      <a:noFill/>
                    </a:lnL>
                    <a:lnR>
                      <a:noFill/>
                    </a:lnR>
                    <a:lnT>
                      <a:noFill/>
                    </a:lnT>
                    <a:lnB w="12700" cap="flat" cmpd="sng" algn="ctr">
                      <a:solidFill>
                        <a:schemeClr val="tx1"/>
                      </a:solidFill>
                      <a:prstDash val="solid"/>
                      <a:round/>
                      <a:headEnd type="none" w="med" len="med"/>
                      <a:tailEnd type="none" w="med" len="med"/>
                    </a:lnB>
                    <a:solidFill>
                      <a:srgbClr val="808080"/>
                    </a:solidFill>
                  </a:tcPr>
                </a:tc>
                <a:tc>
                  <a:txBody>
                    <a:bodyPr/>
                    <a:lstStyle/>
                    <a:p>
                      <a:pPr algn="l" fontAlgn="b"/>
                      <a:r>
                        <a:rPr lang="en-US" sz="1600" b="0" i="0" u="none" strike="noStrike" dirty="0">
                          <a:solidFill>
                            <a:srgbClr val="000000"/>
                          </a:solidFill>
                          <a:effectLst/>
                          <a:latin typeface="Calibri" panose="020F0502020204030204" pitchFamily="34" charset="0"/>
                        </a:rPr>
                        <a:t>Feature 3</a:t>
                      </a:r>
                    </a:p>
                  </a:txBody>
                  <a:tcPr marL="5359" marR="5359" marT="5359" marB="0" anchor="b">
                    <a:lnL>
                      <a:noFill/>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algn="l" fontAlgn="b"/>
                      <a:r>
                        <a:rPr lang="en-US" sz="1600" b="0" i="0" u="none" strike="noStrike" dirty="0">
                          <a:solidFill>
                            <a:srgbClr val="000000"/>
                          </a:solidFill>
                          <a:effectLst/>
                          <a:latin typeface="Calibri" panose="020F0502020204030204" pitchFamily="34" charset="0"/>
                        </a:rPr>
                        <a:t>Feature 4</a:t>
                      </a:r>
                    </a:p>
                  </a:txBody>
                  <a:tcPr marL="5359" marR="5359" marT="5359" marB="0" anchor="b">
                    <a:lnL>
                      <a:noFill/>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algn="l" fontAlgn="b"/>
                      <a:r>
                        <a:rPr lang="en-US" sz="1600" b="0" i="0" u="none" strike="noStrike" dirty="0">
                          <a:solidFill>
                            <a:srgbClr val="000000"/>
                          </a:solidFill>
                          <a:effectLst/>
                          <a:latin typeface="Calibri" panose="020F0502020204030204" pitchFamily="34" charset="0"/>
                        </a:rPr>
                        <a:t>Feature 5</a:t>
                      </a:r>
                    </a:p>
                  </a:txBody>
                  <a:tcPr marL="5359" marR="5359" marT="5359" marB="0" anchor="b">
                    <a:lnL>
                      <a:noFill/>
                    </a:lnL>
                    <a:lnR>
                      <a:noFill/>
                    </a:lnR>
                    <a:lnT>
                      <a:noFill/>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71805200"/>
                  </a:ext>
                </a:extLst>
              </a:tr>
              <a:tr h="610744">
                <a:tc>
                  <a:txBody>
                    <a:bodyPr/>
                    <a:lstStyle/>
                    <a:p>
                      <a:pPr algn="l" fontAlgn="b"/>
                      <a:r>
                        <a:rPr lang="en-US" sz="1600" b="0" i="0" u="none" strike="noStrike" dirty="0">
                          <a:solidFill>
                            <a:srgbClr val="000000"/>
                          </a:solidFill>
                          <a:effectLst/>
                          <a:latin typeface="Calibri" panose="020F0502020204030204" pitchFamily="34" charset="0"/>
                        </a:rPr>
                        <a:t>Observation A</a:t>
                      </a:r>
                    </a:p>
                  </a:txBody>
                  <a:tcPr marL="5359" marR="5359" marT="5359"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r>
                        <a:rPr lang="en-US" sz="1600" b="0" i="0" u="none" strike="noStrike">
                          <a:solidFill>
                            <a:srgbClr val="000000"/>
                          </a:solidFill>
                          <a:effectLst/>
                          <a:latin typeface="Calibri" panose="020F0502020204030204" pitchFamily="34" charset="0"/>
                        </a:rPr>
                        <a:t>45</a:t>
                      </a:r>
                    </a:p>
                  </a:txBody>
                  <a:tcPr marL="5359" marR="5359" marT="5359" marB="0" anchor="b">
                    <a:lnL>
                      <a:noFill/>
                    </a:lnL>
                    <a:lnR>
                      <a:noFill/>
                    </a:lnR>
                    <a:lnT w="12700" cap="flat" cmpd="sng" algn="ctr">
                      <a:solidFill>
                        <a:schemeClr val="tx1"/>
                      </a:solidFill>
                      <a:prstDash val="solid"/>
                      <a:round/>
                      <a:headEnd type="none" w="med" len="med"/>
                      <a:tailEnd type="none" w="med" len="med"/>
                    </a:lnT>
                    <a:lnB>
                      <a:noFill/>
                    </a:lnB>
                    <a:solidFill>
                      <a:srgbClr val="808080"/>
                    </a:solidFill>
                  </a:tcPr>
                </a:tc>
                <a:tc>
                  <a:txBody>
                    <a:bodyPr/>
                    <a:lstStyle/>
                    <a:p>
                      <a:pPr algn="r" fontAlgn="b"/>
                      <a:r>
                        <a:rPr lang="en-US" sz="1600" b="0" i="0" u="none" strike="noStrike" dirty="0">
                          <a:solidFill>
                            <a:srgbClr val="000000"/>
                          </a:solidFill>
                          <a:effectLst/>
                          <a:latin typeface="Calibri" panose="020F0502020204030204" pitchFamily="34" charset="0"/>
                        </a:rPr>
                        <a:t>40</a:t>
                      </a:r>
                    </a:p>
                  </a:txBody>
                  <a:tcPr marL="5359" marR="5359" marT="5359" marB="0" anchor="b">
                    <a:lnL>
                      <a:noFill/>
                    </a:lnL>
                    <a:lnR>
                      <a:noFill/>
                    </a:lnR>
                    <a:lnT w="12700" cap="flat" cmpd="sng" algn="ctr">
                      <a:solidFill>
                        <a:schemeClr val="tx1"/>
                      </a:solidFill>
                      <a:prstDash val="solid"/>
                      <a:round/>
                      <a:headEnd type="none" w="med" len="med"/>
                      <a:tailEnd type="none" w="med" len="med"/>
                    </a:lnT>
                    <a:lnB>
                      <a:noFill/>
                    </a:lnB>
                    <a:solidFill>
                      <a:srgbClr val="808080"/>
                    </a:solidFill>
                  </a:tcPr>
                </a:tc>
                <a:tc>
                  <a:txBody>
                    <a:bodyPr/>
                    <a:lstStyle/>
                    <a:p>
                      <a:pPr algn="r" fontAlgn="b"/>
                      <a:r>
                        <a:rPr lang="en-US" sz="1600" b="0" i="0" u="none" strike="noStrike" dirty="0">
                          <a:solidFill>
                            <a:srgbClr val="000000"/>
                          </a:solidFill>
                          <a:effectLst/>
                          <a:latin typeface="Calibri" panose="020F0502020204030204" pitchFamily="34" charset="0"/>
                        </a:rPr>
                        <a:t>35</a:t>
                      </a:r>
                    </a:p>
                  </a:txBody>
                  <a:tcPr marL="5359" marR="5359" marT="5359" marB="0" anchor="b">
                    <a:lnL>
                      <a:noFill/>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algn="r" fontAlgn="b"/>
                      <a:r>
                        <a:rPr lang="en-US" sz="1600" b="0" i="0" u="none" strike="noStrike" dirty="0">
                          <a:solidFill>
                            <a:srgbClr val="000000"/>
                          </a:solidFill>
                          <a:effectLst/>
                          <a:latin typeface="Calibri" panose="020F0502020204030204" pitchFamily="34" charset="0"/>
                        </a:rPr>
                        <a:t>35</a:t>
                      </a:r>
                    </a:p>
                  </a:txBody>
                  <a:tcPr marL="5359" marR="5359" marT="5359" marB="0" anchor="b">
                    <a:lnL>
                      <a:noFill/>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algn="r" fontAlgn="b"/>
                      <a:r>
                        <a:rPr lang="en-US" sz="1600" b="0" i="0" u="none" strike="noStrike" dirty="0">
                          <a:solidFill>
                            <a:srgbClr val="000000"/>
                          </a:solidFill>
                          <a:effectLst/>
                          <a:latin typeface="Calibri" panose="020F0502020204030204" pitchFamily="34" charset="0"/>
                        </a:rPr>
                        <a:t>56</a:t>
                      </a:r>
                    </a:p>
                  </a:txBody>
                  <a:tcPr marL="5359" marR="5359" marT="5359" marB="0" anchor="b">
                    <a:lnL>
                      <a:noFill/>
                    </a:lnL>
                    <a:lnR>
                      <a:noFill/>
                    </a:lnR>
                    <a:lnT w="12700" cap="flat" cmpd="sng" algn="ctr">
                      <a:solidFill>
                        <a:schemeClr val="tx1"/>
                      </a:solidFill>
                      <a:prstDash val="solid"/>
                      <a:round/>
                      <a:headEnd type="none" w="med" len="med"/>
                      <a:tailEnd type="none" w="med" len="med"/>
                    </a:lnT>
                    <a:lnB>
                      <a:noFill/>
                    </a:lnB>
                    <a:solidFill>
                      <a:schemeClr val="bg1"/>
                    </a:solidFill>
                  </a:tcPr>
                </a:tc>
                <a:extLst>
                  <a:ext uri="{0D108BD9-81ED-4DB2-BD59-A6C34878D82A}">
                    <a16:rowId xmlns:a16="http://schemas.microsoft.com/office/drawing/2014/main" val="2537553975"/>
                  </a:ext>
                </a:extLst>
              </a:tr>
              <a:tr h="610744">
                <a:tc>
                  <a:txBody>
                    <a:bodyPr/>
                    <a:lstStyle/>
                    <a:p>
                      <a:pPr algn="l" fontAlgn="b"/>
                      <a:r>
                        <a:rPr lang="en-US" sz="1600" b="0" i="0" u="none" strike="noStrike" dirty="0">
                          <a:solidFill>
                            <a:srgbClr val="000000"/>
                          </a:solidFill>
                          <a:effectLst/>
                          <a:latin typeface="Calibri" panose="020F0502020204030204" pitchFamily="34" charset="0"/>
                        </a:rPr>
                        <a:t>Observation B</a:t>
                      </a:r>
                    </a:p>
                  </a:txBody>
                  <a:tcPr marL="5359" marR="5359" marT="5359" marB="0" anchor="b">
                    <a:lnL>
                      <a:noFill/>
                    </a:lnL>
                    <a:lnR>
                      <a:noFill/>
                    </a:lnR>
                    <a:lnT>
                      <a:noFill/>
                    </a:lnT>
                    <a:lnB>
                      <a:noFill/>
                    </a:lnB>
                  </a:tcPr>
                </a:tc>
                <a:tc>
                  <a:txBody>
                    <a:bodyPr/>
                    <a:lstStyle/>
                    <a:p>
                      <a:pPr algn="r" fontAlgn="b"/>
                      <a:r>
                        <a:rPr lang="en-US" sz="1600" b="0" i="0" u="none" strike="noStrike" dirty="0">
                          <a:solidFill>
                            <a:srgbClr val="000000"/>
                          </a:solidFill>
                          <a:effectLst/>
                          <a:latin typeface="Calibri" panose="020F0502020204030204" pitchFamily="34" charset="0"/>
                        </a:rPr>
                        <a:t>60</a:t>
                      </a:r>
                    </a:p>
                  </a:txBody>
                  <a:tcPr marL="5359" marR="5359" marT="5359" marB="0" anchor="b">
                    <a:lnL>
                      <a:noFill/>
                    </a:lnL>
                    <a:lnR>
                      <a:noFill/>
                    </a:lnR>
                    <a:lnT>
                      <a:noFill/>
                    </a:lnT>
                    <a:lnB>
                      <a:noFill/>
                    </a:lnB>
                    <a:solidFill>
                      <a:srgbClr val="808080"/>
                    </a:solidFill>
                  </a:tcPr>
                </a:tc>
                <a:tc>
                  <a:txBody>
                    <a:bodyPr/>
                    <a:lstStyle/>
                    <a:p>
                      <a:pPr algn="r" fontAlgn="b"/>
                      <a:r>
                        <a:rPr lang="en-US" sz="1600" b="0" i="0" u="none" strike="noStrike" dirty="0">
                          <a:solidFill>
                            <a:srgbClr val="000000"/>
                          </a:solidFill>
                          <a:effectLst/>
                          <a:latin typeface="Calibri" panose="020F0502020204030204" pitchFamily="34" charset="0"/>
                        </a:rPr>
                        <a:t>55</a:t>
                      </a:r>
                    </a:p>
                  </a:txBody>
                  <a:tcPr marL="5359" marR="5359" marT="5359" marB="0" anchor="b">
                    <a:lnL>
                      <a:noFill/>
                    </a:lnL>
                    <a:lnR>
                      <a:noFill/>
                    </a:lnR>
                    <a:lnT>
                      <a:noFill/>
                    </a:lnT>
                    <a:lnB>
                      <a:noFill/>
                    </a:lnB>
                    <a:solidFill>
                      <a:srgbClr val="808080"/>
                    </a:solidFill>
                  </a:tcPr>
                </a:tc>
                <a:tc>
                  <a:txBody>
                    <a:bodyPr/>
                    <a:lstStyle/>
                    <a:p>
                      <a:pPr algn="r" fontAlgn="b"/>
                      <a:r>
                        <a:rPr lang="en-US" sz="1600" b="0" i="0" u="none" strike="noStrike" dirty="0">
                          <a:solidFill>
                            <a:srgbClr val="000000"/>
                          </a:solidFill>
                          <a:effectLst/>
                          <a:latin typeface="Calibri" panose="020F0502020204030204" pitchFamily="34" charset="0"/>
                        </a:rPr>
                        <a:t>50</a:t>
                      </a:r>
                    </a:p>
                  </a:txBody>
                  <a:tcPr marL="5359" marR="5359" marT="5359" marB="0" anchor="b">
                    <a:lnL>
                      <a:noFill/>
                    </a:lnL>
                    <a:lnR>
                      <a:noFill/>
                    </a:lnR>
                    <a:lnT>
                      <a:noFill/>
                    </a:lnT>
                    <a:lnB>
                      <a:noFill/>
                    </a:lnB>
                    <a:solidFill>
                      <a:schemeClr val="bg1"/>
                    </a:solidFill>
                  </a:tcPr>
                </a:tc>
                <a:tc>
                  <a:txBody>
                    <a:bodyPr/>
                    <a:lstStyle/>
                    <a:p>
                      <a:pPr algn="r" fontAlgn="b"/>
                      <a:r>
                        <a:rPr lang="en-US" sz="1600" b="0" i="0" u="none" strike="noStrike" dirty="0">
                          <a:solidFill>
                            <a:srgbClr val="000000"/>
                          </a:solidFill>
                          <a:effectLst/>
                          <a:latin typeface="Calibri" panose="020F0502020204030204" pitchFamily="34" charset="0"/>
                        </a:rPr>
                        <a:t>50</a:t>
                      </a:r>
                    </a:p>
                  </a:txBody>
                  <a:tcPr marL="5359" marR="5359" marT="5359" marB="0" anchor="b">
                    <a:lnL>
                      <a:noFill/>
                    </a:lnL>
                    <a:lnR>
                      <a:noFill/>
                    </a:lnR>
                    <a:lnT>
                      <a:noFill/>
                    </a:lnT>
                    <a:lnB>
                      <a:noFill/>
                    </a:lnB>
                    <a:solidFill>
                      <a:schemeClr val="bg1"/>
                    </a:solidFill>
                  </a:tcPr>
                </a:tc>
                <a:tc>
                  <a:txBody>
                    <a:bodyPr/>
                    <a:lstStyle/>
                    <a:p>
                      <a:pPr algn="r" fontAlgn="b"/>
                      <a:r>
                        <a:rPr lang="en-US" sz="1600" b="0" i="0" u="none" strike="noStrike" dirty="0">
                          <a:solidFill>
                            <a:srgbClr val="000000"/>
                          </a:solidFill>
                          <a:effectLst/>
                          <a:latin typeface="Calibri" panose="020F0502020204030204" pitchFamily="34" charset="0"/>
                        </a:rPr>
                        <a:t>71</a:t>
                      </a:r>
                    </a:p>
                  </a:txBody>
                  <a:tcPr marL="5359" marR="5359" marT="5359" marB="0" anchor="b">
                    <a:lnL>
                      <a:noFill/>
                    </a:lnL>
                    <a:lnR>
                      <a:noFill/>
                    </a:lnR>
                    <a:lnT>
                      <a:noFill/>
                    </a:lnT>
                    <a:lnB>
                      <a:noFill/>
                    </a:lnB>
                    <a:solidFill>
                      <a:schemeClr val="bg1"/>
                    </a:solidFill>
                  </a:tcPr>
                </a:tc>
                <a:extLst>
                  <a:ext uri="{0D108BD9-81ED-4DB2-BD59-A6C34878D82A}">
                    <a16:rowId xmlns:a16="http://schemas.microsoft.com/office/drawing/2014/main" val="2857319171"/>
                  </a:ext>
                </a:extLst>
              </a:tr>
            </a:tbl>
          </a:graphicData>
        </a:graphic>
      </p:graphicFrame>
      <p:sp>
        <p:nvSpPr>
          <p:cNvPr id="7" name="Title 1"/>
          <p:cNvSpPr>
            <a:spLocks noGrp="1"/>
          </p:cNvSpPr>
          <p:nvPr>
            <p:ph type="title"/>
          </p:nvPr>
        </p:nvSpPr>
        <p:spPr>
          <a:xfrm>
            <a:off x="0" y="0"/>
            <a:ext cx="12192000" cy="1325563"/>
          </a:xfrm>
        </p:spPr>
        <p:txBody>
          <a:bodyPr/>
          <a:lstStyle/>
          <a:p>
            <a:r>
              <a:rPr lang="en-US" dirty="0"/>
              <a:t>Euclidean distance example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E0AB251-8A43-5C38-8B6A-7E9F5E9A8587}"/>
                  </a:ext>
                </a:extLst>
              </p:cNvPr>
              <p:cNvSpPr txBox="1"/>
              <p:nvPr/>
            </p:nvSpPr>
            <p:spPr>
              <a:xfrm>
                <a:off x="235625" y="2912200"/>
                <a:ext cx="5457217" cy="1942391"/>
              </a:xfrm>
              <a:prstGeom prst="rect">
                <a:avLst/>
              </a:prstGeom>
              <a:noFill/>
            </p:spPr>
            <p:txBody>
              <a:bodyPr wrap="square" rtlCol="0">
                <a:spAutoFit/>
              </a:bodyPr>
              <a:lstStyle/>
              <a:p>
                <a:r>
                  <a:rPr lang="en-US" sz="2000" dirty="0"/>
                  <a:t>Euclidean Distance b/w observation A and B in 2-D space (Feature 1 and 2)</a:t>
                </a:r>
              </a:p>
              <a:p>
                <a:r>
                  <a:rPr lang="en-US" sz="2000" dirty="0"/>
                  <a:t>= </a:t>
                </a:r>
                <a14:m>
                  <m:oMath xmlns:m="http://schemas.openxmlformats.org/officeDocument/2006/math">
                    <m:rad>
                      <m:radPr>
                        <m:degHide m:val="on"/>
                        <m:ctrlPr>
                          <a:rPr lang="en-US" sz="2000" i="1">
                            <a:latin typeface="Cambria Math" panose="02040503050406030204" pitchFamily="18" charset="0"/>
                          </a:rPr>
                        </m:ctrlPr>
                      </m:radPr>
                      <m:deg/>
                      <m:e>
                        <m:sSup>
                          <m:sSupPr>
                            <m:ctrlPr>
                              <a:rPr lang="en-US" sz="2000" i="1">
                                <a:latin typeface="Cambria Math" panose="02040503050406030204" pitchFamily="18" charset="0"/>
                              </a:rPr>
                            </m:ctrlPr>
                          </m:sSupPr>
                          <m:e>
                            <m:r>
                              <a:rPr lang="en-US" sz="2000" i="1">
                                <a:latin typeface="Cambria Math" panose="02040503050406030204" pitchFamily="18" charset="0"/>
                              </a:rPr>
                              <m:t>(60−45)</m:t>
                            </m:r>
                          </m:e>
                          <m:sup>
                            <m:r>
                              <a:rPr lang="en-US" sz="2000" i="1">
                                <a:latin typeface="Cambria Math" panose="02040503050406030204" pitchFamily="18" charset="0"/>
                              </a:rPr>
                              <m:t>2</m:t>
                            </m:r>
                          </m:sup>
                        </m:sSup>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(55−40)</m:t>
                            </m:r>
                          </m:e>
                          <m:sup>
                            <m:r>
                              <a:rPr lang="en-US" sz="2000" i="1">
                                <a:latin typeface="Cambria Math" panose="02040503050406030204" pitchFamily="18" charset="0"/>
                              </a:rPr>
                              <m:t>2</m:t>
                            </m:r>
                          </m:sup>
                        </m:sSup>
                      </m:e>
                    </m:rad>
                  </m:oMath>
                </a14:m>
                <a:endParaRPr lang="en-US" sz="2000" dirty="0"/>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endParaRPr lang="en-US" dirty="0"/>
              </a:p>
              <a:p>
                <a:endParaRPr lang="en-US" dirty="0"/>
              </a:p>
            </p:txBody>
          </p:sp>
        </mc:Choice>
        <mc:Fallback xmlns="">
          <p:sp>
            <p:nvSpPr>
              <p:cNvPr id="5" name="TextBox 4">
                <a:extLst>
                  <a:ext uri="{FF2B5EF4-FFF2-40B4-BE49-F238E27FC236}">
                    <a16:creationId xmlns:a16="http://schemas.microsoft.com/office/drawing/2014/main" id="{3E0AB251-8A43-5C38-8B6A-7E9F5E9A8587}"/>
                  </a:ext>
                </a:extLst>
              </p:cNvPr>
              <p:cNvSpPr txBox="1">
                <a:spLocks noRot="1" noChangeAspect="1" noMove="1" noResize="1" noEditPoints="1" noAdjustHandles="1" noChangeArrowheads="1" noChangeShapeType="1" noTextEdit="1"/>
              </p:cNvSpPr>
              <p:nvPr/>
            </p:nvSpPr>
            <p:spPr>
              <a:xfrm>
                <a:off x="235625" y="2912200"/>
                <a:ext cx="5457217" cy="1942391"/>
              </a:xfrm>
              <a:prstGeom prst="rect">
                <a:avLst/>
              </a:prstGeom>
              <a:blipFill>
                <a:blip r:embed="rId3"/>
                <a:stretch>
                  <a:fillRect l="-1160" t="-1948"/>
                </a:stretch>
              </a:blipFill>
            </p:spPr>
            <p:txBody>
              <a:bodyPr/>
              <a:lstStyle/>
              <a:p>
                <a:r>
                  <a:rPr lang="en-US">
                    <a:noFill/>
                  </a:rPr>
                  <a:t> </a:t>
                </a:r>
              </a:p>
            </p:txBody>
          </p:sp>
        </mc:Fallback>
      </mc:AlternateContent>
    </p:spTree>
    <p:extLst>
      <p:ext uri="{BB962C8B-B14F-4D97-AF65-F5344CB8AC3E}">
        <p14:creationId xmlns:p14="http://schemas.microsoft.com/office/powerpoint/2010/main" val="35596053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BAA22-62C1-44E1-950E-4A95E2AD7501}"/>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F544FC2B-0398-4B62-5FF8-3C7BF1E95EC7}"/>
              </a:ext>
            </a:extLst>
          </p:cNvPr>
          <p:cNvSpPr/>
          <p:nvPr/>
        </p:nvSpPr>
        <p:spPr>
          <a:xfrm>
            <a:off x="7118765" y="1283533"/>
            <a:ext cx="2431627" cy="3642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8505CE65-A92B-821F-7B44-2B8D45A50FDD}"/>
              </a:ext>
            </a:extLst>
          </p:cNvPr>
          <p:cNvGraphicFramePr>
            <a:graphicFrameLocks noGrp="1"/>
          </p:cNvGraphicFramePr>
          <p:nvPr/>
        </p:nvGraphicFramePr>
        <p:xfrm>
          <a:off x="6011694" y="2563937"/>
          <a:ext cx="5457217" cy="1832232"/>
        </p:xfrm>
        <a:graphic>
          <a:graphicData uri="http://schemas.openxmlformats.org/drawingml/2006/table">
            <a:tbl>
              <a:tblPr/>
              <a:tblGrid>
                <a:gridCol w="1339181">
                  <a:extLst>
                    <a:ext uri="{9D8B030D-6E8A-4147-A177-3AD203B41FA5}">
                      <a16:colId xmlns:a16="http://schemas.microsoft.com/office/drawing/2014/main" val="2809128138"/>
                    </a:ext>
                  </a:extLst>
                </a:gridCol>
                <a:gridCol w="853812">
                  <a:extLst>
                    <a:ext uri="{9D8B030D-6E8A-4147-A177-3AD203B41FA5}">
                      <a16:colId xmlns:a16="http://schemas.microsoft.com/office/drawing/2014/main" val="2667562099"/>
                    </a:ext>
                  </a:extLst>
                </a:gridCol>
                <a:gridCol w="879218">
                  <a:extLst>
                    <a:ext uri="{9D8B030D-6E8A-4147-A177-3AD203B41FA5}">
                      <a16:colId xmlns:a16="http://schemas.microsoft.com/office/drawing/2014/main" val="3553510567"/>
                    </a:ext>
                  </a:extLst>
                </a:gridCol>
                <a:gridCol w="760486">
                  <a:extLst>
                    <a:ext uri="{9D8B030D-6E8A-4147-A177-3AD203B41FA5}">
                      <a16:colId xmlns:a16="http://schemas.microsoft.com/office/drawing/2014/main" val="497599556"/>
                    </a:ext>
                  </a:extLst>
                </a:gridCol>
                <a:gridCol w="749030">
                  <a:extLst>
                    <a:ext uri="{9D8B030D-6E8A-4147-A177-3AD203B41FA5}">
                      <a16:colId xmlns:a16="http://schemas.microsoft.com/office/drawing/2014/main" val="3368297842"/>
                    </a:ext>
                  </a:extLst>
                </a:gridCol>
                <a:gridCol w="875490">
                  <a:extLst>
                    <a:ext uri="{9D8B030D-6E8A-4147-A177-3AD203B41FA5}">
                      <a16:colId xmlns:a16="http://schemas.microsoft.com/office/drawing/2014/main" val="1082688981"/>
                    </a:ext>
                  </a:extLst>
                </a:gridCol>
              </a:tblGrid>
              <a:tr h="610744">
                <a:tc>
                  <a:txBody>
                    <a:bodyPr/>
                    <a:lstStyle/>
                    <a:p>
                      <a:pPr algn="l" fontAlgn="b"/>
                      <a:r>
                        <a:rPr lang="en-US" sz="1600" b="0" i="0" u="none" strike="noStrike" dirty="0">
                          <a:solidFill>
                            <a:srgbClr val="000000"/>
                          </a:solidFill>
                          <a:effectLst/>
                          <a:latin typeface="Calibri" panose="020F0502020204030204" pitchFamily="34" charset="0"/>
                        </a:rPr>
                        <a:t>Observation\features</a:t>
                      </a:r>
                    </a:p>
                  </a:txBody>
                  <a:tcPr marL="5359" marR="5359" marT="5359"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1600" b="0" i="0" u="none" strike="noStrike" dirty="0">
                          <a:solidFill>
                            <a:srgbClr val="000000"/>
                          </a:solidFill>
                          <a:effectLst/>
                          <a:latin typeface="Calibri" panose="020F0502020204030204" pitchFamily="34" charset="0"/>
                        </a:rPr>
                        <a:t>Feature 1</a:t>
                      </a:r>
                    </a:p>
                  </a:txBody>
                  <a:tcPr marL="5359" marR="5359" marT="5359" marB="0" anchor="b">
                    <a:lnL>
                      <a:noFill/>
                    </a:lnL>
                    <a:lnR>
                      <a:noFill/>
                    </a:lnR>
                    <a:lnT>
                      <a:noFill/>
                    </a:lnT>
                    <a:lnB w="12700" cap="flat" cmpd="sng" algn="ctr">
                      <a:solidFill>
                        <a:schemeClr val="tx1"/>
                      </a:solidFill>
                      <a:prstDash val="solid"/>
                      <a:round/>
                      <a:headEnd type="none" w="med" len="med"/>
                      <a:tailEnd type="none" w="med" len="med"/>
                    </a:lnB>
                    <a:solidFill>
                      <a:srgbClr val="808080"/>
                    </a:solidFill>
                  </a:tcPr>
                </a:tc>
                <a:tc>
                  <a:txBody>
                    <a:bodyPr/>
                    <a:lstStyle/>
                    <a:p>
                      <a:pPr algn="l" fontAlgn="b"/>
                      <a:r>
                        <a:rPr lang="en-US" sz="1600" b="0" i="0" u="none" strike="noStrike" dirty="0">
                          <a:solidFill>
                            <a:srgbClr val="000000"/>
                          </a:solidFill>
                          <a:effectLst/>
                          <a:latin typeface="Calibri" panose="020F0502020204030204" pitchFamily="34" charset="0"/>
                        </a:rPr>
                        <a:t>Feature 2</a:t>
                      </a:r>
                    </a:p>
                  </a:txBody>
                  <a:tcPr marL="5359" marR="5359" marT="5359" marB="0" anchor="b">
                    <a:lnL>
                      <a:noFill/>
                    </a:lnL>
                    <a:lnR>
                      <a:noFill/>
                    </a:lnR>
                    <a:lnT>
                      <a:noFill/>
                    </a:lnT>
                    <a:lnB w="12700" cap="flat" cmpd="sng" algn="ctr">
                      <a:solidFill>
                        <a:schemeClr val="tx1"/>
                      </a:solidFill>
                      <a:prstDash val="solid"/>
                      <a:round/>
                      <a:headEnd type="none" w="med" len="med"/>
                      <a:tailEnd type="none" w="med" len="med"/>
                    </a:lnB>
                    <a:solidFill>
                      <a:srgbClr val="808080"/>
                    </a:solidFill>
                  </a:tcPr>
                </a:tc>
                <a:tc>
                  <a:txBody>
                    <a:bodyPr/>
                    <a:lstStyle/>
                    <a:p>
                      <a:pPr algn="l" fontAlgn="b"/>
                      <a:r>
                        <a:rPr lang="en-US" sz="1600" b="0" i="0" u="none" strike="noStrike" dirty="0">
                          <a:solidFill>
                            <a:srgbClr val="000000"/>
                          </a:solidFill>
                          <a:effectLst/>
                          <a:latin typeface="Calibri" panose="020F0502020204030204" pitchFamily="34" charset="0"/>
                        </a:rPr>
                        <a:t>Feature 3</a:t>
                      </a:r>
                    </a:p>
                  </a:txBody>
                  <a:tcPr marL="5359" marR="5359" marT="5359" marB="0" anchor="b">
                    <a:lnL>
                      <a:noFill/>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algn="l" fontAlgn="b"/>
                      <a:r>
                        <a:rPr lang="en-US" sz="1600" b="0" i="0" u="none" strike="noStrike" dirty="0">
                          <a:solidFill>
                            <a:srgbClr val="000000"/>
                          </a:solidFill>
                          <a:effectLst/>
                          <a:latin typeface="Calibri" panose="020F0502020204030204" pitchFamily="34" charset="0"/>
                        </a:rPr>
                        <a:t>Feature 4</a:t>
                      </a:r>
                    </a:p>
                  </a:txBody>
                  <a:tcPr marL="5359" marR="5359" marT="5359" marB="0" anchor="b">
                    <a:lnL>
                      <a:noFill/>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algn="l" fontAlgn="b"/>
                      <a:r>
                        <a:rPr lang="en-US" sz="1600" b="0" i="0" u="none" strike="noStrike" dirty="0">
                          <a:solidFill>
                            <a:srgbClr val="000000"/>
                          </a:solidFill>
                          <a:effectLst/>
                          <a:latin typeface="Calibri" panose="020F0502020204030204" pitchFamily="34" charset="0"/>
                        </a:rPr>
                        <a:t>Feature 5</a:t>
                      </a:r>
                    </a:p>
                  </a:txBody>
                  <a:tcPr marL="5359" marR="5359" marT="5359" marB="0" anchor="b">
                    <a:lnL>
                      <a:noFill/>
                    </a:lnL>
                    <a:lnR>
                      <a:noFill/>
                    </a:lnR>
                    <a:lnT>
                      <a:noFill/>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71805200"/>
                  </a:ext>
                </a:extLst>
              </a:tr>
              <a:tr h="610744">
                <a:tc>
                  <a:txBody>
                    <a:bodyPr/>
                    <a:lstStyle/>
                    <a:p>
                      <a:pPr algn="l" fontAlgn="b"/>
                      <a:r>
                        <a:rPr lang="en-US" sz="1600" b="0" i="0" u="none" strike="noStrike" dirty="0">
                          <a:solidFill>
                            <a:srgbClr val="000000"/>
                          </a:solidFill>
                          <a:effectLst/>
                          <a:latin typeface="Calibri" panose="020F0502020204030204" pitchFamily="34" charset="0"/>
                        </a:rPr>
                        <a:t>Observation A</a:t>
                      </a:r>
                    </a:p>
                  </a:txBody>
                  <a:tcPr marL="5359" marR="5359" marT="5359"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r>
                        <a:rPr lang="en-US" sz="1600" b="0" i="0" u="none" strike="noStrike">
                          <a:solidFill>
                            <a:srgbClr val="000000"/>
                          </a:solidFill>
                          <a:effectLst/>
                          <a:latin typeface="Calibri" panose="020F0502020204030204" pitchFamily="34" charset="0"/>
                        </a:rPr>
                        <a:t>45</a:t>
                      </a:r>
                    </a:p>
                  </a:txBody>
                  <a:tcPr marL="5359" marR="5359" marT="5359" marB="0" anchor="b">
                    <a:lnL>
                      <a:noFill/>
                    </a:lnL>
                    <a:lnR>
                      <a:noFill/>
                    </a:lnR>
                    <a:lnT w="12700" cap="flat" cmpd="sng" algn="ctr">
                      <a:solidFill>
                        <a:schemeClr val="tx1"/>
                      </a:solidFill>
                      <a:prstDash val="solid"/>
                      <a:round/>
                      <a:headEnd type="none" w="med" len="med"/>
                      <a:tailEnd type="none" w="med" len="med"/>
                    </a:lnT>
                    <a:lnB>
                      <a:noFill/>
                    </a:lnB>
                    <a:solidFill>
                      <a:srgbClr val="808080"/>
                    </a:solidFill>
                  </a:tcPr>
                </a:tc>
                <a:tc>
                  <a:txBody>
                    <a:bodyPr/>
                    <a:lstStyle/>
                    <a:p>
                      <a:pPr algn="r" fontAlgn="b"/>
                      <a:r>
                        <a:rPr lang="en-US" sz="1600" b="0" i="0" u="none" strike="noStrike" dirty="0">
                          <a:solidFill>
                            <a:srgbClr val="000000"/>
                          </a:solidFill>
                          <a:effectLst/>
                          <a:latin typeface="Calibri" panose="020F0502020204030204" pitchFamily="34" charset="0"/>
                        </a:rPr>
                        <a:t>40</a:t>
                      </a:r>
                    </a:p>
                  </a:txBody>
                  <a:tcPr marL="5359" marR="5359" marT="5359" marB="0" anchor="b">
                    <a:lnL>
                      <a:noFill/>
                    </a:lnL>
                    <a:lnR>
                      <a:noFill/>
                    </a:lnR>
                    <a:lnT w="12700" cap="flat" cmpd="sng" algn="ctr">
                      <a:solidFill>
                        <a:schemeClr val="tx1"/>
                      </a:solidFill>
                      <a:prstDash val="solid"/>
                      <a:round/>
                      <a:headEnd type="none" w="med" len="med"/>
                      <a:tailEnd type="none" w="med" len="med"/>
                    </a:lnT>
                    <a:lnB>
                      <a:noFill/>
                    </a:lnB>
                    <a:solidFill>
                      <a:srgbClr val="808080"/>
                    </a:solidFill>
                  </a:tcPr>
                </a:tc>
                <a:tc>
                  <a:txBody>
                    <a:bodyPr/>
                    <a:lstStyle/>
                    <a:p>
                      <a:pPr algn="r" fontAlgn="b"/>
                      <a:r>
                        <a:rPr lang="en-US" sz="1600" b="0" i="0" u="none" strike="noStrike" dirty="0">
                          <a:solidFill>
                            <a:srgbClr val="000000"/>
                          </a:solidFill>
                          <a:effectLst/>
                          <a:latin typeface="Calibri" panose="020F0502020204030204" pitchFamily="34" charset="0"/>
                        </a:rPr>
                        <a:t>35</a:t>
                      </a:r>
                    </a:p>
                  </a:txBody>
                  <a:tcPr marL="5359" marR="5359" marT="5359" marB="0" anchor="b">
                    <a:lnL>
                      <a:noFill/>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algn="r" fontAlgn="b"/>
                      <a:r>
                        <a:rPr lang="en-US" sz="1600" b="0" i="0" u="none" strike="noStrike" dirty="0">
                          <a:solidFill>
                            <a:srgbClr val="000000"/>
                          </a:solidFill>
                          <a:effectLst/>
                          <a:latin typeface="Calibri" panose="020F0502020204030204" pitchFamily="34" charset="0"/>
                        </a:rPr>
                        <a:t>35</a:t>
                      </a:r>
                    </a:p>
                  </a:txBody>
                  <a:tcPr marL="5359" marR="5359" marT="5359" marB="0" anchor="b">
                    <a:lnL>
                      <a:noFill/>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algn="r" fontAlgn="b"/>
                      <a:r>
                        <a:rPr lang="en-US" sz="1600" b="0" i="0" u="none" strike="noStrike" dirty="0">
                          <a:solidFill>
                            <a:srgbClr val="000000"/>
                          </a:solidFill>
                          <a:effectLst/>
                          <a:latin typeface="Calibri" panose="020F0502020204030204" pitchFamily="34" charset="0"/>
                        </a:rPr>
                        <a:t>56</a:t>
                      </a:r>
                    </a:p>
                  </a:txBody>
                  <a:tcPr marL="5359" marR="5359" marT="5359" marB="0" anchor="b">
                    <a:lnL>
                      <a:noFill/>
                    </a:lnL>
                    <a:lnR>
                      <a:noFill/>
                    </a:lnR>
                    <a:lnT w="12700" cap="flat" cmpd="sng" algn="ctr">
                      <a:solidFill>
                        <a:schemeClr val="tx1"/>
                      </a:solidFill>
                      <a:prstDash val="solid"/>
                      <a:round/>
                      <a:headEnd type="none" w="med" len="med"/>
                      <a:tailEnd type="none" w="med" len="med"/>
                    </a:lnT>
                    <a:lnB>
                      <a:noFill/>
                    </a:lnB>
                    <a:solidFill>
                      <a:schemeClr val="bg1"/>
                    </a:solidFill>
                  </a:tcPr>
                </a:tc>
                <a:extLst>
                  <a:ext uri="{0D108BD9-81ED-4DB2-BD59-A6C34878D82A}">
                    <a16:rowId xmlns:a16="http://schemas.microsoft.com/office/drawing/2014/main" val="2537553975"/>
                  </a:ext>
                </a:extLst>
              </a:tr>
              <a:tr h="610744">
                <a:tc>
                  <a:txBody>
                    <a:bodyPr/>
                    <a:lstStyle/>
                    <a:p>
                      <a:pPr algn="l" fontAlgn="b"/>
                      <a:r>
                        <a:rPr lang="en-US" sz="1600" b="0" i="0" u="none" strike="noStrike" dirty="0">
                          <a:solidFill>
                            <a:srgbClr val="000000"/>
                          </a:solidFill>
                          <a:effectLst/>
                          <a:latin typeface="Calibri" panose="020F0502020204030204" pitchFamily="34" charset="0"/>
                        </a:rPr>
                        <a:t>Observation B</a:t>
                      </a:r>
                    </a:p>
                  </a:txBody>
                  <a:tcPr marL="5359" marR="5359" marT="5359" marB="0" anchor="b">
                    <a:lnL>
                      <a:noFill/>
                    </a:lnL>
                    <a:lnR>
                      <a:noFill/>
                    </a:lnR>
                    <a:lnT>
                      <a:noFill/>
                    </a:lnT>
                    <a:lnB>
                      <a:noFill/>
                    </a:lnB>
                  </a:tcPr>
                </a:tc>
                <a:tc>
                  <a:txBody>
                    <a:bodyPr/>
                    <a:lstStyle/>
                    <a:p>
                      <a:pPr algn="r" fontAlgn="b"/>
                      <a:r>
                        <a:rPr lang="en-US" sz="1600" b="0" i="0" u="none" strike="noStrike" dirty="0">
                          <a:solidFill>
                            <a:srgbClr val="000000"/>
                          </a:solidFill>
                          <a:effectLst/>
                          <a:latin typeface="Calibri" panose="020F0502020204030204" pitchFamily="34" charset="0"/>
                        </a:rPr>
                        <a:t>60</a:t>
                      </a:r>
                    </a:p>
                  </a:txBody>
                  <a:tcPr marL="5359" marR="5359" marT="5359" marB="0" anchor="b">
                    <a:lnL>
                      <a:noFill/>
                    </a:lnL>
                    <a:lnR>
                      <a:noFill/>
                    </a:lnR>
                    <a:lnT>
                      <a:noFill/>
                    </a:lnT>
                    <a:lnB>
                      <a:noFill/>
                    </a:lnB>
                    <a:solidFill>
                      <a:srgbClr val="808080"/>
                    </a:solidFill>
                  </a:tcPr>
                </a:tc>
                <a:tc>
                  <a:txBody>
                    <a:bodyPr/>
                    <a:lstStyle/>
                    <a:p>
                      <a:pPr algn="r" fontAlgn="b"/>
                      <a:r>
                        <a:rPr lang="en-US" sz="1600" b="0" i="0" u="none" strike="noStrike" dirty="0">
                          <a:solidFill>
                            <a:srgbClr val="000000"/>
                          </a:solidFill>
                          <a:effectLst/>
                          <a:latin typeface="Calibri" panose="020F0502020204030204" pitchFamily="34" charset="0"/>
                        </a:rPr>
                        <a:t>55</a:t>
                      </a:r>
                    </a:p>
                  </a:txBody>
                  <a:tcPr marL="5359" marR="5359" marT="5359" marB="0" anchor="b">
                    <a:lnL>
                      <a:noFill/>
                    </a:lnL>
                    <a:lnR>
                      <a:noFill/>
                    </a:lnR>
                    <a:lnT>
                      <a:noFill/>
                    </a:lnT>
                    <a:lnB>
                      <a:noFill/>
                    </a:lnB>
                    <a:solidFill>
                      <a:srgbClr val="808080"/>
                    </a:solidFill>
                  </a:tcPr>
                </a:tc>
                <a:tc>
                  <a:txBody>
                    <a:bodyPr/>
                    <a:lstStyle/>
                    <a:p>
                      <a:pPr algn="r" fontAlgn="b"/>
                      <a:r>
                        <a:rPr lang="en-US" sz="1600" b="0" i="0" u="none" strike="noStrike" dirty="0">
                          <a:solidFill>
                            <a:srgbClr val="000000"/>
                          </a:solidFill>
                          <a:effectLst/>
                          <a:latin typeface="Calibri" panose="020F0502020204030204" pitchFamily="34" charset="0"/>
                        </a:rPr>
                        <a:t>50</a:t>
                      </a:r>
                    </a:p>
                  </a:txBody>
                  <a:tcPr marL="5359" marR="5359" marT="5359" marB="0" anchor="b">
                    <a:lnL>
                      <a:noFill/>
                    </a:lnL>
                    <a:lnR>
                      <a:noFill/>
                    </a:lnR>
                    <a:lnT>
                      <a:noFill/>
                    </a:lnT>
                    <a:lnB>
                      <a:noFill/>
                    </a:lnB>
                    <a:solidFill>
                      <a:schemeClr val="bg1"/>
                    </a:solidFill>
                  </a:tcPr>
                </a:tc>
                <a:tc>
                  <a:txBody>
                    <a:bodyPr/>
                    <a:lstStyle/>
                    <a:p>
                      <a:pPr algn="r" fontAlgn="b"/>
                      <a:r>
                        <a:rPr lang="en-US" sz="1600" b="0" i="0" u="none" strike="noStrike" dirty="0">
                          <a:solidFill>
                            <a:srgbClr val="000000"/>
                          </a:solidFill>
                          <a:effectLst/>
                          <a:latin typeface="Calibri" panose="020F0502020204030204" pitchFamily="34" charset="0"/>
                        </a:rPr>
                        <a:t>50</a:t>
                      </a:r>
                    </a:p>
                  </a:txBody>
                  <a:tcPr marL="5359" marR="5359" marT="5359" marB="0" anchor="b">
                    <a:lnL>
                      <a:noFill/>
                    </a:lnL>
                    <a:lnR>
                      <a:noFill/>
                    </a:lnR>
                    <a:lnT>
                      <a:noFill/>
                    </a:lnT>
                    <a:lnB>
                      <a:noFill/>
                    </a:lnB>
                    <a:solidFill>
                      <a:schemeClr val="bg1"/>
                    </a:solidFill>
                  </a:tcPr>
                </a:tc>
                <a:tc>
                  <a:txBody>
                    <a:bodyPr/>
                    <a:lstStyle/>
                    <a:p>
                      <a:pPr algn="r" fontAlgn="b"/>
                      <a:r>
                        <a:rPr lang="en-US" sz="1600" b="0" i="0" u="none" strike="noStrike" dirty="0">
                          <a:solidFill>
                            <a:srgbClr val="000000"/>
                          </a:solidFill>
                          <a:effectLst/>
                          <a:latin typeface="Calibri" panose="020F0502020204030204" pitchFamily="34" charset="0"/>
                        </a:rPr>
                        <a:t>71</a:t>
                      </a:r>
                    </a:p>
                  </a:txBody>
                  <a:tcPr marL="5359" marR="5359" marT="5359" marB="0" anchor="b">
                    <a:lnL>
                      <a:noFill/>
                    </a:lnL>
                    <a:lnR>
                      <a:noFill/>
                    </a:lnR>
                    <a:lnT>
                      <a:noFill/>
                    </a:lnT>
                    <a:lnB>
                      <a:noFill/>
                    </a:lnB>
                    <a:solidFill>
                      <a:schemeClr val="bg1"/>
                    </a:solidFill>
                  </a:tcPr>
                </a:tc>
                <a:extLst>
                  <a:ext uri="{0D108BD9-81ED-4DB2-BD59-A6C34878D82A}">
                    <a16:rowId xmlns:a16="http://schemas.microsoft.com/office/drawing/2014/main" val="2857319171"/>
                  </a:ext>
                </a:extLst>
              </a:tr>
            </a:tbl>
          </a:graphicData>
        </a:graphic>
      </p:graphicFrame>
      <p:sp>
        <p:nvSpPr>
          <p:cNvPr id="7" name="Title 1">
            <a:extLst>
              <a:ext uri="{FF2B5EF4-FFF2-40B4-BE49-F238E27FC236}">
                <a16:creationId xmlns:a16="http://schemas.microsoft.com/office/drawing/2014/main" id="{65E1EED4-A83E-851A-4968-B9CE4EBA158D}"/>
              </a:ext>
            </a:extLst>
          </p:cNvPr>
          <p:cNvSpPr>
            <a:spLocks noGrp="1"/>
          </p:cNvSpPr>
          <p:nvPr>
            <p:ph type="title"/>
          </p:nvPr>
        </p:nvSpPr>
        <p:spPr>
          <a:xfrm>
            <a:off x="0" y="0"/>
            <a:ext cx="12192000" cy="1325563"/>
          </a:xfrm>
        </p:spPr>
        <p:txBody>
          <a:bodyPr/>
          <a:lstStyle/>
          <a:p>
            <a:r>
              <a:rPr lang="en-US" dirty="0"/>
              <a:t>Euclidean distance example</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2024F19-DE26-3DF6-CEE8-76FC1B242C22}"/>
                  </a:ext>
                </a:extLst>
              </p:cNvPr>
              <p:cNvSpPr txBox="1"/>
              <p:nvPr/>
            </p:nvSpPr>
            <p:spPr>
              <a:xfrm>
                <a:off x="235625" y="2912200"/>
                <a:ext cx="5457217" cy="3546227"/>
              </a:xfrm>
              <a:prstGeom prst="rect">
                <a:avLst/>
              </a:prstGeom>
              <a:noFill/>
            </p:spPr>
            <p:txBody>
              <a:bodyPr wrap="square" rtlCol="0">
                <a:spAutoFit/>
              </a:bodyPr>
              <a:lstStyle/>
              <a:p>
                <a:r>
                  <a:rPr lang="en-US" sz="2000" dirty="0"/>
                  <a:t>Euclidean Distance b/w observation A and B in 2-D space (Feature 1 and 2)</a:t>
                </a:r>
              </a:p>
              <a:p>
                <a:r>
                  <a:rPr lang="en-US" sz="2000" dirty="0"/>
                  <a:t>= </a:t>
                </a:r>
                <a14:m>
                  <m:oMath xmlns:m="http://schemas.openxmlformats.org/officeDocument/2006/math">
                    <m:rad>
                      <m:radPr>
                        <m:degHide m:val="on"/>
                        <m:ctrlPr>
                          <a:rPr lang="en-US" sz="2000" i="1">
                            <a:latin typeface="Cambria Math" panose="02040503050406030204" pitchFamily="18" charset="0"/>
                          </a:rPr>
                        </m:ctrlPr>
                      </m:radPr>
                      <m:deg/>
                      <m:e>
                        <m:sSup>
                          <m:sSupPr>
                            <m:ctrlPr>
                              <a:rPr lang="en-US" sz="2000" i="1">
                                <a:latin typeface="Cambria Math" panose="02040503050406030204" pitchFamily="18" charset="0"/>
                              </a:rPr>
                            </m:ctrlPr>
                          </m:sSupPr>
                          <m:e>
                            <m:r>
                              <a:rPr lang="en-US" sz="2000" i="1">
                                <a:latin typeface="Cambria Math" panose="02040503050406030204" pitchFamily="18" charset="0"/>
                              </a:rPr>
                              <m:t>(60−45)</m:t>
                            </m:r>
                          </m:e>
                          <m:sup>
                            <m:r>
                              <a:rPr lang="en-US" sz="2000" i="1">
                                <a:latin typeface="Cambria Math" panose="02040503050406030204" pitchFamily="18" charset="0"/>
                              </a:rPr>
                              <m:t>2</m:t>
                            </m:r>
                          </m:sup>
                        </m:sSup>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(55−40)</m:t>
                            </m:r>
                          </m:e>
                          <m:sup>
                            <m:r>
                              <a:rPr lang="en-US" sz="2000" i="1">
                                <a:latin typeface="Cambria Math" panose="02040503050406030204" pitchFamily="18" charset="0"/>
                              </a:rPr>
                              <m:t>2</m:t>
                            </m:r>
                          </m:sup>
                        </m:sSup>
                      </m:e>
                    </m:rad>
                  </m:oMath>
                </a14:m>
                <a:endParaRPr lang="en-US" sz="2000" dirty="0"/>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dirty="0"/>
                  <a:t>Euclidean Distance b/w observation A and B in 5-D space (Feature 1~5)</a:t>
                </a:r>
              </a:p>
              <a:p>
                <a:r>
                  <a:rPr lang="en-US" sz="2000" dirty="0"/>
                  <a:t>=</a:t>
                </a:r>
                <a14:m>
                  <m:oMath xmlns:m="http://schemas.openxmlformats.org/officeDocument/2006/math">
                    <m:rad>
                      <m:radPr>
                        <m:degHide m:val="on"/>
                        <m:ctrlPr>
                          <a:rPr lang="en-US" sz="2000" i="1">
                            <a:latin typeface="Cambria Math" panose="02040503050406030204" pitchFamily="18" charset="0"/>
                          </a:rPr>
                        </m:ctrlPr>
                      </m:radPr>
                      <m:deg/>
                      <m:e>
                        <m:sSup>
                          <m:sSupPr>
                            <m:ctrlPr>
                              <a:rPr lang="en-US" sz="2000" i="1">
                                <a:latin typeface="Cambria Math" panose="02040503050406030204" pitchFamily="18" charset="0"/>
                              </a:rPr>
                            </m:ctrlPr>
                          </m:sSupPr>
                          <m:e>
                            <m:r>
                              <a:rPr lang="en-US" sz="2000" i="1">
                                <a:latin typeface="Cambria Math" panose="02040503050406030204" pitchFamily="18" charset="0"/>
                              </a:rPr>
                              <m:t>(60−45)</m:t>
                            </m:r>
                          </m:e>
                          <m:sup>
                            <m:r>
                              <a:rPr lang="en-US" sz="2000" i="1">
                                <a:latin typeface="Cambria Math" panose="02040503050406030204" pitchFamily="18" charset="0"/>
                              </a:rPr>
                              <m:t>2</m:t>
                            </m:r>
                          </m:sup>
                        </m:sSup>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(55−40)</m:t>
                            </m:r>
                          </m:e>
                          <m:sup>
                            <m:r>
                              <a:rPr lang="en-US" sz="2000" i="1">
                                <a:latin typeface="Cambria Math" panose="02040503050406030204" pitchFamily="18" charset="0"/>
                              </a:rPr>
                              <m:t>2</m:t>
                            </m:r>
                          </m:sup>
                        </m:sSup>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(50−35)</m:t>
                            </m:r>
                          </m:e>
                          <m:sup>
                            <m:r>
                              <a:rPr lang="en-US" sz="2000" i="1">
                                <a:latin typeface="Cambria Math" panose="02040503050406030204" pitchFamily="18" charset="0"/>
                              </a:rPr>
                              <m:t>2</m:t>
                            </m:r>
                          </m:sup>
                        </m:sSup>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(50−35)</m:t>
                            </m:r>
                          </m:e>
                          <m:sup>
                            <m:r>
                              <a:rPr lang="en-US" sz="2000" i="1">
                                <a:latin typeface="Cambria Math" panose="02040503050406030204" pitchFamily="18" charset="0"/>
                              </a:rPr>
                              <m:t>2</m:t>
                            </m:r>
                          </m:sup>
                        </m:sSup>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(71−56)</m:t>
                            </m:r>
                          </m:e>
                          <m:sup>
                            <m:r>
                              <a:rPr lang="en-US" sz="2000" b="0" i="1" smtClean="0">
                                <a:latin typeface="Cambria Math" panose="02040503050406030204" pitchFamily="18" charset="0"/>
                              </a:rPr>
                              <m:t>2</m:t>
                            </m:r>
                          </m:sup>
                        </m:sSup>
                      </m:e>
                    </m:rad>
                  </m:oMath>
                </a14:m>
                <a:endParaRPr lang="en-US" sz="2000" dirty="0"/>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endParaRPr lang="en-US" dirty="0"/>
              </a:p>
              <a:p>
                <a:endParaRPr lang="en-US" dirty="0"/>
              </a:p>
            </p:txBody>
          </p:sp>
        </mc:Choice>
        <mc:Fallback xmlns="">
          <p:sp>
            <p:nvSpPr>
              <p:cNvPr id="2" name="TextBox 1">
                <a:extLst>
                  <a:ext uri="{FF2B5EF4-FFF2-40B4-BE49-F238E27FC236}">
                    <a16:creationId xmlns:a16="http://schemas.microsoft.com/office/drawing/2014/main" id="{72024F19-DE26-3DF6-CEE8-76FC1B242C22}"/>
                  </a:ext>
                </a:extLst>
              </p:cNvPr>
              <p:cNvSpPr txBox="1">
                <a:spLocks noRot="1" noChangeAspect="1" noMove="1" noResize="1" noEditPoints="1" noAdjustHandles="1" noChangeArrowheads="1" noChangeShapeType="1" noTextEdit="1"/>
              </p:cNvSpPr>
              <p:nvPr/>
            </p:nvSpPr>
            <p:spPr>
              <a:xfrm>
                <a:off x="235625" y="2912200"/>
                <a:ext cx="5457217" cy="3546227"/>
              </a:xfrm>
              <a:prstGeom prst="rect">
                <a:avLst/>
              </a:prstGeom>
              <a:blipFill>
                <a:blip r:embed="rId3"/>
                <a:stretch>
                  <a:fillRect l="-1160" t="-1071" r="-29466"/>
                </a:stretch>
              </a:blipFill>
            </p:spPr>
            <p:txBody>
              <a:bodyPr/>
              <a:lstStyle/>
              <a:p>
                <a:r>
                  <a:rPr lang="en-US">
                    <a:noFill/>
                  </a:rPr>
                  <a:t> </a:t>
                </a:r>
              </a:p>
            </p:txBody>
          </p:sp>
        </mc:Fallback>
      </mc:AlternateContent>
    </p:spTree>
    <p:extLst>
      <p:ext uri="{BB962C8B-B14F-4D97-AF65-F5344CB8AC3E}">
        <p14:creationId xmlns:p14="http://schemas.microsoft.com/office/powerpoint/2010/main" val="880999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39B2D-CECA-49B9-54D2-0A1BA079D6A7}"/>
              </a:ext>
            </a:extLst>
          </p:cNvPr>
          <p:cNvSpPr>
            <a:spLocks noGrp="1"/>
          </p:cNvSpPr>
          <p:nvPr>
            <p:ph type="title"/>
          </p:nvPr>
        </p:nvSpPr>
        <p:spPr/>
        <p:txBody>
          <a:bodyPr/>
          <a:lstStyle/>
          <a:p>
            <a:r>
              <a:rPr lang="en-US" dirty="0"/>
              <a:t>Other metrics</a:t>
            </a:r>
          </a:p>
        </p:txBody>
      </p:sp>
      <p:sp>
        <p:nvSpPr>
          <p:cNvPr id="3" name="Content Placeholder 2">
            <a:extLst>
              <a:ext uri="{FF2B5EF4-FFF2-40B4-BE49-F238E27FC236}">
                <a16:creationId xmlns:a16="http://schemas.microsoft.com/office/drawing/2014/main" id="{EB6B31F6-06AF-95D8-D377-64F626051334}"/>
              </a:ext>
            </a:extLst>
          </p:cNvPr>
          <p:cNvSpPr>
            <a:spLocks noGrp="1"/>
          </p:cNvSpPr>
          <p:nvPr>
            <p:ph idx="1"/>
          </p:nvPr>
        </p:nvSpPr>
        <p:spPr/>
        <p:txBody>
          <a:bodyPr/>
          <a:lstStyle/>
          <a:p>
            <a:r>
              <a:rPr lang="en-US" dirty="0"/>
              <a:t>Hamming distance</a:t>
            </a:r>
          </a:p>
          <a:p>
            <a:r>
              <a:rPr lang="en-US" dirty="0" err="1"/>
              <a:t>Levenshtein</a:t>
            </a:r>
            <a:r>
              <a:rPr lang="en-US" dirty="0"/>
              <a:t> distance</a:t>
            </a:r>
          </a:p>
          <a:p>
            <a:endParaRPr lang="en-US" dirty="0"/>
          </a:p>
        </p:txBody>
      </p:sp>
      <p:sp>
        <p:nvSpPr>
          <p:cNvPr id="4" name="TextBox 3">
            <a:extLst>
              <a:ext uri="{FF2B5EF4-FFF2-40B4-BE49-F238E27FC236}">
                <a16:creationId xmlns:a16="http://schemas.microsoft.com/office/drawing/2014/main" id="{B3DB40E0-1282-B559-1A36-EAD3DA9667E3}"/>
              </a:ext>
            </a:extLst>
          </p:cNvPr>
          <p:cNvSpPr txBox="1"/>
          <p:nvPr/>
        </p:nvSpPr>
        <p:spPr>
          <a:xfrm>
            <a:off x="8271957" y="3557587"/>
            <a:ext cx="4305300" cy="307777"/>
          </a:xfrm>
          <a:prstGeom prst="rect">
            <a:avLst/>
          </a:prstGeom>
          <a:noFill/>
        </p:spPr>
        <p:txBody>
          <a:bodyPr wrap="square">
            <a:spAutoFit/>
          </a:bodyPr>
          <a:lstStyle/>
          <a:p>
            <a:r>
              <a:rPr lang="en-US" sz="1400" dirty="0" err="1"/>
              <a:t>Ishengoma</a:t>
            </a:r>
            <a:r>
              <a:rPr lang="en-US" sz="1400" dirty="0"/>
              <a:t>, DOI: 10.5815/ijieeb.2014.06.08</a:t>
            </a:r>
          </a:p>
        </p:txBody>
      </p:sp>
      <p:pic>
        <p:nvPicPr>
          <p:cNvPr id="5" name="Picture 2" descr="Example of Hamming Distance ">
            <a:extLst>
              <a:ext uri="{FF2B5EF4-FFF2-40B4-BE49-F238E27FC236}">
                <a16:creationId xmlns:a16="http://schemas.microsoft.com/office/drawing/2014/main" id="{9DAE4652-104C-1003-1813-18CE4FD570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681037"/>
            <a:ext cx="5316481" cy="28765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8AA0E6A-FFCA-7524-5610-FF7EFEA912C5}"/>
              </a:ext>
            </a:extLst>
          </p:cNvPr>
          <p:cNvSpPr txBox="1"/>
          <p:nvPr/>
        </p:nvSpPr>
        <p:spPr>
          <a:xfrm>
            <a:off x="433062" y="6248678"/>
            <a:ext cx="8070803" cy="369332"/>
          </a:xfrm>
          <a:prstGeom prst="rect">
            <a:avLst/>
          </a:prstGeom>
          <a:noFill/>
        </p:spPr>
        <p:txBody>
          <a:bodyPr wrap="square">
            <a:spAutoFit/>
          </a:bodyPr>
          <a:lstStyle/>
          <a:p>
            <a:r>
              <a:rPr lang="en-US" dirty="0"/>
              <a:t>https://</a:t>
            </a:r>
            <a:r>
              <a:rPr lang="en-US" dirty="0" err="1"/>
              <a:t>viblo.asia</a:t>
            </a:r>
            <a:r>
              <a:rPr lang="en-US" dirty="0"/>
              <a:t>/p/edit-distance-L4x5xdQ15BM</a:t>
            </a:r>
          </a:p>
        </p:txBody>
      </p:sp>
      <p:pic>
        <p:nvPicPr>
          <p:cNvPr id="7" name="Picture 2">
            <a:extLst>
              <a:ext uri="{FF2B5EF4-FFF2-40B4-BE49-F238E27FC236}">
                <a16:creationId xmlns:a16="http://schemas.microsoft.com/office/drawing/2014/main" id="{CDDB47ED-51CC-406A-CA74-5714846CFF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3063" y="3192922"/>
            <a:ext cx="5431029" cy="3055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3429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a:xfrm>
            <a:off x="8125937" y="1159708"/>
            <a:ext cx="2431627" cy="3642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p:cNvSpPr>
            <a:spLocks noGrp="1"/>
          </p:cNvSpPr>
          <p:nvPr>
            <p:ph type="title"/>
          </p:nvPr>
        </p:nvSpPr>
        <p:spPr>
          <a:xfrm>
            <a:off x="824653" y="0"/>
            <a:ext cx="10515600" cy="1325563"/>
          </a:xfrm>
        </p:spPr>
        <p:txBody>
          <a:bodyPr/>
          <a:lstStyle/>
          <a:p>
            <a:r>
              <a:rPr lang="en-US" dirty="0"/>
              <a:t>Other distances (</a:t>
            </a:r>
            <a:r>
              <a:rPr lang="en-US" dirty="0" err="1"/>
              <a:t>con’t</a:t>
            </a:r>
            <a:r>
              <a:rPr lang="en-US" dirty="0"/>
              <a:t>.)</a:t>
            </a:r>
          </a:p>
        </p:txBody>
      </p:sp>
      <p:sp>
        <p:nvSpPr>
          <p:cNvPr id="12" name="TextBox 11">
            <a:extLst>
              <a:ext uri="{FF2B5EF4-FFF2-40B4-BE49-F238E27FC236}">
                <a16:creationId xmlns:a16="http://schemas.microsoft.com/office/drawing/2014/main" id="{FFF716B5-7A62-4AF7-9778-3119BFDC1849}"/>
              </a:ext>
            </a:extLst>
          </p:cNvPr>
          <p:cNvSpPr txBox="1"/>
          <p:nvPr/>
        </p:nvSpPr>
        <p:spPr>
          <a:xfrm>
            <a:off x="295275" y="1944869"/>
            <a:ext cx="6096000" cy="4154984"/>
          </a:xfrm>
          <a:prstGeom prst="rect">
            <a:avLst/>
          </a:prstGeom>
          <a:noFill/>
        </p:spPr>
        <p:txBody>
          <a:bodyPr wrap="square">
            <a:spAutoFit/>
          </a:bodyPr>
          <a:lstStyle/>
          <a:p>
            <a:pPr marL="342900" indent="-342900">
              <a:buFont typeface="Arial" panose="020B0604020202020204" pitchFamily="34" charset="0"/>
              <a:buChar char="•"/>
            </a:pPr>
            <a:r>
              <a:rPr lang="en-US" sz="2400" dirty="0"/>
              <a:t>The Edit Distance (</a:t>
            </a:r>
            <a:r>
              <a:rPr lang="en-US" sz="2400" dirty="0" err="1"/>
              <a:t>Levenshtein</a:t>
            </a:r>
            <a:r>
              <a:rPr lang="en-US" sz="2400" dirty="0"/>
              <a:t> distance) between two strings, str1 and str2 is the number of the number of operations required to transform str2 into str1</a:t>
            </a:r>
          </a:p>
          <a:p>
            <a:pPr marL="342900" indent="-342900">
              <a:buFont typeface="Arial" panose="020B0604020202020204" pitchFamily="34" charset="0"/>
              <a:buChar char="•"/>
            </a:pPr>
            <a:r>
              <a:rPr lang="en-US" sz="2400" dirty="0"/>
              <a:t>Requires a set of operators</a:t>
            </a:r>
          </a:p>
          <a:p>
            <a:pPr marL="342900" indent="-342900">
              <a:buFont typeface="Arial" panose="020B0604020202020204" pitchFamily="34" charset="0"/>
              <a:buChar char="•"/>
            </a:pPr>
            <a:r>
              <a:rPr lang="en-US" sz="2400" dirty="0"/>
              <a:t>E. g., graph edit distance with operators for</a:t>
            </a:r>
          </a:p>
          <a:p>
            <a:pPr marL="800100" lvl="1" indent="-342900">
              <a:buFont typeface="Arial" panose="020B0604020202020204" pitchFamily="34" charset="0"/>
              <a:buChar char="•"/>
            </a:pPr>
            <a:r>
              <a:rPr lang="en-US" sz="2400" dirty="0"/>
              <a:t>Edge add/delete</a:t>
            </a:r>
          </a:p>
          <a:p>
            <a:pPr marL="800100" lvl="1" indent="-342900">
              <a:buFont typeface="Arial" panose="020B0604020202020204" pitchFamily="34" charset="0"/>
              <a:buChar char="•"/>
            </a:pPr>
            <a:r>
              <a:rPr lang="en-US" sz="2400" dirty="0"/>
              <a:t>Node add/delete</a:t>
            </a:r>
          </a:p>
          <a:p>
            <a:pPr marL="342900" indent="-342900">
              <a:buFont typeface="Arial" panose="020B0604020202020204" pitchFamily="34" charset="0"/>
              <a:buChar char="•"/>
            </a:pPr>
            <a:r>
              <a:rPr lang="en-US" sz="2400" dirty="0"/>
              <a:t>E. g., distance between two genotype sequences of the same length</a:t>
            </a:r>
          </a:p>
          <a:p>
            <a:pPr marL="800100" lvl="1" indent="-342900">
              <a:buFont typeface="Arial" panose="020B0604020202020204" pitchFamily="34" charset="0"/>
              <a:buChar char="•"/>
            </a:pPr>
            <a:endParaRPr lang="en-US" sz="2400" dirty="0"/>
          </a:p>
        </p:txBody>
      </p:sp>
      <p:sp>
        <p:nvSpPr>
          <p:cNvPr id="13" name="TextBox 12">
            <a:extLst>
              <a:ext uri="{FF2B5EF4-FFF2-40B4-BE49-F238E27FC236}">
                <a16:creationId xmlns:a16="http://schemas.microsoft.com/office/drawing/2014/main" id="{3B103D17-51E4-4C7F-B549-9665F07929D2}"/>
              </a:ext>
            </a:extLst>
          </p:cNvPr>
          <p:cNvSpPr txBox="1"/>
          <p:nvPr/>
        </p:nvSpPr>
        <p:spPr>
          <a:xfrm>
            <a:off x="8411326" y="5134919"/>
            <a:ext cx="4876800" cy="307777"/>
          </a:xfrm>
          <a:prstGeom prst="rect">
            <a:avLst/>
          </a:prstGeom>
          <a:noFill/>
        </p:spPr>
        <p:txBody>
          <a:bodyPr wrap="square">
            <a:spAutoFit/>
          </a:bodyPr>
          <a:lstStyle/>
          <a:p>
            <a:r>
              <a:rPr lang="en-US" sz="1400" dirty="0"/>
              <a:t>https://viblo.asia/p/edit-distance-L4x5xdQ15BM</a:t>
            </a:r>
          </a:p>
        </p:txBody>
      </p:sp>
      <p:pic>
        <p:nvPicPr>
          <p:cNvPr id="8194" name="Picture 2" descr="transforming one graph into the other">
            <a:extLst>
              <a:ext uri="{FF2B5EF4-FFF2-40B4-BE49-F238E27FC236}">
                <a16:creationId xmlns:a16="http://schemas.microsoft.com/office/drawing/2014/main" id="{3552EEAE-79F5-4B44-98FB-35711BD771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061" y="2485271"/>
            <a:ext cx="5915025" cy="265174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7A5CCD0-D393-4DFB-8FEA-E085DA056E6A}"/>
              </a:ext>
            </a:extLst>
          </p:cNvPr>
          <p:cNvSpPr txBox="1"/>
          <p:nvPr/>
        </p:nvSpPr>
        <p:spPr>
          <a:xfrm>
            <a:off x="8859884" y="4251195"/>
            <a:ext cx="351378" cy="523220"/>
          </a:xfrm>
          <a:prstGeom prst="rect">
            <a:avLst/>
          </a:prstGeom>
          <a:noFill/>
        </p:spPr>
        <p:txBody>
          <a:bodyPr wrap="none" rtlCol="0">
            <a:spAutoFit/>
          </a:bodyPr>
          <a:lstStyle/>
          <a:p>
            <a:r>
              <a:rPr lang="en-US" sz="2800" dirty="0"/>
              <a:t>?</a:t>
            </a:r>
          </a:p>
        </p:txBody>
      </p:sp>
    </p:spTree>
    <p:extLst>
      <p:ext uri="{BB962C8B-B14F-4D97-AF65-F5344CB8AC3E}">
        <p14:creationId xmlns:p14="http://schemas.microsoft.com/office/powerpoint/2010/main" val="241318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F24140-33F6-9C3A-171A-FBB31900ADCC}"/>
              </a:ext>
            </a:extLst>
          </p:cNvPr>
          <p:cNvSpPr>
            <a:spLocks noGrp="1"/>
          </p:cNvSpPr>
          <p:nvPr>
            <p:ph type="title"/>
          </p:nvPr>
        </p:nvSpPr>
        <p:spPr/>
        <p:txBody>
          <a:bodyPr/>
          <a:lstStyle/>
          <a:p>
            <a:r>
              <a:rPr lang="en-US" dirty="0"/>
              <a:t>Unsupervised ML</a:t>
            </a:r>
          </a:p>
        </p:txBody>
      </p:sp>
      <p:sp>
        <p:nvSpPr>
          <p:cNvPr id="3" name="Content Placeholder 2">
            <a:extLst>
              <a:ext uri="{FF2B5EF4-FFF2-40B4-BE49-F238E27FC236}">
                <a16:creationId xmlns:a16="http://schemas.microsoft.com/office/drawing/2014/main" id="{EE6C7BF1-6CFB-209F-9125-A07583E50215}"/>
              </a:ext>
            </a:extLst>
          </p:cNvPr>
          <p:cNvSpPr>
            <a:spLocks noGrp="1"/>
          </p:cNvSpPr>
          <p:nvPr>
            <p:ph idx="1"/>
          </p:nvPr>
        </p:nvSpPr>
        <p:spPr/>
        <p:txBody>
          <a:bodyPr/>
          <a:lstStyle/>
          <a:p>
            <a:pPr marL="0" indent="0">
              <a:buNone/>
            </a:pPr>
            <a:r>
              <a:rPr lang="en-US" dirty="0"/>
              <a:t>Main kinds of techniques, and some specific algorithms</a:t>
            </a:r>
          </a:p>
          <a:p>
            <a:r>
              <a:rPr lang="en-US" dirty="0"/>
              <a:t>Dimension reduction</a:t>
            </a:r>
          </a:p>
          <a:p>
            <a:pPr lvl="1"/>
            <a:r>
              <a:rPr lang="en-US" dirty="0"/>
              <a:t>PCA, MDS, etc.</a:t>
            </a:r>
          </a:p>
          <a:p>
            <a:pPr lvl="1"/>
            <a:r>
              <a:rPr lang="en-US" dirty="0"/>
              <a:t>UMAP/t-SNE</a:t>
            </a:r>
          </a:p>
          <a:p>
            <a:r>
              <a:rPr lang="en-US" dirty="0"/>
              <a:t>Clustering</a:t>
            </a:r>
          </a:p>
          <a:p>
            <a:pPr lvl="1"/>
            <a:r>
              <a:rPr lang="en-US" dirty="0"/>
              <a:t>Hierarchical clustering</a:t>
            </a:r>
          </a:p>
          <a:p>
            <a:pPr lvl="1"/>
            <a:r>
              <a:rPr lang="en-US" dirty="0"/>
              <a:t>k-means</a:t>
            </a:r>
          </a:p>
        </p:txBody>
      </p:sp>
    </p:spTree>
    <p:extLst>
      <p:ext uri="{BB962C8B-B14F-4D97-AF65-F5344CB8AC3E}">
        <p14:creationId xmlns:p14="http://schemas.microsoft.com/office/powerpoint/2010/main" val="10507647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1325563"/>
          </a:xfrm>
        </p:spPr>
        <p:txBody>
          <a:bodyPr/>
          <a:lstStyle/>
          <a:p>
            <a:r>
              <a:rPr lang="en-US" dirty="0"/>
              <a:t>Principal components analysis for dimension reduction</a:t>
            </a:r>
          </a:p>
        </p:txBody>
      </p:sp>
      <p:sp>
        <p:nvSpPr>
          <p:cNvPr id="4" name="Rectangle 3"/>
          <p:cNvSpPr/>
          <p:nvPr/>
        </p:nvSpPr>
        <p:spPr>
          <a:xfrm>
            <a:off x="8369810" y="6550223"/>
            <a:ext cx="3914955" cy="307777"/>
          </a:xfrm>
          <a:prstGeom prst="rect">
            <a:avLst/>
          </a:prstGeom>
        </p:spPr>
        <p:txBody>
          <a:bodyPr wrap="square">
            <a:spAutoFit/>
          </a:bodyPr>
          <a:lstStyle/>
          <a:p>
            <a:r>
              <a:rPr lang="en-US" sz="1400" dirty="0"/>
              <a:t>http://setosa.io/ev/principal-component-analysis/</a:t>
            </a:r>
          </a:p>
        </p:txBody>
      </p:sp>
      <p:pic>
        <p:nvPicPr>
          <p:cNvPr id="7" name="Picture 6"/>
          <p:cNvPicPr>
            <a:picLocks noChangeAspect="1"/>
          </p:cNvPicPr>
          <p:nvPr/>
        </p:nvPicPr>
        <p:blipFill>
          <a:blip r:embed="rId3"/>
          <a:stretch>
            <a:fillRect/>
          </a:stretch>
        </p:blipFill>
        <p:spPr>
          <a:xfrm>
            <a:off x="6615952" y="1760687"/>
            <a:ext cx="5292645" cy="1302624"/>
          </a:xfrm>
          <a:prstGeom prst="rect">
            <a:avLst/>
          </a:prstGeom>
        </p:spPr>
      </p:pic>
      <p:sp>
        <p:nvSpPr>
          <p:cNvPr id="10" name="TextBox 9">
            <a:extLst>
              <a:ext uri="{FF2B5EF4-FFF2-40B4-BE49-F238E27FC236}">
                <a16:creationId xmlns:a16="http://schemas.microsoft.com/office/drawing/2014/main" id="{034DB6A5-0FC0-4FED-8673-F7DD64230C8C}"/>
              </a:ext>
            </a:extLst>
          </p:cNvPr>
          <p:cNvSpPr txBox="1"/>
          <p:nvPr/>
        </p:nvSpPr>
        <p:spPr>
          <a:xfrm>
            <a:off x="7259138" y="1393832"/>
            <a:ext cx="4365912" cy="400110"/>
          </a:xfrm>
          <a:prstGeom prst="rect">
            <a:avLst/>
          </a:prstGeom>
          <a:noFill/>
        </p:spPr>
        <p:txBody>
          <a:bodyPr wrap="square" rtlCol="0">
            <a:spAutoFit/>
          </a:bodyPr>
          <a:lstStyle/>
          <a:p>
            <a:r>
              <a:rPr lang="en-US" sz="2000" dirty="0"/>
              <a:t>5 samples on a 2-d space (X and Y)</a:t>
            </a:r>
          </a:p>
        </p:txBody>
      </p:sp>
      <p:pic>
        <p:nvPicPr>
          <p:cNvPr id="12" name="Picture 11">
            <a:extLst>
              <a:ext uri="{FF2B5EF4-FFF2-40B4-BE49-F238E27FC236}">
                <a16:creationId xmlns:a16="http://schemas.microsoft.com/office/drawing/2014/main" id="{444BE0CE-73DC-4B18-819F-A6B750FD3AFF}"/>
              </a:ext>
            </a:extLst>
          </p:cNvPr>
          <p:cNvPicPr>
            <a:picLocks noChangeAspect="1"/>
          </p:cNvPicPr>
          <p:nvPr/>
        </p:nvPicPr>
        <p:blipFill>
          <a:blip r:embed="rId4"/>
          <a:stretch>
            <a:fillRect/>
          </a:stretch>
        </p:blipFill>
        <p:spPr>
          <a:xfrm>
            <a:off x="7498091" y="2909339"/>
            <a:ext cx="3528366" cy="3589331"/>
          </a:xfrm>
          <a:prstGeom prst="rect">
            <a:avLst/>
          </a:prstGeom>
        </p:spPr>
      </p:pic>
      <p:sp>
        <p:nvSpPr>
          <p:cNvPr id="15" name="TextBox 14">
            <a:extLst>
              <a:ext uri="{FF2B5EF4-FFF2-40B4-BE49-F238E27FC236}">
                <a16:creationId xmlns:a16="http://schemas.microsoft.com/office/drawing/2014/main" id="{6D06FFDA-ADE4-4840-A85D-4F655F306F84}"/>
              </a:ext>
            </a:extLst>
          </p:cNvPr>
          <p:cNvSpPr txBox="1"/>
          <p:nvPr/>
        </p:nvSpPr>
        <p:spPr>
          <a:xfrm>
            <a:off x="899419" y="1793942"/>
            <a:ext cx="4834393"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How to find 2D (two variables) space in which information among data points are mostly kept?</a:t>
            </a:r>
          </a:p>
          <a:p>
            <a:pPr marL="285750" indent="-285750">
              <a:buFont typeface="Arial" panose="020B0604020202020204" pitchFamily="34" charset="0"/>
              <a:buChar char="•"/>
            </a:pPr>
            <a:r>
              <a:rPr lang="en-US" sz="2400" dirty="0"/>
              <a:t>With variance in data as information, PCA can find a 1-d line preserving most information. </a:t>
            </a:r>
          </a:p>
        </p:txBody>
      </p:sp>
    </p:spTree>
    <p:extLst>
      <p:ext uri="{BB962C8B-B14F-4D97-AF65-F5344CB8AC3E}">
        <p14:creationId xmlns:p14="http://schemas.microsoft.com/office/powerpoint/2010/main" val="13175648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1325563"/>
          </a:xfrm>
        </p:spPr>
        <p:txBody>
          <a:bodyPr/>
          <a:lstStyle/>
          <a:p>
            <a:r>
              <a:rPr lang="en-US"/>
              <a:t>Principal components maximize variance</a:t>
            </a:r>
          </a:p>
        </p:txBody>
      </p:sp>
      <p:sp>
        <p:nvSpPr>
          <p:cNvPr id="4" name="Rectangle 3"/>
          <p:cNvSpPr/>
          <p:nvPr/>
        </p:nvSpPr>
        <p:spPr>
          <a:xfrm>
            <a:off x="8511702" y="3039462"/>
            <a:ext cx="3393684" cy="523220"/>
          </a:xfrm>
          <a:prstGeom prst="rect">
            <a:avLst/>
          </a:prstGeom>
        </p:spPr>
        <p:txBody>
          <a:bodyPr wrap="square">
            <a:spAutoFit/>
          </a:bodyPr>
          <a:lstStyle/>
          <a:p>
            <a:r>
              <a:rPr lang="en-US" sz="1400" dirty="0"/>
              <a:t>Adapted from http://setosa.io/ev/principal-component-analysis/</a:t>
            </a:r>
          </a:p>
        </p:txBody>
      </p:sp>
      <p:pic>
        <p:nvPicPr>
          <p:cNvPr id="7" name="Picture 6"/>
          <p:cNvPicPr>
            <a:picLocks noChangeAspect="1"/>
          </p:cNvPicPr>
          <p:nvPr/>
        </p:nvPicPr>
        <p:blipFill>
          <a:blip r:embed="rId3"/>
          <a:stretch>
            <a:fillRect/>
          </a:stretch>
        </p:blipFill>
        <p:spPr>
          <a:xfrm>
            <a:off x="6615952" y="1760687"/>
            <a:ext cx="5292645" cy="1302624"/>
          </a:xfrm>
          <a:prstGeom prst="rect">
            <a:avLst/>
          </a:prstGeom>
        </p:spPr>
      </p:pic>
      <p:sp>
        <p:nvSpPr>
          <p:cNvPr id="10" name="TextBox 9">
            <a:extLst>
              <a:ext uri="{FF2B5EF4-FFF2-40B4-BE49-F238E27FC236}">
                <a16:creationId xmlns:a16="http://schemas.microsoft.com/office/drawing/2014/main" id="{034DB6A5-0FC0-4FED-8673-F7DD64230C8C}"/>
              </a:ext>
            </a:extLst>
          </p:cNvPr>
          <p:cNvSpPr txBox="1"/>
          <p:nvPr/>
        </p:nvSpPr>
        <p:spPr>
          <a:xfrm>
            <a:off x="7259138" y="1393832"/>
            <a:ext cx="4365912" cy="400110"/>
          </a:xfrm>
          <a:prstGeom prst="rect">
            <a:avLst/>
          </a:prstGeom>
          <a:noFill/>
        </p:spPr>
        <p:txBody>
          <a:bodyPr wrap="square" rtlCol="0">
            <a:spAutoFit/>
          </a:bodyPr>
          <a:lstStyle/>
          <a:p>
            <a:r>
              <a:rPr lang="en-US" sz="2000" dirty="0"/>
              <a:t>5 samples on a 2-d space (X and Y)</a:t>
            </a:r>
          </a:p>
        </p:txBody>
      </p:sp>
      <p:sp>
        <p:nvSpPr>
          <p:cNvPr id="15" name="TextBox 14">
            <a:extLst>
              <a:ext uri="{FF2B5EF4-FFF2-40B4-BE49-F238E27FC236}">
                <a16:creationId xmlns:a16="http://schemas.microsoft.com/office/drawing/2014/main" id="{6D06FFDA-ADE4-4840-A85D-4F655F306F84}"/>
              </a:ext>
            </a:extLst>
          </p:cNvPr>
          <p:cNvSpPr txBox="1"/>
          <p:nvPr/>
        </p:nvSpPr>
        <p:spPr>
          <a:xfrm>
            <a:off x="899419" y="1793942"/>
            <a:ext cx="4834393" cy="1938992"/>
          </a:xfrm>
          <a:prstGeom prst="rect">
            <a:avLst/>
          </a:prstGeom>
          <a:noFill/>
        </p:spPr>
        <p:txBody>
          <a:bodyPr wrap="square" rtlCol="0">
            <a:spAutoFit/>
          </a:bodyPr>
          <a:lstStyle/>
          <a:p>
            <a:pPr marL="285750" indent="-285750">
              <a:buFont typeface="Arial" panose="020B0604020202020204" pitchFamily="34" charset="0"/>
              <a:buChar char="•"/>
            </a:pPr>
            <a:r>
              <a:rPr lang="en-US" sz="2400" dirty="0"/>
              <a:t>How to find 2D (two variables) space in which information among data points are mostly kept?</a:t>
            </a:r>
          </a:p>
          <a:p>
            <a:pPr marL="285750" indent="-285750">
              <a:buFont typeface="Arial" panose="020B0604020202020204" pitchFamily="34" charset="0"/>
              <a:buChar char="•"/>
            </a:pPr>
            <a:r>
              <a:rPr lang="en-US" sz="2400" dirty="0"/>
              <a:t>Variance in data can be taken as information</a:t>
            </a:r>
          </a:p>
        </p:txBody>
      </p:sp>
      <p:sp>
        <p:nvSpPr>
          <p:cNvPr id="6" name="Rectangle 5">
            <a:extLst>
              <a:ext uri="{FF2B5EF4-FFF2-40B4-BE49-F238E27FC236}">
                <a16:creationId xmlns:a16="http://schemas.microsoft.com/office/drawing/2014/main" id="{9CF9E7F2-2749-48A2-8EE9-8FD75837F2DB}"/>
              </a:ext>
            </a:extLst>
          </p:cNvPr>
          <p:cNvSpPr/>
          <p:nvPr/>
        </p:nvSpPr>
        <p:spPr>
          <a:xfrm>
            <a:off x="8210145" y="1793942"/>
            <a:ext cx="603115" cy="40011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7144013-A0C3-4565-BB9D-02571A483B7F}"/>
              </a:ext>
            </a:extLst>
          </p:cNvPr>
          <p:cNvSpPr/>
          <p:nvPr/>
        </p:nvSpPr>
        <p:spPr>
          <a:xfrm>
            <a:off x="9092285" y="1855877"/>
            <a:ext cx="603115" cy="40011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4857A1A-5068-42B2-84F0-3C6AFFA7596E}"/>
              </a:ext>
            </a:extLst>
          </p:cNvPr>
          <p:cNvSpPr/>
          <p:nvPr/>
        </p:nvSpPr>
        <p:spPr>
          <a:xfrm>
            <a:off x="9897326" y="1769090"/>
            <a:ext cx="603115" cy="40011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F70B61F-8825-4174-97E9-49DACBCAE364}"/>
              </a:ext>
            </a:extLst>
          </p:cNvPr>
          <p:cNvSpPr/>
          <p:nvPr/>
        </p:nvSpPr>
        <p:spPr>
          <a:xfrm>
            <a:off x="10702367" y="1704434"/>
            <a:ext cx="603115" cy="4412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71FDBDD7-7BE9-4D06-8A9E-9329951BAD72}"/>
              </a:ext>
            </a:extLst>
          </p:cNvPr>
          <p:cNvCxnSpPr/>
          <p:nvPr/>
        </p:nvCxnSpPr>
        <p:spPr>
          <a:xfrm>
            <a:off x="7259138" y="2029166"/>
            <a:ext cx="4325369" cy="1508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C2475464-771F-459D-A346-ACB983D3A4D8}"/>
              </a:ext>
            </a:extLst>
          </p:cNvPr>
          <p:cNvSpPr/>
          <p:nvPr/>
        </p:nvSpPr>
        <p:spPr>
          <a:xfrm>
            <a:off x="9419680" y="1908653"/>
            <a:ext cx="91440" cy="9144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5776596-1608-4907-8E9D-D3C5CB6CEE59}"/>
              </a:ext>
            </a:extLst>
          </p:cNvPr>
          <p:cNvSpPr/>
          <p:nvPr/>
        </p:nvSpPr>
        <p:spPr>
          <a:xfrm>
            <a:off x="9419680" y="1957421"/>
            <a:ext cx="91440" cy="9144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E866944A-2C79-434F-A51B-B3C3EAD03BE3}"/>
              </a:ext>
            </a:extLst>
          </p:cNvPr>
          <p:cNvSpPr/>
          <p:nvPr/>
        </p:nvSpPr>
        <p:spPr>
          <a:xfrm>
            <a:off x="9419680" y="2006189"/>
            <a:ext cx="91440" cy="9144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59F6CA9-972C-452A-8A9E-C0BEDE7A420A}"/>
              </a:ext>
            </a:extLst>
          </p:cNvPr>
          <p:cNvSpPr/>
          <p:nvPr/>
        </p:nvSpPr>
        <p:spPr>
          <a:xfrm>
            <a:off x="9419680" y="2054957"/>
            <a:ext cx="91440" cy="9144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C481240-5987-42CC-8A40-07C79360C53A}"/>
              </a:ext>
            </a:extLst>
          </p:cNvPr>
          <p:cNvSpPr/>
          <p:nvPr/>
        </p:nvSpPr>
        <p:spPr>
          <a:xfrm>
            <a:off x="9419680" y="2103725"/>
            <a:ext cx="91440" cy="9144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966686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1325563"/>
          </a:xfrm>
        </p:spPr>
        <p:txBody>
          <a:bodyPr/>
          <a:lstStyle/>
          <a:p>
            <a:r>
              <a:rPr lang="en-US"/>
              <a:t>Principal components maximize variance</a:t>
            </a:r>
          </a:p>
        </p:txBody>
      </p:sp>
      <p:sp>
        <p:nvSpPr>
          <p:cNvPr id="4" name="Rectangle 3"/>
          <p:cNvSpPr/>
          <p:nvPr/>
        </p:nvSpPr>
        <p:spPr>
          <a:xfrm>
            <a:off x="8369810" y="6550223"/>
            <a:ext cx="3914955" cy="307777"/>
          </a:xfrm>
          <a:prstGeom prst="rect">
            <a:avLst/>
          </a:prstGeom>
        </p:spPr>
        <p:txBody>
          <a:bodyPr wrap="square">
            <a:spAutoFit/>
          </a:bodyPr>
          <a:lstStyle/>
          <a:p>
            <a:r>
              <a:rPr lang="en-US" sz="1400" dirty="0"/>
              <a:t>http://</a:t>
            </a:r>
            <a:r>
              <a:rPr lang="en-US" sz="1400" dirty="0" err="1"/>
              <a:t>setosa.io</a:t>
            </a:r>
            <a:r>
              <a:rPr lang="en-US" sz="1400" dirty="0"/>
              <a:t>/</a:t>
            </a:r>
            <a:r>
              <a:rPr lang="en-US" sz="1400" dirty="0" err="1"/>
              <a:t>ev</a:t>
            </a:r>
            <a:r>
              <a:rPr lang="en-US" sz="1400" dirty="0"/>
              <a:t>/principal-component-analysis/</a:t>
            </a:r>
          </a:p>
        </p:txBody>
      </p:sp>
      <p:pic>
        <p:nvPicPr>
          <p:cNvPr id="5" name="Picture 4"/>
          <p:cNvPicPr>
            <a:picLocks noChangeAspect="1"/>
          </p:cNvPicPr>
          <p:nvPr/>
        </p:nvPicPr>
        <p:blipFill>
          <a:blip r:embed="rId3"/>
          <a:stretch>
            <a:fillRect/>
          </a:stretch>
        </p:blipFill>
        <p:spPr>
          <a:xfrm>
            <a:off x="1461396" y="1102797"/>
            <a:ext cx="3528366" cy="3589331"/>
          </a:xfrm>
          <a:prstGeom prst="rect">
            <a:avLst/>
          </a:prstGeom>
        </p:spPr>
      </p:pic>
      <p:pic>
        <p:nvPicPr>
          <p:cNvPr id="6" name="Picture 5"/>
          <p:cNvPicPr>
            <a:picLocks noChangeAspect="1"/>
          </p:cNvPicPr>
          <p:nvPr/>
        </p:nvPicPr>
        <p:blipFill>
          <a:blip r:embed="rId4"/>
          <a:stretch>
            <a:fillRect/>
          </a:stretch>
        </p:blipFill>
        <p:spPr>
          <a:xfrm>
            <a:off x="6254868" y="942397"/>
            <a:ext cx="3657917" cy="3772227"/>
          </a:xfrm>
          <a:prstGeom prst="rect">
            <a:avLst/>
          </a:prstGeom>
        </p:spPr>
      </p:pic>
      <p:pic>
        <p:nvPicPr>
          <p:cNvPr id="7" name="Picture 6"/>
          <p:cNvPicPr>
            <a:picLocks noChangeAspect="1"/>
          </p:cNvPicPr>
          <p:nvPr/>
        </p:nvPicPr>
        <p:blipFill>
          <a:blip r:embed="rId5"/>
          <a:stretch>
            <a:fillRect/>
          </a:stretch>
        </p:blipFill>
        <p:spPr>
          <a:xfrm>
            <a:off x="1507120" y="4872456"/>
            <a:ext cx="3436918" cy="845893"/>
          </a:xfrm>
          <a:prstGeom prst="rect">
            <a:avLst/>
          </a:prstGeom>
        </p:spPr>
      </p:pic>
      <p:pic>
        <p:nvPicPr>
          <p:cNvPr id="8" name="Picture 7"/>
          <p:cNvPicPr>
            <a:picLocks noChangeAspect="1"/>
          </p:cNvPicPr>
          <p:nvPr/>
        </p:nvPicPr>
        <p:blipFill>
          <a:blip r:embed="rId6"/>
          <a:stretch>
            <a:fillRect/>
          </a:stretch>
        </p:blipFill>
        <p:spPr>
          <a:xfrm>
            <a:off x="6463932" y="4849594"/>
            <a:ext cx="3528366" cy="868755"/>
          </a:xfrm>
          <a:prstGeom prst="rect">
            <a:avLst/>
          </a:prstGeom>
        </p:spPr>
      </p:pic>
      <p:sp>
        <p:nvSpPr>
          <p:cNvPr id="9" name="Right Arrow 8"/>
          <p:cNvSpPr/>
          <p:nvPr/>
        </p:nvSpPr>
        <p:spPr>
          <a:xfrm>
            <a:off x="5208104" y="2589972"/>
            <a:ext cx="887896" cy="47707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F93E530-C8A4-4185-B2D4-4239EFF503CC}"/>
              </a:ext>
            </a:extLst>
          </p:cNvPr>
          <p:cNvSpPr txBox="1"/>
          <p:nvPr/>
        </p:nvSpPr>
        <p:spPr>
          <a:xfrm>
            <a:off x="1826932" y="5892446"/>
            <a:ext cx="8538136" cy="461665"/>
          </a:xfrm>
          <a:prstGeom prst="rect">
            <a:avLst/>
          </a:prstGeom>
          <a:noFill/>
        </p:spPr>
        <p:txBody>
          <a:bodyPr wrap="square" rtlCol="0">
            <a:spAutoFit/>
          </a:bodyPr>
          <a:lstStyle/>
          <a:p>
            <a:pPr marL="342900" indent="-342900">
              <a:buFont typeface="Arial" panose="020B0604020202020204" pitchFamily="34" charset="0"/>
              <a:buChar char="•"/>
            </a:pPr>
            <a:r>
              <a:rPr lang="en-US" sz="2400" dirty="0"/>
              <a:t>Can identify two axes that maximize variance in high dimension</a:t>
            </a:r>
            <a:endParaRPr lang="en-US" sz="2000" dirty="0"/>
          </a:p>
        </p:txBody>
      </p:sp>
    </p:spTree>
    <p:extLst>
      <p:ext uri="{BB962C8B-B14F-4D97-AF65-F5344CB8AC3E}">
        <p14:creationId xmlns:p14="http://schemas.microsoft.com/office/powerpoint/2010/main" val="38707804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1325563"/>
          </a:xfrm>
        </p:spPr>
        <p:txBody>
          <a:bodyPr/>
          <a:lstStyle/>
          <a:p>
            <a:r>
              <a:rPr lang="en-US" dirty="0"/>
              <a:t>Principal components in biomedical research</a:t>
            </a:r>
          </a:p>
        </p:txBody>
      </p:sp>
      <p:pic>
        <p:nvPicPr>
          <p:cNvPr id="3" name="Picture 2">
            <a:extLst>
              <a:ext uri="{FF2B5EF4-FFF2-40B4-BE49-F238E27FC236}">
                <a16:creationId xmlns:a16="http://schemas.microsoft.com/office/drawing/2014/main" id="{1A4CCFAB-10F4-48E6-B581-8CD56D19330E}"/>
              </a:ext>
            </a:extLst>
          </p:cNvPr>
          <p:cNvPicPr>
            <a:picLocks noChangeAspect="1"/>
          </p:cNvPicPr>
          <p:nvPr/>
        </p:nvPicPr>
        <p:blipFill>
          <a:blip r:embed="rId3"/>
          <a:stretch>
            <a:fillRect/>
          </a:stretch>
        </p:blipFill>
        <p:spPr>
          <a:xfrm>
            <a:off x="3336575" y="1533166"/>
            <a:ext cx="5136584" cy="4475054"/>
          </a:xfrm>
          <a:prstGeom prst="rect">
            <a:avLst/>
          </a:prstGeom>
        </p:spPr>
      </p:pic>
      <p:sp>
        <p:nvSpPr>
          <p:cNvPr id="11" name="TextBox 10">
            <a:extLst>
              <a:ext uri="{FF2B5EF4-FFF2-40B4-BE49-F238E27FC236}">
                <a16:creationId xmlns:a16="http://schemas.microsoft.com/office/drawing/2014/main" id="{33373791-A2F3-4496-A473-52D84E07FD80}"/>
              </a:ext>
            </a:extLst>
          </p:cNvPr>
          <p:cNvSpPr txBox="1"/>
          <p:nvPr/>
        </p:nvSpPr>
        <p:spPr>
          <a:xfrm>
            <a:off x="3336575" y="1264656"/>
            <a:ext cx="5518849" cy="400110"/>
          </a:xfrm>
          <a:prstGeom prst="rect">
            <a:avLst/>
          </a:prstGeom>
          <a:noFill/>
        </p:spPr>
        <p:txBody>
          <a:bodyPr wrap="square" rtlCol="0">
            <a:spAutoFit/>
          </a:bodyPr>
          <a:lstStyle/>
          <a:p>
            <a:r>
              <a:rPr lang="en-US" sz="2000" dirty="0"/>
              <a:t>Breast cancer samples (ER+ in red and ER- in black)</a:t>
            </a:r>
          </a:p>
        </p:txBody>
      </p:sp>
      <p:sp>
        <p:nvSpPr>
          <p:cNvPr id="12" name="Rectangle 11">
            <a:extLst>
              <a:ext uri="{FF2B5EF4-FFF2-40B4-BE49-F238E27FC236}">
                <a16:creationId xmlns:a16="http://schemas.microsoft.com/office/drawing/2014/main" id="{4B2380A2-1CF7-4270-9B10-C2F9C1C81E36}"/>
              </a:ext>
            </a:extLst>
          </p:cNvPr>
          <p:cNvSpPr/>
          <p:nvPr/>
        </p:nvSpPr>
        <p:spPr>
          <a:xfrm>
            <a:off x="8270420" y="6555026"/>
            <a:ext cx="3914955" cy="307777"/>
          </a:xfrm>
          <a:prstGeom prst="rect">
            <a:avLst/>
          </a:prstGeom>
        </p:spPr>
        <p:txBody>
          <a:bodyPr wrap="square">
            <a:spAutoFit/>
          </a:bodyPr>
          <a:lstStyle/>
          <a:p>
            <a:r>
              <a:rPr lang="en-US" sz="1400" dirty="0"/>
              <a:t>Markus, Nat. Biotechnology, Vol. 26 Num. 3, 2008</a:t>
            </a:r>
          </a:p>
        </p:txBody>
      </p:sp>
    </p:spTree>
    <p:extLst>
      <p:ext uri="{BB962C8B-B14F-4D97-AF65-F5344CB8AC3E}">
        <p14:creationId xmlns:p14="http://schemas.microsoft.com/office/powerpoint/2010/main" val="16596442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15FC947-84D9-4986-9BA4-1406F5AA11FF}"/>
              </a:ext>
            </a:extLst>
          </p:cNvPr>
          <p:cNvPicPr>
            <a:picLocks noChangeAspect="1"/>
          </p:cNvPicPr>
          <p:nvPr/>
        </p:nvPicPr>
        <p:blipFill>
          <a:blip r:embed="rId3"/>
          <a:stretch>
            <a:fillRect/>
          </a:stretch>
        </p:blipFill>
        <p:spPr>
          <a:xfrm>
            <a:off x="2915322" y="1803421"/>
            <a:ext cx="5943905" cy="4985006"/>
          </a:xfrm>
          <a:prstGeom prst="rect">
            <a:avLst/>
          </a:prstGeom>
        </p:spPr>
      </p:pic>
      <p:sp>
        <p:nvSpPr>
          <p:cNvPr id="2" name="Title 1"/>
          <p:cNvSpPr>
            <a:spLocks noGrp="1"/>
          </p:cNvSpPr>
          <p:nvPr>
            <p:ph type="title"/>
          </p:nvPr>
        </p:nvSpPr>
        <p:spPr>
          <a:xfrm>
            <a:off x="0" y="0"/>
            <a:ext cx="12192000" cy="1325563"/>
          </a:xfrm>
        </p:spPr>
        <p:txBody>
          <a:bodyPr/>
          <a:lstStyle/>
          <a:p>
            <a:r>
              <a:rPr lang="en-US" dirty="0"/>
              <a:t>Principal components in biomedical research</a:t>
            </a:r>
          </a:p>
        </p:txBody>
      </p:sp>
      <p:sp>
        <p:nvSpPr>
          <p:cNvPr id="11" name="TextBox 10">
            <a:extLst>
              <a:ext uri="{FF2B5EF4-FFF2-40B4-BE49-F238E27FC236}">
                <a16:creationId xmlns:a16="http://schemas.microsoft.com/office/drawing/2014/main" id="{33373791-A2F3-4496-A473-52D84E07FD80}"/>
              </a:ext>
            </a:extLst>
          </p:cNvPr>
          <p:cNvSpPr txBox="1"/>
          <p:nvPr/>
        </p:nvSpPr>
        <p:spPr>
          <a:xfrm>
            <a:off x="3590292" y="1377297"/>
            <a:ext cx="6173467" cy="430887"/>
          </a:xfrm>
          <a:prstGeom prst="rect">
            <a:avLst/>
          </a:prstGeom>
          <a:noFill/>
        </p:spPr>
        <p:txBody>
          <a:bodyPr wrap="square" rtlCol="0">
            <a:spAutoFit/>
          </a:bodyPr>
          <a:lstStyle/>
          <a:p>
            <a:r>
              <a:rPr lang="en-US" sz="2200" dirty="0"/>
              <a:t>Breast cancer samples (ER+ in red and ER- in black)</a:t>
            </a:r>
          </a:p>
        </p:txBody>
      </p:sp>
      <p:sp>
        <p:nvSpPr>
          <p:cNvPr id="12" name="Rectangle 11">
            <a:extLst>
              <a:ext uri="{FF2B5EF4-FFF2-40B4-BE49-F238E27FC236}">
                <a16:creationId xmlns:a16="http://schemas.microsoft.com/office/drawing/2014/main" id="{4B2380A2-1CF7-4270-9B10-C2F9C1C81E36}"/>
              </a:ext>
            </a:extLst>
          </p:cNvPr>
          <p:cNvSpPr/>
          <p:nvPr/>
        </p:nvSpPr>
        <p:spPr>
          <a:xfrm>
            <a:off x="8270420" y="6555026"/>
            <a:ext cx="3914955" cy="307777"/>
          </a:xfrm>
          <a:prstGeom prst="rect">
            <a:avLst/>
          </a:prstGeom>
        </p:spPr>
        <p:txBody>
          <a:bodyPr wrap="square">
            <a:spAutoFit/>
          </a:bodyPr>
          <a:lstStyle/>
          <a:p>
            <a:r>
              <a:rPr lang="en-US" sz="1400" dirty="0"/>
              <a:t>Markus, Nat. Biotechnology, Vol. 26 Num. 3, 2008</a:t>
            </a:r>
          </a:p>
        </p:txBody>
      </p:sp>
    </p:spTree>
    <p:extLst>
      <p:ext uri="{BB962C8B-B14F-4D97-AF65-F5344CB8AC3E}">
        <p14:creationId xmlns:p14="http://schemas.microsoft.com/office/powerpoint/2010/main" val="40027209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395B0DD-F527-4083-9AE8-80D69DD460ED}"/>
              </a:ext>
            </a:extLst>
          </p:cNvPr>
          <p:cNvPicPr>
            <a:picLocks noChangeAspect="1"/>
          </p:cNvPicPr>
          <p:nvPr/>
        </p:nvPicPr>
        <p:blipFill>
          <a:blip r:embed="rId3"/>
          <a:stretch>
            <a:fillRect/>
          </a:stretch>
        </p:blipFill>
        <p:spPr>
          <a:xfrm>
            <a:off x="6926614" y="2936546"/>
            <a:ext cx="3815538" cy="3236394"/>
          </a:xfrm>
          <a:prstGeom prst="rect">
            <a:avLst/>
          </a:prstGeom>
        </p:spPr>
      </p:pic>
      <p:sp>
        <p:nvSpPr>
          <p:cNvPr id="2" name="Title 1"/>
          <p:cNvSpPr>
            <a:spLocks noGrp="1"/>
          </p:cNvSpPr>
          <p:nvPr>
            <p:ph type="title"/>
          </p:nvPr>
        </p:nvSpPr>
        <p:spPr>
          <a:xfrm>
            <a:off x="0" y="0"/>
            <a:ext cx="12192000" cy="1325563"/>
          </a:xfrm>
        </p:spPr>
        <p:txBody>
          <a:bodyPr/>
          <a:lstStyle/>
          <a:p>
            <a:r>
              <a:rPr lang="en-US" dirty="0"/>
              <a:t>Principal components in biomedical research</a:t>
            </a:r>
          </a:p>
        </p:txBody>
      </p:sp>
      <p:sp>
        <p:nvSpPr>
          <p:cNvPr id="12" name="Rectangle 11">
            <a:extLst>
              <a:ext uri="{FF2B5EF4-FFF2-40B4-BE49-F238E27FC236}">
                <a16:creationId xmlns:a16="http://schemas.microsoft.com/office/drawing/2014/main" id="{4B2380A2-1CF7-4270-9B10-C2F9C1C81E36}"/>
              </a:ext>
            </a:extLst>
          </p:cNvPr>
          <p:cNvSpPr/>
          <p:nvPr/>
        </p:nvSpPr>
        <p:spPr>
          <a:xfrm>
            <a:off x="8270420" y="6555026"/>
            <a:ext cx="3914955" cy="307777"/>
          </a:xfrm>
          <a:prstGeom prst="rect">
            <a:avLst/>
          </a:prstGeom>
        </p:spPr>
        <p:txBody>
          <a:bodyPr wrap="square">
            <a:spAutoFit/>
          </a:bodyPr>
          <a:lstStyle/>
          <a:p>
            <a:r>
              <a:rPr lang="en-US" sz="1400" dirty="0"/>
              <a:t>Markus, Nat. Biotechnology, Vol. 26 Num. 3, 2008</a:t>
            </a:r>
          </a:p>
        </p:txBody>
      </p:sp>
      <p:sp>
        <p:nvSpPr>
          <p:cNvPr id="7" name="TextBox 6">
            <a:extLst>
              <a:ext uri="{FF2B5EF4-FFF2-40B4-BE49-F238E27FC236}">
                <a16:creationId xmlns:a16="http://schemas.microsoft.com/office/drawing/2014/main" id="{FE246FAD-6410-4C18-9181-0B0F1F2A3A78}"/>
              </a:ext>
            </a:extLst>
          </p:cNvPr>
          <p:cNvSpPr txBox="1"/>
          <p:nvPr/>
        </p:nvSpPr>
        <p:spPr>
          <a:xfrm>
            <a:off x="2129366" y="1533614"/>
            <a:ext cx="8532707" cy="1107996"/>
          </a:xfrm>
          <a:prstGeom prst="rect">
            <a:avLst/>
          </a:prstGeom>
          <a:noFill/>
        </p:spPr>
        <p:txBody>
          <a:bodyPr wrap="square" rtlCol="0">
            <a:spAutoFit/>
          </a:bodyPr>
          <a:lstStyle/>
          <a:p>
            <a:r>
              <a:rPr lang="en-US" sz="2200" dirty="0"/>
              <a:t>Things to analyze in PCA</a:t>
            </a:r>
          </a:p>
          <a:p>
            <a:pPr marL="457200" indent="-457200">
              <a:buFont typeface="+mj-lt"/>
              <a:buAutoNum type="arabicPeriod"/>
            </a:pPr>
            <a:r>
              <a:rPr lang="en-US" sz="2200" dirty="0"/>
              <a:t>Their projection to PCAs: PC1 well separates the grouping of your interest</a:t>
            </a:r>
          </a:p>
        </p:txBody>
      </p:sp>
      <p:pic>
        <p:nvPicPr>
          <p:cNvPr id="8" name="Picture 7">
            <a:extLst>
              <a:ext uri="{FF2B5EF4-FFF2-40B4-BE49-F238E27FC236}">
                <a16:creationId xmlns:a16="http://schemas.microsoft.com/office/drawing/2014/main" id="{A25B5D41-8AFE-497A-AB91-2D85309CB823}"/>
              </a:ext>
            </a:extLst>
          </p:cNvPr>
          <p:cNvPicPr>
            <a:picLocks noChangeAspect="1"/>
          </p:cNvPicPr>
          <p:nvPr/>
        </p:nvPicPr>
        <p:blipFill>
          <a:blip r:embed="rId4"/>
          <a:stretch>
            <a:fillRect/>
          </a:stretch>
        </p:blipFill>
        <p:spPr>
          <a:xfrm>
            <a:off x="1619892" y="2985654"/>
            <a:ext cx="3741828" cy="3138179"/>
          </a:xfrm>
          <a:prstGeom prst="rect">
            <a:avLst/>
          </a:prstGeom>
        </p:spPr>
      </p:pic>
      <p:sp>
        <p:nvSpPr>
          <p:cNvPr id="4" name="Arrow: Right 3">
            <a:extLst>
              <a:ext uri="{FF2B5EF4-FFF2-40B4-BE49-F238E27FC236}">
                <a16:creationId xmlns:a16="http://schemas.microsoft.com/office/drawing/2014/main" id="{E924E1D0-D9DA-4007-8ADD-59585FF9067F}"/>
              </a:ext>
            </a:extLst>
          </p:cNvPr>
          <p:cNvSpPr/>
          <p:nvPr/>
        </p:nvSpPr>
        <p:spPr>
          <a:xfrm>
            <a:off x="5796280" y="4064000"/>
            <a:ext cx="599440" cy="51816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84124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1325563"/>
          </a:xfrm>
        </p:spPr>
        <p:txBody>
          <a:bodyPr/>
          <a:lstStyle/>
          <a:p>
            <a:r>
              <a:rPr lang="en-US" dirty="0"/>
              <a:t>Principal components in biomedical research</a:t>
            </a:r>
          </a:p>
        </p:txBody>
      </p:sp>
      <p:pic>
        <p:nvPicPr>
          <p:cNvPr id="4" name="Picture 3">
            <a:extLst>
              <a:ext uri="{FF2B5EF4-FFF2-40B4-BE49-F238E27FC236}">
                <a16:creationId xmlns:a16="http://schemas.microsoft.com/office/drawing/2014/main" id="{0BAF663C-0AF5-4817-A355-41A6507A26B0}"/>
              </a:ext>
            </a:extLst>
          </p:cNvPr>
          <p:cNvPicPr>
            <a:picLocks noChangeAspect="1"/>
          </p:cNvPicPr>
          <p:nvPr/>
        </p:nvPicPr>
        <p:blipFill>
          <a:blip r:embed="rId3"/>
          <a:stretch>
            <a:fillRect/>
          </a:stretch>
        </p:blipFill>
        <p:spPr>
          <a:xfrm>
            <a:off x="7242314" y="2720505"/>
            <a:ext cx="3815538" cy="3391123"/>
          </a:xfrm>
          <a:prstGeom prst="rect">
            <a:avLst/>
          </a:prstGeom>
        </p:spPr>
      </p:pic>
      <p:sp>
        <p:nvSpPr>
          <p:cNvPr id="6" name="TextBox 5">
            <a:extLst>
              <a:ext uri="{FF2B5EF4-FFF2-40B4-BE49-F238E27FC236}">
                <a16:creationId xmlns:a16="http://schemas.microsoft.com/office/drawing/2014/main" id="{7A8B4323-B768-499F-A66F-60755E13A645}"/>
              </a:ext>
            </a:extLst>
          </p:cNvPr>
          <p:cNvSpPr txBox="1"/>
          <p:nvPr/>
        </p:nvSpPr>
        <p:spPr>
          <a:xfrm>
            <a:off x="4107151" y="1064514"/>
            <a:ext cx="4562356" cy="1107996"/>
          </a:xfrm>
          <a:prstGeom prst="rect">
            <a:avLst/>
          </a:prstGeom>
          <a:noFill/>
        </p:spPr>
        <p:txBody>
          <a:bodyPr wrap="square" rtlCol="0">
            <a:spAutoFit/>
          </a:bodyPr>
          <a:lstStyle/>
          <a:p>
            <a:r>
              <a:rPr lang="en-US" sz="2200" dirty="0"/>
              <a:t>Some things to check in PCA</a:t>
            </a:r>
          </a:p>
          <a:p>
            <a:pPr marL="457200" indent="-457200">
              <a:buFont typeface="+mj-lt"/>
              <a:buAutoNum type="arabicPeriod"/>
            </a:pPr>
            <a:r>
              <a:rPr lang="en-US" sz="2200" dirty="0"/>
              <a:t>Projection of data onto PCs</a:t>
            </a:r>
          </a:p>
          <a:p>
            <a:pPr marL="457200" indent="-457200">
              <a:buFont typeface="+mj-lt"/>
              <a:buAutoNum type="arabicPeriod"/>
            </a:pPr>
            <a:r>
              <a:rPr lang="en-US" sz="2200" dirty="0"/>
              <a:t>Proportion of variance per PC</a:t>
            </a:r>
          </a:p>
        </p:txBody>
      </p:sp>
      <p:sp>
        <p:nvSpPr>
          <p:cNvPr id="7" name="Rectangle 6">
            <a:extLst>
              <a:ext uri="{FF2B5EF4-FFF2-40B4-BE49-F238E27FC236}">
                <a16:creationId xmlns:a16="http://schemas.microsoft.com/office/drawing/2014/main" id="{5EB4D1B0-4F51-415D-AEA3-6F1AE48833D4}"/>
              </a:ext>
            </a:extLst>
          </p:cNvPr>
          <p:cNvSpPr/>
          <p:nvPr/>
        </p:nvSpPr>
        <p:spPr>
          <a:xfrm>
            <a:off x="8270420" y="6555026"/>
            <a:ext cx="3914955" cy="307777"/>
          </a:xfrm>
          <a:prstGeom prst="rect">
            <a:avLst/>
          </a:prstGeom>
        </p:spPr>
        <p:txBody>
          <a:bodyPr wrap="square">
            <a:spAutoFit/>
          </a:bodyPr>
          <a:lstStyle/>
          <a:p>
            <a:r>
              <a:rPr lang="en-US" sz="1400" dirty="0"/>
              <a:t>Markus, Nat. Biotechnology, Vol. 26 Num. 3, 2008</a:t>
            </a:r>
          </a:p>
        </p:txBody>
      </p:sp>
      <p:pic>
        <p:nvPicPr>
          <p:cNvPr id="9" name="Picture 8">
            <a:extLst>
              <a:ext uri="{FF2B5EF4-FFF2-40B4-BE49-F238E27FC236}">
                <a16:creationId xmlns:a16="http://schemas.microsoft.com/office/drawing/2014/main" id="{4AE3BF5A-9747-4350-9757-223BACDFCFB5}"/>
              </a:ext>
            </a:extLst>
          </p:cNvPr>
          <p:cNvPicPr>
            <a:picLocks noChangeAspect="1"/>
          </p:cNvPicPr>
          <p:nvPr/>
        </p:nvPicPr>
        <p:blipFill>
          <a:blip r:embed="rId4"/>
          <a:stretch>
            <a:fillRect/>
          </a:stretch>
        </p:blipFill>
        <p:spPr>
          <a:xfrm>
            <a:off x="1134150" y="2729682"/>
            <a:ext cx="3815538" cy="3236394"/>
          </a:xfrm>
          <a:prstGeom prst="rect">
            <a:avLst/>
          </a:prstGeom>
        </p:spPr>
      </p:pic>
      <p:sp>
        <p:nvSpPr>
          <p:cNvPr id="3" name="Arrow: U-Turn 2">
            <a:extLst>
              <a:ext uri="{FF2B5EF4-FFF2-40B4-BE49-F238E27FC236}">
                <a16:creationId xmlns:a16="http://schemas.microsoft.com/office/drawing/2014/main" id="{AA4C186A-7421-458D-97E1-E46AFC247A85}"/>
              </a:ext>
            </a:extLst>
          </p:cNvPr>
          <p:cNvSpPr/>
          <p:nvPr/>
        </p:nvSpPr>
        <p:spPr>
          <a:xfrm>
            <a:off x="4480560" y="2217585"/>
            <a:ext cx="3815538" cy="904240"/>
          </a:xfrm>
          <a:prstGeom prst="utur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36597398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0AB8697-7ABB-4165-A6EC-47EC6B030252}"/>
              </a:ext>
            </a:extLst>
          </p:cNvPr>
          <p:cNvPicPr>
            <a:picLocks noChangeAspect="1"/>
          </p:cNvPicPr>
          <p:nvPr/>
        </p:nvPicPr>
        <p:blipFill>
          <a:blip r:embed="rId3"/>
          <a:stretch>
            <a:fillRect/>
          </a:stretch>
        </p:blipFill>
        <p:spPr>
          <a:xfrm>
            <a:off x="6853878" y="2844397"/>
            <a:ext cx="4118922" cy="3471788"/>
          </a:xfrm>
          <a:prstGeom prst="rect">
            <a:avLst/>
          </a:prstGeom>
        </p:spPr>
      </p:pic>
      <p:sp>
        <p:nvSpPr>
          <p:cNvPr id="2" name="Title 1"/>
          <p:cNvSpPr>
            <a:spLocks noGrp="1"/>
          </p:cNvSpPr>
          <p:nvPr>
            <p:ph type="title"/>
          </p:nvPr>
        </p:nvSpPr>
        <p:spPr>
          <a:xfrm>
            <a:off x="0" y="0"/>
            <a:ext cx="12192000" cy="1325563"/>
          </a:xfrm>
        </p:spPr>
        <p:txBody>
          <a:bodyPr/>
          <a:lstStyle/>
          <a:p>
            <a:r>
              <a:rPr lang="en-US" dirty="0"/>
              <a:t>Principal components in biomedical research</a:t>
            </a:r>
          </a:p>
        </p:txBody>
      </p:sp>
      <p:sp>
        <p:nvSpPr>
          <p:cNvPr id="6" name="TextBox 5">
            <a:extLst>
              <a:ext uri="{FF2B5EF4-FFF2-40B4-BE49-F238E27FC236}">
                <a16:creationId xmlns:a16="http://schemas.microsoft.com/office/drawing/2014/main" id="{7A8B4323-B768-499F-A66F-60755E13A645}"/>
              </a:ext>
            </a:extLst>
          </p:cNvPr>
          <p:cNvSpPr txBox="1"/>
          <p:nvPr/>
        </p:nvSpPr>
        <p:spPr>
          <a:xfrm>
            <a:off x="3866006" y="1242285"/>
            <a:ext cx="5368651" cy="1446550"/>
          </a:xfrm>
          <a:prstGeom prst="rect">
            <a:avLst/>
          </a:prstGeom>
          <a:noFill/>
        </p:spPr>
        <p:txBody>
          <a:bodyPr wrap="square" rtlCol="0">
            <a:spAutoFit/>
          </a:bodyPr>
          <a:lstStyle/>
          <a:p>
            <a:r>
              <a:rPr lang="en-US" sz="2200" dirty="0"/>
              <a:t>Things to check in PCA</a:t>
            </a:r>
          </a:p>
          <a:p>
            <a:pPr marL="457200" indent="-457200">
              <a:buFont typeface="+mj-lt"/>
              <a:buAutoNum type="arabicPeriod"/>
            </a:pPr>
            <a:r>
              <a:rPr lang="en-US" sz="2200" dirty="0"/>
              <a:t>Projection of data onto PCs</a:t>
            </a:r>
          </a:p>
          <a:p>
            <a:pPr marL="457200" indent="-457200">
              <a:buFont typeface="+mj-lt"/>
              <a:buAutoNum type="arabicPeriod"/>
            </a:pPr>
            <a:r>
              <a:rPr lang="en-US" sz="2200" dirty="0"/>
              <a:t>Proportion of variance per PC</a:t>
            </a:r>
          </a:p>
          <a:p>
            <a:pPr marL="457200" indent="-457200">
              <a:buFont typeface="+mj-lt"/>
              <a:buAutoNum type="arabicPeriod"/>
            </a:pPr>
            <a:r>
              <a:rPr lang="en-US" sz="2200" dirty="0"/>
              <a:t>Weights of your genes on the PCs</a:t>
            </a:r>
          </a:p>
        </p:txBody>
      </p:sp>
      <p:sp>
        <p:nvSpPr>
          <p:cNvPr id="7" name="Rectangle 6">
            <a:extLst>
              <a:ext uri="{FF2B5EF4-FFF2-40B4-BE49-F238E27FC236}">
                <a16:creationId xmlns:a16="http://schemas.microsoft.com/office/drawing/2014/main" id="{5EB4D1B0-4F51-415D-AEA3-6F1AE48833D4}"/>
              </a:ext>
            </a:extLst>
          </p:cNvPr>
          <p:cNvSpPr/>
          <p:nvPr/>
        </p:nvSpPr>
        <p:spPr>
          <a:xfrm>
            <a:off x="8270420" y="6555026"/>
            <a:ext cx="3914955" cy="307777"/>
          </a:xfrm>
          <a:prstGeom prst="rect">
            <a:avLst/>
          </a:prstGeom>
        </p:spPr>
        <p:txBody>
          <a:bodyPr wrap="square">
            <a:spAutoFit/>
          </a:bodyPr>
          <a:lstStyle/>
          <a:p>
            <a:r>
              <a:rPr lang="en-US" sz="1400" dirty="0"/>
              <a:t>Markus, Nat. Biotechnology, Vol. 26 Num. 3, 2008</a:t>
            </a:r>
          </a:p>
        </p:txBody>
      </p:sp>
      <p:sp>
        <p:nvSpPr>
          <p:cNvPr id="5" name="Rectangle 4">
            <a:extLst>
              <a:ext uri="{FF2B5EF4-FFF2-40B4-BE49-F238E27FC236}">
                <a16:creationId xmlns:a16="http://schemas.microsoft.com/office/drawing/2014/main" id="{792315F2-1A5E-4D8D-8276-ED3A1451050B}"/>
              </a:ext>
            </a:extLst>
          </p:cNvPr>
          <p:cNvSpPr/>
          <p:nvPr/>
        </p:nvSpPr>
        <p:spPr>
          <a:xfrm>
            <a:off x="6456313" y="2605556"/>
            <a:ext cx="795130" cy="57144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4194CE5E-92B3-4909-9C6A-518D1C4545F2}"/>
              </a:ext>
            </a:extLst>
          </p:cNvPr>
          <p:cNvPicPr>
            <a:picLocks noChangeAspect="1"/>
          </p:cNvPicPr>
          <p:nvPr/>
        </p:nvPicPr>
        <p:blipFill>
          <a:blip r:embed="rId4"/>
          <a:stretch>
            <a:fillRect/>
          </a:stretch>
        </p:blipFill>
        <p:spPr>
          <a:xfrm>
            <a:off x="1219200" y="2844397"/>
            <a:ext cx="4266907" cy="3578549"/>
          </a:xfrm>
          <a:prstGeom prst="rect">
            <a:avLst/>
          </a:prstGeom>
        </p:spPr>
      </p:pic>
      <p:sp>
        <p:nvSpPr>
          <p:cNvPr id="10" name="Arrow: Right 9">
            <a:extLst>
              <a:ext uri="{FF2B5EF4-FFF2-40B4-BE49-F238E27FC236}">
                <a16:creationId xmlns:a16="http://schemas.microsoft.com/office/drawing/2014/main" id="{A470853D-BC4B-44CD-8B63-4A1734A0D94B}"/>
              </a:ext>
            </a:extLst>
          </p:cNvPr>
          <p:cNvSpPr/>
          <p:nvPr/>
        </p:nvSpPr>
        <p:spPr>
          <a:xfrm>
            <a:off x="5796280" y="4064000"/>
            <a:ext cx="599440" cy="51816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02249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1325563"/>
          </a:xfrm>
        </p:spPr>
        <p:txBody>
          <a:bodyPr/>
          <a:lstStyle/>
          <a:p>
            <a:r>
              <a:rPr lang="en-US" dirty="0"/>
              <a:t>A loading plot shows how strongly each dimension influences a principal component.</a:t>
            </a:r>
          </a:p>
        </p:txBody>
      </p:sp>
      <p:sp>
        <p:nvSpPr>
          <p:cNvPr id="4" name="Rectangle 3"/>
          <p:cNvSpPr/>
          <p:nvPr/>
        </p:nvSpPr>
        <p:spPr>
          <a:xfrm>
            <a:off x="8003982" y="5854369"/>
            <a:ext cx="3914955" cy="307777"/>
          </a:xfrm>
          <a:prstGeom prst="rect">
            <a:avLst/>
          </a:prstGeom>
        </p:spPr>
        <p:txBody>
          <a:bodyPr wrap="square">
            <a:spAutoFit/>
          </a:bodyPr>
          <a:lstStyle/>
          <a:p>
            <a:r>
              <a:rPr lang="en-US" sz="1400" dirty="0"/>
              <a:t>http://setosa.io/ev/principal-component-analysis/</a:t>
            </a:r>
          </a:p>
        </p:txBody>
      </p:sp>
      <p:grpSp>
        <p:nvGrpSpPr>
          <p:cNvPr id="7" name="Group 6"/>
          <p:cNvGrpSpPr/>
          <p:nvPr/>
        </p:nvGrpSpPr>
        <p:grpSpPr>
          <a:xfrm>
            <a:off x="6419700" y="1251294"/>
            <a:ext cx="5421780" cy="4682696"/>
            <a:chOff x="5599358" y="747423"/>
            <a:chExt cx="6592642" cy="5629523"/>
          </a:xfrm>
        </p:grpSpPr>
        <p:pic>
          <p:nvPicPr>
            <p:cNvPr id="33794" name="Picture 2" descr="https://blog.bioturing.com/wp-content/uploads/2018/11/loadings-plot.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9358" y="747423"/>
              <a:ext cx="6592642" cy="5629523"/>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8301162" y="1145506"/>
              <a:ext cx="1502797" cy="36011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Rectangle 5"/>
          <p:cNvSpPr/>
          <p:nvPr/>
        </p:nvSpPr>
        <p:spPr>
          <a:xfrm>
            <a:off x="482379" y="1928770"/>
            <a:ext cx="6164664" cy="3477875"/>
          </a:xfrm>
          <a:prstGeom prst="rect">
            <a:avLst/>
          </a:prstGeom>
        </p:spPr>
        <p:txBody>
          <a:bodyPr wrap="square">
            <a:spAutoFit/>
          </a:bodyPr>
          <a:lstStyle/>
          <a:p>
            <a:r>
              <a:rPr lang="en-US" sz="2200" dirty="0"/>
              <a:t>A loading plot shows</a:t>
            </a:r>
          </a:p>
          <a:p>
            <a:pPr marL="285750" indent="-285750">
              <a:buFont typeface="Arial" panose="020B0604020202020204" pitchFamily="34" charset="0"/>
              <a:buChar char="•"/>
            </a:pPr>
            <a:r>
              <a:rPr lang="en-US" sz="2200" dirty="0"/>
              <a:t>Their projected values on each PC show how much weight they have on that PC</a:t>
            </a:r>
          </a:p>
          <a:p>
            <a:pPr marL="742950" lvl="1" indent="-285750">
              <a:buFont typeface="Arial" panose="020B0604020202020204" pitchFamily="34" charset="0"/>
              <a:buChar char="•"/>
            </a:pPr>
            <a:r>
              <a:rPr lang="en-US" sz="2200" dirty="0"/>
              <a:t>e. g., NPC2 and MAG influence PC1</a:t>
            </a:r>
          </a:p>
          <a:p>
            <a:pPr marL="742950" lvl="1" indent="-285750">
              <a:buFont typeface="Arial" panose="020B0604020202020204" pitchFamily="34" charset="0"/>
              <a:buChar char="•"/>
            </a:pPr>
            <a:r>
              <a:rPr lang="en-US" sz="2200" dirty="0"/>
              <a:t>e. g., GBA influences PC2</a:t>
            </a:r>
          </a:p>
          <a:p>
            <a:pPr marL="285750" indent="-285750">
              <a:buFont typeface="Arial" panose="020B0604020202020204" pitchFamily="34" charset="0"/>
              <a:buChar char="•"/>
            </a:pPr>
            <a:r>
              <a:rPr lang="en-US" sz="2200" dirty="0"/>
              <a:t>The angles b/w variables show how they correlated with each other</a:t>
            </a:r>
          </a:p>
          <a:p>
            <a:pPr marL="742950" lvl="1" indent="-285750">
              <a:buFont typeface="Arial" panose="020B0604020202020204" pitchFamily="34" charset="0"/>
              <a:buChar char="•"/>
            </a:pPr>
            <a:r>
              <a:rPr lang="en-US" sz="2200" dirty="0"/>
              <a:t>e. g., APOD and PSAP positively correlated </a:t>
            </a:r>
          </a:p>
          <a:p>
            <a:pPr marL="742950" lvl="1" indent="-285750">
              <a:buFont typeface="Arial" panose="020B0604020202020204" pitchFamily="34" charset="0"/>
              <a:buChar char="•"/>
            </a:pPr>
            <a:r>
              <a:rPr lang="en-US" sz="2200" dirty="0"/>
              <a:t>NPC2 and GBA not likely to be correlated</a:t>
            </a:r>
          </a:p>
          <a:p>
            <a:pPr marL="742950" lvl="1" indent="-285750">
              <a:buFont typeface="Arial" panose="020B0604020202020204" pitchFamily="34" charset="0"/>
              <a:buChar char="•"/>
            </a:pPr>
            <a:r>
              <a:rPr lang="en-US" sz="2200" dirty="0"/>
              <a:t>NPC2 and MAG negatively correlated</a:t>
            </a:r>
          </a:p>
        </p:txBody>
      </p:sp>
    </p:spTree>
    <p:extLst>
      <p:ext uri="{BB962C8B-B14F-4D97-AF65-F5344CB8AC3E}">
        <p14:creationId xmlns:p14="http://schemas.microsoft.com/office/powerpoint/2010/main" val="39006430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015434" y="6077447"/>
            <a:ext cx="3914955" cy="307777"/>
          </a:xfrm>
          <a:prstGeom prst="rect">
            <a:avLst/>
          </a:prstGeom>
        </p:spPr>
        <p:txBody>
          <a:bodyPr wrap="square">
            <a:spAutoFit/>
          </a:bodyPr>
          <a:lstStyle/>
          <a:p>
            <a:r>
              <a:rPr lang="en-US" sz="1400" dirty="0"/>
              <a:t>http://setosa.io/ev/principal-component-analysis/</a:t>
            </a:r>
          </a:p>
        </p:txBody>
      </p:sp>
      <p:sp>
        <p:nvSpPr>
          <p:cNvPr id="6" name="Rectangle 5"/>
          <p:cNvSpPr/>
          <p:nvPr/>
        </p:nvSpPr>
        <p:spPr>
          <a:xfrm>
            <a:off x="646043" y="2086706"/>
            <a:ext cx="4312257" cy="1569660"/>
          </a:xfrm>
          <a:prstGeom prst="rect">
            <a:avLst/>
          </a:prstGeom>
        </p:spPr>
        <p:txBody>
          <a:bodyPr wrap="square">
            <a:spAutoFit/>
          </a:bodyPr>
          <a:lstStyle/>
          <a:p>
            <a:pPr marL="285750" indent="-285750">
              <a:buFont typeface="Arial" panose="020B0604020202020204" pitchFamily="34" charset="0"/>
              <a:buChar char="•"/>
            </a:pPr>
            <a:r>
              <a:rPr lang="en-US" sz="2400" dirty="0"/>
              <a:t>Bottom axis: PC1 score</a:t>
            </a:r>
          </a:p>
          <a:p>
            <a:pPr marL="285750" indent="-285750">
              <a:buFont typeface="Arial" panose="020B0604020202020204" pitchFamily="34" charset="0"/>
              <a:buChar char="•"/>
            </a:pPr>
            <a:r>
              <a:rPr lang="en-US" sz="2400" dirty="0"/>
              <a:t>Left axis: PC2 score</a:t>
            </a:r>
          </a:p>
          <a:p>
            <a:pPr marL="285750" indent="-285750">
              <a:buFont typeface="Arial" panose="020B0604020202020204" pitchFamily="34" charset="0"/>
              <a:buChar char="•"/>
            </a:pPr>
            <a:r>
              <a:rPr lang="en-US" sz="2400" dirty="0"/>
              <a:t>Top axis: loadings on PC1</a:t>
            </a:r>
          </a:p>
          <a:p>
            <a:pPr marL="285750" indent="-285750">
              <a:buFont typeface="Arial" panose="020B0604020202020204" pitchFamily="34" charset="0"/>
              <a:buChar char="•"/>
            </a:pPr>
            <a:r>
              <a:rPr lang="en-US" sz="2400" dirty="0"/>
              <a:t>Right axis: loadings on PC2</a:t>
            </a:r>
          </a:p>
        </p:txBody>
      </p:sp>
      <p:pic>
        <p:nvPicPr>
          <p:cNvPr id="35842" name="Picture 2" descr="https://blog.bioturing.com/wp-content/uploads/2018/11/PCA-bi-plot.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50755" y="780552"/>
            <a:ext cx="5518024" cy="5296895"/>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F1DA4B4B-1E60-4F2C-A250-0820493B1F46}"/>
              </a:ext>
            </a:extLst>
          </p:cNvPr>
          <p:cNvSpPr/>
          <p:nvPr/>
        </p:nvSpPr>
        <p:spPr>
          <a:xfrm>
            <a:off x="8458200" y="556108"/>
            <a:ext cx="903135" cy="5864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0"/>
            <a:ext cx="12192000" cy="1325563"/>
          </a:xfrm>
          <a:solidFill>
            <a:schemeClr val="bg1"/>
          </a:solidFill>
        </p:spPr>
        <p:txBody>
          <a:bodyPr/>
          <a:lstStyle/>
          <a:p>
            <a:r>
              <a:rPr lang="en-US" dirty="0"/>
              <a:t>PCA biplot = PCA score plot + loading plot</a:t>
            </a:r>
          </a:p>
        </p:txBody>
      </p:sp>
    </p:spTree>
    <p:extLst>
      <p:ext uri="{BB962C8B-B14F-4D97-AF65-F5344CB8AC3E}">
        <p14:creationId xmlns:p14="http://schemas.microsoft.com/office/powerpoint/2010/main" val="33415644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2DE69-1AF6-4089-7A1F-D744F82AB1F9}"/>
              </a:ext>
            </a:extLst>
          </p:cNvPr>
          <p:cNvSpPr>
            <a:spLocks noGrp="1"/>
          </p:cNvSpPr>
          <p:nvPr>
            <p:ph type="title"/>
          </p:nvPr>
        </p:nvSpPr>
        <p:spPr>
          <a:xfrm>
            <a:off x="838200" y="365125"/>
            <a:ext cx="5182456" cy="4206875"/>
          </a:xfrm>
        </p:spPr>
        <p:txBody>
          <a:bodyPr>
            <a:normAutofit/>
          </a:bodyPr>
          <a:lstStyle/>
          <a:p>
            <a:r>
              <a:rPr lang="en-US" dirty="0"/>
              <a:t>Example of PCA in genetics:</a:t>
            </a:r>
            <a:br>
              <a:rPr lang="en-US" dirty="0"/>
            </a:br>
            <a:r>
              <a:rPr lang="en-US" dirty="0"/>
              <a:t>principal components of ancestry</a:t>
            </a:r>
          </a:p>
        </p:txBody>
      </p:sp>
      <p:pic>
        <p:nvPicPr>
          <p:cNvPr id="1026" name="Picture 2">
            <a:extLst>
              <a:ext uri="{FF2B5EF4-FFF2-40B4-BE49-F238E27FC236}">
                <a16:creationId xmlns:a16="http://schemas.microsoft.com/office/drawing/2014/main" id="{B81FEF79-4166-13E9-756F-24D27723DE89}"/>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707469" y="77056"/>
            <a:ext cx="5204136" cy="670388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1600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C6F31-DE03-CE91-607E-BD6CF8D984FB}"/>
              </a:ext>
            </a:extLst>
          </p:cNvPr>
          <p:cNvSpPr>
            <a:spLocks noGrp="1"/>
          </p:cNvSpPr>
          <p:nvPr>
            <p:ph type="title"/>
          </p:nvPr>
        </p:nvSpPr>
        <p:spPr/>
        <p:txBody>
          <a:bodyPr/>
          <a:lstStyle/>
          <a:p>
            <a:r>
              <a:rPr lang="en-US" dirty="0"/>
              <a:t>Limitations of PCA</a:t>
            </a:r>
          </a:p>
        </p:txBody>
      </p:sp>
      <p:sp>
        <p:nvSpPr>
          <p:cNvPr id="3" name="Content Placeholder 2">
            <a:extLst>
              <a:ext uri="{FF2B5EF4-FFF2-40B4-BE49-F238E27FC236}">
                <a16:creationId xmlns:a16="http://schemas.microsoft.com/office/drawing/2014/main" id="{12EB768B-3295-DAF5-E099-B973AA6496DD}"/>
              </a:ext>
            </a:extLst>
          </p:cNvPr>
          <p:cNvSpPr>
            <a:spLocks noGrp="1"/>
          </p:cNvSpPr>
          <p:nvPr>
            <p:ph idx="1"/>
          </p:nvPr>
        </p:nvSpPr>
        <p:spPr/>
        <p:txBody>
          <a:bodyPr/>
          <a:lstStyle/>
          <a:p>
            <a:r>
              <a:rPr lang="en-US" dirty="0"/>
              <a:t>PCs are </a:t>
            </a:r>
            <a:r>
              <a:rPr lang="en-US" u="sng" dirty="0"/>
              <a:t>linear</a:t>
            </a:r>
            <a:r>
              <a:rPr lang="en-US" dirty="0"/>
              <a:t> combinations of data</a:t>
            </a:r>
          </a:p>
          <a:p>
            <a:r>
              <a:rPr lang="en-US" dirty="0"/>
              <a:t>Outliers</a:t>
            </a:r>
          </a:p>
          <a:p>
            <a:r>
              <a:rPr lang="en-US" dirty="0"/>
              <a:t>Missing data</a:t>
            </a:r>
          </a:p>
        </p:txBody>
      </p:sp>
    </p:spTree>
    <p:extLst>
      <p:ext uri="{BB962C8B-B14F-4D97-AF65-F5344CB8AC3E}">
        <p14:creationId xmlns:p14="http://schemas.microsoft.com/office/powerpoint/2010/main" val="19633308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76B6A-D434-3083-35A3-9A7C958F4E29}"/>
              </a:ext>
            </a:extLst>
          </p:cNvPr>
          <p:cNvSpPr>
            <a:spLocks noGrp="1"/>
          </p:cNvSpPr>
          <p:nvPr>
            <p:ph type="title"/>
          </p:nvPr>
        </p:nvSpPr>
        <p:spPr/>
        <p:txBody>
          <a:bodyPr/>
          <a:lstStyle/>
          <a:p>
            <a:r>
              <a:rPr lang="en-US" dirty="0"/>
              <a:t>PCA examples</a:t>
            </a:r>
          </a:p>
        </p:txBody>
      </p:sp>
      <p:sp>
        <p:nvSpPr>
          <p:cNvPr id="3" name="Content Placeholder 2">
            <a:extLst>
              <a:ext uri="{FF2B5EF4-FFF2-40B4-BE49-F238E27FC236}">
                <a16:creationId xmlns:a16="http://schemas.microsoft.com/office/drawing/2014/main" id="{CF4377A8-01B6-B496-D0AD-935D32DA0FC9}"/>
              </a:ext>
            </a:extLst>
          </p:cNvPr>
          <p:cNvSpPr>
            <a:spLocks noGrp="1"/>
          </p:cNvSpPr>
          <p:nvPr>
            <p:ph idx="1"/>
          </p:nvPr>
        </p:nvSpPr>
        <p:spPr/>
        <p:txBody>
          <a:bodyPr/>
          <a:lstStyle/>
          <a:p>
            <a:pPr marL="0" indent="0">
              <a:buNone/>
            </a:pPr>
            <a:r>
              <a:rPr lang="en-US" dirty="0"/>
              <a:t>See exercises 4-8</a:t>
            </a:r>
          </a:p>
        </p:txBody>
      </p:sp>
    </p:spTree>
    <p:extLst>
      <p:ext uri="{BB962C8B-B14F-4D97-AF65-F5344CB8AC3E}">
        <p14:creationId xmlns:p14="http://schemas.microsoft.com/office/powerpoint/2010/main" val="3390987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8039006" y="2319364"/>
            <a:ext cx="4149431" cy="3784164"/>
          </a:xfrm>
          <a:prstGeom prst="rect">
            <a:avLst/>
          </a:prstGeom>
        </p:spPr>
      </p:pic>
      <p:sp>
        <p:nvSpPr>
          <p:cNvPr id="2" name="Title 1"/>
          <p:cNvSpPr>
            <a:spLocks noGrp="1"/>
          </p:cNvSpPr>
          <p:nvPr>
            <p:ph type="title"/>
          </p:nvPr>
        </p:nvSpPr>
        <p:spPr>
          <a:xfrm>
            <a:off x="0" y="0"/>
            <a:ext cx="12192000" cy="1325563"/>
          </a:xfrm>
        </p:spPr>
        <p:txBody>
          <a:bodyPr/>
          <a:lstStyle/>
          <a:p>
            <a:r>
              <a:rPr lang="en-US" dirty="0"/>
              <a:t>Hierarchical clustering groups data points in a nested fashion by similarity</a:t>
            </a:r>
          </a:p>
        </p:txBody>
      </p:sp>
      <p:pic>
        <p:nvPicPr>
          <p:cNvPr id="5" name="Picture 4"/>
          <p:cNvPicPr>
            <a:picLocks noChangeAspect="1"/>
          </p:cNvPicPr>
          <p:nvPr/>
        </p:nvPicPr>
        <p:blipFill>
          <a:blip r:embed="rId3"/>
          <a:stretch>
            <a:fillRect/>
          </a:stretch>
        </p:blipFill>
        <p:spPr>
          <a:xfrm>
            <a:off x="97598" y="2642118"/>
            <a:ext cx="5906138" cy="3332896"/>
          </a:xfrm>
          <a:prstGeom prst="rect">
            <a:avLst/>
          </a:prstGeom>
        </p:spPr>
      </p:pic>
      <p:sp>
        <p:nvSpPr>
          <p:cNvPr id="6" name="Rectangle 5"/>
          <p:cNvSpPr/>
          <p:nvPr/>
        </p:nvSpPr>
        <p:spPr>
          <a:xfrm>
            <a:off x="2025413" y="5900772"/>
            <a:ext cx="3973524" cy="276999"/>
          </a:xfrm>
          <a:prstGeom prst="rect">
            <a:avLst/>
          </a:prstGeom>
        </p:spPr>
        <p:txBody>
          <a:bodyPr wrap="none">
            <a:spAutoFit/>
          </a:bodyPr>
          <a:lstStyle/>
          <a:p>
            <a:r>
              <a:rPr lang="en-US" sz="1200" dirty="0"/>
              <a:t>https://en.wikipedia.org/wiki/Multiple_sequence_alignment</a:t>
            </a:r>
          </a:p>
        </p:txBody>
      </p:sp>
      <p:sp>
        <p:nvSpPr>
          <p:cNvPr id="7" name="Right Arrow 6"/>
          <p:cNvSpPr/>
          <p:nvPr/>
        </p:nvSpPr>
        <p:spPr>
          <a:xfrm>
            <a:off x="6898640" y="3931920"/>
            <a:ext cx="721360" cy="8940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2"/>
          <p:cNvSpPr txBox="1">
            <a:spLocks/>
          </p:cNvSpPr>
          <p:nvPr/>
        </p:nvSpPr>
        <p:spPr>
          <a:xfrm>
            <a:off x="7932392" y="1942718"/>
            <a:ext cx="3384538" cy="397785"/>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t>Clustering of biological species</a:t>
            </a:r>
          </a:p>
        </p:txBody>
      </p:sp>
      <p:sp>
        <p:nvSpPr>
          <p:cNvPr id="11" name="TextBox 10">
            <a:extLst>
              <a:ext uri="{FF2B5EF4-FFF2-40B4-BE49-F238E27FC236}">
                <a16:creationId xmlns:a16="http://schemas.microsoft.com/office/drawing/2014/main" id="{B701C359-6110-49C5-A69F-1CBA398387FA}"/>
              </a:ext>
            </a:extLst>
          </p:cNvPr>
          <p:cNvSpPr txBox="1"/>
          <p:nvPr/>
        </p:nvSpPr>
        <p:spPr>
          <a:xfrm>
            <a:off x="553546" y="1762417"/>
            <a:ext cx="3308335" cy="1015663"/>
          </a:xfrm>
          <a:prstGeom prst="rect">
            <a:avLst/>
          </a:prstGeom>
          <a:noFill/>
        </p:spPr>
        <p:txBody>
          <a:bodyPr wrap="square" rtlCol="0">
            <a:spAutoFit/>
          </a:bodyPr>
          <a:lstStyle/>
          <a:p>
            <a:pPr marL="457200" indent="-457200">
              <a:buAutoNum type="arabicPeriod"/>
            </a:pPr>
            <a:r>
              <a:rPr lang="en-US" sz="2000" dirty="0"/>
              <a:t>What data was used? </a:t>
            </a:r>
          </a:p>
          <a:p>
            <a:r>
              <a:rPr lang="en-US" sz="2000" dirty="0"/>
              <a:t>DNA sequences of biological species</a:t>
            </a:r>
          </a:p>
        </p:txBody>
      </p:sp>
      <p:sp>
        <p:nvSpPr>
          <p:cNvPr id="13" name="TextBox 12">
            <a:extLst>
              <a:ext uri="{FF2B5EF4-FFF2-40B4-BE49-F238E27FC236}">
                <a16:creationId xmlns:a16="http://schemas.microsoft.com/office/drawing/2014/main" id="{69A5A5C3-0126-4161-86BF-07EB85F27B8C}"/>
              </a:ext>
            </a:extLst>
          </p:cNvPr>
          <p:cNvSpPr txBox="1"/>
          <p:nvPr/>
        </p:nvSpPr>
        <p:spPr>
          <a:xfrm>
            <a:off x="6003736" y="4959351"/>
            <a:ext cx="2395193" cy="1015663"/>
          </a:xfrm>
          <a:prstGeom prst="rect">
            <a:avLst/>
          </a:prstGeom>
          <a:noFill/>
        </p:spPr>
        <p:txBody>
          <a:bodyPr wrap="square" rtlCol="0">
            <a:spAutoFit/>
          </a:bodyPr>
          <a:lstStyle/>
          <a:p>
            <a:r>
              <a:rPr lang="en-US" sz="2000" dirty="0"/>
              <a:t>2. How was the distance estimated? A distance measure</a:t>
            </a:r>
          </a:p>
        </p:txBody>
      </p:sp>
    </p:spTree>
    <p:extLst>
      <p:ext uri="{BB962C8B-B14F-4D97-AF65-F5344CB8AC3E}">
        <p14:creationId xmlns:p14="http://schemas.microsoft.com/office/powerpoint/2010/main" val="40622898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8039006" y="2319364"/>
            <a:ext cx="4149431" cy="3784164"/>
          </a:xfrm>
          <a:prstGeom prst="rect">
            <a:avLst/>
          </a:prstGeom>
        </p:spPr>
      </p:pic>
      <p:sp>
        <p:nvSpPr>
          <p:cNvPr id="2" name="Title 1"/>
          <p:cNvSpPr>
            <a:spLocks noGrp="1"/>
          </p:cNvSpPr>
          <p:nvPr>
            <p:ph type="title"/>
          </p:nvPr>
        </p:nvSpPr>
        <p:spPr>
          <a:xfrm>
            <a:off x="0" y="0"/>
            <a:ext cx="12192000" cy="1325563"/>
          </a:xfrm>
        </p:spPr>
        <p:txBody>
          <a:bodyPr/>
          <a:lstStyle/>
          <a:p>
            <a:r>
              <a:rPr lang="en-US" dirty="0"/>
              <a:t>Hierarchical clustering groups data points in a nested fashion by similarity</a:t>
            </a:r>
          </a:p>
        </p:txBody>
      </p:sp>
      <p:pic>
        <p:nvPicPr>
          <p:cNvPr id="5" name="Picture 4"/>
          <p:cNvPicPr>
            <a:picLocks noChangeAspect="1"/>
          </p:cNvPicPr>
          <p:nvPr/>
        </p:nvPicPr>
        <p:blipFill>
          <a:blip r:embed="rId3"/>
          <a:stretch>
            <a:fillRect/>
          </a:stretch>
        </p:blipFill>
        <p:spPr>
          <a:xfrm>
            <a:off x="97598" y="2642118"/>
            <a:ext cx="5906138" cy="3332896"/>
          </a:xfrm>
          <a:prstGeom prst="rect">
            <a:avLst/>
          </a:prstGeom>
        </p:spPr>
      </p:pic>
      <p:sp>
        <p:nvSpPr>
          <p:cNvPr id="6" name="Rectangle 5"/>
          <p:cNvSpPr/>
          <p:nvPr/>
        </p:nvSpPr>
        <p:spPr>
          <a:xfrm>
            <a:off x="2025413" y="5900772"/>
            <a:ext cx="3973524" cy="276999"/>
          </a:xfrm>
          <a:prstGeom prst="rect">
            <a:avLst/>
          </a:prstGeom>
        </p:spPr>
        <p:txBody>
          <a:bodyPr wrap="none">
            <a:spAutoFit/>
          </a:bodyPr>
          <a:lstStyle/>
          <a:p>
            <a:r>
              <a:rPr lang="en-US" sz="1200" dirty="0"/>
              <a:t>https://en.wikipedia.org/wiki/Multiple_sequence_alignment</a:t>
            </a:r>
          </a:p>
        </p:txBody>
      </p:sp>
      <p:sp>
        <p:nvSpPr>
          <p:cNvPr id="7" name="Right Arrow 6"/>
          <p:cNvSpPr/>
          <p:nvPr/>
        </p:nvSpPr>
        <p:spPr>
          <a:xfrm>
            <a:off x="6898640" y="3931920"/>
            <a:ext cx="721360" cy="8940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2"/>
          <p:cNvSpPr txBox="1">
            <a:spLocks/>
          </p:cNvSpPr>
          <p:nvPr/>
        </p:nvSpPr>
        <p:spPr>
          <a:xfrm>
            <a:off x="8972895" y="1913607"/>
            <a:ext cx="2281651" cy="39778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t>A phylogenetic tree</a:t>
            </a:r>
          </a:p>
        </p:txBody>
      </p:sp>
      <p:sp>
        <p:nvSpPr>
          <p:cNvPr id="11" name="TextBox 10">
            <a:extLst>
              <a:ext uri="{FF2B5EF4-FFF2-40B4-BE49-F238E27FC236}">
                <a16:creationId xmlns:a16="http://schemas.microsoft.com/office/drawing/2014/main" id="{B701C359-6110-49C5-A69F-1CBA398387FA}"/>
              </a:ext>
            </a:extLst>
          </p:cNvPr>
          <p:cNvSpPr txBox="1"/>
          <p:nvPr/>
        </p:nvSpPr>
        <p:spPr>
          <a:xfrm>
            <a:off x="553546" y="1762417"/>
            <a:ext cx="3308335" cy="1015663"/>
          </a:xfrm>
          <a:prstGeom prst="rect">
            <a:avLst/>
          </a:prstGeom>
          <a:noFill/>
        </p:spPr>
        <p:txBody>
          <a:bodyPr wrap="square" rtlCol="0">
            <a:spAutoFit/>
          </a:bodyPr>
          <a:lstStyle/>
          <a:p>
            <a:pPr marL="457200" indent="-457200">
              <a:buAutoNum type="arabicPeriod"/>
            </a:pPr>
            <a:r>
              <a:rPr lang="en-US" sz="2000" dirty="0"/>
              <a:t>What data was used? </a:t>
            </a:r>
          </a:p>
          <a:p>
            <a:r>
              <a:rPr lang="en-US" sz="2000" dirty="0"/>
              <a:t>DNA sequences of biological species</a:t>
            </a:r>
          </a:p>
        </p:txBody>
      </p:sp>
      <p:sp>
        <p:nvSpPr>
          <p:cNvPr id="13" name="TextBox 12">
            <a:extLst>
              <a:ext uri="{FF2B5EF4-FFF2-40B4-BE49-F238E27FC236}">
                <a16:creationId xmlns:a16="http://schemas.microsoft.com/office/drawing/2014/main" id="{69A5A5C3-0126-4161-86BF-07EB85F27B8C}"/>
              </a:ext>
            </a:extLst>
          </p:cNvPr>
          <p:cNvSpPr txBox="1"/>
          <p:nvPr/>
        </p:nvSpPr>
        <p:spPr>
          <a:xfrm>
            <a:off x="6003736" y="4959351"/>
            <a:ext cx="2395193" cy="1015663"/>
          </a:xfrm>
          <a:prstGeom prst="rect">
            <a:avLst/>
          </a:prstGeom>
          <a:noFill/>
        </p:spPr>
        <p:txBody>
          <a:bodyPr wrap="square" rtlCol="0">
            <a:spAutoFit/>
          </a:bodyPr>
          <a:lstStyle/>
          <a:p>
            <a:r>
              <a:rPr lang="en-US" sz="2000" dirty="0"/>
              <a:t>2. How was the distance estimated? An evolutional model</a:t>
            </a:r>
          </a:p>
        </p:txBody>
      </p:sp>
    </p:spTree>
    <p:extLst>
      <p:ext uri="{BB962C8B-B14F-4D97-AF65-F5344CB8AC3E}">
        <p14:creationId xmlns:p14="http://schemas.microsoft.com/office/powerpoint/2010/main" val="687104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1382151" y="2035968"/>
            <a:ext cx="4149431" cy="3784164"/>
          </a:xfrm>
          <a:prstGeom prst="rect">
            <a:avLst/>
          </a:prstGeom>
        </p:spPr>
      </p:pic>
      <p:sp>
        <p:nvSpPr>
          <p:cNvPr id="2" name="Title 1"/>
          <p:cNvSpPr>
            <a:spLocks noGrp="1"/>
          </p:cNvSpPr>
          <p:nvPr>
            <p:ph type="title"/>
          </p:nvPr>
        </p:nvSpPr>
        <p:spPr>
          <a:xfrm>
            <a:off x="0" y="0"/>
            <a:ext cx="12192000" cy="1325563"/>
          </a:xfrm>
        </p:spPr>
        <p:txBody>
          <a:bodyPr/>
          <a:lstStyle/>
          <a:p>
            <a:r>
              <a:rPr lang="en-US" dirty="0"/>
              <a:t>Hierarchical clustering makes a tree (dendrogram)</a:t>
            </a:r>
          </a:p>
        </p:txBody>
      </p:sp>
      <p:sp>
        <p:nvSpPr>
          <p:cNvPr id="10" name="Rectangle 9">
            <a:extLst>
              <a:ext uri="{FF2B5EF4-FFF2-40B4-BE49-F238E27FC236}">
                <a16:creationId xmlns:a16="http://schemas.microsoft.com/office/drawing/2014/main" id="{6271B113-9876-44CA-B721-C3FD57852FC1}"/>
              </a:ext>
            </a:extLst>
          </p:cNvPr>
          <p:cNvSpPr/>
          <p:nvPr/>
        </p:nvSpPr>
        <p:spPr>
          <a:xfrm>
            <a:off x="2829438" y="4857214"/>
            <a:ext cx="895350" cy="1112936"/>
          </a:xfrm>
          <a:prstGeom prst="rect">
            <a:avLst/>
          </a:prstGeom>
          <a:noFill/>
          <a:ln w="31750">
            <a:solidFill>
              <a:schemeClr val="bg1">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ntent Placeholder 2">
            <a:extLst>
              <a:ext uri="{FF2B5EF4-FFF2-40B4-BE49-F238E27FC236}">
                <a16:creationId xmlns:a16="http://schemas.microsoft.com/office/drawing/2014/main" id="{C2EBD7EB-C22B-4D68-A397-B7EF5C80897F}"/>
              </a:ext>
            </a:extLst>
          </p:cNvPr>
          <p:cNvSpPr txBox="1">
            <a:spLocks/>
          </p:cNvSpPr>
          <p:nvPr/>
        </p:nvSpPr>
        <p:spPr>
          <a:xfrm>
            <a:off x="1764597" y="1638183"/>
            <a:ext cx="3384538" cy="397785"/>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t>Clustering of biological species</a:t>
            </a:r>
          </a:p>
        </p:txBody>
      </p:sp>
      <p:cxnSp>
        <p:nvCxnSpPr>
          <p:cNvPr id="19" name="Straight Connector 18">
            <a:extLst>
              <a:ext uri="{FF2B5EF4-FFF2-40B4-BE49-F238E27FC236}">
                <a16:creationId xmlns:a16="http://schemas.microsoft.com/office/drawing/2014/main" id="{64F7BA65-4878-49EF-95BE-A0BD7B9336AD}"/>
              </a:ext>
            </a:extLst>
          </p:cNvPr>
          <p:cNvCxnSpPr>
            <a:cxnSpLocks/>
          </p:cNvCxnSpPr>
          <p:nvPr/>
        </p:nvCxnSpPr>
        <p:spPr>
          <a:xfrm flipV="1">
            <a:off x="3724788" y="3555284"/>
            <a:ext cx="3336153" cy="1301930"/>
          </a:xfrm>
          <a:prstGeom prst="line">
            <a:avLst/>
          </a:prstGeom>
          <a:ln w="317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pic>
        <p:nvPicPr>
          <p:cNvPr id="20" name="Picture 2" descr="dendrogram2">
            <a:extLst>
              <a:ext uri="{FF2B5EF4-FFF2-40B4-BE49-F238E27FC236}">
                <a16:creationId xmlns:a16="http://schemas.microsoft.com/office/drawing/2014/main" id="{49BA7851-2688-4DC1-B3AC-33B697F164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60941" y="3555284"/>
            <a:ext cx="3460241" cy="260386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FB02ECFC-124E-4131-80E5-F8034295B789}"/>
              </a:ext>
            </a:extLst>
          </p:cNvPr>
          <p:cNvCxnSpPr>
            <a:cxnSpLocks/>
          </p:cNvCxnSpPr>
          <p:nvPr/>
        </p:nvCxnSpPr>
        <p:spPr>
          <a:xfrm>
            <a:off x="3724788" y="5946416"/>
            <a:ext cx="3493135" cy="303830"/>
          </a:xfrm>
          <a:prstGeom prst="line">
            <a:avLst/>
          </a:prstGeom>
          <a:ln w="317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64757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1325563"/>
          </a:xfrm>
        </p:spPr>
        <p:txBody>
          <a:bodyPr/>
          <a:lstStyle/>
          <a:p>
            <a:r>
              <a:rPr lang="en-US" dirty="0"/>
              <a:t>Dendrogram visualizes hierarchical relationship of terminal nodes</a:t>
            </a:r>
          </a:p>
        </p:txBody>
      </p:sp>
      <p:sp>
        <p:nvSpPr>
          <p:cNvPr id="4" name="Rectangle 3"/>
          <p:cNvSpPr/>
          <p:nvPr/>
        </p:nvSpPr>
        <p:spPr>
          <a:xfrm>
            <a:off x="6421741" y="6550223"/>
            <a:ext cx="5770260" cy="307777"/>
          </a:xfrm>
          <a:prstGeom prst="rect">
            <a:avLst/>
          </a:prstGeom>
        </p:spPr>
        <p:txBody>
          <a:bodyPr wrap="square">
            <a:spAutoFit/>
          </a:bodyPr>
          <a:lstStyle/>
          <a:p>
            <a:r>
              <a:rPr lang="en-US" sz="1400" dirty="0"/>
              <a:t>https://</a:t>
            </a:r>
            <a:r>
              <a:rPr lang="en-US" sz="1400" dirty="0" err="1"/>
              <a:t>www.statisticshowto.datasciencecentral.com</a:t>
            </a:r>
            <a:r>
              <a:rPr lang="en-US" sz="1400" dirty="0"/>
              <a:t>/hierarchical-clustering/</a:t>
            </a:r>
          </a:p>
        </p:txBody>
      </p:sp>
      <p:sp>
        <p:nvSpPr>
          <p:cNvPr id="3" name="Rectangle 2"/>
          <p:cNvSpPr/>
          <p:nvPr/>
        </p:nvSpPr>
        <p:spPr>
          <a:xfrm>
            <a:off x="422829" y="2269886"/>
            <a:ext cx="5673171" cy="2677656"/>
          </a:xfrm>
          <a:prstGeom prst="rect">
            <a:avLst/>
          </a:prstGeom>
        </p:spPr>
        <p:txBody>
          <a:bodyPr wrap="square">
            <a:spAutoFit/>
          </a:bodyPr>
          <a:lstStyle/>
          <a:p>
            <a:pPr marL="342900" indent="-342900">
              <a:buFont typeface="Arial" panose="020B0604020202020204" pitchFamily="34" charset="0"/>
              <a:buChar char="•"/>
            </a:pPr>
            <a:r>
              <a:rPr lang="en-US" sz="2400" dirty="0"/>
              <a:t>Dendrogram = nodes + edges</a:t>
            </a:r>
          </a:p>
          <a:p>
            <a:pPr marL="342900" indent="-342900">
              <a:buFont typeface="Arial" panose="020B0604020202020204" pitchFamily="34" charset="0"/>
              <a:buChar char="•"/>
            </a:pPr>
            <a:r>
              <a:rPr lang="en-US" sz="2400" dirty="0"/>
              <a:t>Nodes </a:t>
            </a:r>
          </a:p>
          <a:p>
            <a:pPr marL="800100" lvl="1" indent="-342900">
              <a:buFont typeface="Arial" panose="020B0604020202020204" pitchFamily="34" charset="0"/>
              <a:buChar char="•"/>
            </a:pPr>
            <a:r>
              <a:rPr lang="en-US" sz="2400" dirty="0"/>
              <a:t>root node: no parent allowed</a:t>
            </a:r>
          </a:p>
          <a:p>
            <a:pPr marL="800100" lvl="1" indent="-342900">
              <a:buFont typeface="Arial" panose="020B0604020202020204" pitchFamily="34" charset="0"/>
              <a:buChar char="•"/>
            </a:pPr>
            <a:r>
              <a:rPr lang="en-US" sz="2400" dirty="0"/>
              <a:t>intermediate nodes: multiple descendants</a:t>
            </a:r>
          </a:p>
          <a:p>
            <a:pPr marL="800100" lvl="1" indent="-342900">
              <a:buFont typeface="Arial" panose="020B0604020202020204" pitchFamily="34" charset="0"/>
              <a:buChar char="•"/>
            </a:pPr>
            <a:r>
              <a:rPr lang="en-US" sz="2400" dirty="0"/>
              <a:t>terminal nodes: data points</a:t>
            </a:r>
          </a:p>
          <a:p>
            <a:pPr marL="342900" indent="-342900">
              <a:buFont typeface="Arial" panose="020B0604020202020204" pitchFamily="34" charset="0"/>
              <a:buChar char="•"/>
            </a:pPr>
            <a:r>
              <a:rPr lang="en-US" sz="2400" dirty="0"/>
              <a:t>Edges represent the relationship</a:t>
            </a:r>
            <a:endParaRPr lang="en-US" dirty="0"/>
          </a:p>
        </p:txBody>
      </p:sp>
      <p:pic>
        <p:nvPicPr>
          <p:cNvPr id="6" name="Picture 2" descr="dendrogram2">
            <a:extLst>
              <a:ext uri="{FF2B5EF4-FFF2-40B4-BE49-F238E27FC236}">
                <a16:creationId xmlns:a16="http://schemas.microsoft.com/office/drawing/2014/main" id="{5175885F-BD44-43F1-8694-DF98B7905F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21741" y="1721859"/>
            <a:ext cx="4979586" cy="374718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12F5F5E-EF21-4BCC-B969-59937E8CFBFD}"/>
                  </a:ext>
                </a:extLst>
              </p:cNvPr>
              <p:cNvSpPr txBox="1"/>
              <p:nvPr/>
            </p:nvSpPr>
            <p:spPr>
              <a:xfrm>
                <a:off x="11329679" y="2731440"/>
                <a:ext cx="320409"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𝛾</m:t>
                      </m:r>
                    </m:oMath>
                  </m:oMathPara>
                </a14:m>
                <a:endParaRPr lang="en-US" sz="3200" b="0" dirty="0"/>
              </a:p>
            </p:txBody>
          </p:sp>
        </mc:Choice>
        <mc:Fallback xmlns="">
          <p:sp>
            <p:nvSpPr>
              <p:cNvPr id="7" name="TextBox 6">
                <a:extLst>
                  <a:ext uri="{FF2B5EF4-FFF2-40B4-BE49-F238E27FC236}">
                    <a16:creationId xmlns:a16="http://schemas.microsoft.com/office/drawing/2014/main" id="{612F5F5E-EF21-4BCC-B969-59937E8CFBFD}"/>
                  </a:ext>
                </a:extLst>
              </p:cNvPr>
              <p:cNvSpPr txBox="1">
                <a:spLocks noRot="1" noChangeAspect="1" noMove="1" noResize="1" noEditPoints="1" noAdjustHandles="1" noChangeArrowheads="1" noChangeShapeType="1" noTextEdit="1"/>
              </p:cNvSpPr>
              <p:nvPr/>
            </p:nvSpPr>
            <p:spPr>
              <a:xfrm>
                <a:off x="11329679" y="2731440"/>
                <a:ext cx="320409" cy="492443"/>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3771287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1325563"/>
          </a:xfrm>
        </p:spPr>
        <p:txBody>
          <a:bodyPr/>
          <a:lstStyle/>
          <a:p>
            <a:r>
              <a:rPr lang="en-US" dirty="0"/>
              <a:t>Dendrogram visualize group memberships</a:t>
            </a:r>
          </a:p>
        </p:txBody>
      </p:sp>
      <p:sp>
        <p:nvSpPr>
          <p:cNvPr id="4" name="Rectangle 3"/>
          <p:cNvSpPr/>
          <p:nvPr/>
        </p:nvSpPr>
        <p:spPr>
          <a:xfrm>
            <a:off x="6421741" y="6550223"/>
            <a:ext cx="5770260" cy="307777"/>
          </a:xfrm>
          <a:prstGeom prst="rect">
            <a:avLst/>
          </a:prstGeom>
        </p:spPr>
        <p:txBody>
          <a:bodyPr wrap="square">
            <a:spAutoFit/>
          </a:bodyPr>
          <a:lstStyle/>
          <a:p>
            <a:r>
              <a:rPr lang="en-US" sz="1400"/>
              <a:t>https://www.statisticshowto.datasciencecentral.com/hierarchical-clustering/</a:t>
            </a:r>
          </a:p>
        </p:txBody>
      </p:sp>
      <p:pic>
        <p:nvPicPr>
          <p:cNvPr id="20482" name="Picture 2" descr="dendrogram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43650" y="1636798"/>
            <a:ext cx="5258160" cy="3956809"/>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383909" y="2039241"/>
            <a:ext cx="5837987" cy="2308324"/>
          </a:xfrm>
          <a:prstGeom prst="rect">
            <a:avLst/>
          </a:prstGeom>
        </p:spPr>
        <p:txBody>
          <a:bodyPr wrap="square">
            <a:spAutoFit/>
          </a:bodyPr>
          <a:lstStyle/>
          <a:p>
            <a:pPr marL="285750" indent="-285750">
              <a:buFont typeface="Arial" panose="020B0604020202020204" pitchFamily="34" charset="0"/>
              <a:buChar char="•"/>
            </a:pPr>
            <a:r>
              <a:rPr lang="en-US" sz="2400" dirty="0"/>
              <a:t>Leaves A, B, and C are more similar to each other than to D, E, or F.</a:t>
            </a:r>
          </a:p>
          <a:p>
            <a:pPr marL="285750" indent="-285750">
              <a:buFont typeface="Arial" panose="020B0604020202020204" pitchFamily="34" charset="0"/>
              <a:buChar char="•"/>
            </a:pPr>
            <a:r>
              <a:rPr lang="en-US" sz="2400" dirty="0"/>
              <a:t>Leaves D and E are more similar to each other than to A, B, C, or F.</a:t>
            </a:r>
          </a:p>
          <a:p>
            <a:pPr marL="285750" indent="-285750">
              <a:buFont typeface="Arial" panose="020B0604020202020204" pitchFamily="34" charset="0"/>
              <a:buChar char="•"/>
            </a:pPr>
            <a:r>
              <a:rPr lang="en-US" sz="2400" dirty="0"/>
              <a:t>Leaf F </a:t>
            </a:r>
            <a:r>
              <a:rPr lang="en-US" sz="2400"/>
              <a:t>is different </a:t>
            </a:r>
            <a:r>
              <a:rPr lang="en-US" sz="2400" dirty="0"/>
              <a:t>from all of the other </a:t>
            </a:r>
            <a:r>
              <a:rPr lang="en-US" sz="2400"/>
              <a:t>leaves.</a:t>
            </a:r>
            <a:endParaRPr lang="en-US" sz="2400"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A5E5B44-A87F-4522-A5D3-6980C00F15C2}"/>
                  </a:ext>
                </a:extLst>
              </p:cNvPr>
              <p:cNvSpPr txBox="1"/>
              <p:nvPr/>
            </p:nvSpPr>
            <p:spPr>
              <a:xfrm>
                <a:off x="11492239" y="2731440"/>
                <a:ext cx="320409"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𝛾</m:t>
                      </m:r>
                    </m:oMath>
                  </m:oMathPara>
                </a14:m>
                <a:endParaRPr lang="en-US" sz="3200" b="0" dirty="0"/>
              </a:p>
            </p:txBody>
          </p:sp>
        </mc:Choice>
        <mc:Fallback xmlns="">
          <p:sp>
            <p:nvSpPr>
              <p:cNvPr id="5" name="TextBox 4">
                <a:extLst>
                  <a:ext uri="{FF2B5EF4-FFF2-40B4-BE49-F238E27FC236}">
                    <a16:creationId xmlns:a16="http://schemas.microsoft.com/office/drawing/2014/main" id="{EA5E5B44-A87F-4522-A5D3-6980C00F15C2}"/>
                  </a:ext>
                </a:extLst>
              </p:cNvPr>
              <p:cNvSpPr txBox="1">
                <a:spLocks noRot="1" noChangeAspect="1" noMove="1" noResize="1" noEditPoints="1" noAdjustHandles="1" noChangeArrowheads="1" noChangeShapeType="1" noTextEdit="1"/>
              </p:cNvSpPr>
              <p:nvPr/>
            </p:nvSpPr>
            <p:spPr>
              <a:xfrm>
                <a:off x="11492239" y="2731440"/>
                <a:ext cx="320409" cy="492443"/>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7854753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1325563"/>
          </a:xfrm>
        </p:spPr>
        <p:txBody>
          <a:bodyPr/>
          <a:lstStyle/>
          <a:p>
            <a:r>
              <a:rPr lang="en-US" dirty="0"/>
              <a:t>Dendrogram visualizes distances among objects</a:t>
            </a:r>
          </a:p>
        </p:txBody>
      </p:sp>
      <p:sp>
        <p:nvSpPr>
          <p:cNvPr id="4" name="Rectangle 3"/>
          <p:cNvSpPr/>
          <p:nvPr/>
        </p:nvSpPr>
        <p:spPr>
          <a:xfrm>
            <a:off x="6421741" y="6550223"/>
            <a:ext cx="5770260" cy="307777"/>
          </a:xfrm>
          <a:prstGeom prst="rect">
            <a:avLst/>
          </a:prstGeom>
        </p:spPr>
        <p:txBody>
          <a:bodyPr wrap="square">
            <a:spAutoFit/>
          </a:bodyPr>
          <a:lstStyle/>
          <a:p>
            <a:r>
              <a:rPr lang="en-US" sz="1400"/>
              <a:t>https://www.statisticshowto.datasciencecentral.com/hierarchical-clustering/</a:t>
            </a:r>
          </a:p>
        </p:txBody>
      </p:sp>
      <p:grpSp>
        <p:nvGrpSpPr>
          <p:cNvPr id="5" name="Group 4">
            <a:extLst>
              <a:ext uri="{FF2B5EF4-FFF2-40B4-BE49-F238E27FC236}">
                <a16:creationId xmlns:a16="http://schemas.microsoft.com/office/drawing/2014/main" id="{24FF23AF-1991-49FB-86AD-9B939A34BF2D}"/>
              </a:ext>
            </a:extLst>
          </p:cNvPr>
          <p:cNvGrpSpPr/>
          <p:nvPr/>
        </p:nvGrpSpPr>
        <p:grpSpPr>
          <a:xfrm>
            <a:off x="6711481" y="1768453"/>
            <a:ext cx="4849676" cy="3690426"/>
            <a:chOff x="6221896" y="1674897"/>
            <a:chExt cx="5770260" cy="4342169"/>
          </a:xfrm>
        </p:grpSpPr>
        <p:pic>
          <p:nvPicPr>
            <p:cNvPr id="20482" name="Picture 2" descr="dendrogram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21896" y="1674897"/>
              <a:ext cx="5770260" cy="434216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1FDFBCCD-1719-4BCF-91D9-851EB35743BB}"/>
                </a:ext>
              </a:extLst>
            </p:cNvPr>
            <p:cNvCxnSpPr/>
            <p:nvPr/>
          </p:nvCxnSpPr>
          <p:spPr>
            <a:xfrm flipV="1">
              <a:off x="7096539" y="2683565"/>
              <a:ext cx="0" cy="745435"/>
            </a:xfrm>
            <a:prstGeom prst="line">
              <a:avLst/>
            </a:prstGeom>
            <a:ln w="635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881337A-C163-4CBE-B54E-E2E423E6759C}"/>
                </a:ext>
              </a:extLst>
            </p:cNvPr>
            <p:cNvCxnSpPr>
              <a:cxnSpLocks/>
            </p:cNvCxnSpPr>
            <p:nvPr/>
          </p:nvCxnSpPr>
          <p:spPr>
            <a:xfrm flipV="1">
              <a:off x="10687878" y="2683566"/>
              <a:ext cx="0" cy="427382"/>
            </a:xfrm>
            <a:prstGeom prst="line">
              <a:avLst/>
            </a:prstGeom>
            <a:ln w="63500">
              <a:solidFill>
                <a:srgbClr val="FFC000"/>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ED3E631D-CC75-4BA5-A70C-34A2B5730798}"/>
                  </a:ext>
                </a:extLst>
              </p:cNvPr>
              <p:cNvSpPr/>
              <p:nvPr/>
            </p:nvSpPr>
            <p:spPr>
              <a:xfrm>
                <a:off x="507734" y="1720840"/>
                <a:ext cx="5837987" cy="3785652"/>
              </a:xfrm>
              <a:prstGeom prst="rect">
                <a:avLst/>
              </a:prstGeom>
            </p:spPr>
            <p:txBody>
              <a:bodyPr wrap="square">
                <a:spAutoFit/>
              </a:bodyPr>
              <a:lstStyle/>
              <a:p>
                <a:pPr marL="285750" indent="-285750">
                  <a:buFont typeface="Arial" panose="020B0604020202020204" pitchFamily="34" charset="0"/>
                  <a:buChar char="•"/>
                </a:pPr>
                <a:r>
                  <a:rPr lang="en-US" sz="2400" dirty="0"/>
                  <a:t>        indicates how A, B, C is different from each other</a:t>
                </a:r>
              </a:p>
              <a:p>
                <a:pPr marL="285750" indent="-285750">
                  <a:buFont typeface="Arial" panose="020B0604020202020204" pitchFamily="34" charset="0"/>
                  <a:buChar char="•"/>
                </a:pPr>
                <a:r>
                  <a:rPr lang="en-US" sz="2400" dirty="0"/>
                  <a:t>       indicates how D, E is different from each other</a:t>
                </a:r>
              </a:p>
              <a:p>
                <a:pPr marL="285750" indent="-285750">
                  <a:buFont typeface="Arial" panose="020B0604020202020204" pitchFamily="34" charset="0"/>
                  <a:buChar char="•"/>
                </a:pPr>
                <a:r>
                  <a:rPr lang="en-US" sz="2400" dirty="0"/>
                  <a:t>       (</a:t>
                </a:r>
                <a:r>
                  <a:rPr lang="el-GR" sz="2400" dirty="0"/>
                  <a:t>α</a:t>
                </a:r>
                <a:r>
                  <a:rPr lang="en-US" sz="2400" dirty="0"/>
                  <a:t>) indicates how the clade of A, B, C is from the rest</a:t>
                </a:r>
              </a:p>
              <a:p>
                <a:pPr marL="285750" indent="-285750">
                  <a:buFont typeface="Arial" panose="020B0604020202020204" pitchFamily="34" charset="0"/>
                  <a:buChar char="•"/>
                </a:pPr>
                <a:r>
                  <a:rPr lang="en-US" sz="2400" dirty="0"/>
                  <a:t>       (</a:t>
                </a:r>
                <a14:m>
                  <m:oMath xmlns:m="http://schemas.openxmlformats.org/officeDocument/2006/math">
                    <m:r>
                      <a:rPr lang="en-US" sz="2400" b="0" i="1" smtClean="0">
                        <a:latin typeface="Cambria Math" panose="02040503050406030204" pitchFamily="18" charset="0"/>
                      </a:rPr>
                      <m:t>𝜖</m:t>
                    </m:r>
                  </m:oMath>
                </a14:m>
                <a:r>
                  <a:rPr lang="en-US" sz="2400" dirty="0"/>
                  <a:t>) indicates how the clade of D, E is different from the rest.</a:t>
                </a:r>
              </a:p>
              <a:p>
                <a:pPr marL="285750" indent="-285750">
                  <a:buFont typeface="Arial" panose="020B0604020202020204" pitchFamily="34" charset="0"/>
                  <a:buChar char="•"/>
                </a:pPr>
                <a:r>
                  <a:rPr lang="en-US" sz="2400" dirty="0"/>
                  <a:t>          +         (</a:t>
                </a:r>
                <a14:m>
                  <m:oMath xmlns:m="http://schemas.openxmlformats.org/officeDocument/2006/math">
                    <m:r>
                      <a:rPr lang="en-US" sz="2400" b="0" i="1" smtClean="0">
                        <a:latin typeface="Cambria Math" panose="02040503050406030204" pitchFamily="18" charset="0"/>
                      </a:rPr>
                      <m:t>𝛼</m:t>
                    </m:r>
                    <m:r>
                      <a:rPr lang="en-US" sz="2400" b="0" i="1" smtClean="0">
                        <a:latin typeface="Cambria Math" panose="02040503050406030204" pitchFamily="18" charset="0"/>
                      </a:rPr>
                      <m:t>+</m:t>
                    </m:r>
                    <m:r>
                      <a:rPr lang="en-US" sz="2400" b="0" i="1" smtClean="0">
                        <a:latin typeface="Cambria Math" panose="02040503050406030204" pitchFamily="18" charset="0"/>
                      </a:rPr>
                      <m:t>𝜖</m:t>
                    </m:r>
                  </m:oMath>
                </a14:m>
                <a:r>
                  <a:rPr lang="en-US" sz="2400" dirty="0"/>
                  <a:t>) shows how different the clade of A, B, C is from that of D, E</a:t>
                </a:r>
              </a:p>
            </p:txBody>
          </p:sp>
        </mc:Choice>
        <mc:Fallback xmlns="">
          <p:sp>
            <p:nvSpPr>
              <p:cNvPr id="14" name="Rectangle 13">
                <a:extLst>
                  <a:ext uri="{FF2B5EF4-FFF2-40B4-BE49-F238E27FC236}">
                    <a16:creationId xmlns:a16="http://schemas.microsoft.com/office/drawing/2014/main" id="{ED3E631D-CC75-4BA5-A70C-34A2B5730798}"/>
                  </a:ext>
                </a:extLst>
              </p:cNvPr>
              <p:cNvSpPr>
                <a:spLocks noRot="1" noChangeAspect="1" noMove="1" noResize="1" noEditPoints="1" noAdjustHandles="1" noChangeArrowheads="1" noChangeShapeType="1" noTextEdit="1"/>
              </p:cNvSpPr>
              <p:nvPr/>
            </p:nvSpPr>
            <p:spPr>
              <a:xfrm>
                <a:off x="507734" y="1720840"/>
                <a:ext cx="5837987" cy="3785652"/>
              </a:xfrm>
              <a:prstGeom prst="rect">
                <a:avLst/>
              </a:prstGeom>
              <a:blipFill>
                <a:blip r:embed="rId4"/>
                <a:stretch>
                  <a:fillRect l="-1357" t="-1288" r="-835" b="-2738"/>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A447995F-95BE-447B-912D-D4CF6092B873}"/>
              </a:ext>
            </a:extLst>
          </p:cNvPr>
          <p:cNvCxnSpPr>
            <a:cxnSpLocks/>
          </p:cNvCxnSpPr>
          <p:nvPr/>
        </p:nvCxnSpPr>
        <p:spPr>
          <a:xfrm flipH="1" flipV="1">
            <a:off x="914400" y="2683564"/>
            <a:ext cx="321366" cy="1"/>
          </a:xfrm>
          <a:prstGeom prst="line">
            <a:avLst/>
          </a:prstGeom>
          <a:ln w="635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5054813-B139-477A-9BE4-3F6D31CA8CE0}"/>
              </a:ext>
            </a:extLst>
          </p:cNvPr>
          <p:cNvCxnSpPr>
            <a:cxnSpLocks/>
          </p:cNvCxnSpPr>
          <p:nvPr/>
        </p:nvCxnSpPr>
        <p:spPr>
          <a:xfrm flipH="1">
            <a:off x="930966" y="4143375"/>
            <a:ext cx="314739" cy="0"/>
          </a:xfrm>
          <a:prstGeom prst="line">
            <a:avLst/>
          </a:prstGeom>
          <a:ln w="6350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E1E8E2E-5BFE-49EA-9537-5555B88BFE53}"/>
              </a:ext>
            </a:extLst>
          </p:cNvPr>
          <p:cNvCxnSpPr>
            <a:cxnSpLocks/>
          </p:cNvCxnSpPr>
          <p:nvPr/>
        </p:nvCxnSpPr>
        <p:spPr>
          <a:xfrm flipH="1" flipV="1">
            <a:off x="952087" y="4848745"/>
            <a:ext cx="321366" cy="1"/>
          </a:xfrm>
          <a:prstGeom prst="line">
            <a:avLst/>
          </a:prstGeom>
          <a:ln w="635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3B709E82-4F96-41E1-901D-FD1F1200179B}"/>
              </a:ext>
            </a:extLst>
          </p:cNvPr>
          <p:cNvCxnSpPr>
            <a:cxnSpLocks/>
          </p:cNvCxnSpPr>
          <p:nvPr/>
        </p:nvCxnSpPr>
        <p:spPr>
          <a:xfrm flipH="1">
            <a:off x="1879739" y="4840462"/>
            <a:ext cx="314739" cy="0"/>
          </a:xfrm>
          <a:prstGeom prst="line">
            <a:avLst/>
          </a:prstGeom>
          <a:ln w="6350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F955C87-46D7-4F55-8EED-91EAF87E4F83}"/>
              </a:ext>
            </a:extLst>
          </p:cNvPr>
          <p:cNvCxnSpPr>
            <a:cxnSpLocks/>
          </p:cNvCxnSpPr>
          <p:nvPr/>
        </p:nvCxnSpPr>
        <p:spPr>
          <a:xfrm flipH="1" flipV="1">
            <a:off x="914400" y="1913915"/>
            <a:ext cx="321366" cy="1"/>
          </a:xfrm>
          <a:prstGeom prst="line">
            <a:avLst/>
          </a:prstGeom>
          <a:ln w="635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58B1E9A-C848-46D6-A580-0C2784F869E4}"/>
              </a:ext>
            </a:extLst>
          </p:cNvPr>
          <p:cNvCxnSpPr>
            <a:cxnSpLocks/>
          </p:cNvCxnSpPr>
          <p:nvPr/>
        </p:nvCxnSpPr>
        <p:spPr>
          <a:xfrm flipH="1" flipV="1">
            <a:off x="914400" y="3456331"/>
            <a:ext cx="321366" cy="1"/>
          </a:xfrm>
          <a:prstGeom prst="line">
            <a:avLst/>
          </a:prstGeom>
          <a:ln w="63500">
            <a:solidFill>
              <a:srgbClr val="00B050"/>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4C1CE5C7-2B41-4ABF-9A4C-0D2ACDBB2141}"/>
              </a:ext>
            </a:extLst>
          </p:cNvPr>
          <p:cNvSpPr/>
          <p:nvPr/>
        </p:nvSpPr>
        <p:spPr>
          <a:xfrm>
            <a:off x="10035054" y="1400783"/>
            <a:ext cx="836578" cy="6225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86D81403-89D9-4410-BCD6-D560CAADC859}"/>
                  </a:ext>
                </a:extLst>
              </p:cNvPr>
              <p:cNvSpPr txBox="1"/>
              <p:nvPr/>
            </p:nvSpPr>
            <p:spPr>
              <a:xfrm>
                <a:off x="11483155" y="3013050"/>
                <a:ext cx="320409"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𝛾</m:t>
                      </m:r>
                    </m:oMath>
                  </m:oMathPara>
                </a14:m>
                <a:endParaRPr lang="en-US" sz="3200" b="0" dirty="0"/>
              </a:p>
            </p:txBody>
          </p:sp>
        </mc:Choice>
        <mc:Fallback xmlns="">
          <p:sp>
            <p:nvSpPr>
              <p:cNvPr id="17" name="TextBox 16">
                <a:extLst>
                  <a:ext uri="{FF2B5EF4-FFF2-40B4-BE49-F238E27FC236}">
                    <a16:creationId xmlns:a16="http://schemas.microsoft.com/office/drawing/2014/main" id="{86D81403-89D9-4410-BCD6-D560CAADC859}"/>
                  </a:ext>
                </a:extLst>
              </p:cNvPr>
              <p:cNvSpPr txBox="1">
                <a:spLocks noRot="1" noChangeAspect="1" noMove="1" noResize="1" noEditPoints="1" noAdjustHandles="1" noChangeArrowheads="1" noChangeShapeType="1" noTextEdit="1"/>
              </p:cNvSpPr>
              <p:nvPr/>
            </p:nvSpPr>
            <p:spPr>
              <a:xfrm>
                <a:off x="11483155" y="3013050"/>
                <a:ext cx="320409" cy="492443"/>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291170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4653" y="0"/>
            <a:ext cx="10515600" cy="1325563"/>
          </a:xfrm>
        </p:spPr>
        <p:txBody>
          <a:bodyPr/>
          <a:lstStyle/>
          <a:p>
            <a:r>
              <a:rPr lang="en-US" dirty="0"/>
              <a:t>Clustering based on distance</a:t>
            </a:r>
          </a:p>
        </p:txBody>
      </p:sp>
      <p:pic>
        <p:nvPicPr>
          <p:cNvPr id="3" name="Picture 2"/>
          <p:cNvPicPr>
            <a:picLocks noChangeAspect="1"/>
          </p:cNvPicPr>
          <p:nvPr/>
        </p:nvPicPr>
        <p:blipFill>
          <a:blip r:embed="rId2"/>
          <a:stretch>
            <a:fillRect/>
          </a:stretch>
        </p:blipFill>
        <p:spPr>
          <a:xfrm>
            <a:off x="6365431" y="1257831"/>
            <a:ext cx="5533813" cy="4936492"/>
          </a:xfrm>
          <a:prstGeom prst="rect">
            <a:avLst/>
          </a:prstGeom>
        </p:spPr>
      </p:pic>
      <p:sp>
        <p:nvSpPr>
          <p:cNvPr id="6" name="Rectangle 5"/>
          <p:cNvSpPr/>
          <p:nvPr/>
        </p:nvSpPr>
        <p:spPr>
          <a:xfrm>
            <a:off x="7218871" y="3996268"/>
            <a:ext cx="1551093" cy="12598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p:nvSpPr>
        <p:spPr>
          <a:xfrm>
            <a:off x="640622" y="1714020"/>
            <a:ext cx="5836377" cy="830997"/>
          </a:xfrm>
          <a:prstGeom prst="rect">
            <a:avLst/>
          </a:prstGeom>
          <a:noFill/>
        </p:spPr>
        <p:txBody>
          <a:bodyPr wrap="square" rtlCol="0">
            <a:spAutoFit/>
          </a:bodyPr>
          <a:lstStyle/>
          <a:p>
            <a:r>
              <a:rPr lang="en-US" sz="2400" dirty="0"/>
              <a:t>Algorithm of K-means clustering on 2-D data</a:t>
            </a:r>
          </a:p>
          <a:p>
            <a:pPr marL="285750" indent="-285750">
              <a:buFont typeface="Arial" panose="020B0604020202020204" pitchFamily="34" charset="0"/>
              <a:buChar char="•"/>
            </a:pPr>
            <a:r>
              <a:rPr lang="en-US" sz="2400" dirty="0"/>
              <a:t>Given data of </a:t>
            </a:r>
            <a:r>
              <a:rPr lang="en-US" sz="2400" b="1" dirty="0"/>
              <a:t>two</a:t>
            </a:r>
            <a:r>
              <a:rPr lang="en-US" sz="2400" dirty="0"/>
              <a:t> dimensions (features)</a:t>
            </a:r>
          </a:p>
        </p:txBody>
      </p:sp>
      <p:sp>
        <p:nvSpPr>
          <p:cNvPr id="11" name="TextBox 10"/>
          <p:cNvSpPr txBox="1"/>
          <p:nvPr/>
        </p:nvSpPr>
        <p:spPr>
          <a:xfrm>
            <a:off x="8614177" y="5927668"/>
            <a:ext cx="1358064" cy="369332"/>
          </a:xfrm>
          <a:prstGeom prst="rect">
            <a:avLst/>
          </a:prstGeom>
          <a:noFill/>
        </p:spPr>
        <p:txBody>
          <a:bodyPr wrap="none" rtlCol="0">
            <a:spAutoFit/>
          </a:bodyPr>
          <a:lstStyle/>
          <a:p>
            <a:r>
              <a:rPr lang="en-US"/>
              <a:t>Dimension 1</a:t>
            </a:r>
          </a:p>
        </p:txBody>
      </p:sp>
      <p:sp>
        <p:nvSpPr>
          <p:cNvPr id="12" name="TextBox 11"/>
          <p:cNvSpPr txBox="1"/>
          <p:nvPr/>
        </p:nvSpPr>
        <p:spPr>
          <a:xfrm rot="16200000">
            <a:off x="5738301" y="3369448"/>
            <a:ext cx="1369036" cy="369332"/>
          </a:xfrm>
          <a:prstGeom prst="rect">
            <a:avLst/>
          </a:prstGeom>
          <a:noFill/>
        </p:spPr>
        <p:txBody>
          <a:bodyPr wrap="square" rtlCol="0">
            <a:spAutoFit/>
          </a:bodyPr>
          <a:lstStyle/>
          <a:p>
            <a:r>
              <a:rPr lang="en-US"/>
              <a:t>Dimension 2</a:t>
            </a:r>
          </a:p>
        </p:txBody>
      </p:sp>
      <p:sp>
        <p:nvSpPr>
          <p:cNvPr id="13" name="Rectangle 12"/>
          <p:cNvSpPr/>
          <p:nvPr/>
        </p:nvSpPr>
        <p:spPr>
          <a:xfrm>
            <a:off x="7752080" y="6364732"/>
            <a:ext cx="4470400" cy="523220"/>
          </a:xfrm>
          <a:prstGeom prst="rect">
            <a:avLst/>
          </a:prstGeom>
        </p:spPr>
        <p:txBody>
          <a:bodyPr wrap="square">
            <a:spAutoFit/>
          </a:bodyPr>
          <a:lstStyle/>
          <a:p>
            <a:r>
              <a:rPr lang="en-US" sz="1400" dirty="0"/>
              <a:t>https://</a:t>
            </a:r>
            <a:r>
              <a:rPr lang="en-US" sz="1400" dirty="0" err="1"/>
              <a:t>towardsdatascience.com</a:t>
            </a:r>
            <a:r>
              <a:rPr lang="en-US" sz="1400" dirty="0"/>
              <a:t>/cluster-analysis-create-visualize-and-interpret-customer-segments-474e55d00ebb</a:t>
            </a:r>
          </a:p>
        </p:txBody>
      </p:sp>
    </p:spTree>
    <p:extLst>
      <p:ext uri="{BB962C8B-B14F-4D97-AF65-F5344CB8AC3E}">
        <p14:creationId xmlns:p14="http://schemas.microsoft.com/office/powerpoint/2010/main" val="7413634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6247175" y="1375352"/>
            <a:ext cx="5533813" cy="4896929"/>
          </a:xfrm>
          <a:prstGeom prst="rect">
            <a:avLst/>
          </a:prstGeom>
        </p:spPr>
      </p:pic>
      <p:sp>
        <p:nvSpPr>
          <p:cNvPr id="5" name="TextBox 4"/>
          <p:cNvSpPr txBox="1"/>
          <p:nvPr/>
        </p:nvSpPr>
        <p:spPr>
          <a:xfrm>
            <a:off x="8509468" y="5952738"/>
            <a:ext cx="1358064" cy="369332"/>
          </a:xfrm>
          <a:prstGeom prst="rect">
            <a:avLst/>
          </a:prstGeom>
          <a:noFill/>
        </p:spPr>
        <p:txBody>
          <a:bodyPr wrap="none" rtlCol="0">
            <a:spAutoFit/>
          </a:bodyPr>
          <a:lstStyle/>
          <a:p>
            <a:r>
              <a:rPr lang="en-US"/>
              <a:t>Dimension 1</a:t>
            </a:r>
          </a:p>
        </p:txBody>
      </p:sp>
      <p:sp>
        <p:nvSpPr>
          <p:cNvPr id="6" name="TextBox 5"/>
          <p:cNvSpPr txBox="1"/>
          <p:nvPr/>
        </p:nvSpPr>
        <p:spPr>
          <a:xfrm rot="16200000">
            <a:off x="5639078" y="3389032"/>
            <a:ext cx="1358064" cy="369332"/>
          </a:xfrm>
          <a:prstGeom prst="rect">
            <a:avLst/>
          </a:prstGeom>
          <a:noFill/>
        </p:spPr>
        <p:txBody>
          <a:bodyPr wrap="none" rtlCol="0">
            <a:spAutoFit/>
          </a:bodyPr>
          <a:lstStyle/>
          <a:p>
            <a:r>
              <a:rPr lang="en-US"/>
              <a:t>Dimension 2</a:t>
            </a:r>
          </a:p>
        </p:txBody>
      </p:sp>
      <p:sp>
        <p:nvSpPr>
          <p:cNvPr id="7" name="TextBox 6"/>
          <p:cNvSpPr txBox="1"/>
          <p:nvPr/>
        </p:nvSpPr>
        <p:spPr>
          <a:xfrm>
            <a:off x="516835" y="1714019"/>
            <a:ext cx="5616609" cy="1200329"/>
          </a:xfrm>
          <a:prstGeom prst="rect">
            <a:avLst/>
          </a:prstGeom>
          <a:noFill/>
        </p:spPr>
        <p:txBody>
          <a:bodyPr wrap="square" rtlCol="0">
            <a:spAutoFit/>
          </a:bodyPr>
          <a:lstStyle/>
          <a:p>
            <a:r>
              <a:rPr lang="en-US" sz="2400" dirty="0"/>
              <a:t>Algorithm of K-mean clustering on 2-D data</a:t>
            </a:r>
          </a:p>
          <a:p>
            <a:pPr marL="285750" indent="-285750">
              <a:buFont typeface="Arial" panose="020B0604020202020204" pitchFamily="34" charset="0"/>
              <a:buChar char="•"/>
            </a:pPr>
            <a:r>
              <a:rPr lang="en-US" sz="2400" dirty="0"/>
              <a:t>Given data of </a:t>
            </a:r>
            <a:r>
              <a:rPr lang="en-US" sz="2400" b="1" dirty="0"/>
              <a:t>two</a:t>
            </a:r>
            <a:r>
              <a:rPr lang="en-US" sz="2400" dirty="0"/>
              <a:t> dimensions </a:t>
            </a:r>
          </a:p>
          <a:p>
            <a:pPr marL="285750" indent="-285750">
              <a:buFont typeface="Arial" panose="020B0604020202020204" pitchFamily="34" charset="0"/>
              <a:buChar char="•"/>
            </a:pPr>
            <a:r>
              <a:rPr lang="en-US" sz="2400" dirty="0"/>
              <a:t>Assuming </a:t>
            </a:r>
            <a:r>
              <a:rPr lang="en-US" sz="2400" b="1" dirty="0"/>
              <a:t>three</a:t>
            </a:r>
            <a:r>
              <a:rPr lang="en-US" sz="2400" dirty="0"/>
              <a:t> clusters (K=3)</a:t>
            </a:r>
          </a:p>
        </p:txBody>
      </p:sp>
      <p:sp>
        <p:nvSpPr>
          <p:cNvPr id="8" name="Rectangle 7"/>
          <p:cNvSpPr/>
          <p:nvPr/>
        </p:nvSpPr>
        <p:spPr>
          <a:xfrm>
            <a:off x="7752080" y="6364732"/>
            <a:ext cx="4470400" cy="523220"/>
          </a:xfrm>
          <a:prstGeom prst="rect">
            <a:avLst/>
          </a:prstGeom>
        </p:spPr>
        <p:txBody>
          <a:bodyPr wrap="square">
            <a:spAutoFit/>
          </a:bodyPr>
          <a:lstStyle/>
          <a:p>
            <a:r>
              <a:rPr lang="en-US" sz="1400"/>
              <a:t>https://towardsdatascience.com/cluster-analysis-create-visualize-and-interpret-customer-segments-474e55d00ebb</a:t>
            </a:r>
          </a:p>
        </p:txBody>
      </p:sp>
      <p:sp>
        <p:nvSpPr>
          <p:cNvPr id="9" name="Title 1"/>
          <p:cNvSpPr>
            <a:spLocks noGrp="1"/>
          </p:cNvSpPr>
          <p:nvPr>
            <p:ph type="title"/>
          </p:nvPr>
        </p:nvSpPr>
        <p:spPr>
          <a:xfrm>
            <a:off x="824653" y="0"/>
            <a:ext cx="10515600" cy="1325563"/>
          </a:xfrm>
        </p:spPr>
        <p:txBody>
          <a:bodyPr/>
          <a:lstStyle/>
          <a:p>
            <a:r>
              <a:rPr lang="en-US" dirty="0"/>
              <a:t>Clustering based on distance</a:t>
            </a:r>
          </a:p>
        </p:txBody>
      </p:sp>
      <p:sp>
        <p:nvSpPr>
          <p:cNvPr id="10" name="Rectangle 9">
            <a:extLst>
              <a:ext uri="{FF2B5EF4-FFF2-40B4-BE49-F238E27FC236}">
                <a16:creationId xmlns:a16="http://schemas.microsoft.com/office/drawing/2014/main" id="{4270EE98-D9F7-4205-BF28-E31860D3478C}"/>
              </a:ext>
            </a:extLst>
          </p:cNvPr>
          <p:cNvSpPr/>
          <p:nvPr/>
        </p:nvSpPr>
        <p:spPr>
          <a:xfrm>
            <a:off x="7218871" y="3996268"/>
            <a:ext cx="1551093" cy="12598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991419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6247175" y="1375352"/>
            <a:ext cx="5533813" cy="4896929"/>
          </a:xfrm>
          <a:prstGeom prst="rect">
            <a:avLst/>
          </a:prstGeom>
        </p:spPr>
      </p:pic>
      <p:sp>
        <p:nvSpPr>
          <p:cNvPr id="5" name="TextBox 4"/>
          <p:cNvSpPr txBox="1"/>
          <p:nvPr/>
        </p:nvSpPr>
        <p:spPr>
          <a:xfrm>
            <a:off x="8509468" y="5952738"/>
            <a:ext cx="1358064" cy="369332"/>
          </a:xfrm>
          <a:prstGeom prst="rect">
            <a:avLst/>
          </a:prstGeom>
          <a:noFill/>
        </p:spPr>
        <p:txBody>
          <a:bodyPr wrap="none" rtlCol="0">
            <a:spAutoFit/>
          </a:bodyPr>
          <a:lstStyle/>
          <a:p>
            <a:r>
              <a:rPr lang="en-US"/>
              <a:t>Dimension 1</a:t>
            </a:r>
          </a:p>
        </p:txBody>
      </p:sp>
      <p:sp>
        <p:nvSpPr>
          <p:cNvPr id="6" name="TextBox 5"/>
          <p:cNvSpPr txBox="1"/>
          <p:nvPr/>
        </p:nvSpPr>
        <p:spPr>
          <a:xfrm rot="16200000">
            <a:off x="5639078" y="3389032"/>
            <a:ext cx="1358064" cy="369332"/>
          </a:xfrm>
          <a:prstGeom prst="rect">
            <a:avLst/>
          </a:prstGeom>
          <a:noFill/>
        </p:spPr>
        <p:txBody>
          <a:bodyPr wrap="none" rtlCol="0">
            <a:spAutoFit/>
          </a:bodyPr>
          <a:lstStyle/>
          <a:p>
            <a:r>
              <a:rPr lang="en-US"/>
              <a:t>Dimension 2</a:t>
            </a:r>
          </a:p>
        </p:txBody>
      </p:sp>
      <p:sp>
        <p:nvSpPr>
          <p:cNvPr id="7" name="TextBox 6"/>
          <p:cNvSpPr txBox="1"/>
          <p:nvPr/>
        </p:nvSpPr>
        <p:spPr>
          <a:xfrm>
            <a:off x="516835" y="1714019"/>
            <a:ext cx="5616609" cy="1938992"/>
          </a:xfrm>
          <a:prstGeom prst="rect">
            <a:avLst/>
          </a:prstGeom>
          <a:noFill/>
        </p:spPr>
        <p:txBody>
          <a:bodyPr wrap="square" rtlCol="0">
            <a:spAutoFit/>
          </a:bodyPr>
          <a:lstStyle/>
          <a:p>
            <a:r>
              <a:rPr lang="en-US" sz="2400" dirty="0"/>
              <a:t>Algorithm of K-mean clustering on 2-D data</a:t>
            </a:r>
          </a:p>
          <a:p>
            <a:pPr marL="285750" indent="-285750">
              <a:buFont typeface="Arial" panose="020B0604020202020204" pitchFamily="34" charset="0"/>
              <a:buChar char="•"/>
            </a:pPr>
            <a:r>
              <a:rPr lang="en-US" sz="2400" dirty="0"/>
              <a:t>Given data of </a:t>
            </a:r>
            <a:r>
              <a:rPr lang="en-US" sz="2400" b="1" dirty="0"/>
              <a:t>two</a:t>
            </a:r>
            <a:r>
              <a:rPr lang="en-US" sz="2400" dirty="0"/>
              <a:t> dimensions </a:t>
            </a:r>
          </a:p>
          <a:p>
            <a:pPr marL="285750" indent="-285750">
              <a:buFont typeface="Arial" panose="020B0604020202020204" pitchFamily="34" charset="0"/>
              <a:buChar char="•"/>
            </a:pPr>
            <a:r>
              <a:rPr lang="en-US" sz="2400" dirty="0"/>
              <a:t>Assuming </a:t>
            </a:r>
            <a:r>
              <a:rPr lang="en-US" sz="2400" b="1" dirty="0"/>
              <a:t>three</a:t>
            </a:r>
            <a:r>
              <a:rPr lang="en-US" sz="2400" dirty="0"/>
              <a:t> clusters (K=3)</a:t>
            </a:r>
          </a:p>
          <a:p>
            <a:pPr marL="285750" indent="-285750">
              <a:buFont typeface="Arial" panose="020B0604020202020204" pitchFamily="34" charset="0"/>
              <a:buChar char="•"/>
            </a:pPr>
            <a:r>
              <a:rPr lang="en-US" sz="2400" b="1" dirty="0"/>
              <a:t>Randomly</a:t>
            </a:r>
            <a:r>
              <a:rPr lang="en-US" sz="2400" dirty="0"/>
              <a:t> choose the center point (centroid) for the clusters</a:t>
            </a:r>
          </a:p>
        </p:txBody>
      </p:sp>
      <p:sp>
        <p:nvSpPr>
          <p:cNvPr id="8" name="Rectangle 7"/>
          <p:cNvSpPr/>
          <p:nvPr/>
        </p:nvSpPr>
        <p:spPr>
          <a:xfrm>
            <a:off x="7752080" y="6364732"/>
            <a:ext cx="4470400" cy="523220"/>
          </a:xfrm>
          <a:prstGeom prst="rect">
            <a:avLst/>
          </a:prstGeom>
        </p:spPr>
        <p:txBody>
          <a:bodyPr wrap="square">
            <a:spAutoFit/>
          </a:bodyPr>
          <a:lstStyle/>
          <a:p>
            <a:r>
              <a:rPr lang="en-US" sz="1400"/>
              <a:t>https://towardsdatascience.com/cluster-analysis-create-visualize-and-interpret-customer-segments-474e55d00ebb</a:t>
            </a:r>
          </a:p>
        </p:txBody>
      </p:sp>
      <p:sp>
        <p:nvSpPr>
          <p:cNvPr id="9" name="Title 1"/>
          <p:cNvSpPr>
            <a:spLocks noGrp="1"/>
          </p:cNvSpPr>
          <p:nvPr>
            <p:ph type="title"/>
          </p:nvPr>
        </p:nvSpPr>
        <p:spPr>
          <a:xfrm>
            <a:off x="824653" y="0"/>
            <a:ext cx="10515600" cy="1325563"/>
          </a:xfrm>
        </p:spPr>
        <p:txBody>
          <a:bodyPr/>
          <a:lstStyle/>
          <a:p>
            <a:r>
              <a:rPr lang="en-US" dirty="0"/>
              <a:t>Clustering based on distance</a:t>
            </a:r>
          </a:p>
        </p:txBody>
      </p:sp>
    </p:spTree>
    <p:extLst>
      <p:ext uri="{BB962C8B-B14F-4D97-AF65-F5344CB8AC3E}">
        <p14:creationId xmlns:p14="http://schemas.microsoft.com/office/powerpoint/2010/main" val="21739135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6715736" y="1159708"/>
            <a:ext cx="5081786" cy="5041561"/>
          </a:xfrm>
          <a:prstGeom prst="rect">
            <a:avLst/>
          </a:prstGeom>
        </p:spPr>
      </p:pic>
      <p:sp>
        <p:nvSpPr>
          <p:cNvPr id="6" name="TextBox 5"/>
          <p:cNvSpPr txBox="1"/>
          <p:nvPr/>
        </p:nvSpPr>
        <p:spPr>
          <a:xfrm>
            <a:off x="628007" y="1714019"/>
            <a:ext cx="5560958" cy="1938992"/>
          </a:xfrm>
          <a:prstGeom prst="rect">
            <a:avLst/>
          </a:prstGeom>
          <a:noFill/>
        </p:spPr>
        <p:txBody>
          <a:bodyPr wrap="square" rtlCol="0">
            <a:spAutoFit/>
          </a:bodyPr>
          <a:lstStyle/>
          <a:p>
            <a:r>
              <a:rPr lang="en-US" sz="2400" dirty="0"/>
              <a:t>Algorithm of K-mean clustering on 2-D data</a:t>
            </a:r>
          </a:p>
          <a:p>
            <a:pPr marL="285750" indent="-285750">
              <a:buFont typeface="Arial" panose="020B0604020202020204" pitchFamily="34" charset="0"/>
              <a:buChar char="•"/>
            </a:pPr>
            <a:r>
              <a:rPr lang="en-US" sz="2400" dirty="0"/>
              <a:t>Given data of </a:t>
            </a:r>
            <a:r>
              <a:rPr lang="en-US" sz="2400" b="1" dirty="0"/>
              <a:t>two</a:t>
            </a:r>
            <a:r>
              <a:rPr lang="en-US" sz="2400" dirty="0"/>
              <a:t> dimensions </a:t>
            </a:r>
          </a:p>
          <a:p>
            <a:pPr marL="285750" indent="-285750">
              <a:buFont typeface="Arial" panose="020B0604020202020204" pitchFamily="34" charset="0"/>
              <a:buChar char="•"/>
            </a:pPr>
            <a:r>
              <a:rPr lang="en-US" sz="2400" dirty="0"/>
              <a:t>Assuming </a:t>
            </a:r>
            <a:r>
              <a:rPr lang="en-US" sz="2400" b="1" dirty="0"/>
              <a:t>three</a:t>
            </a:r>
            <a:r>
              <a:rPr lang="en-US" sz="2400" dirty="0"/>
              <a:t> clusters (K=3)</a:t>
            </a:r>
          </a:p>
          <a:p>
            <a:pPr marL="285750" indent="-285750">
              <a:buFont typeface="Arial" panose="020B0604020202020204" pitchFamily="34" charset="0"/>
              <a:buChar char="•"/>
            </a:pPr>
            <a:r>
              <a:rPr lang="en-US" sz="2400" dirty="0"/>
              <a:t>Update cluster assignments based on the </a:t>
            </a:r>
            <a:r>
              <a:rPr lang="en-US" sz="2400" b="1" dirty="0"/>
              <a:t>distance</a:t>
            </a:r>
          </a:p>
        </p:txBody>
      </p:sp>
      <p:sp>
        <p:nvSpPr>
          <p:cNvPr id="7" name="TextBox 6"/>
          <p:cNvSpPr txBox="1"/>
          <p:nvPr/>
        </p:nvSpPr>
        <p:spPr>
          <a:xfrm>
            <a:off x="8590127" y="5903047"/>
            <a:ext cx="1358064" cy="369332"/>
          </a:xfrm>
          <a:prstGeom prst="rect">
            <a:avLst/>
          </a:prstGeom>
          <a:noFill/>
        </p:spPr>
        <p:txBody>
          <a:bodyPr wrap="none" rtlCol="0">
            <a:spAutoFit/>
          </a:bodyPr>
          <a:lstStyle/>
          <a:p>
            <a:r>
              <a:rPr lang="en-US"/>
              <a:t>Dimension 1</a:t>
            </a:r>
          </a:p>
        </p:txBody>
      </p:sp>
      <p:sp>
        <p:nvSpPr>
          <p:cNvPr id="8" name="TextBox 7"/>
          <p:cNvSpPr txBox="1"/>
          <p:nvPr/>
        </p:nvSpPr>
        <p:spPr>
          <a:xfrm rot="16200000">
            <a:off x="5719737" y="3339341"/>
            <a:ext cx="1358064" cy="369332"/>
          </a:xfrm>
          <a:prstGeom prst="rect">
            <a:avLst/>
          </a:prstGeom>
          <a:noFill/>
        </p:spPr>
        <p:txBody>
          <a:bodyPr wrap="none" rtlCol="0">
            <a:spAutoFit/>
          </a:bodyPr>
          <a:lstStyle/>
          <a:p>
            <a:r>
              <a:rPr lang="en-US"/>
              <a:t>Dimension 2</a:t>
            </a:r>
          </a:p>
        </p:txBody>
      </p:sp>
      <p:sp>
        <p:nvSpPr>
          <p:cNvPr id="9" name="Rectangle 8"/>
          <p:cNvSpPr/>
          <p:nvPr/>
        </p:nvSpPr>
        <p:spPr>
          <a:xfrm>
            <a:off x="8145814" y="1159708"/>
            <a:ext cx="2431627" cy="3642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7752080" y="6364732"/>
            <a:ext cx="4470400" cy="523220"/>
          </a:xfrm>
          <a:prstGeom prst="rect">
            <a:avLst/>
          </a:prstGeom>
        </p:spPr>
        <p:txBody>
          <a:bodyPr wrap="square">
            <a:spAutoFit/>
          </a:bodyPr>
          <a:lstStyle/>
          <a:p>
            <a:r>
              <a:rPr lang="en-US" sz="1400"/>
              <a:t>https://towardsdatascience.com/cluster-analysis-create-visualize-and-interpret-customer-segments-474e55d00ebb</a:t>
            </a:r>
          </a:p>
        </p:txBody>
      </p:sp>
      <p:sp>
        <p:nvSpPr>
          <p:cNvPr id="11" name="Title 1"/>
          <p:cNvSpPr>
            <a:spLocks noGrp="1"/>
          </p:cNvSpPr>
          <p:nvPr>
            <p:ph type="title"/>
          </p:nvPr>
        </p:nvSpPr>
        <p:spPr>
          <a:xfrm>
            <a:off x="824653" y="0"/>
            <a:ext cx="10515600" cy="1325563"/>
          </a:xfrm>
        </p:spPr>
        <p:txBody>
          <a:bodyPr/>
          <a:lstStyle/>
          <a:p>
            <a:r>
              <a:rPr lang="en-US"/>
              <a:t>Clustering based on distance</a:t>
            </a:r>
          </a:p>
        </p:txBody>
      </p:sp>
    </p:spTree>
    <p:extLst>
      <p:ext uri="{BB962C8B-B14F-4D97-AF65-F5344CB8AC3E}">
        <p14:creationId xmlns:p14="http://schemas.microsoft.com/office/powerpoint/2010/main" val="16552125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6325020" y="1159708"/>
            <a:ext cx="5301947" cy="4928005"/>
          </a:xfrm>
          <a:prstGeom prst="rect">
            <a:avLst/>
          </a:prstGeom>
        </p:spPr>
      </p:pic>
      <p:sp>
        <p:nvSpPr>
          <p:cNvPr id="6" name="TextBox 5"/>
          <p:cNvSpPr txBox="1"/>
          <p:nvPr/>
        </p:nvSpPr>
        <p:spPr>
          <a:xfrm>
            <a:off x="725263" y="1714020"/>
            <a:ext cx="5705355" cy="1569660"/>
          </a:xfrm>
          <a:prstGeom prst="rect">
            <a:avLst/>
          </a:prstGeom>
          <a:noFill/>
        </p:spPr>
        <p:txBody>
          <a:bodyPr wrap="square" rtlCol="0">
            <a:spAutoFit/>
          </a:bodyPr>
          <a:lstStyle/>
          <a:p>
            <a:r>
              <a:rPr lang="en-US" sz="2400" dirty="0"/>
              <a:t>Algorithm of K-mean clustering on 2-D data</a:t>
            </a:r>
          </a:p>
          <a:p>
            <a:pPr marL="285750" indent="-285750">
              <a:buFont typeface="Arial" panose="020B0604020202020204" pitchFamily="34" charset="0"/>
              <a:buChar char="•"/>
            </a:pPr>
            <a:r>
              <a:rPr lang="en-US" sz="2400" dirty="0"/>
              <a:t>Given data of </a:t>
            </a:r>
            <a:r>
              <a:rPr lang="en-US" sz="2400" b="1" dirty="0"/>
              <a:t>two</a:t>
            </a:r>
            <a:r>
              <a:rPr lang="en-US" sz="2400" dirty="0"/>
              <a:t> dimensions </a:t>
            </a:r>
          </a:p>
          <a:p>
            <a:pPr marL="285750" indent="-285750">
              <a:buFont typeface="Arial" panose="020B0604020202020204" pitchFamily="34" charset="0"/>
              <a:buChar char="•"/>
            </a:pPr>
            <a:r>
              <a:rPr lang="en-US" sz="2400" dirty="0"/>
              <a:t>Assuming </a:t>
            </a:r>
            <a:r>
              <a:rPr lang="en-US" sz="2400" b="1" dirty="0"/>
              <a:t>three</a:t>
            </a:r>
            <a:r>
              <a:rPr lang="en-US" sz="2400" dirty="0"/>
              <a:t> clusters (K=3)</a:t>
            </a:r>
          </a:p>
          <a:p>
            <a:pPr marL="285750" indent="-285750">
              <a:buFont typeface="Arial" panose="020B0604020202020204" pitchFamily="34" charset="0"/>
              <a:buChar char="•"/>
            </a:pPr>
            <a:r>
              <a:rPr lang="en-US" sz="2400" dirty="0"/>
              <a:t>Update the cluster centers</a:t>
            </a:r>
          </a:p>
        </p:txBody>
      </p:sp>
      <p:sp>
        <p:nvSpPr>
          <p:cNvPr id="7" name="TextBox 6"/>
          <p:cNvSpPr txBox="1"/>
          <p:nvPr/>
        </p:nvSpPr>
        <p:spPr>
          <a:xfrm>
            <a:off x="8331713" y="5903047"/>
            <a:ext cx="1358064" cy="369332"/>
          </a:xfrm>
          <a:prstGeom prst="rect">
            <a:avLst/>
          </a:prstGeom>
          <a:noFill/>
        </p:spPr>
        <p:txBody>
          <a:bodyPr wrap="none" rtlCol="0">
            <a:spAutoFit/>
          </a:bodyPr>
          <a:lstStyle/>
          <a:p>
            <a:r>
              <a:rPr lang="en-US"/>
              <a:t>Dimension 1</a:t>
            </a:r>
          </a:p>
        </p:txBody>
      </p:sp>
      <p:sp>
        <p:nvSpPr>
          <p:cNvPr id="8" name="TextBox 7"/>
          <p:cNvSpPr txBox="1"/>
          <p:nvPr/>
        </p:nvSpPr>
        <p:spPr>
          <a:xfrm rot="16200000">
            <a:off x="5461323" y="3339341"/>
            <a:ext cx="1358064" cy="369332"/>
          </a:xfrm>
          <a:prstGeom prst="rect">
            <a:avLst/>
          </a:prstGeom>
          <a:noFill/>
        </p:spPr>
        <p:txBody>
          <a:bodyPr wrap="none" rtlCol="0">
            <a:spAutoFit/>
          </a:bodyPr>
          <a:lstStyle/>
          <a:p>
            <a:r>
              <a:rPr lang="en-US"/>
              <a:t>Dimension 2</a:t>
            </a:r>
          </a:p>
        </p:txBody>
      </p:sp>
      <p:sp>
        <p:nvSpPr>
          <p:cNvPr id="9" name="Rectangle 8"/>
          <p:cNvSpPr/>
          <p:nvPr/>
        </p:nvSpPr>
        <p:spPr>
          <a:xfrm>
            <a:off x="7857580" y="1159708"/>
            <a:ext cx="2431627" cy="3642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7752080" y="6364732"/>
            <a:ext cx="4470400" cy="523220"/>
          </a:xfrm>
          <a:prstGeom prst="rect">
            <a:avLst/>
          </a:prstGeom>
        </p:spPr>
        <p:txBody>
          <a:bodyPr wrap="square">
            <a:spAutoFit/>
          </a:bodyPr>
          <a:lstStyle/>
          <a:p>
            <a:r>
              <a:rPr lang="en-US" sz="1400"/>
              <a:t>https://towardsdatascience.com/cluster-analysis-create-visualize-and-interpret-customer-segments-474e55d00ebb</a:t>
            </a:r>
          </a:p>
        </p:txBody>
      </p:sp>
      <p:sp>
        <p:nvSpPr>
          <p:cNvPr id="11" name="Title 1"/>
          <p:cNvSpPr>
            <a:spLocks noGrp="1"/>
          </p:cNvSpPr>
          <p:nvPr>
            <p:ph type="title"/>
          </p:nvPr>
        </p:nvSpPr>
        <p:spPr>
          <a:xfrm>
            <a:off x="824653" y="0"/>
            <a:ext cx="10515600" cy="1325563"/>
          </a:xfrm>
        </p:spPr>
        <p:txBody>
          <a:bodyPr/>
          <a:lstStyle/>
          <a:p>
            <a:r>
              <a:rPr lang="en-US"/>
              <a:t>Clustering based on distance</a:t>
            </a:r>
          </a:p>
        </p:txBody>
      </p:sp>
    </p:spTree>
    <p:extLst>
      <p:ext uri="{BB962C8B-B14F-4D97-AF65-F5344CB8AC3E}">
        <p14:creationId xmlns:p14="http://schemas.microsoft.com/office/powerpoint/2010/main" val="214256922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6593378" y="1159709"/>
            <a:ext cx="5058875" cy="4992134"/>
          </a:xfrm>
          <a:prstGeom prst="rect">
            <a:avLst/>
          </a:prstGeom>
        </p:spPr>
      </p:pic>
      <p:sp>
        <p:nvSpPr>
          <p:cNvPr id="6" name="TextBox 5"/>
          <p:cNvSpPr txBox="1"/>
          <p:nvPr/>
        </p:nvSpPr>
        <p:spPr>
          <a:xfrm>
            <a:off x="695739" y="1714019"/>
            <a:ext cx="5897639" cy="4524315"/>
          </a:xfrm>
          <a:prstGeom prst="rect">
            <a:avLst/>
          </a:prstGeom>
          <a:noFill/>
        </p:spPr>
        <p:txBody>
          <a:bodyPr wrap="square" rtlCol="0">
            <a:spAutoFit/>
          </a:bodyPr>
          <a:lstStyle/>
          <a:p>
            <a:r>
              <a:rPr lang="en-US" sz="2400" dirty="0"/>
              <a:t>Algorithm of K-means clustering on 2-D data</a:t>
            </a:r>
          </a:p>
          <a:p>
            <a:pPr marL="285750" indent="-285750">
              <a:buFont typeface="Arial" panose="020B0604020202020204" pitchFamily="34" charset="0"/>
              <a:buChar char="•"/>
            </a:pPr>
            <a:r>
              <a:rPr lang="en-US" sz="2400" dirty="0"/>
              <a:t>Given data of </a:t>
            </a:r>
            <a:r>
              <a:rPr lang="en-US" sz="2400" b="1" dirty="0"/>
              <a:t>two</a:t>
            </a:r>
            <a:r>
              <a:rPr lang="en-US" sz="2400" dirty="0"/>
              <a:t> dimensions </a:t>
            </a:r>
          </a:p>
          <a:p>
            <a:pPr marL="285750" indent="-285750">
              <a:buFont typeface="Arial" panose="020B0604020202020204" pitchFamily="34" charset="0"/>
              <a:buChar char="•"/>
            </a:pPr>
            <a:r>
              <a:rPr lang="en-US" sz="2400" dirty="0"/>
              <a:t>Assuming </a:t>
            </a:r>
            <a:r>
              <a:rPr lang="en-US" sz="2400" b="1" dirty="0"/>
              <a:t>three</a:t>
            </a:r>
            <a:r>
              <a:rPr lang="en-US" sz="2400" dirty="0"/>
              <a:t> clusters (K=3)</a:t>
            </a:r>
          </a:p>
          <a:p>
            <a:pPr marL="285750" indent="-285750">
              <a:buFont typeface="Arial" panose="020B0604020202020204" pitchFamily="34" charset="0"/>
              <a:buChar char="•"/>
            </a:pPr>
            <a:r>
              <a:rPr lang="en-US" sz="2400" dirty="0"/>
              <a:t>Update cluster assignments based on the </a:t>
            </a:r>
            <a:r>
              <a:rPr lang="en-US" sz="2400" b="1" dirty="0"/>
              <a:t>distance</a:t>
            </a:r>
          </a:p>
          <a:p>
            <a:pPr marL="285750" indent="-285750">
              <a:buFont typeface="Arial" panose="020B0604020202020204" pitchFamily="34" charset="0"/>
              <a:buChar char="•"/>
            </a:pPr>
            <a:endParaRPr lang="en-US" sz="2400" b="1" dirty="0"/>
          </a:p>
          <a:p>
            <a:r>
              <a:rPr lang="en-US" sz="2400" dirty="0"/>
              <a:t>Things to control</a:t>
            </a:r>
          </a:p>
          <a:p>
            <a:pPr marL="285750" indent="-285750">
              <a:buFont typeface="Arial" panose="020B0604020202020204" pitchFamily="34" charset="0"/>
              <a:buChar char="•"/>
            </a:pPr>
            <a:r>
              <a:rPr lang="en-US" sz="2400" dirty="0"/>
              <a:t>How to determine K</a:t>
            </a:r>
          </a:p>
          <a:p>
            <a:pPr marL="285750" indent="-285750">
              <a:buFont typeface="Arial" panose="020B0604020202020204" pitchFamily="34" charset="0"/>
              <a:buChar char="•"/>
            </a:pPr>
            <a:r>
              <a:rPr lang="en-US" sz="2400" dirty="0"/>
              <a:t>Location of the initial points</a:t>
            </a:r>
          </a:p>
          <a:p>
            <a:pPr marL="285750" indent="-285750">
              <a:buFont typeface="Arial" panose="020B0604020202020204" pitchFamily="34" charset="0"/>
              <a:buChar char="•"/>
            </a:pPr>
            <a:r>
              <a:rPr lang="en-US" sz="2400" dirty="0"/>
              <a:t>When to stop </a:t>
            </a:r>
          </a:p>
          <a:p>
            <a:pPr marL="285750" indent="-285750">
              <a:buFont typeface="Arial" panose="020B0604020202020204" pitchFamily="34" charset="0"/>
              <a:buChar char="•"/>
            </a:pPr>
            <a:r>
              <a:rPr lang="en-US" sz="2400" b="1" dirty="0"/>
              <a:t>How to calculate distance</a:t>
            </a:r>
          </a:p>
          <a:p>
            <a:endParaRPr lang="en-US" sz="2400" b="1" dirty="0"/>
          </a:p>
        </p:txBody>
      </p:sp>
      <p:sp>
        <p:nvSpPr>
          <p:cNvPr id="7" name="TextBox 6"/>
          <p:cNvSpPr txBox="1"/>
          <p:nvPr/>
        </p:nvSpPr>
        <p:spPr>
          <a:xfrm>
            <a:off x="8600070" y="5903047"/>
            <a:ext cx="1358064" cy="369332"/>
          </a:xfrm>
          <a:prstGeom prst="rect">
            <a:avLst/>
          </a:prstGeom>
          <a:noFill/>
        </p:spPr>
        <p:txBody>
          <a:bodyPr wrap="none" rtlCol="0">
            <a:spAutoFit/>
          </a:bodyPr>
          <a:lstStyle/>
          <a:p>
            <a:r>
              <a:rPr lang="en-US"/>
              <a:t>Dimension 1</a:t>
            </a:r>
          </a:p>
        </p:txBody>
      </p:sp>
      <p:sp>
        <p:nvSpPr>
          <p:cNvPr id="8" name="TextBox 7"/>
          <p:cNvSpPr txBox="1"/>
          <p:nvPr/>
        </p:nvSpPr>
        <p:spPr>
          <a:xfrm rot="16200000">
            <a:off x="5729680" y="3339341"/>
            <a:ext cx="1358064" cy="369332"/>
          </a:xfrm>
          <a:prstGeom prst="rect">
            <a:avLst/>
          </a:prstGeom>
          <a:noFill/>
        </p:spPr>
        <p:txBody>
          <a:bodyPr wrap="none" rtlCol="0">
            <a:spAutoFit/>
          </a:bodyPr>
          <a:lstStyle/>
          <a:p>
            <a:r>
              <a:rPr lang="en-US"/>
              <a:t>Dimension 2</a:t>
            </a:r>
          </a:p>
        </p:txBody>
      </p:sp>
      <p:sp>
        <p:nvSpPr>
          <p:cNvPr id="9" name="Rectangle 8"/>
          <p:cNvSpPr/>
          <p:nvPr/>
        </p:nvSpPr>
        <p:spPr>
          <a:xfrm>
            <a:off x="8125937" y="1159708"/>
            <a:ext cx="2431627" cy="3642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7752080" y="6364732"/>
            <a:ext cx="4470400" cy="523220"/>
          </a:xfrm>
          <a:prstGeom prst="rect">
            <a:avLst/>
          </a:prstGeom>
        </p:spPr>
        <p:txBody>
          <a:bodyPr wrap="square">
            <a:spAutoFit/>
          </a:bodyPr>
          <a:lstStyle/>
          <a:p>
            <a:r>
              <a:rPr lang="en-US" sz="1400"/>
              <a:t>https://towardsdatascience.com/cluster-analysis-create-visualize-and-interpret-customer-segments-474e55d00ebb</a:t>
            </a:r>
          </a:p>
        </p:txBody>
      </p:sp>
      <p:sp>
        <p:nvSpPr>
          <p:cNvPr id="11" name="Title 1"/>
          <p:cNvSpPr>
            <a:spLocks noGrp="1"/>
          </p:cNvSpPr>
          <p:nvPr>
            <p:ph type="title"/>
          </p:nvPr>
        </p:nvSpPr>
        <p:spPr>
          <a:xfrm>
            <a:off x="824653" y="0"/>
            <a:ext cx="10515600" cy="1325563"/>
          </a:xfrm>
        </p:spPr>
        <p:txBody>
          <a:bodyPr/>
          <a:lstStyle/>
          <a:p>
            <a:r>
              <a:rPr lang="en-US"/>
              <a:t>Clustering based on distance</a:t>
            </a:r>
          </a:p>
        </p:txBody>
      </p:sp>
    </p:spTree>
    <p:extLst>
      <p:ext uri="{BB962C8B-B14F-4D97-AF65-F5344CB8AC3E}">
        <p14:creationId xmlns:p14="http://schemas.microsoft.com/office/powerpoint/2010/main" val="119615578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A6C24-D907-A464-BA7F-BCC8B8CDB21C}"/>
              </a:ext>
            </a:extLst>
          </p:cNvPr>
          <p:cNvSpPr>
            <a:spLocks noGrp="1"/>
          </p:cNvSpPr>
          <p:nvPr>
            <p:ph type="title"/>
          </p:nvPr>
        </p:nvSpPr>
        <p:spPr/>
        <p:txBody>
          <a:bodyPr/>
          <a:lstStyle/>
          <a:p>
            <a:r>
              <a:rPr lang="en-US" dirty="0"/>
              <a:t>Dimension reduction and clustering example</a:t>
            </a:r>
          </a:p>
        </p:txBody>
      </p:sp>
      <p:sp>
        <p:nvSpPr>
          <p:cNvPr id="3" name="Content Placeholder 2">
            <a:extLst>
              <a:ext uri="{FF2B5EF4-FFF2-40B4-BE49-F238E27FC236}">
                <a16:creationId xmlns:a16="http://schemas.microsoft.com/office/drawing/2014/main" id="{F034F9BE-22F4-78C2-259C-42BFEA870FBD}"/>
              </a:ext>
            </a:extLst>
          </p:cNvPr>
          <p:cNvSpPr>
            <a:spLocks noGrp="1"/>
          </p:cNvSpPr>
          <p:nvPr>
            <p:ph idx="1"/>
          </p:nvPr>
        </p:nvSpPr>
        <p:spPr/>
        <p:txBody>
          <a:bodyPr/>
          <a:lstStyle/>
          <a:p>
            <a:pPr marL="0" indent="0">
              <a:buNone/>
            </a:pPr>
            <a:r>
              <a:rPr lang="en-US"/>
              <a:t>See exercises 9-10  </a:t>
            </a:r>
            <a:endParaRPr lang="en-US" dirty="0"/>
          </a:p>
        </p:txBody>
      </p:sp>
    </p:spTree>
    <p:extLst>
      <p:ext uri="{BB962C8B-B14F-4D97-AF65-F5344CB8AC3E}">
        <p14:creationId xmlns:p14="http://schemas.microsoft.com/office/powerpoint/2010/main" val="11116632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48EFB-9D49-4184-2640-EFD21A0F07CD}"/>
              </a:ext>
            </a:extLst>
          </p:cNvPr>
          <p:cNvSpPr>
            <a:spLocks noGrp="1"/>
          </p:cNvSpPr>
          <p:nvPr>
            <p:ph type="title"/>
          </p:nvPr>
        </p:nvSpPr>
        <p:spPr/>
        <p:txBody>
          <a:bodyPr/>
          <a:lstStyle/>
          <a:p>
            <a:r>
              <a:rPr lang="en-US" dirty="0"/>
              <a:t>How “unsupervised”?</a:t>
            </a:r>
          </a:p>
        </p:txBody>
      </p:sp>
      <p:sp>
        <p:nvSpPr>
          <p:cNvPr id="3" name="Content Placeholder 2">
            <a:extLst>
              <a:ext uri="{FF2B5EF4-FFF2-40B4-BE49-F238E27FC236}">
                <a16:creationId xmlns:a16="http://schemas.microsoft.com/office/drawing/2014/main" id="{09FB043D-E6CD-BB6A-3204-DAC35EDB4A1D}"/>
              </a:ext>
            </a:extLst>
          </p:cNvPr>
          <p:cNvSpPr>
            <a:spLocks noGrp="1"/>
          </p:cNvSpPr>
          <p:nvPr>
            <p:ph idx="1"/>
          </p:nvPr>
        </p:nvSpPr>
        <p:spPr/>
        <p:txBody>
          <a:bodyPr>
            <a:normAutofit/>
          </a:bodyPr>
          <a:lstStyle/>
          <a:p>
            <a:pPr marL="0" indent="0">
              <a:buNone/>
            </a:pPr>
            <a:r>
              <a:rPr lang="en-US" dirty="0"/>
              <a:t>The models don’t decide everything for you!</a:t>
            </a:r>
          </a:p>
          <a:p>
            <a:r>
              <a:rPr lang="en-US" dirty="0"/>
              <a:t>Pre-process the data?</a:t>
            </a:r>
          </a:p>
          <a:p>
            <a:r>
              <a:rPr lang="en-US" dirty="0"/>
              <a:t>Feature selection?</a:t>
            </a:r>
          </a:p>
          <a:p>
            <a:r>
              <a:rPr lang="en-US" dirty="0"/>
              <a:t>Linear or non-linear?</a:t>
            </a:r>
          </a:p>
          <a:p>
            <a:r>
              <a:rPr lang="en-US" dirty="0"/>
              <a:t>What distance metric? (What weights?)</a:t>
            </a:r>
          </a:p>
          <a:p>
            <a:r>
              <a:rPr lang="en-US" dirty="0"/>
              <a:t>How many clusters?</a:t>
            </a:r>
          </a:p>
          <a:p>
            <a:r>
              <a:rPr lang="en-US" dirty="0"/>
              <a:t>Etc.</a:t>
            </a:r>
          </a:p>
        </p:txBody>
      </p:sp>
    </p:spTree>
    <p:extLst>
      <p:ext uri="{BB962C8B-B14F-4D97-AF65-F5344CB8AC3E}">
        <p14:creationId xmlns:p14="http://schemas.microsoft.com/office/powerpoint/2010/main" val="14371405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13DD7-2A1A-F6D8-4357-C1799EDFA030}"/>
              </a:ext>
            </a:extLst>
          </p:cNvPr>
          <p:cNvSpPr>
            <a:spLocks noGrp="1"/>
          </p:cNvSpPr>
          <p:nvPr>
            <p:ph type="title"/>
          </p:nvPr>
        </p:nvSpPr>
        <p:spPr/>
        <p:txBody>
          <a:bodyPr/>
          <a:lstStyle/>
          <a:p>
            <a:r>
              <a:rPr lang="en-US" dirty="0"/>
              <a:t>Supervised ML</a:t>
            </a:r>
          </a:p>
        </p:txBody>
      </p:sp>
      <p:graphicFrame>
        <p:nvGraphicFramePr>
          <p:cNvPr id="4" name="Content Placeholder 6">
            <a:extLst>
              <a:ext uri="{FF2B5EF4-FFF2-40B4-BE49-F238E27FC236}">
                <a16:creationId xmlns:a16="http://schemas.microsoft.com/office/drawing/2014/main" id="{4AA6D395-6D78-90C4-442C-3708D5A01E4A}"/>
              </a:ext>
            </a:extLst>
          </p:cNvPr>
          <p:cNvGraphicFramePr>
            <a:graphicFrameLocks/>
          </p:cNvGraphicFramePr>
          <p:nvPr>
            <p:extLst>
              <p:ext uri="{D42A27DB-BD31-4B8C-83A1-F6EECF244321}">
                <p14:modId xmlns:p14="http://schemas.microsoft.com/office/powerpoint/2010/main" val="2365928176"/>
              </p:ext>
            </p:extLst>
          </p:nvPr>
        </p:nvGraphicFramePr>
        <p:xfrm>
          <a:off x="177800" y="2192020"/>
          <a:ext cx="11455654" cy="357124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1644731968"/>
                    </a:ext>
                  </a:extLst>
                </a:gridCol>
                <a:gridCol w="2103120">
                  <a:extLst>
                    <a:ext uri="{9D8B030D-6E8A-4147-A177-3AD203B41FA5}">
                      <a16:colId xmlns:a16="http://schemas.microsoft.com/office/drawing/2014/main" val="2803646451"/>
                    </a:ext>
                  </a:extLst>
                </a:gridCol>
                <a:gridCol w="3043174">
                  <a:extLst>
                    <a:ext uri="{9D8B030D-6E8A-4147-A177-3AD203B41FA5}">
                      <a16:colId xmlns:a16="http://schemas.microsoft.com/office/drawing/2014/main" val="4170807727"/>
                    </a:ext>
                  </a:extLst>
                </a:gridCol>
                <a:gridCol w="2103120">
                  <a:extLst>
                    <a:ext uri="{9D8B030D-6E8A-4147-A177-3AD203B41FA5}">
                      <a16:colId xmlns:a16="http://schemas.microsoft.com/office/drawing/2014/main" val="1260282904"/>
                    </a:ext>
                  </a:extLst>
                </a:gridCol>
                <a:gridCol w="2103120">
                  <a:extLst>
                    <a:ext uri="{9D8B030D-6E8A-4147-A177-3AD203B41FA5}">
                      <a16:colId xmlns:a16="http://schemas.microsoft.com/office/drawing/2014/main" val="1262646446"/>
                    </a:ext>
                  </a:extLst>
                </a:gridCol>
              </a:tblGrid>
              <a:tr h="370840">
                <a:tc>
                  <a:txBody>
                    <a:bodyPr/>
                    <a:lstStyle/>
                    <a:p>
                      <a:r>
                        <a:rPr lang="en-US" dirty="0"/>
                        <a:t>Type of ML</a:t>
                      </a:r>
                    </a:p>
                  </a:txBody>
                  <a:tcPr/>
                </a:tc>
                <a:tc>
                  <a:txBody>
                    <a:bodyPr/>
                    <a:lstStyle/>
                    <a:p>
                      <a:r>
                        <a:rPr lang="en-US" dirty="0"/>
                        <a:t>Kind of question</a:t>
                      </a:r>
                    </a:p>
                  </a:txBody>
                  <a:tcPr/>
                </a:tc>
                <a:tc>
                  <a:txBody>
                    <a:bodyPr/>
                    <a:lstStyle/>
                    <a:p>
                      <a:r>
                        <a:rPr lang="en-US" dirty="0"/>
                        <a:t>You are given</a:t>
                      </a:r>
                    </a:p>
                  </a:txBody>
                  <a:tcPr/>
                </a:tc>
                <a:tc>
                  <a:txBody>
                    <a:bodyPr/>
                    <a:lstStyle/>
                    <a:p>
                      <a:r>
                        <a:rPr lang="en-US" dirty="0"/>
                        <a:t>Goal</a:t>
                      </a:r>
                    </a:p>
                  </a:txBody>
                  <a:tcPr/>
                </a:tc>
                <a:tc>
                  <a:txBody>
                    <a:bodyPr/>
                    <a:lstStyle/>
                    <a:p>
                      <a:r>
                        <a:rPr lang="en-US" dirty="0"/>
                        <a:t>Assumptions</a:t>
                      </a:r>
                    </a:p>
                  </a:txBody>
                  <a:tcPr/>
                </a:tc>
                <a:extLst>
                  <a:ext uri="{0D108BD9-81ED-4DB2-BD59-A6C34878D82A}">
                    <a16:rowId xmlns:a16="http://schemas.microsoft.com/office/drawing/2014/main" val="985870170"/>
                  </a:ext>
                </a:extLst>
              </a:tr>
              <a:tr h="370840">
                <a:tc>
                  <a:txBody>
                    <a:bodyPr/>
                    <a:lstStyle/>
                    <a:p>
                      <a:r>
                        <a:rPr lang="en-US" dirty="0"/>
                        <a:t>Supervised</a:t>
                      </a:r>
                    </a:p>
                  </a:txBody>
                  <a:tcPr/>
                </a:tc>
                <a:tc>
                  <a:txBody>
                    <a:bodyPr/>
                    <a:lstStyle/>
                    <a:p>
                      <a:r>
                        <a:rPr lang="en-US" dirty="0"/>
                        <a:t>Is there a mapping from X</a:t>
                      </a:r>
                      <a:r>
                        <a:rPr lang="en-US" dirty="0">
                          <a:sym typeface="Wingdings" pitchFamily="2" charset="2"/>
                        </a:rPr>
                        <a:t>Y?</a:t>
                      </a:r>
                      <a:endParaRPr lang="en-US" dirty="0"/>
                    </a:p>
                  </a:txBody>
                  <a:tcPr/>
                </a:tc>
                <a:tc>
                  <a:txBody>
                    <a:bodyPr/>
                    <a:lstStyle/>
                    <a:p>
                      <a:pPr marL="285750" indent="-285750">
                        <a:buFont typeface="Arial" panose="020B0604020202020204" pitchFamily="34" charset="0"/>
                        <a:buChar char="•"/>
                      </a:pPr>
                      <a:r>
                        <a:rPr lang="en-US" dirty="0"/>
                        <a:t>Input variables (X)</a:t>
                      </a:r>
                    </a:p>
                    <a:p>
                      <a:pPr marL="285750" indent="-285750">
                        <a:buFont typeface="Arial" panose="020B0604020202020204" pitchFamily="34" charset="0"/>
                        <a:buChar char="•"/>
                      </a:pPr>
                      <a:r>
                        <a:rPr lang="en-US" dirty="0"/>
                        <a:t>Target/outcome/labels (Y)</a:t>
                      </a:r>
                    </a:p>
                  </a:txBody>
                  <a:tcPr/>
                </a:tc>
                <a:tc>
                  <a:txBody>
                    <a:bodyPr/>
                    <a:lstStyle/>
                    <a:p>
                      <a:pPr marL="285750" indent="-285750">
                        <a:buFont typeface="Arial" panose="020B0604020202020204" pitchFamily="34" charset="0"/>
                        <a:buChar char="•"/>
                      </a:pPr>
                      <a:r>
                        <a:rPr lang="en-US" dirty="0"/>
                        <a:t>Predict Y</a:t>
                      </a:r>
                    </a:p>
                    <a:p>
                      <a:pPr marL="285750" indent="-285750">
                        <a:buFont typeface="Arial" panose="020B0604020202020204" pitchFamily="34" charset="0"/>
                        <a:buChar char="•"/>
                      </a:pPr>
                      <a:r>
                        <a:rPr lang="en-US" dirty="0"/>
                        <a:t>Estimate relationships between X and Y</a:t>
                      </a:r>
                    </a:p>
                  </a:txBody>
                  <a:tcPr/>
                </a:tc>
                <a:tc>
                  <a:txBody>
                    <a:bodyPr/>
                    <a:lstStyle/>
                    <a:p>
                      <a:pPr marL="285750" indent="-285750">
                        <a:buFont typeface="Arial" panose="020B0604020202020204" pitchFamily="34" charset="0"/>
                        <a:buChar char="•"/>
                      </a:pPr>
                      <a:r>
                        <a:rPr lang="en-US" dirty="0"/>
                        <a:t>The predictive structure (model type)</a:t>
                      </a:r>
                    </a:p>
                    <a:p>
                      <a:pPr marL="285750" indent="-285750">
                        <a:buFont typeface="Arial" panose="020B0604020202020204" pitchFamily="34" charset="0"/>
                        <a:buChar char="•"/>
                      </a:pPr>
                      <a:r>
                        <a:rPr lang="en-US" dirty="0"/>
                        <a:t>Signal in X could explain Y</a:t>
                      </a:r>
                    </a:p>
                  </a:txBody>
                  <a:tcPr/>
                </a:tc>
                <a:extLst>
                  <a:ext uri="{0D108BD9-81ED-4DB2-BD59-A6C34878D82A}">
                    <a16:rowId xmlns:a16="http://schemas.microsoft.com/office/drawing/2014/main" val="265033129"/>
                  </a:ext>
                </a:extLst>
              </a:tr>
              <a:tr h="370840">
                <a:tc>
                  <a:txBody>
                    <a:bodyPr/>
                    <a:lstStyle/>
                    <a:p>
                      <a:r>
                        <a:rPr lang="en-US" dirty="0"/>
                        <a:t>Unsupervised</a:t>
                      </a:r>
                    </a:p>
                  </a:txBody>
                  <a:tcPr/>
                </a:tc>
                <a:tc>
                  <a:txBody>
                    <a:bodyPr/>
                    <a:lstStyle/>
                    <a:p>
                      <a:r>
                        <a:rPr lang="en-US" dirty="0"/>
                        <a:t>What structure exists in X?</a:t>
                      </a:r>
                    </a:p>
                  </a:txBody>
                  <a:tcPr/>
                </a:tc>
                <a:tc>
                  <a:txBody>
                    <a:bodyPr/>
                    <a:lstStyle/>
                    <a:p>
                      <a:pPr marL="285750" indent="-285750">
                        <a:buFont typeface="Arial" panose="020B0604020202020204" pitchFamily="34" charset="0"/>
                        <a:buChar char="•"/>
                      </a:pPr>
                      <a:r>
                        <a:rPr lang="en-US" dirty="0"/>
                        <a:t>Only the data (X)</a:t>
                      </a:r>
                    </a:p>
                    <a:p>
                      <a:pPr marL="285750" indent="-285750">
                        <a:buFont typeface="Arial" panose="020B0604020202020204" pitchFamily="34" charset="0"/>
                        <a:buChar char="•"/>
                      </a:pPr>
                      <a:r>
                        <a:rPr lang="en-US" dirty="0"/>
                        <a:t>No outcome/labels</a:t>
                      </a:r>
                    </a:p>
                  </a:txBody>
                  <a:tcPr/>
                </a:tc>
                <a:tc>
                  <a:txBody>
                    <a:bodyPr/>
                    <a:lstStyle/>
                    <a:p>
                      <a:pPr marL="285750" indent="-285750">
                        <a:buFont typeface="Arial" panose="020B0604020202020204" pitchFamily="34" charset="0"/>
                        <a:buChar char="•"/>
                      </a:pPr>
                      <a:r>
                        <a:rPr lang="en-US" dirty="0"/>
                        <a:t>Describe variation</a:t>
                      </a:r>
                    </a:p>
                    <a:p>
                      <a:pPr marL="285750" indent="-285750">
                        <a:buFont typeface="Arial" panose="020B0604020202020204" pitchFamily="34" charset="0"/>
                        <a:buChar char="•"/>
                      </a:pPr>
                      <a:r>
                        <a:rPr lang="en-US" dirty="0"/>
                        <a:t>Find groups, dimensions, gradients, etc.</a:t>
                      </a:r>
                    </a:p>
                  </a:txBody>
                  <a:tcPr/>
                </a:tc>
                <a:tc>
                  <a:txBody>
                    <a:bodyPr/>
                    <a:lstStyle/>
                    <a:p>
                      <a:pPr marL="285750" indent="-285750">
                        <a:buFont typeface="Arial" panose="020B0604020202020204" pitchFamily="34" charset="0"/>
                        <a:buChar char="•"/>
                      </a:pPr>
                      <a:r>
                        <a:rPr lang="en-US" dirty="0"/>
                        <a:t>Continuous or discrete structure</a:t>
                      </a:r>
                    </a:p>
                    <a:p>
                      <a:pPr marL="285750" indent="-285750">
                        <a:buFont typeface="Arial" panose="020B0604020202020204" pitchFamily="34" charset="0"/>
                        <a:buChar char="•"/>
                      </a:pPr>
                      <a:r>
                        <a:rPr lang="en-US" dirty="0"/>
                        <a:t>Local or relational structure</a:t>
                      </a:r>
                    </a:p>
                  </a:txBody>
                  <a:tcPr/>
                </a:tc>
                <a:extLst>
                  <a:ext uri="{0D108BD9-81ED-4DB2-BD59-A6C34878D82A}">
                    <a16:rowId xmlns:a16="http://schemas.microsoft.com/office/drawing/2014/main" val="1767588008"/>
                  </a:ext>
                </a:extLst>
              </a:tr>
            </a:tbl>
          </a:graphicData>
        </a:graphic>
      </p:graphicFrame>
    </p:spTree>
    <p:extLst>
      <p:ext uri="{BB962C8B-B14F-4D97-AF65-F5344CB8AC3E}">
        <p14:creationId xmlns:p14="http://schemas.microsoft.com/office/powerpoint/2010/main" val="149872651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4DD09-8189-CA37-39BF-50AE7964472A}"/>
              </a:ext>
            </a:extLst>
          </p:cNvPr>
          <p:cNvSpPr>
            <a:spLocks noGrp="1"/>
          </p:cNvSpPr>
          <p:nvPr>
            <p:ph type="title"/>
          </p:nvPr>
        </p:nvSpPr>
        <p:spPr/>
        <p:txBody>
          <a:bodyPr/>
          <a:lstStyle/>
          <a:p>
            <a:r>
              <a:rPr lang="en-US" dirty="0"/>
              <a:t>What can you predict with ML?</a:t>
            </a:r>
          </a:p>
        </p:txBody>
      </p:sp>
      <p:sp>
        <p:nvSpPr>
          <p:cNvPr id="3" name="Content Placeholder 2">
            <a:extLst>
              <a:ext uri="{FF2B5EF4-FFF2-40B4-BE49-F238E27FC236}">
                <a16:creationId xmlns:a16="http://schemas.microsoft.com/office/drawing/2014/main" id="{00A692B2-5F7C-18D2-001E-C4B65D3DD266}"/>
              </a:ext>
            </a:extLst>
          </p:cNvPr>
          <p:cNvSpPr>
            <a:spLocks noGrp="1"/>
          </p:cNvSpPr>
          <p:nvPr>
            <p:ph idx="1"/>
          </p:nvPr>
        </p:nvSpPr>
        <p:spPr/>
        <p:txBody>
          <a:bodyPr>
            <a:normAutofit fontScale="55000" lnSpcReduction="20000"/>
          </a:bodyPr>
          <a:lstStyle/>
          <a:p>
            <a:pPr marL="0" indent="0">
              <a:buNone/>
            </a:pPr>
            <a:r>
              <a:rPr lang="en-US" dirty="0"/>
              <a:t>There are many ways to conceptually organize ML methods.</a:t>
            </a:r>
          </a:p>
          <a:p>
            <a:pPr marL="0" indent="0">
              <a:buNone/>
            </a:pPr>
            <a:endParaRPr lang="en-US" dirty="0"/>
          </a:p>
          <a:p>
            <a:pPr marL="0" indent="0">
              <a:buNone/>
            </a:pPr>
            <a:r>
              <a:rPr lang="en-US" dirty="0"/>
              <a:t>Most either</a:t>
            </a:r>
          </a:p>
          <a:p>
            <a:r>
              <a:rPr lang="en-US" dirty="0"/>
              <a:t>predict a continuous outcome (like regression) or</a:t>
            </a:r>
          </a:p>
          <a:p>
            <a:r>
              <a:rPr lang="en-US" dirty="0"/>
              <a:t>predict a discrete outcome (classification)</a:t>
            </a:r>
          </a:p>
          <a:p>
            <a:endParaRPr lang="en-US" dirty="0"/>
          </a:p>
          <a:p>
            <a:pPr marL="0" indent="0">
              <a:buNone/>
            </a:pPr>
            <a:r>
              <a:rPr lang="en-US" dirty="0"/>
              <a:t>We could also organize by “function”</a:t>
            </a:r>
          </a:p>
          <a:p>
            <a:r>
              <a:rPr lang="en-US" dirty="0"/>
              <a:t>Regression/linear models</a:t>
            </a:r>
          </a:p>
          <a:p>
            <a:r>
              <a:rPr lang="en-US" dirty="0"/>
              <a:t>Kernel methods</a:t>
            </a:r>
          </a:p>
          <a:p>
            <a:r>
              <a:rPr lang="en-US" dirty="0"/>
              <a:t>Instance-based and distance-based methods</a:t>
            </a:r>
          </a:p>
          <a:p>
            <a:r>
              <a:rPr lang="en-US" dirty="0"/>
              <a:t>Tree-based methods</a:t>
            </a:r>
          </a:p>
          <a:p>
            <a:r>
              <a:rPr lang="en-US" dirty="0"/>
              <a:t>Neural nets</a:t>
            </a:r>
          </a:p>
          <a:p>
            <a:r>
              <a:rPr lang="en-US" dirty="0"/>
              <a:t>Probabilistic/generative models</a:t>
            </a:r>
          </a:p>
          <a:p>
            <a:endParaRPr lang="en-US" dirty="0"/>
          </a:p>
          <a:p>
            <a:pPr marL="0" indent="0">
              <a:buNone/>
            </a:pPr>
            <a:r>
              <a:rPr lang="en-US" dirty="0"/>
              <a:t>(Note that this is not exhaustive or exclusive.)</a:t>
            </a:r>
          </a:p>
          <a:p>
            <a:endParaRPr lang="en-US" dirty="0"/>
          </a:p>
        </p:txBody>
      </p:sp>
    </p:spTree>
    <p:extLst>
      <p:ext uri="{BB962C8B-B14F-4D97-AF65-F5344CB8AC3E}">
        <p14:creationId xmlns:p14="http://schemas.microsoft.com/office/powerpoint/2010/main" val="9616044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65DCF-9159-8245-5444-161F2366B4CE}"/>
              </a:ext>
            </a:extLst>
          </p:cNvPr>
          <p:cNvSpPr>
            <a:spLocks noGrp="1"/>
          </p:cNvSpPr>
          <p:nvPr>
            <p:ph type="title"/>
          </p:nvPr>
        </p:nvSpPr>
        <p:spPr/>
        <p:txBody>
          <a:bodyPr/>
          <a:lstStyle/>
          <a:p>
            <a:r>
              <a:rPr lang="en-US" dirty="0"/>
              <a:t>Regression/linear models</a:t>
            </a:r>
          </a:p>
        </p:txBody>
      </p:sp>
      <p:sp>
        <p:nvSpPr>
          <p:cNvPr id="3" name="Content Placeholder 2">
            <a:extLst>
              <a:ext uri="{FF2B5EF4-FFF2-40B4-BE49-F238E27FC236}">
                <a16:creationId xmlns:a16="http://schemas.microsoft.com/office/drawing/2014/main" id="{A9E9E637-7DCF-8C19-C4EA-EDDCD118827B}"/>
              </a:ext>
            </a:extLst>
          </p:cNvPr>
          <p:cNvSpPr>
            <a:spLocks noGrp="1"/>
          </p:cNvSpPr>
          <p:nvPr>
            <p:ph idx="1"/>
          </p:nvPr>
        </p:nvSpPr>
        <p:spPr/>
        <p:txBody>
          <a:bodyPr>
            <a:normAutofit/>
          </a:bodyPr>
          <a:lstStyle/>
          <a:p>
            <a:r>
              <a:rPr lang="en-US" dirty="0"/>
              <a:t>Generalized linear (mixed) models</a:t>
            </a:r>
          </a:p>
          <a:p>
            <a:pPr lvl="1"/>
            <a:r>
              <a:rPr lang="en-US" dirty="0"/>
              <a:t>Includes regression (linear, logistic)</a:t>
            </a:r>
          </a:p>
          <a:p>
            <a:pPr lvl="1"/>
            <a:r>
              <a:rPr lang="en-US" dirty="0"/>
              <a:t>Always linear with respect to predictors</a:t>
            </a:r>
          </a:p>
          <a:p>
            <a:pPr lvl="1"/>
            <a:r>
              <a:rPr lang="en-US" dirty="0"/>
              <a:t>You are familiar with many of these</a:t>
            </a:r>
          </a:p>
          <a:p>
            <a:pPr lvl="1"/>
            <a:r>
              <a:rPr lang="en-US" dirty="0"/>
              <a:t>Problem: what if n &lt;&lt; p?</a:t>
            </a:r>
          </a:p>
          <a:p>
            <a:r>
              <a:rPr lang="en-US" dirty="0">
                <a:sym typeface="Wingdings" pitchFamily="2" charset="2"/>
              </a:rPr>
              <a:t> </a:t>
            </a:r>
            <a:r>
              <a:rPr lang="en-US" dirty="0"/>
              <a:t>Regularized linear models</a:t>
            </a:r>
          </a:p>
          <a:p>
            <a:pPr lvl="1"/>
            <a:r>
              <a:rPr lang="en-US" dirty="0"/>
              <a:t>Ridge regression</a:t>
            </a:r>
          </a:p>
          <a:p>
            <a:pPr lvl="1"/>
            <a:r>
              <a:rPr lang="en-US" dirty="0"/>
              <a:t>Lasso regression</a:t>
            </a:r>
          </a:p>
          <a:p>
            <a:pPr lvl="1"/>
            <a:r>
              <a:rPr lang="en-US" dirty="0"/>
              <a:t>Elastic net</a:t>
            </a:r>
          </a:p>
          <a:p>
            <a:pPr lvl="1"/>
            <a:endParaRPr lang="en-US" dirty="0"/>
          </a:p>
        </p:txBody>
      </p:sp>
    </p:spTree>
    <p:extLst>
      <p:ext uri="{BB962C8B-B14F-4D97-AF65-F5344CB8AC3E}">
        <p14:creationId xmlns:p14="http://schemas.microsoft.com/office/powerpoint/2010/main" val="36501638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C446B-BA66-4AB3-EF49-1E680DA732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1A58AC-11E4-AD96-82ED-2C2141BCC476}"/>
              </a:ext>
            </a:extLst>
          </p:cNvPr>
          <p:cNvSpPr>
            <a:spLocks noGrp="1"/>
          </p:cNvSpPr>
          <p:nvPr>
            <p:ph type="title"/>
          </p:nvPr>
        </p:nvSpPr>
        <p:spPr/>
        <p:txBody>
          <a:bodyPr/>
          <a:lstStyle/>
          <a:p>
            <a:r>
              <a:rPr lang="en-US" dirty="0"/>
              <a:t>Problems</a:t>
            </a:r>
          </a:p>
        </p:txBody>
      </p:sp>
      <p:sp>
        <p:nvSpPr>
          <p:cNvPr id="3" name="Content Placeholder 2">
            <a:extLst>
              <a:ext uri="{FF2B5EF4-FFF2-40B4-BE49-F238E27FC236}">
                <a16:creationId xmlns:a16="http://schemas.microsoft.com/office/drawing/2014/main" id="{390F1C9F-80B4-3ABC-9EFE-9E66377EC796}"/>
              </a:ext>
            </a:extLst>
          </p:cNvPr>
          <p:cNvSpPr>
            <a:spLocks noGrp="1"/>
          </p:cNvSpPr>
          <p:nvPr>
            <p:ph idx="1"/>
          </p:nvPr>
        </p:nvSpPr>
        <p:spPr>
          <a:xfrm>
            <a:off x="838200" y="1482725"/>
            <a:ext cx="10515600" cy="4351338"/>
          </a:xfrm>
        </p:spPr>
        <p:txBody>
          <a:bodyPr/>
          <a:lstStyle/>
          <a:p>
            <a:r>
              <a:rPr lang="en-US" dirty="0"/>
              <a:t>Problem: overfitting</a:t>
            </a:r>
          </a:p>
          <a:p>
            <a:pPr lvl="1"/>
            <a:r>
              <a:rPr lang="en-US" dirty="0"/>
              <a:t>= fitting the training data too closely (including noise)</a:t>
            </a:r>
          </a:p>
          <a:p>
            <a:pPr lvl="1"/>
            <a:r>
              <a:rPr lang="en-US" dirty="0"/>
              <a:t>= training error &lt;&lt; testing error</a:t>
            </a:r>
          </a:p>
          <a:p>
            <a:pPr lvl="1"/>
            <a:r>
              <a:rPr lang="en-US" dirty="0"/>
              <a:t>very easy to overfit when n &lt;&lt; p</a:t>
            </a:r>
          </a:p>
          <a:p>
            <a:pPr lvl="1"/>
            <a:r>
              <a:rPr lang="en-US" dirty="0">
                <a:sym typeface="Wingdings" pitchFamily="2" charset="2"/>
              </a:rPr>
              <a:t> model doesn’t generalize</a:t>
            </a:r>
          </a:p>
          <a:p>
            <a:r>
              <a:rPr lang="en-US" dirty="0">
                <a:sym typeface="Wingdings" pitchFamily="2" charset="2"/>
              </a:rPr>
              <a:t>One solution (for regression): regularization/feature selection</a:t>
            </a:r>
          </a:p>
          <a:p>
            <a:r>
              <a:rPr lang="en-US" dirty="0">
                <a:sym typeface="Wingdings" pitchFamily="2" charset="2"/>
              </a:rPr>
              <a:t>Note that over- and under-fitting is a universal problem in ML (not just for regression)</a:t>
            </a:r>
            <a:endParaRPr lang="en-US" dirty="0"/>
          </a:p>
        </p:txBody>
      </p:sp>
      <p:pic>
        <p:nvPicPr>
          <p:cNvPr id="1030" name="Picture 6" descr="018 PyTorch - Popular techniques to prevent the Overfitting in a Neural  Networks">
            <a:extLst>
              <a:ext uri="{FF2B5EF4-FFF2-40B4-BE49-F238E27FC236}">
                <a16:creationId xmlns:a16="http://schemas.microsoft.com/office/drawing/2014/main" id="{C913366E-2D5C-20F0-734B-4DDC2CBC7E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02552" y="4751136"/>
            <a:ext cx="5129048" cy="17417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4497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08FA9F-B9A0-7857-4F8F-CDAE7A570F15}"/>
              </a:ext>
            </a:extLst>
          </p:cNvPr>
          <p:cNvSpPr>
            <a:spLocks noGrp="1"/>
          </p:cNvSpPr>
          <p:nvPr>
            <p:ph type="title"/>
          </p:nvPr>
        </p:nvSpPr>
        <p:spPr/>
        <p:txBody>
          <a:bodyPr/>
          <a:lstStyle/>
          <a:p>
            <a:r>
              <a:rPr lang="en-US" dirty="0"/>
              <a:t>Fitting and “bias-variance tradeoff”</a:t>
            </a:r>
          </a:p>
        </p:txBody>
      </p:sp>
      <p:pic>
        <p:nvPicPr>
          <p:cNvPr id="4" name="Picture 3">
            <a:extLst>
              <a:ext uri="{FF2B5EF4-FFF2-40B4-BE49-F238E27FC236}">
                <a16:creationId xmlns:a16="http://schemas.microsoft.com/office/drawing/2014/main" id="{427C62BD-8CAD-4D77-21DE-B4CE90013F4D}"/>
              </a:ext>
            </a:extLst>
          </p:cNvPr>
          <p:cNvPicPr>
            <a:picLocks noChangeAspect="1"/>
          </p:cNvPicPr>
          <p:nvPr/>
        </p:nvPicPr>
        <p:blipFill>
          <a:blip r:embed="rId2"/>
          <a:stretch>
            <a:fillRect/>
          </a:stretch>
        </p:blipFill>
        <p:spPr>
          <a:xfrm>
            <a:off x="127944" y="1384300"/>
            <a:ext cx="4238997" cy="2705100"/>
          </a:xfrm>
          <a:prstGeom prst="rect">
            <a:avLst/>
          </a:prstGeom>
          <a:ln>
            <a:solidFill>
              <a:schemeClr val="tx1"/>
            </a:solidFill>
          </a:ln>
        </p:spPr>
      </p:pic>
      <p:pic>
        <p:nvPicPr>
          <p:cNvPr id="4098" name="Picture 2" descr="Bias-Variance Trade Off - Machine Learning - GeeksforGeeks">
            <a:extLst>
              <a:ext uri="{FF2B5EF4-FFF2-40B4-BE49-F238E27FC236}">
                <a16:creationId xmlns:a16="http://schemas.microsoft.com/office/drawing/2014/main" id="{FD55BFA4-29D1-B2C6-1C7B-EF96E90A8137}"/>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377740" y="4152900"/>
            <a:ext cx="3739403" cy="27051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0AE284FC-B811-E4FE-ABAB-FF10BE6DA426}"/>
              </a:ext>
            </a:extLst>
          </p:cNvPr>
          <p:cNvPicPr>
            <a:picLocks noChangeAspect="1"/>
          </p:cNvPicPr>
          <p:nvPr/>
        </p:nvPicPr>
        <p:blipFill>
          <a:blip r:embed="rId4"/>
          <a:stretch>
            <a:fillRect/>
          </a:stretch>
        </p:blipFill>
        <p:spPr>
          <a:xfrm>
            <a:off x="4648200" y="1848644"/>
            <a:ext cx="2717800" cy="558800"/>
          </a:xfrm>
          <a:prstGeom prst="rect">
            <a:avLst/>
          </a:prstGeom>
        </p:spPr>
      </p:pic>
      <p:pic>
        <p:nvPicPr>
          <p:cNvPr id="6" name="Picture 5">
            <a:extLst>
              <a:ext uri="{FF2B5EF4-FFF2-40B4-BE49-F238E27FC236}">
                <a16:creationId xmlns:a16="http://schemas.microsoft.com/office/drawing/2014/main" id="{3A622F6C-419F-AF2E-616C-E7DD6BF87BD2}"/>
              </a:ext>
            </a:extLst>
          </p:cNvPr>
          <p:cNvPicPr>
            <a:picLocks noChangeAspect="1"/>
          </p:cNvPicPr>
          <p:nvPr/>
        </p:nvPicPr>
        <p:blipFill>
          <a:blip r:embed="rId5"/>
          <a:stretch>
            <a:fillRect/>
          </a:stretch>
        </p:blipFill>
        <p:spPr>
          <a:xfrm>
            <a:off x="7366000" y="1848644"/>
            <a:ext cx="3873500" cy="584200"/>
          </a:xfrm>
          <a:prstGeom prst="rect">
            <a:avLst/>
          </a:prstGeom>
        </p:spPr>
      </p:pic>
      <p:sp>
        <p:nvSpPr>
          <p:cNvPr id="7" name="TextBox 6">
            <a:extLst>
              <a:ext uri="{FF2B5EF4-FFF2-40B4-BE49-F238E27FC236}">
                <a16:creationId xmlns:a16="http://schemas.microsoft.com/office/drawing/2014/main" id="{2C6A50ED-DD7C-162B-D640-6448B6215D23}"/>
              </a:ext>
            </a:extLst>
          </p:cNvPr>
          <p:cNvSpPr txBox="1"/>
          <p:nvPr/>
        </p:nvSpPr>
        <p:spPr>
          <a:xfrm>
            <a:off x="4366941" y="2800350"/>
            <a:ext cx="7697115" cy="3970318"/>
          </a:xfrm>
          <a:prstGeom prst="rect">
            <a:avLst/>
          </a:prstGeom>
          <a:noFill/>
        </p:spPr>
        <p:txBody>
          <a:bodyPr wrap="square" rtlCol="0">
            <a:spAutoFit/>
          </a:bodyPr>
          <a:lstStyle/>
          <a:p>
            <a:pPr marL="285750" indent="-285750">
              <a:buFont typeface="Arial" panose="020B0604020202020204" pitchFamily="34" charset="0"/>
              <a:buChar char="•"/>
            </a:pPr>
            <a:r>
              <a:rPr lang="en-US" dirty="0"/>
              <a:t>We want a model that generalizes to new data</a:t>
            </a:r>
          </a:p>
          <a:p>
            <a:pPr marL="285750" indent="-285750">
              <a:buFont typeface="Arial" panose="020B0604020202020204" pitchFamily="34" charset="0"/>
              <a:buChar char="•"/>
            </a:pPr>
            <a:r>
              <a:rPr lang="en-US" dirty="0"/>
              <a:t>We can decompose test error into bias</a:t>
            </a:r>
            <a:r>
              <a:rPr lang="en-US" baseline="30000" dirty="0"/>
              <a:t>2</a:t>
            </a:r>
            <a:r>
              <a:rPr lang="en-US" dirty="0"/>
              <a:t> + variance + irreducible noise</a:t>
            </a:r>
          </a:p>
          <a:p>
            <a:pPr marL="285750" indent="-285750">
              <a:buFont typeface="Arial" panose="020B0604020202020204" pitchFamily="34" charset="0"/>
              <a:buChar char="•"/>
            </a:pPr>
            <a:endParaRPr lang="en-US" dirty="0"/>
          </a:p>
          <a:p>
            <a:r>
              <a:rPr lang="en-US" dirty="0"/>
              <a:t>Bias</a:t>
            </a:r>
          </a:p>
          <a:p>
            <a:pPr marL="285750" indent="-285750">
              <a:buFont typeface="Arial" panose="020B0604020202020204" pitchFamily="34" charset="0"/>
              <a:buChar char="•"/>
            </a:pPr>
            <a:r>
              <a:rPr lang="en-US" dirty="0"/>
              <a:t>Systematic error</a:t>
            </a:r>
          </a:p>
          <a:p>
            <a:pPr marL="285750" indent="-285750">
              <a:buFont typeface="Arial" panose="020B0604020202020204" pitchFamily="34" charset="0"/>
              <a:buChar char="•"/>
            </a:pPr>
            <a:r>
              <a:rPr lang="en-US" dirty="0"/>
              <a:t>How far is the average prediction from the truth?</a:t>
            </a:r>
          </a:p>
          <a:p>
            <a:pPr marL="285750" indent="-285750">
              <a:buFont typeface="Arial" panose="020B0604020202020204" pitchFamily="34" charset="0"/>
              <a:buChar char="•"/>
            </a:pPr>
            <a:r>
              <a:rPr lang="en-US" dirty="0"/>
              <a:t>High bias </a:t>
            </a:r>
            <a:r>
              <a:rPr lang="en-US" dirty="0">
                <a:sym typeface="Wingdings" pitchFamily="2" charset="2"/>
              </a:rPr>
              <a:t></a:t>
            </a:r>
            <a:r>
              <a:rPr lang="en-US" dirty="0"/>
              <a:t> model too simple (underfitting)</a:t>
            </a:r>
          </a:p>
          <a:p>
            <a:endParaRPr lang="en-US" dirty="0"/>
          </a:p>
          <a:p>
            <a:r>
              <a:rPr lang="en-US" dirty="0"/>
              <a:t>Variance</a:t>
            </a:r>
          </a:p>
          <a:p>
            <a:pPr marL="285750" indent="-285750">
              <a:buFont typeface="Arial" panose="020B0604020202020204" pitchFamily="34" charset="0"/>
              <a:buChar char="•"/>
            </a:pPr>
            <a:r>
              <a:rPr lang="en-US" dirty="0"/>
              <a:t>Sensitivity of the model to the training data</a:t>
            </a:r>
          </a:p>
          <a:p>
            <a:pPr marL="285750" indent="-285750">
              <a:buFont typeface="Arial" panose="020B0604020202020204" pitchFamily="34" charset="0"/>
              <a:buChar char="•"/>
            </a:pPr>
            <a:r>
              <a:rPr lang="en-US" dirty="0"/>
              <a:t>How much would prediction change if you trained on a different sample?</a:t>
            </a:r>
          </a:p>
          <a:p>
            <a:pPr marL="285750" indent="-285750">
              <a:buFont typeface="Arial" panose="020B0604020202020204" pitchFamily="34" charset="0"/>
              <a:buChar char="•"/>
            </a:pPr>
            <a:r>
              <a:rPr lang="en-US" dirty="0"/>
              <a:t>High variance </a:t>
            </a:r>
            <a:r>
              <a:rPr lang="en-US" dirty="0">
                <a:sym typeface="Wingdings" pitchFamily="2" charset="2"/>
              </a:rPr>
              <a:t> model too complex (overfitting)</a:t>
            </a:r>
          </a:p>
          <a:p>
            <a:pPr marL="285750" indent="-285750">
              <a:buFont typeface="Arial" panose="020B0604020202020204" pitchFamily="34" charset="0"/>
              <a:buChar char="•"/>
            </a:pPr>
            <a:endParaRPr lang="en-US" dirty="0">
              <a:sym typeface="Wingdings" pitchFamily="2" charset="2"/>
            </a:endParaRPr>
          </a:p>
          <a:p>
            <a:r>
              <a:rPr lang="en-US" dirty="0">
                <a:sym typeface="Wingdings" pitchFamily="2" charset="2"/>
              </a:rPr>
              <a:t>Goal: find the “sweet spot” </a:t>
            </a:r>
            <a:endParaRPr lang="en-US" dirty="0"/>
          </a:p>
        </p:txBody>
      </p:sp>
    </p:spTree>
    <p:extLst>
      <p:ext uri="{BB962C8B-B14F-4D97-AF65-F5344CB8AC3E}">
        <p14:creationId xmlns:p14="http://schemas.microsoft.com/office/powerpoint/2010/main" val="329831241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179A2-2403-52AA-8B33-CC547EBDBBE8}"/>
              </a:ext>
            </a:extLst>
          </p:cNvPr>
          <p:cNvSpPr>
            <a:spLocks noGrp="1"/>
          </p:cNvSpPr>
          <p:nvPr>
            <p:ph type="title"/>
          </p:nvPr>
        </p:nvSpPr>
        <p:spPr/>
        <p:txBody>
          <a:bodyPr/>
          <a:lstStyle/>
          <a:p>
            <a:r>
              <a:rPr lang="en-US" dirty="0"/>
              <a:t>Comparison of regression methods</a:t>
            </a:r>
          </a:p>
        </p:txBody>
      </p:sp>
      <mc:AlternateContent xmlns:mc="http://schemas.openxmlformats.org/markup-compatibility/2006">
        <mc:Choice xmlns:a14="http://schemas.microsoft.com/office/drawing/2010/main" Requires="a14">
          <p:graphicFrame>
            <p:nvGraphicFramePr>
              <p:cNvPr id="4" name="Content Placeholder 3">
                <a:extLst>
                  <a:ext uri="{FF2B5EF4-FFF2-40B4-BE49-F238E27FC236}">
                    <a16:creationId xmlns:a16="http://schemas.microsoft.com/office/drawing/2014/main" id="{053D2ABB-954F-B03B-EA32-5865DAB95D67}"/>
                  </a:ext>
                </a:extLst>
              </p:cNvPr>
              <p:cNvGraphicFramePr>
                <a:graphicFrameLocks noGrp="1"/>
              </p:cNvGraphicFramePr>
              <p:nvPr>
                <p:ph idx="1"/>
                <p:extLst>
                  <p:ext uri="{D42A27DB-BD31-4B8C-83A1-F6EECF244321}">
                    <p14:modId xmlns:p14="http://schemas.microsoft.com/office/powerpoint/2010/main" val="1159148709"/>
                  </p:ext>
                </p:extLst>
              </p:nvPr>
            </p:nvGraphicFramePr>
            <p:xfrm>
              <a:off x="368181" y="1374695"/>
              <a:ext cx="10985619" cy="5027904"/>
            </p:xfrm>
            <a:graphic>
              <a:graphicData uri="http://schemas.openxmlformats.org/drawingml/2006/table">
                <a:tbl>
                  <a:tblPr firstRow="1" bandRow="1">
                    <a:tableStyleId>{5C22544A-7EE6-4342-B048-85BDC9FD1C3A}</a:tableStyleId>
                  </a:tblPr>
                  <a:tblGrid>
                    <a:gridCol w="2215873">
                      <a:extLst>
                        <a:ext uri="{9D8B030D-6E8A-4147-A177-3AD203B41FA5}">
                          <a16:colId xmlns:a16="http://schemas.microsoft.com/office/drawing/2014/main" val="3767703914"/>
                        </a:ext>
                      </a:extLst>
                    </a:gridCol>
                    <a:gridCol w="2215873">
                      <a:extLst>
                        <a:ext uri="{9D8B030D-6E8A-4147-A177-3AD203B41FA5}">
                          <a16:colId xmlns:a16="http://schemas.microsoft.com/office/drawing/2014/main" val="3897785525"/>
                        </a:ext>
                      </a:extLst>
                    </a:gridCol>
                    <a:gridCol w="2309619">
                      <a:extLst>
                        <a:ext uri="{9D8B030D-6E8A-4147-A177-3AD203B41FA5}">
                          <a16:colId xmlns:a16="http://schemas.microsoft.com/office/drawing/2014/main" val="4165000161"/>
                        </a:ext>
                      </a:extLst>
                    </a:gridCol>
                    <a:gridCol w="2122127">
                      <a:extLst>
                        <a:ext uri="{9D8B030D-6E8A-4147-A177-3AD203B41FA5}">
                          <a16:colId xmlns:a16="http://schemas.microsoft.com/office/drawing/2014/main" val="3413362472"/>
                        </a:ext>
                      </a:extLst>
                    </a:gridCol>
                    <a:gridCol w="2122127">
                      <a:extLst>
                        <a:ext uri="{9D8B030D-6E8A-4147-A177-3AD203B41FA5}">
                          <a16:colId xmlns:a16="http://schemas.microsoft.com/office/drawing/2014/main" val="2948765086"/>
                        </a:ext>
                      </a:extLst>
                    </a:gridCol>
                  </a:tblGrid>
                  <a:tr h="387416">
                    <a:tc>
                      <a:txBody>
                        <a:bodyPr/>
                        <a:lstStyle/>
                        <a:p>
                          <a:r>
                            <a:rPr lang="en-US" sz="1900" dirty="0"/>
                            <a:t>Method</a:t>
                          </a:r>
                        </a:p>
                      </a:txBody>
                      <a:tcPr marL="95527" marR="95527" marT="47764" marB="47764"/>
                    </a:tc>
                    <a:tc>
                      <a:txBody>
                        <a:bodyPr/>
                        <a:lstStyle/>
                        <a:p>
                          <a:r>
                            <a:rPr lang="en-US" sz="1900" dirty="0"/>
                            <a:t>Model form</a:t>
                          </a:r>
                        </a:p>
                      </a:txBody>
                      <a:tcPr marL="95527" marR="95527" marT="47764" marB="47764"/>
                    </a:tc>
                    <a:tc>
                      <a:txBody>
                        <a:bodyPr/>
                        <a:lstStyle/>
                        <a:p>
                          <a:r>
                            <a:rPr lang="en-US" sz="1900" dirty="0"/>
                            <a:t>What is optimized?</a:t>
                          </a:r>
                        </a:p>
                      </a:txBody>
                      <a:tcPr marL="95527" marR="95527" marT="47764" marB="47764"/>
                    </a:tc>
                    <a:tc>
                      <a:txBody>
                        <a:bodyPr/>
                        <a:lstStyle/>
                        <a:p>
                          <a:r>
                            <a:rPr lang="en-US" sz="1900" dirty="0"/>
                            <a:t>Description</a:t>
                          </a:r>
                        </a:p>
                      </a:txBody>
                      <a:tcPr marL="95527" marR="95527" marT="47764" marB="47764"/>
                    </a:tc>
                    <a:tc>
                      <a:txBody>
                        <a:bodyPr/>
                        <a:lstStyle/>
                        <a:p>
                          <a:r>
                            <a:rPr lang="en-US" sz="1900" dirty="0"/>
                            <a:t>Assumptions</a:t>
                          </a:r>
                        </a:p>
                      </a:txBody>
                      <a:tcPr marL="95527" marR="95527" marT="47764" marB="47764"/>
                    </a:tc>
                    <a:extLst>
                      <a:ext uri="{0D108BD9-81ED-4DB2-BD59-A6C34878D82A}">
                        <a16:rowId xmlns:a16="http://schemas.microsoft.com/office/drawing/2014/main" val="4079511328"/>
                      </a:ext>
                    </a:extLst>
                  </a:tr>
                  <a:tr h="387416">
                    <a:tc>
                      <a:txBody>
                        <a:bodyPr/>
                        <a:lstStyle/>
                        <a:p>
                          <a:r>
                            <a:rPr lang="en-US" sz="1900" dirty="0"/>
                            <a:t>Linear regression</a:t>
                          </a:r>
                        </a:p>
                      </a:txBody>
                      <a:tcPr marL="95527" marR="95527" marT="47764" marB="47764"/>
                    </a:tc>
                    <a:tc>
                      <a:txBody>
                        <a:bodyPr/>
                        <a:lstStyle/>
                        <a:p>
                          <a:r>
                            <a:rPr lang="en-US" sz="1400" b="0" i="0" u="none" strike="noStrike" kern="1200" dirty="0">
                              <a:solidFill>
                                <a:schemeClr val="dk1"/>
                              </a:solidFill>
                              <a:effectLst/>
                              <a:latin typeface="+mn-lt"/>
                              <a:ea typeface="+mn-ea"/>
                              <a:cs typeface="+mn-cs"/>
                            </a:rPr>
                            <a:t>Y=X</a:t>
                          </a:r>
                          <a:r>
                            <a:rPr lang="el-GR" sz="1400" b="0" i="0" u="none" strike="noStrike" kern="1200" dirty="0" err="1">
                              <a:solidFill>
                                <a:schemeClr val="dk1"/>
                              </a:solidFill>
                              <a:effectLst/>
                              <a:latin typeface="+mn-lt"/>
                              <a:ea typeface="+mn-ea"/>
                              <a:cs typeface="+mn-cs"/>
                            </a:rPr>
                            <a:t>β+ε</a:t>
                          </a:r>
                          <a:endParaRPr lang="en-US" sz="1400" dirty="0"/>
                        </a:p>
                      </a:txBody>
                      <a:tcPr marL="95527" marR="95527" marT="47764" marB="47764"/>
                    </a:tc>
                    <a:tc>
                      <a:txBody>
                        <a:bodyPr/>
                        <a:lstStyle/>
                        <a:p>
                          <a:r>
                            <a:rPr lang="en-US" sz="1400" b="0" i="0" u="none" strike="noStrike" kern="1200" dirty="0">
                              <a:solidFill>
                                <a:schemeClr val="dk1"/>
                              </a:solidFill>
                              <a:effectLst/>
                              <a:latin typeface="+mn-lt"/>
                              <a:ea typeface="+mn-ea"/>
                              <a:cs typeface="+mn-cs"/>
                            </a:rPr>
                            <a:t>RSS(</a:t>
                          </a:r>
                          <a:r>
                            <a:rPr lang="el-GR" sz="1400" b="0" i="0" u="none" strike="noStrike" kern="1200" dirty="0">
                              <a:solidFill>
                                <a:schemeClr val="dk1"/>
                              </a:solidFill>
                              <a:effectLst/>
                              <a:latin typeface="+mn-lt"/>
                              <a:ea typeface="+mn-ea"/>
                              <a:cs typeface="+mn-cs"/>
                            </a:rPr>
                            <a:t>β</a:t>
                          </a:r>
                          <a:r>
                            <a:rPr lang="en-US" sz="1400" b="0" i="0" u="none" strike="noStrike" kern="1200" dirty="0">
                              <a:solidFill>
                                <a:schemeClr val="dk1"/>
                              </a:solidFill>
                              <a:effectLst/>
                              <a:latin typeface="+mn-lt"/>
                              <a:ea typeface="+mn-ea"/>
                              <a:cs typeface="+mn-cs"/>
                            </a:rPr>
                            <a:t>) = ∥Y−X</a:t>
                          </a:r>
                          <a:r>
                            <a:rPr lang="el-GR" sz="1400" b="0" i="0" u="none" strike="noStrike" kern="1200" dirty="0">
                              <a:solidFill>
                                <a:schemeClr val="dk1"/>
                              </a:solidFill>
                              <a:effectLst/>
                              <a:latin typeface="+mn-lt"/>
                              <a:ea typeface="+mn-ea"/>
                              <a:cs typeface="+mn-cs"/>
                            </a:rPr>
                            <a:t>β∥</a:t>
                          </a:r>
                          <a:r>
                            <a:rPr lang="el-GR" sz="1400" b="0" i="0" u="none" strike="noStrike" kern="1200" baseline="30000" dirty="0">
                              <a:solidFill>
                                <a:schemeClr val="dk1"/>
                              </a:solidFill>
                              <a:effectLst/>
                              <a:latin typeface="+mn-lt"/>
                              <a:ea typeface="+mn-ea"/>
                              <a:cs typeface="+mn-cs"/>
                            </a:rPr>
                            <a:t>2</a:t>
                          </a:r>
                          <a:endParaRPr lang="en-US" sz="1400" baseline="30000" dirty="0"/>
                        </a:p>
                      </a:txBody>
                      <a:tcPr marL="95527" marR="95527" marT="47764" marB="47764"/>
                    </a:tc>
                    <a:tc>
                      <a:txBody>
                        <a:bodyPr/>
                        <a:lstStyle/>
                        <a:p>
                          <a:r>
                            <a:rPr lang="en-US" sz="1400" dirty="0"/>
                            <a:t>Simple, familiar</a:t>
                          </a:r>
                        </a:p>
                      </a:txBody>
                      <a:tcPr marL="95527" marR="95527" marT="47764" marB="47764"/>
                    </a:tc>
                    <a:tc>
                      <a:txBody>
                        <a:bodyPr/>
                        <a:lstStyle/>
                        <a:p>
                          <a:r>
                            <a:rPr lang="el-GR" sz="1400" b="0" i="0" u="none" strike="noStrike" kern="1200" dirty="0">
                              <a:solidFill>
                                <a:schemeClr val="dk1"/>
                              </a:solidFill>
                              <a:effectLst/>
                              <a:latin typeface="+mn-lt"/>
                              <a:ea typeface="+mn-ea"/>
                              <a:cs typeface="+mn-cs"/>
                            </a:rPr>
                            <a:t>ε∼</a:t>
                          </a:r>
                          <a:r>
                            <a:rPr lang="en-US" sz="1400" b="0" i="0" u="none" strike="noStrike" kern="1200" dirty="0">
                              <a:solidFill>
                                <a:schemeClr val="dk1"/>
                              </a:solidFill>
                              <a:effectLst/>
                              <a:latin typeface="+mn-lt"/>
                              <a:ea typeface="+mn-ea"/>
                              <a:cs typeface="+mn-cs"/>
                            </a:rPr>
                            <a:t>N(0,</a:t>
                          </a:r>
                          <a:r>
                            <a:rPr lang="el-GR" sz="1400" b="0" i="0" u="none" strike="noStrike" kern="1200" dirty="0">
                              <a:solidFill>
                                <a:schemeClr val="dk1"/>
                              </a:solidFill>
                              <a:effectLst/>
                              <a:latin typeface="+mn-lt"/>
                              <a:ea typeface="+mn-ea"/>
                              <a:cs typeface="+mn-cs"/>
                            </a:rPr>
                            <a:t>σ</a:t>
                          </a:r>
                          <a:r>
                            <a:rPr lang="el-GR" sz="1400" b="0" i="0" u="none" strike="noStrike" kern="1200" baseline="30000" dirty="0">
                              <a:solidFill>
                                <a:schemeClr val="dk1"/>
                              </a:solidFill>
                              <a:effectLst/>
                              <a:latin typeface="+mn-lt"/>
                              <a:ea typeface="+mn-ea"/>
                              <a:cs typeface="+mn-cs"/>
                            </a:rPr>
                            <a:t>2</a:t>
                          </a:r>
                          <a:r>
                            <a:rPr lang="el-GR" sz="1400" b="0" i="0" u="none" strike="noStrike" kern="1200" dirty="0">
                              <a:solidFill>
                                <a:schemeClr val="dk1"/>
                              </a:solidFill>
                              <a:effectLst/>
                              <a:latin typeface="+mn-lt"/>
                              <a:ea typeface="+mn-ea"/>
                              <a:cs typeface="+mn-cs"/>
                            </a:rPr>
                            <a:t>)</a:t>
                          </a:r>
                          <a:endParaRPr lang="en-US" sz="1400" dirty="0"/>
                        </a:p>
                      </a:txBody>
                      <a:tcPr marL="95527" marR="95527" marT="47764" marB="47764"/>
                    </a:tc>
                    <a:extLst>
                      <a:ext uri="{0D108BD9-81ED-4DB2-BD59-A6C34878D82A}">
                        <a16:rowId xmlns:a16="http://schemas.microsoft.com/office/drawing/2014/main" val="1822907203"/>
                      </a:ext>
                    </a:extLst>
                  </a:tr>
                  <a:tr h="387416">
                    <a:tc>
                      <a:txBody>
                        <a:bodyPr/>
                        <a:lstStyle/>
                        <a:p>
                          <a:r>
                            <a:rPr lang="en-US" sz="1900" dirty="0"/>
                            <a:t>GLMMs</a:t>
                          </a:r>
                        </a:p>
                        <a:p>
                          <a:pPr marL="342900" indent="-342900">
                            <a:buFont typeface="Arial" panose="020B0604020202020204" pitchFamily="34" charset="0"/>
                            <a:buChar char="•"/>
                          </a:pPr>
                          <a:r>
                            <a:rPr lang="en-US" sz="1900" dirty="0"/>
                            <a:t>Includes linear regression</a:t>
                          </a:r>
                        </a:p>
                        <a:p>
                          <a:pPr marL="342900" indent="-342900">
                            <a:buFont typeface="Arial" panose="020B0604020202020204" pitchFamily="34" charset="0"/>
                            <a:buChar char="•"/>
                          </a:pPr>
                          <a:r>
                            <a:rPr lang="en-US" sz="1900" dirty="0"/>
                            <a:t>Includes logistic regression</a:t>
                          </a:r>
                        </a:p>
                      </a:txBody>
                      <a:tcPr marL="95527" marR="95527" marT="47764" marB="47764"/>
                    </a:tc>
                    <a:tc>
                      <a:txBody>
                        <a:bodyPr/>
                        <a:lstStyle/>
                        <a:p>
                          <a:r>
                            <a:rPr lang="en-US" sz="1400" b="0" i="0" u="none" strike="noStrike" kern="1200" dirty="0">
                              <a:solidFill>
                                <a:schemeClr val="dk1"/>
                              </a:solidFill>
                              <a:effectLst/>
                              <a:latin typeface="+mn-lt"/>
                              <a:ea typeface="+mn-ea"/>
                              <a:cs typeface="+mn-cs"/>
                            </a:rPr>
                            <a:t>g(E[</a:t>
                          </a:r>
                          <a:r>
                            <a:rPr lang="en-US" sz="1400" b="0" i="0" u="none" strike="noStrike" kern="1200" dirty="0" err="1">
                              <a:solidFill>
                                <a:schemeClr val="dk1"/>
                              </a:solidFill>
                              <a:effectLst/>
                              <a:latin typeface="+mn-lt"/>
                              <a:ea typeface="+mn-ea"/>
                              <a:cs typeface="+mn-cs"/>
                            </a:rPr>
                            <a:t>Y∣b</a:t>
                          </a:r>
                          <a:r>
                            <a:rPr lang="en-US" sz="1400" b="0" i="0" u="none" strike="noStrike" kern="1200" dirty="0">
                              <a:solidFill>
                                <a:schemeClr val="dk1"/>
                              </a:solidFill>
                              <a:effectLst/>
                              <a:latin typeface="+mn-lt"/>
                              <a:ea typeface="+mn-ea"/>
                              <a:cs typeface="+mn-cs"/>
                            </a:rPr>
                            <a:t>])=X</a:t>
                          </a:r>
                          <a:r>
                            <a:rPr lang="el-GR" sz="1400" b="0" i="0" u="none" strike="noStrike" kern="1200" dirty="0">
                              <a:solidFill>
                                <a:schemeClr val="dk1"/>
                              </a:solidFill>
                              <a:effectLst/>
                              <a:latin typeface="+mn-lt"/>
                              <a:ea typeface="+mn-ea"/>
                              <a:cs typeface="+mn-cs"/>
                            </a:rPr>
                            <a:t>β+</a:t>
                          </a:r>
                          <a:r>
                            <a:rPr lang="en-US" sz="1400" b="0" i="0" u="none" strike="noStrike" kern="1200" dirty="0" err="1">
                              <a:solidFill>
                                <a:schemeClr val="dk1"/>
                              </a:solidFill>
                              <a:effectLst/>
                              <a:latin typeface="+mn-lt"/>
                              <a:ea typeface="+mn-ea"/>
                              <a:cs typeface="+mn-cs"/>
                            </a:rPr>
                            <a:t>Zb</a:t>
                          </a:r>
                          <a:endParaRPr lang="en-US" sz="1400" dirty="0"/>
                        </a:p>
                      </a:txBody>
                      <a:tcPr marL="95527" marR="95527" marT="47764" marB="47764"/>
                    </a:tc>
                    <a:tc>
                      <a:txBody>
                        <a:bodyPr/>
                        <a:lstStyle/>
                        <a:p>
                          <a:r>
                            <a:rPr lang="en-US" sz="1400" dirty="0"/>
                            <a:t>Marginal likelihood</a:t>
                          </a:r>
                        </a:p>
                      </a:txBody>
                      <a:tcPr marL="95527" marR="95527" marT="47764" marB="47764"/>
                    </a:tc>
                    <a:tc>
                      <a:txBody>
                        <a:bodyPr/>
                        <a:lstStyle/>
                        <a:p>
                          <a:pPr marL="0" indent="0">
                            <a:buFont typeface="Arial" panose="020B0604020202020204" pitchFamily="34" charset="0"/>
                            <a:buNone/>
                          </a:pPr>
                          <a:r>
                            <a:rPr lang="en-US" sz="1400" dirty="0"/>
                            <a:t>Simple, adaptable</a:t>
                          </a:r>
                        </a:p>
                      </a:txBody>
                      <a:tcPr marL="95527" marR="95527" marT="47764" marB="47764"/>
                    </a:tc>
                    <a:tc>
                      <a:txBody>
                        <a:bodyPr/>
                        <a:lstStyle/>
                        <a:p>
                          <a:pPr marL="342900" indent="-342900">
                            <a:buFont typeface="Arial" panose="020B0604020202020204" pitchFamily="34" charset="0"/>
                            <a:buChar char="•"/>
                          </a:pPr>
                          <a:r>
                            <a:rPr lang="en-US" sz="1400" b="0" i="0" u="none" strike="noStrike" kern="1200" dirty="0" err="1">
                              <a:solidFill>
                                <a:schemeClr val="dk1"/>
                              </a:solidFill>
                              <a:effectLst/>
                              <a:latin typeface="+mn-lt"/>
                              <a:ea typeface="+mn-ea"/>
                              <a:cs typeface="+mn-cs"/>
                            </a:rPr>
                            <a:t>b∼N</a:t>
                          </a:r>
                          <a:r>
                            <a:rPr lang="en-US" sz="1400" b="0" i="0" u="none" strike="noStrike" kern="1200" dirty="0">
                              <a:solidFill>
                                <a:schemeClr val="dk1"/>
                              </a:solidFill>
                              <a:effectLst/>
                              <a:latin typeface="+mn-lt"/>
                              <a:ea typeface="+mn-ea"/>
                              <a:cs typeface="+mn-cs"/>
                            </a:rPr>
                            <a:t>(0,</a:t>
                          </a:r>
                          <a:r>
                            <a:rPr lang="el-GR" sz="1400" b="0" i="0" u="none" strike="noStrike" kern="1200" dirty="0">
                              <a:solidFill>
                                <a:schemeClr val="dk1"/>
                              </a:solidFill>
                              <a:effectLst/>
                              <a:latin typeface="+mn-lt"/>
                              <a:ea typeface="+mn-ea"/>
                              <a:cs typeface="+mn-cs"/>
                            </a:rPr>
                            <a:t>Σ)</a:t>
                          </a:r>
                          <a:endParaRPr lang="en-US" sz="1400" b="0" i="0" u="none" strike="noStrike" kern="1200" dirty="0">
                            <a:solidFill>
                              <a:schemeClr val="dk1"/>
                            </a:solidFill>
                            <a:effectLst/>
                            <a:latin typeface="+mn-lt"/>
                            <a:ea typeface="+mn-ea"/>
                            <a:cs typeface="+mn-cs"/>
                          </a:endParaRPr>
                        </a:p>
                        <a:p>
                          <a:pPr marL="342900" indent="-342900">
                            <a:buFont typeface="Arial" panose="020B0604020202020204" pitchFamily="34" charset="0"/>
                            <a:buChar char="•"/>
                          </a:pPr>
                          <a:r>
                            <a:rPr lang="en-US" sz="1400" b="0" i="0" u="none" strike="noStrike" kern="1200" dirty="0">
                              <a:solidFill>
                                <a:schemeClr val="dk1"/>
                              </a:solidFill>
                              <a:effectLst/>
                              <a:latin typeface="+mn-lt"/>
                              <a:ea typeface="+mn-ea"/>
                              <a:cs typeface="+mn-cs"/>
                            </a:rPr>
                            <a:t>link function g</a:t>
                          </a:r>
                        </a:p>
                        <a:p>
                          <a:pPr marL="342900" indent="-342900">
                            <a:buFont typeface="Arial" panose="020B0604020202020204" pitchFamily="34" charset="0"/>
                            <a:buChar char="•"/>
                          </a:pPr>
                          <a:r>
                            <a:rPr lang="en-US" sz="1400" b="0" i="0" u="none" strike="noStrike" kern="1200" dirty="0">
                              <a:solidFill>
                                <a:schemeClr val="dk1"/>
                              </a:solidFill>
                              <a:effectLst/>
                              <a:latin typeface="+mn-lt"/>
                              <a:ea typeface="+mn-ea"/>
                              <a:cs typeface="+mn-cs"/>
                            </a:rPr>
                            <a:t>Conditional independence on random effects</a:t>
                          </a:r>
                        </a:p>
                        <a:p>
                          <a:pPr marL="342900" indent="-342900">
                            <a:buFont typeface="Arial" panose="020B0604020202020204" pitchFamily="34" charset="0"/>
                            <a:buChar char="•"/>
                          </a:pPr>
                          <a:r>
                            <a:rPr lang="en-US" sz="1400" b="0" i="0" u="none" strike="noStrike" kern="1200" dirty="0">
                              <a:solidFill>
                                <a:schemeClr val="dk1"/>
                              </a:solidFill>
                              <a:effectLst/>
                              <a:latin typeface="+mn-lt"/>
                              <a:ea typeface="+mn-ea"/>
                              <a:cs typeface="+mn-cs"/>
                            </a:rPr>
                            <a:t>Exponential family distribution for Y</a:t>
                          </a:r>
                          <a:endParaRPr lang="en-US" sz="1400" dirty="0"/>
                        </a:p>
                      </a:txBody>
                      <a:tcPr marL="95527" marR="95527" marT="47764" marB="47764"/>
                    </a:tc>
                    <a:extLst>
                      <a:ext uri="{0D108BD9-81ED-4DB2-BD59-A6C34878D82A}">
                        <a16:rowId xmlns:a16="http://schemas.microsoft.com/office/drawing/2014/main" val="2265124686"/>
                      </a:ext>
                    </a:extLst>
                  </a:tr>
                  <a:tr h="387416">
                    <a:tc>
                      <a:txBody>
                        <a:bodyPr/>
                        <a:lstStyle/>
                        <a:p>
                          <a:r>
                            <a:rPr lang="en-US" sz="1900" dirty="0"/>
                            <a:t>Ridge regression</a:t>
                          </a:r>
                        </a:p>
                      </a:txBody>
                      <a:tcPr marL="95527" marR="95527" marT="47764" marB="47764"/>
                    </a:tc>
                    <a:tc>
                      <a:txBody>
                        <a:bodyPr/>
                        <a:lstStyle/>
                        <a:p>
                          <a:r>
                            <a:rPr lang="en-US" sz="1400" b="0" i="0" u="none" strike="noStrike" kern="1200" dirty="0">
                              <a:solidFill>
                                <a:schemeClr val="dk1"/>
                              </a:solidFill>
                              <a:effectLst/>
                              <a:latin typeface="+mn-lt"/>
                              <a:ea typeface="+mn-ea"/>
                              <a:cs typeface="+mn-cs"/>
                            </a:rPr>
                            <a:t>Y=X</a:t>
                          </a:r>
                          <a:r>
                            <a:rPr lang="el-GR" sz="1400" b="0" i="0" u="none" strike="noStrike" kern="1200" dirty="0" err="1">
                              <a:solidFill>
                                <a:schemeClr val="dk1"/>
                              </a:solidFill>
                              <a:effectLst/>
                              <a:latin typeface="+mn-lt"/>
                              <a:ea typeface="+mn-ea"/>
                              <a:cs typeface="+mn-cs"/>
                            </a:rPr>
                            <a:t>β+ε</a:t>
                          </a:r>
                          <a:endParaRPr lang="en-US" sz="1400" dirty="0"/>
                        </a:p>
                      </a:txBody>
                      <a:tcPr marL="95527" marR="95527" marT="47764" marB="47764"/>
                    </a:tc>
                    <a:tc>
                      <a:txBody>
                        <a:bodyPr/>
                        <a:lstStyle/>
                        <a:p>
                          <a:r>
                            <a:rPr lang="el-GR" sz="1400" b="0" i="0" u="none" strike="noStrike" kern="1200" dirty="0">
                              <a:solidFill>
                                <a:schemeClr val="dk1"/>
                              </a:solidFill>
                              <a:effectLst/>
                              <a:latin typeface="+mn-lt"/>
                              <a:ea typeface="+mn-ea"/>
                              <a:cs typeface="+mn-cs"/>
                            </a:rPr>
                            <a:t>​</a:t>
                          </a:r>
                          <a14:m>
                            <m:oMath xmlns:m="http://schemas.openxmlformats.org/officeDocument/2006/math">
                              <m:r>
                                <a:rPr lang="en-US" sz="1400" b="0" i="1" u="none" strike="noStrike" kern="1200" smtClean="0">
                                  <a:solidFill>
                                    <a:schemeClr val="dk1"/>
                                  </a:solidFill>
                                  <a:effectLst/>
                                  <a:latin typeface="Cambria Math" panose="02040503050406030204" pitchFamily="18" charset="0"/>
                                  <a:ea typeface="+mn-ea"/>
                                  <a:cs typeface="+mn-cs"/>
                                </a:rPr>
                                <m:t>𝑅𝑆𝑆</m:t>
                              </m:r>
                              <m:r>
                                <a:rPr lang="en-US" sz="1400" b="0" i="1" u="none" strike="noStrike" kern="1200" smtClean="0">
                                  <a:solidFill>
                                    <a:schemeClr val="dk1"/>
                                  </a:solidFill>
                                  <a:effectLst/>
                                  <a:latin typeface="Cambria Math" panose="02040503050406030204" pitchFamily="18" charset="0"/>
                                  <a:ea typeface="+mn-ea"/>
                                  <a:cs typeface="+mn-cs"/>
                                </a:rPr>
                                <m:t>(</m:t>
                              </m:r>
                              <m:r>
                                <m:rPr>
                                  <m:nor/>
                                </m:rPr>
                                <a:rPr lang="el-GR" sz="1400" b="0" i="0" u="none" strike="noStrike" kern="1200" dirty="0" smtClean="0">
                                  <a:solidFill>
                                    <a:schemeClr val="dk1"/>
                                  </a:solidFill>
                                  <a:effectLst/>
                                  <a:latin typeface="+mn-lt"/>
                                  <a:ea typeface="+mn-ea"/>
                                  <a:cs typeface="+mn-cs"/>
                                </a:rPr>
                                <m:t>β</m:t>
                              </m:r>
                              <m:r>
                                <m:rPr>
                                  <m:nor/>
                                </m:rPr>
                                <a:rPr lang="en-US" sz="1400" b="0" i="0" u="none" strike="noStrike" kern="1200" dirty="0" smtClean="0">
                                  <a:solidFill>
                                    <a:schemeClr val="dk1"/>
                                  </a:solidFill>
                                  <a:effectLst/>
                                  <a:latin typeface="+mn-lt"/>
                                  <a:ea typeface="+mn-ea"/>
                                  <a:cs typeface="+mn-cs"/>
                                </a:rPr>
                                <m:t>) +</m:t>
                              </m:r>
                              <m:r>
                                <m:rPr>
                                  <m:nor/>
                                </m:rPr>
                                <a:rPr lang="el-GR" sz="1400" b="0" i="0" u="none" strike="noStrike" kern="1200" smtClean="0">
                                  <a:solidFill>
                                    <a:schemeClr val="dk1"/>
                                  </a:solidFill>
                                  <a:effectLst/>
                                  <a:latin typeface="+mn-lt"/>
                                  <a:ea typeface="+mn-ea"/>
                                  <a:cs typeface="+mn-cs"/>
                                </a:rPr>
                                <m:t>λ</m:t>
                              </m:r>
                              <m:sSubSup>
                                <m:sSubSupPr>
                                  <m:ctrlPr>
                                    <a:rPr lang="el-GR" sz="1400" b="0" i="1" u="none" strike="noStrike" kern="1200" smtClean="0">
                                      <a:solidFill>
                                        <a:schemeClr val="dk1"/>
                                      </a:solidFill>
                                      <a:effectLst/>
                                      <a:latin typeface="Cambria Math" panose="02040503050406030204" pitchFamily="18" charset="0"/>
                                      <a:ea typeface="+mn-ea"/>
                                      <a:cs typeface="+mn-cs"/>
                                    </a:rPr>
                                  </m:ctrlPr>
                                </m:sSubSupPr>
                                <m:e>
                                  <m:r>
                                    <m:rPr>
                                      <m:nor/>
                                    </m:rPr>
                                    <a:rPr lang="el-GR" sz="1400" b="0" i="0" u="none" strike="noStrike" kern="1200" smtClean="0">
                                      <a:solidFill>
                                        <a:schemeClr val="dk1"/>
                                      </a:solidFill>
                                      <a:effectLst/>
                                      <a:latin typeface="+mn-lt"/>
                                      <a:ea typeface="+mn-ea"/>
                                      <a:cs typeface="+mn-cs"/>
                                    </a:rPr>
                                    <m:t>∥</m:t>
                                  </m:r>
                                  <m:r>
                                    <m:rPr>
                                      <m:nor/>
                                    </m:rPr>
                                    <a:rPr lang="el-GR" sz="1400" b="0" i="0" u="none" strike="noStrike" kern="1200" smtClean="0">
                                      <a:solidFill>
                                        <a:schemeClr val="dk1"/>
                                      </a:solidFill>
                                      <a:effectLst/>
                                      <a:latin typeface="+mn-lt"/>
                                      <a:ea typeface="+mn-ea"/>
                                      <a:cs typeface="+mn-cs"/>
                                    </a:rPr>
                                    <m:t>β</m:t>
                                  </m:r>
                                  <m:r>
                                    <m:rPr>
                                      <m:nor/>
                                    </m:rPr>
                                    <a:rPr lang="el-GR" sz="1400" b="0" i="0" u="none" strike="noStrike" kern="1200" smtClean="0">
                                      <a:solidFill>
                                        <a:schemeClr val="dk1"/>
                                      </a:solidFill>
                                      <a:effectLst/>
                                      <a:latin typeface="+mn-lt"/>
                                      <a:ea typeface="+mn-ea"/>
                                      <a:cs typeface="+mn-cs"/>
                                    </a:rPr>
                                    <m:t>∥​</m:t>
                                  </m:r>
                                </m:e>
                                <m:sub>
                                  <m:r>
                                    <a:rPr lang="en-US" sz="1400" b="0" i="1" u="none" strike="noStrike" kern="1200" smtClean="0">
                                      <a:solidFill>
                                        <a:schemeClr val="dk1"/>
                                      </a:solidFill>
                                      <a:effectLst/>
                                      <a:latin typeface="Cambria Math" panose="02040503050406030204" pitchFamily="18" charset="0"/>
                                      <a:ea typeface="+mn-ea"/>
                                      <a:cs typeface="+mn-cs"/>
                                    </a:rPr>
                                    <m:t>2</m:t>
                                  </m:r>
                                </m:sub>
                                <m:sup>
                                  <m:r>
                                    <a:rPr lang="en-US" sz="1400" b="0" i="1" u="none" strike="noStrike" kern="1200" smtClean="0">
                                      <a:solidFill>
                                        <a:schemeClr val="dk1"/>
                                      </a:solidFill>
                                      <a:effectLst/>
                                      <a:latin typeface="Cambria Math" panose="02040503050406030204" pitchFamily="18" charset="0"/>
                                      <a:ea typeface="+mn-ea"/>
                                      <a:cs typeface="+mn-cs"/>
                                    </a:rPr>
                                    <m:t>2</m:t>
                                  </m:r>
                                </m:sup>
                              </m:sSubSup>
                            </m:oMath>
                          </a14:m>
                          <a:endParaRPr lang="en-US" sz="1400" dirty="0"/>
                        </a:p>
                      </a:txBody>
                      <a:tcPr marL="95527" marR="95527" marT="47764" marB="47764"/>
                    </a:tc>
                    <a:tc>
                      <a:txBody>
                        <a:bodyPr/>
                        <a:lstStyle/>
                        <a:p>
                          <a:pPr marL="171450" indent="-171450">
                            <a:buFont typeface="Arial" panose="020B0604020202020204" pitchFamily="34" charset="0"/>
                            <a:buChar char="•"/>
                          </a:pPr>
                          <a:r>
                            <a:rPr lang="en-US" sz="1400" dirty="0"/>
                            <a:t>Keeps all variables</a:t>
                          </a:r>
                        </a:p>
                        <a:p>
                          <a:pPr marL="171450" indent="-171450">
                            <a:buFont typeface="Arial" panose="020B0604020202020204" pitchFamily="34" charset="0"/>
                            <a:buChar char="•"/>
                          </a:pPr>
                          <a:r>
                            <a:rPr lang="en-US" sz="1400" dirty="0"/>
                            <a:t>Shrinks betas</a:t>
                          </a:r>
                        </a:p>
                        <a:p>
                          <a:pPr marL="171450" indent="-171450">
                            <a:buFont typeface="Arial" panose="020B0604020202020204" pitchFamily="34" charset="0"/>
                            <a:buChar char="•"/>
                          </a:pPr>
                          <a:r>
                            <a:rPr lang="en-US" sz="1400" dirty="0"/>
                            <a:t>Better estimates for correlated variables</a:t>
                          </a:r>
                        </a:p>
                      </a:txBody>
                      <a:tcPr marL="95527" marR="95527" marT="47764" marB="4776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400" b="0" i="0" u="none" strike="noStrike" kern="1200" dirty="0">
                              <a:solidFill>
                                <a:schemeClr val="dk1"/>
                              </a:solidFill>
                              <a:effectLst/>
                              <a:latin typeface="+mn-lt"/>
                              <a:ea typeface="+mn-ea"/>
                              <a:cs typeface="+mn-cs"/>
                            </a:rPr>
                            <a:t>ε∼</a:t>
                          </a:r>
                          <a:r>
                            <a:rPr lang="en-US" sz="1400" b="0" i="0" u="none" strike="noStrike" kern="1200" dirty="0">
                              <a:solidFill>
                                <a:schemeClr val="dk1"/>
                              </a:solidFill>
                              <a:effectLst/>
                              <a:latin typeface="+mn-lt"/>
                              <a:ea typeface="+mn-ea"/>
                              <a:cs typeface="+mn-cs"/>
                            </a:rPr>
                            <a:t>N(0,</a:t>
                          </a:r>
                          <a:r>
                            <a:rPr lang="el-GR" sz="1400" b="0" i="0" u="none" strike="noStrike" kern="1200" dirty="0">
                              <a:solidFill>
                                <a:schemeClr val="dk1"/>
                              </a:solidFill>
                              <a:effectLst/>
                              <a:latin typeface="+mn-lt"/>
                              <a:ea typeface="+mn-ea"/>
                              <a:cs typeface="+mn-cs"/>
                            </a:rPr>
                            <a:t>σ</a:t>
                          </a:r>
                          <a:r>
                            <a:rPr lang="el-GR" sz="1400" b="0" i="0" u="none" strike="noStrike" kern="1200" baseline="30000" dirty="0">
                              <a:solidFill>
                                <a:schemeClr val="dk1"/>
                              </a:solidFill>
                              <a:effectLst/>
                              <a:latin typeface="+mn-lt"/>
                              <a:ea typeface="+mn-ea"/>
                              <a:cs typeface="+mn-cs"/>
                            </a:rPr>
                            <a:t>2</a:t>
                          </a:r>
                          <a:r>
                            <a:rPr lang="el-GR" sz="1400" b="0" i="0" u="none" strike="noStrike" kern="1200" dirty="0">
                              <a:solidFill>
                                <a:schemeClr val="dk1"/>
                              </a:solidFill>
                              <a:effectLst/>
                              <a:latin typeface="+mn-lt"/>
                              <a:ea typeface="+mn-ea"/>
                              <a:cs typeface="+mn-cs"/>
                            </a:rPr>
                            <a:t>)</a:t>
                          </a:r>
                          <a:endParaRPr lang="en-US" sz="1400" dirty="0"/>
                        </a:p>
                        <a:p>
                          <a:endParaRPr lang="en-US" sz="1400" dirty="0"/>
                        </a:p>
                      </a:txBody>
                      <a:tcPr marL="95527" marR="95527" marT="47764" marB="47764"/>
                    </a:tc>
                    <a:extLst>
                      <a:ext uri="{0D108BD9-81ED-4DB2-BD59-A6C34878D82A}">
                        <a16:rowId xmlns:a16="http://schemas.microsoft.com/office/drawing/2014/main" val="2423245186"/>
                      </a:ext>
                    </a:extLst>
                  </a:tr>
                  <a:tr h="387416">
                    <a:tc>
                      <a:txBody>
                        <a:bodyPr/>
                        <a:lstStyle/>
                        <a:p>
                          <a:r>
                            <a:rPr lang="en-US" sz="1900" dirty="0"/>
                            <a:t>LASSO</a:t>
                          </a:r>
                        </a:p>
                      </a:txBody>
                      <a:tcPr marL="95527" marR="95527" marT="47764" marB="47764"/>
                    </a:tc>
                    <a:tc>
                      <a:txBody>
                        <a:bodyPr/>
                        <a:lstStyle/>
                        <a:p>
                          <a:r>
                            <a:rPr lang="en-US" sz="1400" b="0" i="0" u="none" strike="noStrike" kern="1200" dirty="0">
                              <a:solidFill>
                                <a:schemeClr val="dk1"/>
                              </a:solidFill>
                              <a:effectLst/>
                              <a:latin typeface="+mn-lt"/>
                              <a:ea typeface="+mn-ea"/>
                              <a:cs typeface="+mn-cs"/>
                            </a:rPr>
                            <a:t>Y=X</a:t>
                          </a:r>
                          <a:r>
                            <a:rPr lang="el-GR" sz="1400" b="0" i="0" u="none" strike="noStrike" kern="1200" dirty="0" err="1">
                              <a:solidFill>
                                <a:schemeClr val="dk1"/>
                              </a:solidFill>
                              <a:effectLst/>
                              <a:latin typeface="+mn-lt"/>
                              <a:ea typeface="+mn-ea"/>
                              <a:cs typeface="+mn-cs"/>
                            </a:rPr>
                            <a:t>β+ε</a:t>
                          </a:r>
                          <a:endParaRPr lang="en-US" sz="1400" dirty="0"/>
                        </a:p>
                      </a:txBody>
                      <a:tcPr marL="95527" marR="95527" marT="47764" marB="47764"/>
                    </a:tc>
                    <a:tc>
                      <a:txBody>
                        <a:bodyPr/>
                        <a:lstStyle/>
                        <a:p>
                          <a:r>
                            <a:rPr lang="el-GR" sz="1400" b="0" i="0" u="none" strike="noStrike" kern="1200" dirty="0">
                              <a:solidFill>
                                <a:schemeClr val="dk1"/>
                              </a:solidFill>
                              <a:effectLst/>
                              <a:latin typeface="+mn-lt"/>
                              <a:ea typeface="+mn-ea"/>
                              <a:cs typeface="+mn-cs"/>
                            </a:rPr>
                            <a:t>​</a:t>
                          </a:r>
                          <a14:m>
                            <m:oMath xmlns:m="http://schemas.openxmlformats.org/officeDocument/2006/math">
                              <m:r>
                                <a:rPr lang="en-US" sz="1400" b="0" i="1" u="none" strike="noStrike" kern="1200" smtClean="0">
                                  <a:solidFill>
                                    <a:schemeClr val="dk1"/>
                                  </a:solidFill>
                                  <a:effectLst/>
                                  <a:latin typeface="Cambria Math" panose="02040503050406030204" pitchFamily="18" charset="0"/>
                                  <a:ea typeface="+mn-ea"/>
                                  <a:cs typeface="+mn-cs"/>
                                </a:rPr>
                                <m:t>𝑅𝑆𝑆</m:t>
                              </m:r>
                              <m:r>
                                <a:rPr lang="en-US" sz="1400" b="0" i="1" u="none" strike="noStrike" kern="1200" smtClean="0">
                                  <a:solidFill>
                                    <a:schemeClr val="dk1"/>
                                  </a:solidFill>
                                  <a:effectLst/>
                                  <a:latin typeface="Cambria Math" panose="02040503050406030204" pitchFamily="18" charset="0"/>
                                  <a:ea typeface="+mn-ea"/>
                                  <a:cs typeface="+mn-cs"/>
                                </a:rPr>
                                <m:t>(</m:t>
                              </m:r>
                              <m:r>
                                <m:rPr>
                                  <m:nor/>
                                </m:rPr>
                                <a:rPr lang="el-GR" sz="1400" b="0" i="0" u="none" strike="noStrike" kern="1200" dirty="0" smtClean="0">
                                  <a:solidFill>
                                    <a:schemeClr val="dk1"/>
                                  </a:solidFill>
                                  <a:effectLst/>
                                  <a:latin typeface="+mn-lt"/>
                                  <a:ea typeface="+mn-ea"/>
                                  <a:cs typeface="+mn-cs"/>
                                </a:rPr>
                                <m:t>β</m:t>
                              </m:r>
                              <m:r>
                                <m:rPr>
                                  <m:nor/>
                                </m:rPr>
                                <a:rPr lang="en-US" sz="1400" b="0" i="0" u="none" strike="noStrike" kern="1200" dirty="0" smtClean="0">
                                  <a:solidFill>
                                    <a:schemeClr val="dk1"/>
                                  </a:solidFill>
                                  <a:effectLst/>
                                  <a:latin typeface="+mn-lt"/>
                                  <a:ea typeface="+mn-ea"/>
                                  <a:cs typeface="+mn-cs"/>
                                </a:rPr>
                                <m:t>) +</m:t>
                              </m:r>
                              <m:r>
                                <m:rPr>
                                  <m:nor/>
                                </m:rPr>
                                <a:rPr lang="el-GR" sz="1400" b="0" i="0" u="none" strike="noStrike" kern="1200" smtClean="0">
                                  <a:solidFill>
                                    <a:schemeClr val="dk1"/>
                                  </a:solidFill>
                                  <a:effectLst/>
                                  <a:latin typeface="+mn-lt"/>
                                  <a:ea typeface="+mn-ea"/>
                                  <a:cs typeface="+mn-cs"/>
                                </a:rPr>
                                <m:t>λ</m:t>
                              </m:r>
                              <m:sSubSup>
                                <m:sSubSupPr>
                                  <m:ctrlPr>
                                    <a:rPr lang="el-GR" sz="1400" b="0" i="1" u="none" strike="noStrike" kern="1200" smtClean="0">
                                      <a:solidFill>
                                        <a:schemeClr val="dk1"/>
                                      </a:solidFill>
                                      <a:effectLst/>
                                      <a:latin typeface="Cambria Math" panose="02040503050406030204" pitchFamily="18" charset="0"/>
                                      <a:ea typeface="+mn-ea"/>
                                      <a:cs typeface="+mn-cs"/>
                                    </a:rPr>
                                  </m:ctrlPr>
                                </m:sSubSupPr>
                                <m:e>
                                  <m:r>
                                    <m:rPr>
                                      <m:nor/>
                                    </m:rPr>
                                    <a:rPr lang="el-GR" sz="1400" b="0" i="0" u="none" strike="noStrike" kern="1200" smtClean="0">
                                      <a:solidFill>
                                        <a:schemeClr val="dk1"/>
                                      </a:solidFill>
                                      <a:effectLst/>
                                      <a:latin typeface="+mn-lt"/>
                                      <a:ea typeface="+mn-ea"/>
                                      <a:cs typeface="+mn-cs"/>
                                    </a:rPr>
                                    <m:t>∥</m:t>
                                  </m:r>
                                  <m:r>
                                    <m:rPr>
                                      <m:nor/>
                                    </m:rPr>
                                    <a:rPr lang="el-GR" sz="1400" b="0" i="0" u="none" strike="noStrike" kern="1200" smtClean="0">
                                      <a:solidFill>
                                        <a:schemeClr val="dk1"/>
                                      </a:solidFill>
                                      <a:effectLst/>
                                      <a:latin typeface="+mn-lt"/>
                                      <a:ea typeface="+mn-ea"/>
                                      <a:cs typeface="+mn-cs"/>
                                    </a:rPr>
                                    <m:t>β</m:t>
                                  </m:r>
                                  <m:r>
                                    <m:rPr>
                                      <m:nor/>
                                    </m:rPr>
                                    <a:rPr lang="el-GR" sz="1400" b="0" i="0" u="none" strike="noStrike" kern="1200" smtClean="0">
                                      <a:solidFill>
                                        <a:schemeClr val="dk1"/>
                                      </a:solidFill>
                                      <a:effectLst/>
                                      <a:latin typeface="+mn-lt"/>
                                      <a:ea typeface="+mn-ea"/>
                                      <a:cs typeface="+mn-cs"/>
                                    </a:rPr>
                                    <m:t>∥​</m:t>
                                  </m:r>
                                </m:e>
                                <m:sub>
                                  <m:r>
                                    <a:rPr lang="en-US" sz="1400" b="0" i="1" u="none" strike="noStrike" kern="1200" smtClean="0">
                                      <a:solidFill>
                                        <a:schemeClr val="dk1"/>
                                      </a:solidFill>
                                      <a:effectLst/>
                                      <a:latin typeface="Cambria Math" panose="02040503050406030204" pitchFamily="18" charset="0"/>
                                      <a:ea typeface="+mn-ea"/>
                                      <a:cs typeface="+mn-cs"/>
                                    </a:rPr>
                                    <m:t>1</m:t>
                                  </m:r>
                                </m:sub>
                                <m:sup/>
                              </m:sSubSup>
                            </m:oMath>
                          </a14:m>
                          <a:endParaRPr lang="en-US" sz="1400" dirty="0"/>
                        </a:p>
                      </a:txBody>
                      <a:tcPr marL="95527" marR="95527" marT="47764" marB="47764"/>
                    </a:tc>
                    <a:tc>
                      <a:txBody>
                        <a:bodyPr/>
                        <a:lstStyle/>
                        <a:p>
                          <a:pPr marL="285750" indent="-285750">
                            <a:buFont typeface="Arial" panose="020B0604020202020204" pitchFamily="34" charset="0"/>
                            <a:buChar char="•"/>
                          </a:pPr>
                          <a:r>
                            <a:rPr lang="en-US" sz="1400" dirty="0"/>
                            <a:t>Shrinks betas</a:t>
                          </a:r>
                        </a:p>
                        <a:p>
                          <a:pPr marL="285750" indent="-285750">
                            <a:buFont typeface="Arial" panose="020B0604020202020204" pitchFamily="34" charset="0"/>
                            <a:buChar char="•"/>
                          </a:pPr>
                          <a:r>
                            <a:rPr lang="en-US" sz="1400" dirty="0"/>
                            <a:t>Sparse/feature selection: sets many to 0</a:t>
                          </a:r>
                        </a:p>
                      </a:txBody>
                      <a:tcPr marL="95527" marR="95527" marT="47764" marB="4776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400" b="0" i="0" u="none" strike="noStrike" kern="1200" dirty="0">
                              <a:solidFill>
                                <a:schemeClr val="dk1"/>
                              </a:solidFill>
                              <a:effectLst/>
                              <a:latin typeface="+mn-lt"/>
                              <a:ea typeface="+mn-ea"/>
                              <a:cs typeface="+mn-cs"/>
                            </a:rPr>
                            <a:t>ε∼</a:t>
                          </a:r>
                          <a:r>
                            <a:rPr lang="en-US" sz="1400" b="0" i="0" u="none" strike="noStrike" kern="1200" dirty="0">
                              <a:solidFill>
                                <a:schemeClr val="dk1"/>
                              </a:solidFill>
                              <a:effectLst/>
                              <a:latin typeface="+mn-lt"/>
                              <a:ea typeface="+mn-ea"/>
                              <a:cs typeface="+mn-cs"/>
                            </a:rPr>
                            <a:t>N(0,</a:t>
                          </a:r>
                          <a:r>
                            <a:rPr lang="el-GR" sz="1400" b="0" i="0" u="none" strike="noStrike" kern="1200" dirty="0">
                              <a:solidFill>
                                <a:schemeClr val="dk1"/>
                              </a:solidFill>
                              <a:effectLst/>
                              <a:latin typeface="+mn-lt"/>
                              <a:ea typeface="+mn-ea"/>
                              <a:cs typeface="+mn-cs"/>
                            </a:rPr>
                            <a:t>σ</a:t>
                          </a:r>
                          <a:r>
                            <a:rPr lang="el-GR" sz="1400" b="0" i="0" u="none" strike="noStrike" kern="1200" baseline="30000" dirty="0">
                              <a:solidFill>
                                <a:schemeClr val="dk1"/>
                              </a:solidFill>
                              <a:effectLst/>
                              <a:latin typeface="+mn-lt"/>
                              <a:ea typeface="+mn-ea"/>
                              <a:cs typeface="+mn-cs"/>
                            </a:rPr>
                            <a:t>2</a:t>
                          </a:r>
                          <a:r>
                            <a:rPr lang="el-GR" sz="1400" b="0" i="0" u="none" strike="noStrike" kern="1200" dirty="0">
                              <a:solidFill>
                                <a:schemeClr val="dk1"/>
                              </a:solidFill>
                              <a:effectLst/>
                              <a:latin typeface="+mn-lt"/>
                              <a:ea typeface="+mn-ea"/>
                              <a:cs typeface="+mn-cs"/>
                            </a:rPr>
                            <a:t>)</a:t>
                          </a:r>
                          <a:endParaRPr lang="en-US" sz="1400" dirty="0"/>
                        </a:p>
                        <a:p>
                          <a:endParaRPr lang="en-US" sz="1400" dirty="0"/>
                        </a:p>
                      </a:txBody>
                      <a:tcPr marL="95527" marR="95527" marT="47764" marB="47764"/>
                    </a:tc>
                    <a:extLst>
                      <a:ext uri="{0D108BD9-81ED-4DB2-BD59-A6C34878D82A}">
                        <a16:rowId xmlns:a16="http://schemas.microsoft.com/office/drawing/2014/main" val="3575745768"/>
                      </a:ext>
                    </a:extLst>
                  </a:tr>
                  <a:tr h="387416">
                    <a:tc>
                      <a:txBody>
                        <a:bodyPr/>
                        <a:lstStyle/>
                        <a:p>
                          <a:r>
                            <a:rPr lang="en-US" sz="1900" dirty="0"/>
                            <a:t>Elastic net</a:t>
                          </a:r>
                        </a:p>
                      </a:txBody>
                      <a:tcPr marL="95527" marR="95527" marT="47764" marB="4776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u="none" strike="noStrike" kern="1200" dirty="0">
                              <a:solidFill>
                                <a:schemeClr val="dk1"/>
                              </a:solidFill>
                              <a:effectLst/>
                              <a:latin typeface="+mn-lt"/>
                              <a:ea typeface="+mn-ea"/>
                              <a:cs typeface="+mn-cs"/>
                            </a:rPr>
                            <a:t>Y=X</a:t>
                          </a:r>
                          <a:r>
                            <a:rPr lang="el-GR" sz="1400" b="0" i="0" u="none" strike="noStrike" kern="1200" dirty="0" err="1">
                              <a:solidFill>
                                <a:schemeClr val="dk1"/>
                              </a:solidFill>
                              <a:effectLst/>
                              <a:latin typeface="+mn-lt"/>
                              <a:ea typeface="+mn-ea"/>
                              <a:cs typeface="+mn-cs"/>
                            </a:rPr>
                            <a:t>β+ε</a:t>
                          </a:r>
                          <a:endParaRPr lang="en-US" sz="1400" dirty="0"/>
                        </a:p>
                      </a:txBody>
                      <a:tcPr marL="95527" marR="95527" marT="47764" marB="47764"/>
                    </a:tc>
                    <a:tc>
                      <a:txBody>
                        <a:bodyPr/>
                        <a:lstStyle/>
                        <a:p>
                          <a:r>
                            <a:rPr lang="el-GR" sz="1400" b="0" i="0" u="none" strike="noStrike" kern="1200" dirty="0">
                              <a:solidFill>
                                <a:schemeClr val="dk1"/>
                              </a:solidFill>
                              <a:effectLst/>
                              <a:latin typeface="+mn-lt"/>
                              <a:ea typeface="+mn-ea"/>
                              <a:cs typeface="+mn-cs"/>
                            </a:rPr>
                            <a:t>​</a:t>
                          </a:r>
                          <a14:m>
                            <m:oMath xmlns:m="http://schemas.openxmlformats.org/officeDocument/2006/math">
                              <m:r>
                                <a:rPr lang="en-US" sz="1400" b="0" i="1" u="none" strike="noStrike" kern="1200" smtClean="0">
                                  <a:solidFill>
                                    <a:schemeClr val="dk1"/>
                                  </a:solidFill>
                                  <a:effectLst/>
                                  <a:latin typeface="Cambria Math" panose="02040503050406030204" pitchFamily="18" charset="0"/>
                                  <a:ea typeface="+mn-ea"/>
                                  <a:cs typeface="+mn-cs"/>
                                </a:rPr>
                                <m:t>𝑅𝑆𝑆</m:t>
                              </m:r>
                              <m:r>
                                <a:rPr lang="en-US" sz="1400" b="0" i="1" u="none" strike="noStrike" kern="1200" smtClean="0">
                                  <a:solidFill>
                                    <a:schemeClr val="dk1"/>
                                  </a:solidFill>
                                  <a:effectLst/>
                                  <a:latin typeface="Cambria Math" panose="02040503050406030204" pitchFamily="18" charset="0"/>
                                  <a:ea typeface="+mn-ea"/>
                                  <a:cs typeface="+mn-cs"/>
                                </a:rPr>
                                <m:t>(</m:t>
                              </m:r>
                              <m:r>
                                <m:rPr>
                                  <m:nor/>
                                </m:rPr>
                                <a:rPr lang="el-GR" sz="1400" b="0" i="0" u="none" strike="noStrike" kern="1200" dirty="0" smtClean="0">
                                  <a:solidFill>
                                    <a:schemeClr val="dk1"/>
                                  </a:solidFill>
                                  <a:effectLst/>
                                  <a:latin typeface="+mn-lt"/>
                                  <a:ea typeface="+mn-ea"/>
                                  <a:cs typeface="+mn-cs"/>
                                </a:rPr>
                                <m:t>β</m:t>
                              </m:r>
                              <m:r>
                                <m:rPr>
                                  <m:nor/>
                                </m:rPr>
                                <a:rPr lang="en-US" sz="1400" b="0" i="0" u="none" strike="noStrike" kern="1200" dirty="0" smtClean="0">
                                  <a:solidFill>
                                    <a:schemeClr val="dk1"/>
                                  </a:solidFill>
                                  <a:effectLst/>
                                  <a:latin typeface="+mn-lt"/>
                                  <a:ea typeface="+mn-ea"/>
                                  <a:cs typeface="+mn-cs"/>
                                </a:rPr>
                                <m:t>) +</m:t>
                              </m:r>
                              <m:sSub>
                                <m:sSubPr>
                                  <m:ctrlPr>
                                    <a:rPr lang="en-US" sz="1400" b="0" i="1" u="none" strike="noStrike" kern="1200" dirty="0" smtClean="0">
                                      <a:solidFill>
                                        <a:schemeClr val="dk1"/>
                                      </a:solidFill>
                                      <a:effectLst/>
                                      <a:latin typeface="Cambria Math" panose="02040503050406030204" pitchFamily="18" charset="0"/>
                                      <a:ea typeface="+mn-ea"/>
                                      <a:cs typeface="+mn-cs"/>
                                    </a:rPr>
                                  </m:ctrlPr>
                                </m:sSubPr>
                                <m:e>
                                  <m:r>
                                    <m:rPr>
                                      <m:nor/>
                                    </m:rPr>
                                    <a:rPr lang="el-GR" sz="1400" b="0" i="0" u="none" strike="noStrike" kern="1200" smtClean="0">
                                      <a:solidFill>
                                        <a:schemeClr val="dk1"/>
                                      </a:solidFill>
                                      <a:effectLst/>
                                      <a:latin typeface="+mn-lt"/>
                                      <a:ea typeface="+mn-ea"/>
                                      <a:cs typeface="+mn-cs"/>
                                    </a:rPr>
                                    <m:t>λ</m:t>
                                  </m:r>
                                </m:e>
                                <m:sub>
                                  <m:r>
                                    <a:rPr lang="en-US" sz="1400" b="0" i="1" u="none" strike="noStrike" kern="1200" dirty="0" smtClean="0">
                                      <a:solidFill>
                                        <a:schemeClr val="dk1"/>
                                      </a:solidFill>
                                      <a:effectLst/>
                                      <a:latin typeface="Cambria Math" panose="02040503050406030204" pitchFamily="18" charset="0"/>
                                      <a:ea typeface="+mn-ea"/>
                                      <a:cs typeface="+mn-cs"/>
                                    </a:rPr>
                                    <m:t>1</m:t>
                                  </m:r>
                                </m:sub>
                              </m:sSub>
                              <m:sSubSup>
                                <m:sSubSupPr>
                                  <m:ctrlPr>
                                    <a:rPr lang="el-GR" sz="1400" b="0" i="1" u="none" strike="noStrike" kern="1200" smtClean="0">
                                      <a:solidFill>
                                        <a:schemeClr val="dk1"/>
                                      </a:solidFill>
                                      <a:effectLst/>
                                      <a:latin typeface="Cambria Math" panose="02040503050406030204" pitchFamily="18" charset="0"/>
                                      <a:ea typeface="+mn-ea"/>
                                      <a:cs typeface="+mn-cs"/>
                                    </a:rPr>
                                  </m:ctrlPr>
                                </m:sSubSupPr>
                                <m:e>
                                  <m:r>
                                    <m:rPr>
                                      <m:nor/>
                                    </m:rPr>
                                    <a:rPr lang="el-GR" sz="1400" b="0" i="0" u="none" strike="noStrike" kern="1200" smtClean="0">
                                      <a:solidFill>
                                        <a:schemeClr val="dk1"/>
                                      </a:solidFill>
                                      <a:effectLst/>
                                      <a:latin typeface="+mn-lt"/>
                                      <a:ea typeface="+mn-ea"/>
                                      <a:cs typeface="+mn-cs"/>
                                    </a:rPr>
                                    <m:t>∥</m:t>
                                  </m:r>
                                  <m:r>
                                    <m:rPr>
                                      <m:nor/>
                                    </m:rPr>
                                    <a:rPr lang="el-GR" sz="1400" b="0" i="0" u="none" strike="noStrike" kern="1200" smtClean="0">
                                      <a:solidFill>
                                        <a:schemeClr val="dk1"/>
                                      </a:solidFill>
                                      <a:effectLst/>
                                      <a:latin typeface="+mn-lt"/>
                                      <a:ea typeface="+mn-ea"/>
                                      <a:cs typeface="+mn-cs"/>
                                    </a:rPr>
                                    <m:t>β</m:t>
                                  </m:r>
                                  <m:r>
                                    <m:rPr>
                                      <m:nor/>
                                    </m:rPr>
                                    <a:rPr lang="el-GR" sz="1400" b="0" i="0" u="none" strike="noStrike" kern="1200" smtClean="0">
                                      <a:solidFill>
                                        <a:schemeClr val="dk1"/>
                                      </a:solidFill>
                                      <a:effectLst/>
                                      <a:latin typeface="+mn-lt"/>
                                      <a:ea typeface="+mn-ea"/>
                                      <a:cs typeface="+mn-cs"/>
                                    </a:rPr>
                                    <m:t>∥​</m:t>
                                  </m:r>
                                </m:e>
                                <m:sub>
                                  <m:r>
                                    <a:rPr lang="en-US" sz="1400" b="0" i="1" u="none" strike="noStrike" kern="1200" smtClean="0">
                                      <a:solidFill>
                                        <a:schemeClr val="dk1"/>
                                      </a:solidFill>
                                      <a:effectLst/>
                                      <a:latin typeface="Cambria Math" panose="02040503050406030204" pitchFamily="18" charset="0"/>
                                      <a:ea typeface="+mn-ea"/>
                                      <a:cs typeface="+mn-cs"/>
                                    </a:rPr>
                                    <m:t>1</m:t>
                                  </m:r>
                                </m:sub>
                                <m:sup/>
                              </m:sSubSup>
                              <m:r>
                                <a:rPr lang="en-US" sz="1400" b="0" i="1" u="none" strike="noStrike" kern="1200" smtClean="0">
                                  <a:solidFill>
                                    <a:schemeClr val="dk1"/>
                                  </a:solidFill>
                                  <a:effectLst/>
                                  <a:latin typeface="Cambria Math" panose="02040503050406030204" pitchFamily="18" charset="0"/>
                                  <a:ea typeface="+mn-ea"/>
                                  <a:cs typeface="+mn-cs"/>
                                </a:rPr>
                                <m:t>+</m:t>
                              </m:r>
                              <m:sSub>
                                <m:sSubPr>
                                  <m:ctrlPr>
                                    <a:rPr lang="en-US" sz="1400" b="0" i="1" u="none" strike="noStrike" kern="1200" dirty="0" smtClean="0">
                                      <a:solidFill>
                                        <a:schemeClr val="dk1"/>
                                      </a:solidFill>
                                      <a:effectLst/>
                                      <a:latin typeface="Cambria Math" panose="02040503050406030204" pitchFamily="18" charset="0"/>
                                      <a:ea typeface="+mn-ea"/>
                                      <a:cs typeface="+mn-cs"/>
                                    </a:rPr>
                                  </m:ctrlPr>
                                </m:sSubPr>
                                <m:e>
                                  <m:r>
                                    <m:rPr>
                                      <m:nor/>
                                    </m:rPr>
                                    <a:rPr lang="el-GR" sz="1400" b="0" i="0" u="none" strike="noStrike" kern="1200" smtClean="0">
                                      <a:solidFill>
                                        <a:schemeClr val="dk1"/>
                                      </a:solidFill>
                                      <a:effectLst/>
                                      <a:latin typeface="+mn-lt"/>
                                      <a:ea typeface="+mn-ea"/>
                                      <a:cs typeface="+mn-cs"/>
                                    </a:rPr>
                                    <m:t>λ</m:t>
                                  </m:r>
                                </m:e>
                                <m:sub>
                                  <m:r>
                                    <a:rPr lang="en-US" sz="1400" b="0" i="1" u="none" strike="noStrike" kern="1200" smtClean="0">
                                      <a:solidFill>
                                        <a:schemeClr val="dk1"/>
                                      </a:solidFill>
                                      <a:effectLst/>
                                      <a:latin typeface="Cambria Math" panose="02040503050406030204" pitchFamily="18" charset="0"/>
                                      <a:ea typeface="+mn-ea"/>
                                      <a:cs typeface="+mn-cs"/>
                                    </a:rPr>
                                    <m:t>2</m:t>
                                  </m:r>
                                </m:sub>
                              </m:sSub>
                              <m:sSubSup>
                                <m:sSubSupPr>
                                  <m:ctrlPr>
                                    <a:rPr lang="el-GR" sz="1400" b="0" i="1" u="none" strike="noStrike" kern="1200" smtClean="0">
                                      <a:solidFill>
                                        <a:schemeClr val="dk1"/>
                                      </a:solidFill>
                                      <a:effectLst/>
                                      <a:latin typeface="Cambria Math" panose="02040503050406030204" pitchFamily="18" charset="0"/>
                                      <a:ea typeface="+mn-ea"/>
                                      <a:cs typeface="+mn-cs"/>
                                    </a:rPr>
                                  </m:ctrlPr>
                                </m:sSubSupPr>
                                <m:e>
                                  <m:r>
                                    <m:rPr>
                                      <m:nor/>
                                    </m:rPr>
                                    <a:rPr lang="el-GR" sz="1400" b="0" i="0" u="none" strike="noStrike" kern="1200" smtClean="0">
                                      <a:solidFill>
                                        <a:schemeClr val="dk1"/>
                                      </a:solidFill>
                                      <a:effectLst/>
                                      <a:latin typeface="+mn-lt"/>
                                      <a:ea typeface="+mn-ea"/>
                                      <a:cs typeface="+mn-cs"/>
                                    </a:rPr>
                                    <m:t>∥</m:t>
                                  </m:r>
                                  <m:r>
                                    <m:rPr>
                                      <m:nor/>
                                    </m:rPr>
                                    <a:rPr lang="el-GR" sz="1400" b="0" i="0" u="none" strike="noStrike" kern="1200" smtClean="0">
                                      <a:solidFill>
                                        <a:schemeClr val="dk1"/>
                                      </a:solidFill>
                                      <a:effectLst/>
                                      <a:latin typeface="+mn-lt"/>
                                      <a:ea typeface="+mn-ea"/>
                                      <a:cs typeface="+mn-cs"/>
                                    </a:rPr>
                                    <m:t>β</m:t>
                                  </m:r>
                                  <m:r>
                                    <m:rPr>
                                      <m:nor/>
                                    </m:rPr>
                                    <a:rPr lang="el-GR" sz="1400" b="0" i="0" u="none" strike="noStrike" kern="1200" smtClean="0">
                                      <a:solidFill>
                                        <a:schemeClr val="dk1"/>
                                      </a:solidFill>
                                      <a:effectLst/>
                                      <a:latin typeface="+mn-lt"/>
                                      <a:ea typeface="+mn-ea"/>
                                      <a:cs typeface="+mn-cs"/>
                                    </a:rPr>
                                    <m:t>∥​</m:t>
                                  </m:r>
                                </m:e>
                                <m:sub>
                                  <m:r>
                                    <a:rPr lang="en-US" sz="1400" b="0" i="1" u="none" strike="noStrike" kern="1200" smtClean="0">
                                      <a:solidFill>
                                        <a:schemeClr val="dk1"/>
                                      </a:solidFill>
                                      <a:effectLst/>
                                      <a:latin typeface="Cambria Math" panose="02040503050406030204" pitchFamily="18" charset="0"/>
                                      <a:ea typeface="+mn-ea"/>
                                      <a:cs typeface="+mn-cs"/>
                                    </a:rPr>
                                    <m:t>2</m:t>
                                  </m:r>
                                </m:sub>
                                <m:sup>
                                  <m:r>
                                    <a:rPr lang="en-US" sz="1400" b="0" i="1" u="none" strike="noStrike" kern="1200" smtClean="0">
                                      <a:solidFill>
                                        <a:schemeClr val="dk1"/>
                                      </a:solidFill>
                                      <a:effectLst/>
                                      <a:latin typeface="Cambria Math" panose="02040503050406030204" pitchFamily="18" charset="0"/>
                                      <a:ea typeface="+mn-ea"/>
                                      <a:cs typeface="+mn-cs"/>
                                    </a:rPr>
                                    <m:t>2</m:t>
                                  </m:r>
                                </m:sup>
                              </m:sSubSup>
                            </m:oMath>
                          </a14:m>
                          <a:endParaRPr lang="en-US" sz="1400" dirty="0"/>
                        </a:p>
                      </a:txBody>
                      <a:tcPr marL="95527" marR="95527" marT="47764" marB="47764"/>
                    </a:tc>
                    <a:tc>
                      <a:txBody>
                        <a:bodyPr/>
                        <a:lstStyle/>
                        <a:p>
                          <a:r>
                            <a:rPr lang="en-US" sz="1400" dirty="0"/>
                            <a:t>Blend of ridge and LASSO</a:t>
                          </a:r>
                        </a:p>
                      </a:txBody>
                      <a:tcPr marL="95527" marR="95527" marT="47764" marB="4776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400" b="0" i="0" u="none" strike="noStrike" kern="1200" dirty="0">
                              <a:solidFill>
                                <a:schemeClr val="dk1"/>
                              </a:solidFill>
                              <a:effectLst/>
                              <a:latin typeface="+mn-lt"/>
                              <a:ea typeface="+mn-ea"/>
                              <a:cs typeface="+mn-cs"/>
                            </a:rPr>
                            <a:t>ε∼</a:t>
                          </a:r>
                          <a:r>
                            <a:rPr lang="en-US" sz="1400" b="0" i="0" u="none" strike="noStrike" kern="1200" dirty="0">
                              <a:solidFill>
                                <a:schemeClr val="dk1"/>
                              </a:solidFill>
                              <a:effectLst/>
                              <a:latin typeface="+mn-lt"/>
                              <a:ea typeface="+mn-ea"/>
                              <a:cs typeface="+mn-cs"/>
                            </a:rPr>
                            <a:t>N(0,</a:t>
                          </a:r>
                          <a:r>
                            <a:rPr lang="el-GR" sz="1400" b="0" i="0" u="none" strike="noStrike" kern="1200" dirty="0">
                              <a:solidFill>
                                <a:schemeClr val="dk1"/>
                              </a:solidFill>
                              <a:effectLst/>
                              <a:latin typeface="+mn-lt"/>
                              <a:ea typeface="+mn-ea"/>
                              <a:cs typeface="+mn-cs"/>
                            </a:rPr>
                            <a:t>σ</a:t>
                          </a:r>
                          <a:r>
                            <a:rPr lang="el-GR" sz="1400" b="0" i="0" u="none" strike="noStrike" kern="1200" baseline="30000" dirty="0">
                              <a:solidFill>
                                <a:schemeClr val="dk1"/>
                              </a:solidFill>
                              <a:effectLst/>
                              <a:latin typeface="+mn-lt"/>
                              <a:ea typeface="+mn-ea"/>
                              <a:cs typeface="+mn-cs"/>
                            </a:rPr>
                            <a:t>2</a:t>
                          </a:r>
                          <a:r>
                            <a:rPr lang="el-GR" sz="1400" b="0" i="0" u="none" strike="noStrike" kern="1200" dirty="0">
                              <a:solidFill>
                                <a:schemeClr val="dk1"/>
                              </a:solidFill>
                              <a:effectLst/>
                              <a:latin typeface="+mn-lt"/>
                              <a:ea typeface="+mn-ea"/>
                              <a:cs typeface="+mn-cs"/>
                            </a:rPr>
                            <a:t>)</a:t>
                          </a:r>
                          <a:endParaRPr lang="en-US" sz="1400" dirty="0"/>
                        </a:p>
                      </a:txBody>
                      <a:tcPr marL="95527" marR="95527" marT="47764" marB="47764"/>
                    </a:tc>
                    <a:extLst>
                      <a:ext uri="{0D108BD9-81ED-4DB2-BD59-A6C34878D82A}">
                        <a16:rowId xmlns:a16="http://schemas.microsoft.com/office/drawing/2014/main" val="11922926"/>
                      </a:ext>
                    </a:extLst>
                  </a:tr>
                </a:tbl>
              </a:graphicData>
            </a:graphic>
          </p:graphicFrame>
        </mc:Choice>
        <mc:Fallback>
          <p:graphicFrame>
            <p:nvGraphicFramePr>
              <p:cNvPr id="4" name="Content Placeholder 3">
                <a:extLst>
                  <a:ext uri="{FF2B5EF4-FFF2-40B4-BE49-F238E27FC236}">
                    <a16:creationId xmlns:a16="http://schemas.microsoft.com/office/drawing/2014/main" id="{053D2ABB-954F-B03B-EA32-5865DAB95D67}"/>
                  </a:ext>
                </a:extLst>
              </p:cNvPr>
              <p:cNvGraphicFramePr>
                <a:graphicFrameLocks noGrp="1"/>
              </p:cNvGraphicFramePr>
              <p:nvPr>
                <p:ph idx="1"/>
                <p:extLst>
                  <p:ext uri="{D42A27DB-BD31-4B8C-83A1-F6EECF244321}">
                    <p14:modId xmlns:p14="http://schemas.microsoft.com/office/powerpoint/2010/main" val="1159148709"/>
                  </p:ext>
                </p:extLst>
              </p:nvPr>
            </p:nvGraphicFramePr>
            <p:xfrm>
              <a:off x="368181" y="1374695"/>
              <a:ext cx="10985619" cy="5027904"/>
            </p:xfrm>
            <a:graphic>
              <a:graphicData uri="http://schemas.openxmlformats.org/drawingml/2006/table">
                <a:tbl>
                  <a:tblPr firstRow="1" bandRow="1">
                    <a:tableStyleId>{5C22544A-7EE6-4342-B048-85BDC9FD1C3A}</a:tableStyleId>
                  </a:tblPr>
                  <a:tblGrid>
                    <a:gridCol w="2215873">
                      <a:extLst>
                        <a:ext uri="{9D8B030D-6E8A-4147-A177-3AD203B41FA5}">
                          <a16:colId xmlns:a16="http://schemas.microsoft.com/office/drawing/2014/main" val="3767703914"/>
                        </a:ext>
                      </a:extLst>
                    </a:gridCol>
                    <a:gridCol w="2215873">
                      <a:extLst>
                        <a:ext uri="{9D8B030D-6E8A-4147-A177-3AD203B41FA5}">
                          <a16:colId xmlns:a16="http://schemas.microsoft.com/office/drawing/2014/main" val="3897785525"/>
                        </a:ext>
                      </a:extLst>
                    </a:gridCol>
                    <a:gridCol w="2309619">
                      <a:extLst>
                        <a:ext uri="{9D8B030D-6E8A-4147-A177-3AD203B41FA5}">
                          <a16:colId xmlns:a16="http://schemas.microsoft.com/office/drawing/2014/main" val="4165000161"/>
                        </a:ext>
                      </a:extLst>
                    </a:gridCol>
                    <a:gridCol w="2122127">
                      <a:extLst>
                        <a:ext uri="{9D8B030D-6E8A-4147-A177-3AD203B41FA5}">
                          <a16:colId xmlns:a16="http://schemas.microsoft.com/office/drawing/2014/main" val="3413362472"/>
                        </a:ext>
                      </a:extLst>
                    </a:gridCol>
                    <a:gridCol w="2122127">
                      <a:extLst>
                        <a:ext uri="{9D8B030D-6E8A-4147-A177-3AD203B41FA5}">
                          <a16:colId xmlns:a16="http://schemas.microsoft.com/office/drawing/2014/main" val="2948765086"/>
                        </a:ext>
                      </a:extLst>
                    </a:gridCol>
                  </a:tblGrid>
                  <a:tr h="387416">
                    <a:tc>
                      <a:txBody>
                        <a:bodyPr/>
                        <a:lstStyle/>
                        <a:p>
                          <a:r>
                            <a:rPr lang="en-US" sz="1900" dirty="0"/>
                            <a:t>Method</a:t>
                          </a:r>
                        </a:p>
                      </a:txBody>
                      <a:tcPr marL="95527" marR="95527" marT="47764" marB="47764"/>
                    </a:tc>
                    <a:tc>
                      <a:txBody>
                        <a:bodyPr/>
                        <a:lstStyle/>
                        <a:p>
                          <a:r>
                            <a:rPr lang="en-US" sz="1900" dirty="0"/>
                            <a:t>Model form</a:t>
                          </a:r>
                        </a:p>
                      </a:txBody>
                      <a:tcPr marL="95527" marR="95527" marT="47764" marB="47764"/>
                    </a:tc>
                    <a:tc>
                      <a:txBody>
                        <a:bodyPr/>
                        <a:lstStyle/>
                        <a:p>
                          <a:r>
                            <a:rPr lang="en-US" sz="1900" dirty="0"/>
                            <a:t>What is optimized?</a:t>
                          </a:r>
                        </a:p>
                      </a:txBody>
                      <a:tcPr marL="95527" marR="95527" marT="47764" marB="47764"/>
                    </a:tc>
                    <a:tc>
                      <a:txBody>
                        <a:bodyPr/>
                        <a:lstStyle/>
                        <a:p>
                          <a:r>
                            <a:rPr lang="en-US" sz="1900" dirty="0"/>
                            <a:t>Description</a:t>
                          </a:r>
                        </a:p>
                      </a:txBody>
                      <a:tcPr marL="95527" marR="95527" marT="47764" marB="47764"/>
                    </a:tc>
                    <a:tc>
                      <a:txBody>
                        <a:bodyPr/>
                        <a:lstStyle/>
                        <a:p>
                          <a:r>
                            <a:rPr lang="en-US" sz="1900" dirty="0"/>
                            <a:t>Assumptions</a:t>
                          </a:r>
                        </a:p>
                      </a:txBody>
                      <a:tcPr marL="95527" marR="95527" marT="47764" marB="47764"/>
                    </a:tc>
                    <a:extLst>
                      <a:ext uri="{0D108BD9-81ED-4DB2-BD59-A6C34878D82A}">
                        <a16:rowId xmlns:a16="http://schemas.microsoft.com/office/drawing/2014/main" val="4079511328"/>
                      </a:ext>
                    </a:extLst>
                  </a:tr>
                  <a:tr h="387416">
                    <a:tc>
                      <a:txBody>
                        <a:bodyPr/>
                        <a:lstStyle/>
                        <a:p>
                          <a:r>
                            <a:rPr lang="en-US" sz="1900" dirty="0"/>
                            <a:t>Linear regression</a:t>
                          </a:r>
                        </a:p>
                      </a:txBody>
                      <a:tcPr marL="95527" marR="95527" marT="47764" marB="47764"/>
                    </a:tc>
                    <a:tc>
                      <a:txBody>
                        <a:bodyPr/>
                        <a:lstStyle/>
                        <a:p>
                          <a:r>
                            <a:rPr lang="en-US" sz="1400" b="0" i="0" u="none" strike="noStrike" kern="1200" dirty="0">
                              <a:solidFill>
                                <a:schemeClr val="dk1"/>
                              </a:solidFill>
                              <a:effectLst/>
                              <a:latin typeface="+mn-lt"/>
                              <a:ea typeface="+mn-ea"/>
                              <a:cs typeface="+mn-cs"/>
                            </a:rPr>
                            <a:t>Y=X</a:t>
                          </a:r>
                          <a:r>
                            <a:rPr lang="el-GR" sz="1400" b="0" i="0" u="none" strike="noStrike" kern="1200" dirty="0" err="1">
                              <a:solidFill>
                                <a:schemeClr val="dk1"/>
                              </a:solidFill>
                              <a:effectLst/>
                              <a:latin typeface="+mn-lt"/>
                              <a:ea typeface="+mn-ea"/>
                              <a:cs typeface="+mn-cs"/>
                            </a:rPr>
                            <a:t>β+ε</a:t>
                          </a:r>
                          <a:endParaRPr lang="en-US" sz="1400" dirty="0"/>
                        </a:p>
                      </a:txBody>
                      <a:tcPr marL="95527" marR="95527" marT="47764" marB="47764"/>
                    </a:tc>
                    <a:tc>
                      <a:txBody>
                        <a:bodyPr/>
                        <a:lstStyle/>
                        <a:p>
                          <a:r>
                            <a:rPr lang="en-US" sz="1400" b="0" i="0" u="none" strike="noStrike" kern="1200" dirty="0">
                              <a:solidFill>
                                <a:schemeClr val="dk1"/>
                              </a:solidFill>
                              <a:effectLst/>
                              <a:latin typeface="+mn-lt"/>
                              <a:ea typeface="+mn-ea"/>
                              <a:cs typeface="+mn-cs"/>
                            </a:rPr>
                            <a:t>RSS(</a:t>
                          </a:r>
                          <a:r>
                            <a:rPr lang="el-GR" sz="1400" b="0" i="0" u="none" strike="noStrike" kern="1200" dirty="0">
                              <a:solidFill>
                                <a:schemeClr val="dk1"/>
                              </a:solidFill>
                              <a:effectLst/>
                              <a:latin typeface="+mn-lt"/>
                              <a:ea typeface="+mn-ea"/>
                              <a:cs typeface="+mn-cs"/>
                            </a:rPr>
                            <a:t>β</a:t>
                          </a:r>
                          <a:r>
                            <a:rPr lang="en-US" sz="1400" b="0" i="0" u="none" strike="noStrike" kern="1200" dirty="0">
                              <a:solidFill>
                                <a:schemeClr val="dk1"/>
                              </a:solidFill>
                              <a:effectLst/>
                              <a:latin typeface="+mn-lt"/>
                              <a:ea typeface="+mn-ea"/>
                              <a:cs typeface="+mn-cs"/>
                            </a:rPr>
                            <a:t>) = ∥Y−X</a:t>
                          </a:r>
                          <a:r>
                            <a:rPr lang="el-GR" sz="1400" b="0" i="0" u="none" strike="noStrike" kern="1200" dirty="0">
                              <a:solidFill>
                                <a:schemeClr val="dk1"/>
                              </a:solidFill>
                              <a:effectLst/>
                              <a:latin typeface="+mn-lt"/>
                              <a:ea typeface="+mn-ea"/>
                              <a:cs typeface="+mn-cs"/>
                            </a:rPr>
                            <a:t>β∥</a:t>
                          </a:r>
                          <a:r>
                            <a:rPr lang="el-GR" sz="1400" b="0" i="0" u="none" strike="noStrike" kern="1200" baseline="30000" dirty="0">
                              <a:solidFill>
                                <a:schemeClr val="dk1"/>
                              </a:solidFill>
                              <a:effectLst/>
                              <a:latin typeface="+mn-lt"/>
                              <a:ea typeface="+mn-ea"/>
                              <a:cs typeface="+mn-cs"/>
                            </a:rPr>
                            <a:t>2</a:t>
                          </a:r>
                          <a:endParaRPr lang="en-US" sz="1400" baseline="30000" dirty="0"/>
                        </a:p>
                      </a:txBody>
                      <a:tcPr marL="95527" marR="95527" marT="47764" marB="47764"/>
                    </a:tc>
                    <a:tc>
                      <a:txBody>
                        <a:bodyPr/>
                        <a:lstStyle/>
                        <a:p>
                          <a:r>
                            <a:rPr lang="en-US" sz="1400" dirty="0"/>
                            <a:t>Simple, familiar</a:t>
                          </a:r>
                        </a:p>
                      </a:txBody>
                      <a:tcPr marL="95527" marR="95527" marT="47764" marB="47764"/>
                    </a:tc>
                    <a:tc>
                      <a:txBody>
                        <a:bodyPr/>
                        <a:lstStyle/>
                        <a:p>
                          <a:r>
                            <a:rPr lang="el-GR" sz="1400" b="0" i="0" u="none" strike="noStrike" kern="1200" dirty="0">
                              <a:solidFill>
                                <a:schemeClr val="dk1"/>
                              </a:solidFill>
                              <a:effectLst/>
                              <a:latin typeface="+mn-lt"/>
                              <a:ea typeface="+mn-ea"/>
                              <a:cs typeface="+mn-cs"/>
                            </a:rPr>
                            <a:t>ε∼</a:t>
                          </a:r>
                          <a:r>
                            <a:rPr lang="en-US" sz="1400" b="0" i="0" u="none" strike="noStrike" kern="1200" dirty="0">
                              <a:solidFill>
                                <a:schemeClr val="dk1"/>
                              </a:solidFill>
                              <a:effectLst/>
                              <a:latin typeface="+mn-lt"/>
                              <a:ea typeface="+mn-ea"/>
                              <a:cs typeface="+mn-cs"/>
                            </a:rPr>
                            <a:t>N(0,</a:t>
                          </a:r>
                          <a:r>
                            <a:rPr lang="el-GR" sz="1400" b="0" i="0" u="none" strike="noStrike" kern="1200" dirty="0">
                              <a:solidFill>
                                <a:schemeClr val="dk1"/>
                              </a:solidFill>
                              <a:effectLst/>
                              <a:latin typeface="+mn-lt"/>
                              <a:ea typeface="+mn-ea"/>
                              <a:cs typeface="+mn-cs"/>
                            </a:rPr>
                            <a:t>σ</a:t>
                          </a:r>
                          <a:r>
                            <a:rPr lang="el-GR" sz="1400" b="0" i="0" u="none" strike="noStrike" kern="1200" baseline="30000" dirty="0">
                              <a:solidFill>
                                <a:schemeClr val="dk1"/>
                              </a:solidFill>
                              <a:effectLst/>
                              <a:latin typeface="+mn-lt"/>
                              <a:ea typeface="+mn-ea"/>
                              <a:cs typeface="+mn-cs"/>
                            </a:rPr>
                            <a:t>2</a:t>
                          </a:r>
                          <a:r>
                            <a:rPr lang="el-GR" sz="1400" b="0" i="0" u="none" strike="noStrike" kern="1200" dirty="0">
                              <a:solidFill>
                                <a:schemeClr val="dk1"/>
                              </a:solidFill>
                              <a:effectLst/>
                              <a:latin typeface="+mn-lt"/>
                              <a:ea typeface="+mn-ea"/>
                              <a:cs typeface="+mn-cs"/>
                            </a:rPr>
                            <a:t>)</a:t>
                          </a:r>
                          <a:endParaRPr lang="en-US" sz="1400" dirty="0"/>
                        </a:p>
                      </a:txBody>
                      <a:tcPr marL="95527" marR="95527" marT="47764" marB="47764"/>
                    </a:tc>
                    <a:extLst>
                      <a:ext uri="{0D108BD9-81ED-4DB2-BD59-A6C34878D82A}">
                        <a16:rowId xmlns:a16="http://schemas.microsoft.com/office/drawing/2014/main" val="1822907203"/>
                      </a:ext>
                    </a:extLst>
                  </a:tr>
                  <a:tr h="1832888">
                    <a:tc>
                      <a:txBody>
                        <a:bodyPr/>
                        <a:lstStyle/>
                        <a:p>
                          <a:r>
                            <a:rPr lang="en-US" sz="1900" dirty="0"/>
                            <a:t>GLMMs</a:t>
                          </a:r>
                        </a:p>
                        <a:p>
                          <a:pPr marL="342900" indent="-342900">
                            <a:buFont typeface="Arial" panose="020B0604020202020204" pitchFamily="34" charset="0"/>
                            <a:buChar char="•"/>
                          </a:pPr>
                          <a:r>
                            <a:rPr lang="en-US" sz="1900" dirty="0"/>
                            <a:t>Includes linear regression</a:t>
                          </a:r>
                        </a:p>
                        <a:p>
                          <a:pPr marL="342900" indent="-342900">
                            <a:buFont typeface="Arial" panose="020B0604020202020204" pitchFamily="34" charset="0"/>
                            <a:buChar char="•"/>
                          </a:pPr>
                          <a:r>
                            <a:rPr lang="en-US" sz="1900" dirty="0"/>
                            <a:t>Includes logistic regression</a:t>
                          </a:r>
                        </a:p>
                      </a:txBody>
                      <a:tcPr marL="95527" marR="95527" marT="47764" marB="47764"/>
                    </a:tc>
                    <a:tc>
                      <a:txBody>
                        <a:bodyPr/>
                        <a:lstStyle/>
                        <a:p>
                          <a:r>
                            <a:rPr lang="en-US" sz="1400" b="0" i="0" u="none" strike="noStrike" kern="1200" dirty="0">
                              <a:solidFill>
                                <a:schemeClr val="dk1"/>
                              </a:solidFill>
                              <a:effectLst/>
                              <a:latin typeface="+mn-lt"/>
                              <a:ea typeface="+mn-ea"/>
                              <a:cs typeface="+mn-cs"/>
                            </a:rPr>
                            <a:t>g(E[</a:t>
                          </a:r>
                          <a:r>
                            <a:rPr lang="en-US" sz="1400" b="0" i="0" u="none" strike="noStrike" kern="1200" dirty="0" err="1">
                              <a:solidFill>
                                <a:schemeClr val="dk1"/>
                              </a:solidFill>
                              <a:effectLst/>
                              <a:latin typeface="+mn-lt"/>
                              <a:ea typeface="+mn-ea"/>
                              <a:cs typeface="+mn-cs"/>
                            </a:rPr>
                            <a:t>Y∣b</a:t>
                          </a:r>
                          <a:r>
                            <a:rPr lang="en-US" sz="1400" b="0" i="0" u="none" strike="noStrike" kern="1200" dirty="0">
                              <a:solidFill>
                                <a:schemeClr val="dk1"/>
                              </a:solidFill>
                              <a:effectLst/>
                              <a:latin typeface="+mn-lt"/>
                              <a:ea typeface="+mn-ea"/>
                              <a:cs typeface="+mn-cs"/>
                            </a:rPr>
                            <a:t>])=X</a:t>
                          </a:r>
                          <a:r>
                            <a:rPr lang="el-GR" sz="1400" b="0" i="0" u="none" strike="noStrike" kern="1200" dirty="0">
                              <a:solidFill>
                                <a:schemeClr val="dk1"/>
                              </a:solidFill>
                              <a:effectLst/>
                              <a:latin typeface="+mn-lt"/>
                              <a:ea typeface="+mn-ea"/>
                              <a:cs typeface="+mn-cs"/>
                            </a:rPr>
                            <a:t>β+</a:t>
                          </a:r>
                          <a:r>
                            <a:rPr lang="en-US" sz="1400" b="0" i="0" u="none" strike="noStrike" kern="1200" dirty="0" err="1">
                              <a:solidFill>
                                <a:schemeClr val="dk1"/>
                              </a:solidFill>
                              <a:effectLst/>
                              <a:latin typeface="+mn-lt"/>
                              <a:ea typeface="+mn-ea"/>
                              <a:cs typeface="+mn-cs"/>
                            </a:rPr>
                            <a:t>Zb</a:t>
                          </a:r>
                          <a:endParaRPr lang="en-US" sz="1400" dirty="0"/>
                        </a:p>
                      </a:txBody>
                      <a:tcPr marL="95527" marR="95527" marT="47764" marB="47764"/>
                    </a:tc>
                    <a:tc>
                      <a:txBody>
                        <a:bodyPr/>
                        <a:lstStyle/>
                        <a:p>
                          <a:r>
                            <a:rPr lang="en-US" sz="1400" dirty="0"/>
                            <a:t>Marginal likelihood</a:t>
                          </a:r>
                        </a:p>
                      </a:txBody>
                      <a:tcPr marL="95527" marR="95527" marT="47764" marB="47764"/>
                    </a:tc>
                    <a:tc>
                      <a:txBody>
                        <a:bodyPr/>
                        <a:lstStyle/>
                        <a:p>
                          <a:pPr marL="0" indent="0">
                            <a:buFont typeface="Arial" panose="020B0604020202020204" pitchFamily="34" charset="0"/>
                            <a:buNone/>
                          </a:pPr>
                          <a:r>
                            <a:rPr lang="en-US" sz="1400" dirty="0"/>
                            <a:t>Simple, adaptable</a:t>
                          </a:r>
                        </a:p>
                      </a:txBody>
                      <a:tcPr marL="95527" marR="95527" marT="47764" marB="47764"/>
                    </a:tc>
                    <a:tc>
                      <a:txBody>
                        <a:bodyPr/>
                        <a:lstStyle/>
                        <a:p>
                          <a:pPr marL="342900" indent="-342900">
                            <a:buFont typeface="Arial" panose="020B0604020202020204" pitchFamily="34" charset="0"/>
                            <a:buChar char="•"/>
                          </a:pPr>
                          <a:r>
                            <a:rPr lang="en-US" sz="1400" b="0" i="0" u="none" strike="noStrike" kern="1200" dirty="0" err="1">
                              <a:solidFill>
                                <a:schemeClr val="dk1"/>
                              </a:solidFill>
                              <a:effectLst/>
                              <a:latin typeface="+mn-lt"/>
                              <a:ea typeface="+mn-ea"/>
                              <a:cs typeface="+mn-cs"/>
                            </a:rPr>
                            <a:t>b∼N</a:t>
                          </a:r>
                          <a:r>
                            <a:rPr lang="en-US" sz="1400" b="0" i="0" u="none" strike="noStrike" kern="1200" dirty="0">
                              <a:solidFill>
                                <a:schemeClr val="dk1"/>
                              </a:solidFill>
                              <a:effectLst/>
                              <a:latin typeface="+mn-lt"/>
                              <a:ea typeface="+mn-ea"/>
                              <a:cs typeface="+mn-cs"/>
                            </a:rPr>
                            <a:t>(0,</a:t>
                          </a:r>
                          <a:r>
                            <a:rPr lang="el-GR" sz="1400" b="0" i="0" u="none" strike="noStrike" kern="1200" dirty="0">
                              <a:solidFill>
                                <a:schemeClr val="dk1"/>
                              </a:solidFill>
                              <a:effectLst/>
                              <a:latin typeface="+mn-lt"/>
                              <a:ea typeface="+mn-ea"/>
                              <a:cs typeface="+mn-cs"/>
                            </a:rPr>
                            <a:t>Σ)</a:t>
                          </a:r>
                          <a:endParaRPr lang="en-US" sz="1400" b="0" i="0" u="none" strike="noStrike" kern="1200" dirty="0">
                            <a:solidFill>
                              <a:schemeClr val="dk1"/>
                            </a:solidFill>
                            <a:effectLst/>
                            <a:latin typeface="+mn-lt"/>
                            <a:ea typeface="+mn-ea"/>
                            <a:cs typeface="+mn-cs"/>
                          </a:endParaRPr>
                        </a:p>
                        <a:p>
                          <a:pPr marL="342900" indent="-342900">
                            <a:buFont typeface="Arial" panose="020B0604020202020204" pitchFamily="34" charset="0"/>
                            <a:buChar char="•"/>
                          </a:pPr>
                          <a:r>
                            <a:rPr lang="en-US" sz="1400" b="0" i="0" u="none" strike="noStrike" kern="1200" dirty="0">
                              <a:solidFill>
                                <a:schemeClr val="dk1"/>
                              </a:solidFill>
                              <a:effectLst/>
                              <a:latin typeface="+mn-lt"/>
                              <a:ea typeface="+mn-ea"/>
                              <a:cs typeface="+mn-cs"/>
                            </a:rPr>
                            <a:t>link function g</a:t>
                          </a:r>
                        </a:p>
                        <a:p>
                          <a:pPr marL="342900" indent="-342900">
                            <a:buFont typeface="Arial" panose="020B0604020202020204" pitchFamily="34" charset="0"/>
                            <a:buChar char="•"/>
                          </a:pPr>
                          <a:r>
                            <a:rPr lang="en-US" sz="1400" b="0" i="0" u="none" strike="noStrike" kern="1200" dirty="0">
                              <a:solidFill>
                                <a:schemeClr val="dk1"/>
                              </a:solidFill>
                              <a:effectLst/>
                              <a:latin typeface="+mn-lt"/>
                              <a:ea typeface="+mn-ea"/>
                              <a:cs typeface="+mn-cs"/>
                            </a:rPr>
                            <a:t>Conditional independence on random effects</a:t>
                          </a:r>
                        </a:p>
                        <a:p>
                          <a:pPr marL="342900" indent="-342900">
                            <a:buFont typeface="Arial" panose="020B0604020202020204" pitchFamily="34" charset="0"/>
                            <a:buChar char="•"/>
                          </a:pPr>
                          <a:r>
                            <a:rPr lang="en-US" sz="1400" b="0" i="0" u="none" strike="noStrike" kern="1200" dirty="0">
                              <a:solidFill>
                                <a:schemeClr val="dk1"/>
                              </a:solidFill>
                              <a:effectLst/>
                              <a:latin typeface="+mn-lt"/>
                              <a:ea typeface="+mn-ea"/>
                              <a:cs typeface="+mn-cs"/>
                            </a:rPr>
                            <a:t>Exponential family distribution for Y</a:t>
                          </a:r>
                          <a:endParaRPr lang="en-US" sz="1400" dirty="0"/>
                        </a:p>
                      </a:txBody>
                      <a:tcPr marL="95527" marR="95527" marT="47764" marB="47764"/>
                    </a:tc>
                    <a:extLst>
                      <a:ext uri="{0D108BD9-81ED-4DB2-BD59-A6C34878D82A}">
                        <a16:rowId xmlns:a16="http://schemas.microsoft.com/office/drawing/2014/main" val="2265124686"/>
                      </a:ext>
                    </a:extLst>
                  </a:tr>
                  <a:tr h="948968">
                    <a:tc>
                      <a:txBody>
                        <a:bodyPr/>
                        <a:lstStyle/>
                        <a:p>
                          <a:r>
                            <a:rPr lang="en-US" sz="1900" dirty="0"/>
                            <a:t>Ridge regression</a:t>
                          </a:r>
                        </a:p>
                      </a:txBody>
                      <a:tcPr marL="95527" marR="95527" marT="47764" marB="47764"/>
                    </a:tc>
                    <a:tc>
                      <a:txBody>
                        <a:bodyPr/>
                        <a:lstStyle/>
                        <a:p>
                          <a:r>
                            <a:rPr lang="en-US" sz="1400" b="0" i="0" u="none" strike="noStrike" kern="1200" dirty="0">
                              <a:solidFill>
                                <a:schemeClr val="dk1"/>
                              </a:solidFill>
                              <a:effectLst/>
                              <a:latin typeface="+mn-lt"/>
                              <a:ea typeface="+mn-ea"/>
                              <a:cs typeface="+mn-cs"/>
                            </a:rPr>
                            <a:t>Y=X</a:t>
                          </a:r>
                          <a:r>
                            <a:rPr lang="el-GR" sz="1400" b="0" i="0" u="none" strike="noStrike" kern="1200" dirty="0" err="1">
                              <a:solidFill>
                                <a:schemeClr val="dk1"/>
                              </a:solidFill>
                              <a:effectLst/>
                              <a:latin typeface="+mn-lt"/>
                              <a:ea typeface="+mn-ea"/>
                              <a:cs typeface="+mn-cs"/>
                            </a:rPr>
                            <a:t>β+ε</a:t>
                          </a:r>
                          <a:endParaRPr lang="en-US" sz="1400" dirty="0"/>
                        </a:p>
                      </a:txBody>
                      <a:tcPr marL="95527" marR="95527" marT="47764" marB="47764"/>
                    </a:tc>
                    <a:tc>
                      <a:txBody>
                        <a:bodyPr/>
                        <a:lstStyle/>
                        <a:p>
                          <a:endParaRPr lang="en-US"/>
                        </a:p>
                      </a:txBody>
                      <a:tcPr marL="95527" marR="95527" marT="47764" marB="47764">
                        <a:blipFill>
                          <a:blip r:embed="rId2"/>
                          <a:stretch>
                            <a:fillRect l="-191758" t="-277333" r="-185714" b="-161333"/>
                          </a:stretch>
                        </a:blipFill>
                      </a:tcPr>
                    </a:tc>
                    <a:tc>
                      <a:txBody>
                        <a:bodyPr/>
                        <a:lstStyle/>
                        <a:p>
                          <a:pPr marL="171450" indent="-171450">
                            <a:buFont typeface="Arial" panose="020B0604020202020204" pitchFamily="34" charset="0"/>
                            <a:buChar char="•"/>
                          </a:pPr>
                          <a:r>
                            <a:rPr lang="en-US" sz="1400" dirty="0"/>
                            <a:t>Keeps all variables</a:t>
                          </a:r>
                        </a:p>
                        <a:p>
                          <a:pPr marL="171450" indent="-171450">
                            <a:buFont typeface="Arial" panose="020B0604020202020204" pitchFamily="34" charset="0"/>
                            <a:buChar char="•"/>
                          </a:pPr>
                          <a:r>
                            <a:rPr lang="en-US" sz="1400" dirty="0"/>
                            <a:t>Shrinks betas</a:t>
                          </a:r>
                        </a:p>
                        <a:p>
                          <a:pPr marL="171450" indent="-171450">
                            <a:buFont typeface="Arial" panose="020B0604020202020204" pitchFamily="34" charset="0"/>
                            <a:buChar char="•"/>
                          </a:pPr>
                          <a:r>
                            <a:rPr lang="en-US" sz="1400" dirty="0"/>
                            <a:t>Better estimates for correlated variables</a:t>
                          </a:r>
                        </a:p>
                      </a:txBody>
                      <a:tcPr marL="95527" marR="95527" marT="47764" marB="4776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400" b="0" i="0" u="none" strike="noStrike" kern="1200" dirty="0">
                              <a:solidFill>
                                <a:schemeClr val="dk1"/>
                              </a:solidFill>
                              <a:effectLst/>
                              <a:latin typeface="+mn-lt"/>
                              <a:ea typeface="+mn-ea"/>
                              <a:cs typeface="+mn-cs"/>
                            </a:rPr>
                            <a:t>ε∼</a:t>
                          </a:r>
                          <a:r>
                            <a:rPr lang="en-US" sz="1400" b="0" i="0" u="none" strike="noStrike" kern="1200" dirty="0">
                              <a:solidFill>
                                <a:schemeClr val="dk1"/>
                              </a:solidFill>
                              <a:effectLst/>
                              <a:latin typeface="+mn-lt"/>
                              <a:ea typeface="+mn-ea"/>
                              <a:cs typeface="+mn-cs"/>
                            </a:rPr>
                            <a:t>N(0,</a:t>
                          </a:r>
                          <a:r>
                            <a:rPr lang="el-GR" sz="1400" b="0" i="0" u="none" strike="noStrike" kern="1200" dirty="0">
                              <a:solidFill>
                                <a:schemeClr val="dk1"/>
                              </a:solidFill>
                              <a:effectLst/>
                              <a:latin typeface="+mn-lt"/>
                              <a:ea typeface="+mn-ea"/>
                              <a:cs typeface="+mn-cs"/>
                            </a:rPr>
                            <a:t>σ</a:t>
                          </a:r>
                          <a:r>
                            <a:rPr lang="el-GR" sz="1400" b="0" i="0" u="none" strike="noStrike" kern="1200" baseline="30000" dirty="0">
                              <a:solidFill>
                                <a:schemeClr val="dk1"/>
                              </a:solidFill>
                              <a:effectLst/>
                              <a:latin typeface="+mn-lt"/>
                              <a:ea typeface="+mn-ea"/>
                              <a:cs typeface="+mn-cs"/>
                            </a:rPr>
                            <a:t>2</a:t>
                          </a:r>
                          <a:r>
                            <a:rPr lang="el-GR" sz="1400" b="0" i="0" u="none" strike="noStrike" kern="1200" dirty="0">
                              <a:solidFill>
                                <a:schemeClr val="dk1"/>
                              </a:solidFill>
                              <a:effectLst/>
                              <a:latin typeface="+mn-lt"/>
                              <a:ea typeface="+mn-ea"/>
                              <a:cs typeface="+mn-cs"/>
                            </a:rPr>
                            <a:t>)</a:t>
                          </a:r>
                          <a:endParaRPr lang="en-US" sz="1400" dirty="0"/>
                        </a:p>
                        <a:p>
                          <a:endParaRPr lang="en-US" sz="1400" dirty="0"/>
                        </a:p>
                      </a:txBody>
                      <a:tcPr marL="95527" marR="95527" marT="47764" marB="47764"/>
                    </a:tc>
                    <a:extLst>
                      <a:ext uri="{0D108BD9-81ED-4DB2-BD59-A6C34878D82A}">
                        <a16:rowId xmlns:a16="http://schemas.microsoft.com/office/drawing/2014/main" val="2423245186"/>
                      </a:ext>
                    </a:extLst>
                  </a:tr>
                  <a:tr h="948968">
                    <a:tc>
                      <a:txBody>
                        <a:bodyPr/>
                        <a:lstStyle/>
                        <a:p>
                          <a:r>
                            <a:rPr lang="en-US" sz="1900" dirty="0"/>
                            <a:t>LASSO</a:t>
                          </a:r>
                        </a:p>
                      </a:txBody>
                      <a:tcPr marL="95527" marR="95527" marT="47764" marB="47764"/>
                    </a:tc>
                    <a:tc>
                      <a:txBody>
                        <a:bodyPr/>
                        <a:lstStyle/>
                        <a:p>
                          <a:r>
                            <a:rPr lang="en-US" sz="1400" b="0" i="0" u="none" strike="noStrike" kern="1200" dirty="0">
                              <a:solidFill>
                                <a:schemeClr val="dk1"/>
                              </a:solidFill>
                              <a:effectLst/>
                              <a:latin typeface="+mn-lt"/>
                              <a:ea typeface="+mn-ea"/>
                              <a:cs typeface="+mn-cs"/>
                            </a:rPr>
                            <a:t>Y=X</a:t>
                          </a:r>
                          <a:r>
                            <a:rPr lang="el-GR" sz="1400" b="0" i="0" u="none" strike="noStrike" kern="1200" dirty="0" err="1">
                              <a:solidFill>
                                <a:schemeClr val="dk1"/>
                              </a:solidFill>
                              <a:effectLst/>
                              <a:latin typeface="+mn-lt"/>
                              <a:ea typeface="+mn-ea"/>
                              <a:cs typeface="+mn-cs"/>
                            </a:rPr>
                            <a:t>β+ε</a:t>
                          </a:r>
                          <a:endParaRPr lang="en-US" sz="1400" dirty="0"/>
                        </a:p>
                      </a:txBody>
                      <a:tcPr marL="95527" marR="95527" marT="47764" marB="47764"/>
                    </a:tc>
                    <a:tc>
                      <a:txBody>
                        <a:bodyPr/>
                        <a:lstStyle/>
                        <a:p>
                          <a:endParaRPr lang="en-US"/>
                        </a:p>
                      </a:txBody>
                      <a:tcPr marL="95527" marR="95527" marT="47764" marB="47764">
                        <a:blipFill>
                          <a:blip r:embed="rId2"/>
                          <a:stretch>
                            <a:fillRect l="-191758" t="-377333" r="-185714" b="-61333"/>
                          </a:stretch>
                        </a:blipFill>
                      </a:tcPr>
                    </a:tc>
                    <a:tc>
                      <a:txBody>
                        <a:bodyPr/>
                        <a:lstStyle/>
                        <a:p>
                          <a:pPr marL="285750" indent="-285750">
                            <a:buFont typeface="Arial" panose="020B0604020202020204" pitchFamily="34" charset="0"/>
                            <a:buChar char="•"/>
                          </a:pPr>
                          <a:r>
                            <a:rPr lang="en-US" sz="1400" dirty="0"/>
                            <a:t>Shrinks betas</a:t>
                          </a:r>
                        </a:p>
                        <a:p>
                          <a:pPr marL="285750" indent="-285750">
                            <a:buFont typeface="Arial" panose="020B0604020202020204" pitchFamily="34" charset="0"/>
                            <a:buChar char="•"/>
                          </a:pPr>
                          <a:r>
                            <a:rPr lang="en-US" sz="1400" dirty="0"/>
                            <a:t>Sparse/feature selection: sets many to 0</a:t>
                          </a:r>
                        </a:p>
                      </a:txBody>
                      <a:tcPr marL="95527" marR="95527" marT="47764" marB="4776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400" b="0" i="0" u="none" strike="noStrike" kern="1200" dirty="0">
                              <a:solidFill>
                                <a:schemeClr val="dk1"/>
                              </a:solidFill>
                              <a:effectLst/>
                              <a:latin typeface="+mn-lt"/>
                              <a:ea typeface="+mn-ea"/>
                              <a:cs typeface="+mn-cs"/>
                            </a:rPr>
                            <a:t>ε∼</a:t>
                          </a:r>
                          <a:r>
                            <a:rPr lang="en-US" sz="1400" b="0" i="0" u="none" strike="noStrike" kern="1200" dirty="0">
                              <a:solidFill>
                                <a:schemeClr val="dk1"/>
                              </a:solidFill>
                              <a:effectLst/>
                              <a:latin typeface="+mn-lt"/>
                              <a:ea typeface="+mn-ea"/>
                              <a:cs typeface="+mn-cs"/>
                            </a:rPr>
                            <a:t>N(0,</a:t>
                          </a:r>
                          <a:r>
                            <a:rPr lang="el-GR" sz="1400" b="0" i="0" u="none" strike="noStrike" kern="1200" dirty="0">
                              <a:solidFill>
                                <a:schemeClr val="dk1"/>
                              </a:solidFill>
                              <a:effectLst/>
                              <a:latin typeface="+mn-lt"/>
                              <a:ea typeface="+mn-ea"/>
                              <a:cs typeface="+mn-cs"/>
                            </a:rPr>
                            <a:t>σ</a:t>
                          </a:r>
                          <a:r>
                            <a:rPr lang="el-GR" sz="1400" b="0" i="0" u="none" strike="noStrike" kern="1200" baseline="30000" dirty="0">
                              <a:solidFill>
                                <a:schemeClr val="dk1"/>
                              </a:solidFill>
                              <a:effectLst/>
                              <a:latin typeface="+mn-lt"/>
                              <a:ea typeface="+mn-ea"/>
                              <a:cs typeface="+mn-cs"/>
                            </a:rPr>
                            <a:t>2</a:t>
                          </a:r>
                          <a:r>
                            <a:rPr lang="el-GR" sz="1400" b="0" i="0" u="none" strike="noStrike" kern="1200" dirty="0">
                              <a:solidFill>
                                <a:schemeClr val="dk1"/>
                              </a:solidFill>
                              <a:effectLst/>
                              <a:latin typeface="+mn-lt"/>
                              <a:ea typeface="+mn-ea"/>
                              <a:cs typeface="+mn-cs"/>
                            </a:rPr>
                            <a:t>)</a:t>
                          </a:r>
                          <a:endParaRPr lang="en-US" sz="1400" dirty="0"/>
                        </a:p>
                        <a:p>
                          <a:endParaRPr lang="en-US" sz="1400" dirty="0"/>
                        </a:p>
                      </a:txBody>
                      <a:tcPr marL="95527" marR="95527" marT="47764" marB="47764"/>
                    </a:tc>
                    <a:extLst>
                      <a:ext uri="{0D108BD9-81ED-4DB2-BD59-A6C34878D82A}">
                        <a16:rowId xmlns:a16="http://schemas.microsoft.com/office/drawing/2014/main" val="3575745768"/>
                      </a:ext>
                    </a:extLst>
                  </a:tr>
                  <a:tr h="522248">
                    <a:tc>
                      <a:txBody>
                        <a:bodyPr/>
                        <a:lstStyle/>
                        <a:p>
                          <a:r>
                            <a:rPr lang="en-US" sz="1900" dirty="0"/>
                            <a:t>Elastic net</a:t>
                          </a:r>
                        </a:p>
                      </a:txBody>
                      <a:tcPr marL="95527" marR="95527" marT="47764" marB="4776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u="none" strike="noStrike" kern="1200" dirty="0">
                              <a:solidFill>
                                <a:schemeClr val="dk1"/>
                              </a:solidFill>
                              <a:effectLst/>
                              <a:latin typeface="+mn-lt"/>
                              <a:ea typeface="+mn-ea"/>
                              <a:cs typeface="+mn-cs"/>
                            </a:rPr>
                            <a:t>Y=X</a:t>
                          </a:r>
                          <a:r>
                            <a:rPr lang="el-GR" sz="1400" b="0" i="0" u="none" strike="noStrike" kern="1200" dirty="0" err="1">
                              <a:solidFill>
                                <a:schemeClr val="dk1"/>
                              </a:solidFill>
                              <a:effectLst/>
                              <a:latin typeface="+mn-lt"/>
                              <a:ea typeface="+mn-ea"/>
                              <a:cs typeface="+mn-cs"/>
                            </a:rPr>
                            <a:t>β+ε</a:t>
                          </a:r>
                          <a:endParaRPr lang="en-US" sz="1400" dirty="0"/>
                        </a:p>
                      </a:txBody>
                      <a:tcPr marL="95527" marR="95527" marT="47764" marB="47764"/>
                    </a:tc>
                    <a:tc>
                      <a:txBody>
                        <a:bodyPr/>
                        <a:lstStyle/>
                        <a:p>
                          <a:endParaRPr lang="en-US"/>
                        </a:p>
                      </a:txBody>
                      <a:tcPr marL="95527" marR="95527" marT="47764" marB="47764">
                        <a:blipFill>
                          <a:blip r:embed="rId2"/>
                          <a:stretch>
                            <a:fillRect l="-191758" t="-873171" r="-185714" b="-12195"/>
                          </a:stretch>
                        </a:blipFill>
                      </a:tcPr>
                    </a:tc>
                    <a:tc>
                      <a:txBody>
                        <a:bodyPr/>
                        <a:lstStyle/>
                        <a:p>
                          <a:r>
                            <a:rPr lang="en-US" sz="1400" dirty="0"/>
                            <a:t>Blend of ridge and LASSO</a:t>
                          </a:r>
                        </a:p>
                      </a:txBody>
                      <a:tcPr marL="95527" marR="95527" marT="47764" marB="4776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400" b="0" i="0" u="none" strike="noStrike" kern="1200" dirty="0">
                              <a:solidFill>
                                <a:schemeClr val="dk1"/>
                              </a:solidFill>
                              <a:effectLst/>
                              <a:latin typeface="+mn-lt"/>
                              <a:ea typeface="+mn-ea"/>
                              <a:cs typeface="+mn-cs"/>
                            </a:rPr>
                            <a:t>ε∼</a:t>
                          </a:r>
                          <a:r>
                            <a:rPr lang="en-US" sz="1400" b="0" i="0" u="none" strike="noStrike" kern="1200" dirty="0">
                              <a:solidFill>
                                <a:schemeClr val="dk1"/>
                              </a:solidFill>
                              <a:effectLst/>
                              <a:latin typeface="+mn-lt"/>
                              <a:ea typeface="+mn-ea"/>
                              <a:cs typeface="+mn-cs"/>
                            </a:rPr>
                            <a:t>N(0,</a:t>
                          </a:r>
                          <a:r>
                            <a:rPr lang="el-GR" sz="1400" b="0" i="0" u="none" strike="noStrike" kern="1200" dirty="0">
                              <a:solidFill>
                                <a:schemeClr val="dk1"/>
                              </a:solidFill>
                              <a:effectLst/>
                              <a:latin typeface="+mn-lt"/>
                              <a:ea typeface="+mn-ea"/>
                              <a:cs typeface="+mn-cs"/>
                            </a:rPr>
                            <a:t>σ</a:t>
                          </a:r>
                          <a:r>
                            <a:rPr lang="el-GR" sz="1400" b="0" i="0" u="none" strike="noStrike" kern="1200" baseline="30000" dirty="0">
                              <a:solidFill>
                                <a:schemeClr val="dk1"/>
                              </a:solidFill>
                              <a:effectLst/>
                              <a:latin typeface="+mn-lt"/>
                              <a:ea typeface="+mn-ea"/>
                              <a:cs typeface="+mn-cs"/>
                            </a:rPr>
                            <a:t>2</a:t>
                          </a:r>
                          <a:r>
                            <a:rPr lang="el-GR" sz="1400" b="0" i="0" u="none" strike="noStrike" kern="1200" dirty="0">
                              <a:solidFill>
                                <a:schemeClr val="dk1"/>
                              </a:solidFill>
                              <a:effectLst/>
                              <a:latin typeface="+mn-lt"/>
                              <a:ea typeface="+mn-ea"/>
                              <a:cs typeface="+mn-cs"/>
                            </a:rPr>
                            <a:t>)</a:t>
                          </a:r>
                          <a:endParaRPr lang="en-US" sz="1400" dirty="0"/>
                        </a:p>
                      </a:txBody>
                      <a:tcPr marL="95527" marR="95527" marT="47764" marB="47764"/>
                    </a:tc>
                    <a:extLst>
                      <a:ext uri="{0D108BD9-81ED-4DB2-BD59-A6C34878D82A}">
                        <a16:rowId xmlns:a16="http://schemas.microsoft.com/office/drawing/2014/main" val="11922926"/>
                      </a:ext>
                    </a:extLst>
                  </a:tr>
                </a:tbl>
              </a:graphicData>
            </a:graphic>
          </p:graphicFrame>
        </mc:Fallback>
      </mc:AlternateContent>
    </p:spTree>
    <p:extLst>
      <p:ext uri="{BB962C8B-B14F-4D97-AF65-F5344CB8AC3E}">
        <p14:creationId xmlns:p14="http://schemas.microsoft.com/office/powerpoint/2010/main" val="12516985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6E1A0-7FC1-50F4-1328-9B5B422FC780}"/>
              </a:ext>
            </a:extLst>
          </p:cNvPr>
          <p:cNvSpPr>
            <a:spLocks noGrp="1"/>
          </p:cNvSpPr>
          <p:nvPr>
            <p:ph type="title"/>
          </p:nvPr>
        </p:nvSpPr>
        <p:spPr/>
        <p:txBody>
          <a:bodyPr/>
          <a:lstStyle/>
          <a:p>
            <a:r>
              <a:rPr lang="en-US" dirty="0"/>
              <a:t>Regression example</a:t>
            </a:r>
          </a:p>
        </p:txBody>
      </p:sp>
      <p:sp>
        <p:nvSpPr>
          <p:cNvPr id="3" name="Content Placeholder 2">
            <a:extLst>
              <a:ext uri="{FF2B5EF4-FFF2-40B4-BE49-F238E27FC236}">
                <a16:creationId xmlns:a16="http://schemas.microsoft.com/office/drawing/2014/main" id="{DB140E02-1E73-ECA9-B3C1-93C2EA3B05FA}"/>
              </a:ext>
            </a:extLst>
          </p:cNvPr>
          <p:cNvSpPr>
            <a:spLocks noGrp="1"/>
          </p:cNvSpPr>
          <p:nvPr>
            <p:ph idx="1"/>
          </p:nvPr>
        </p:nvSpPr>
        <p:spPr/>
        <p:txBody>
          <a:bodyPr/>
          <a:lstStyle/>
          <a:p>
            <a:r>
              <a:rPr lang="en-US" dirty="0"/>
              <a:t>See Example 1</a:t>
            </a:r>
          </a:p>
          <a:p>
            <a:r>
              <a:rPr lang="en-US" dirty="0"/>
              <a:t>What’s wrong here??</a:t>
            </a:r>
          </a:p>
        </p:txBody>
      </p:sp>
    </p:spTree>
    <p:extLst>
      <p:ext uri="{BB962C8B-B14F-4D97-AF65-F5344CB8AC3E}">
        <p14:creationId xmlns:p14="http://schemas.microsoft.com/office/powerpoint/2010/main" val="300310691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D0E8D-99C2-462B-9346-B29DE4F473AE}"/>
              </a:ext>
            </a:extLst>
          </p:cNvPr>
          <p:cNvSpPr>
            <a:spLocks noGrp="1"/>
          </p:cNvSpPr>
          <p:nvPr>
            <p:ph type="title"/>
          </p:nvPr>
        </p:nvSpPr>
        <p:spPr>
          <a:xfrm>
            <a:off x="0" y="-171351"/>
            <a:ext cx="12192000" cy="1325563"/>
          </a:xfrm>
        </p:spPr>
        <p:txBody>
          <a:bodyPr/>
          <a:lstStyle/>
          <a:p>
            <a:r>
              <a:rPr lang="en-US" dirty="0"/>
              <a:t>Digression on visualizing classifier results</a:t>
            </a:r>
          </a:p>
        </p:txBody>
      </p:sp>
      <p:pic>
        <p:nvPicPr>
          <p:cNvPr id="1026" name="Picture 2" descr="ROC Curve Plot for a No Skill Classifier and a Logistic Regression Model">
            <a:extLst>
              <a:ext uri="{FF2B5EF4-FFF2-40B4-BE49-F238E27FC236}">
                <a16:creationId xmlns:a16="http://schemas.microsoft.com/office/drawing/2014/main" id="{8B8BD8C7-FF22-434D-A374-69B70266E8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8325" y="1950244"/>
            <a:ext cx="6543675" cy="4907756"/>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2A129F61-C7BB-4A91-A9FF-619D5AAF9634}"/>
              </a:ext>
            </a:extLst>
          </p:cNvPr>
          <p:cNvSpPr/>
          <p:nvPr/>
        </p:nvSpPr>
        <p:spPr>
          <a:xfrm>
            <a:off x="128271" y="1446905"/>
            <a:ext cx="4514375" cy="1938992"/>
          </a:xfrm>
          <a:prstGeom prst="rect">
            <a:avLst/>
          </a:prstGeom>
        </p:spPr>
        <p:txBody>
          <a:bodyPr wrap="square">
            <a:spAutoFit/>
          </a:bodyPr>
          <a:lstStyle/>
          <a:p>
            <a:pPr marL="342900" indent="-342900">
              <a:buFont typeface="Arial" panose="020B0604020202020204" pitchFamily="34" charset="0"/>
              <a:buChar char="•"/>
            </a:pPr>
            <a:r>
              <a:rPr lang="en-US" sz="2400" dirty="0"/>
              <a:t>Receiver operating characteristic (ROC)</a:t>
            </a:r>
          </a:p>
          <a:p>
            <a:pPr marL="342900" indent="-342900">
              <a:buFont typeface="Arial" panose="020B0604020202020204" pitchFamily="34" charset="0"/>
              <a:buChar char="•"/>
            </a:pPr>
            <a:r>
              <a:rPr lang="en-US" sz="2400" dirty="0"/>
              <a:t>The relationship between false positive rate and true positive rate as in a model</a:t>
            </a:r>
          </a:p>
        </p:txBody>
      </p:sp>
      <p:pic>
        <p:nvPicPr>
          <p:cNvPr id="3074" name="Picture 2">
            <a:extLst>
              <a:ext uri="{FF2B5EF4-FFF2-40B4-BE49-F238E27FC236}">
                <a16:creationId xmlns:a16="http://schemas.microsoft.com/office/drawing/2014/main" id="{CE7102BF-D494-4519-B7C7-089F9A67817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7532" y="3550303"/>
            <a:ext cx="4328204" cy="317141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37F39F92-4EDA-43AD-8D90-747A362282EF}"/>
              </a:ext>
            </a:extLst>
          </p:cNvPr>
          <p:cNvSpPr txBox="1"/>
          <p:nvPr/>
        </p:nvSpPr>
        <p:spPr>
          <a:xfrm>
            <a:off x="161925" y="6533695"/>
            <a:ext cx="6769893" cy="307777"/>
          </a:xfrm>
          <a:prstGeom prst="rect">
            <a:avLst/>
          </a:prstGeom>
          <a:noFill/>
        </p:spPr>
        <p:txBody>
          <a:bodyPr wrap="square">
            <a:spAutoFit/>
          </a:bodyPr>
          <a:lstStyle/>
          <a:p>
            <a:r>
              <a:rPr lang="en-US" sz="1400" dirty="0"/>
              <a:t>https://blog.floydhub.com/a-pirates-guide-to-accuracy-precision-recall-and-other-scores/</a:t>
            </a:r>
          </a:p>
        </p:txBody>
      </p:sp>
      <p:grpSp>
        <p:nvGrpSpPr>
          <p:cNvPr id="14" name="Group 13">
            <a:extLst>
              <a:ext uri="{FF2B5EF4-FFF2-40B4-BE49-F238E27FC236}">
                <a16:creationId xmlns:a16="http://schemas.microsoft.com/office/drawing/2014/main" id="{95F6097B-B014-3E2A-C6E1-0F566DBC7FFA}"/>
              </a:ext>
            </a:extLst>
          </p:cNvPr>
          <p:cNvGrpSpPr/>
          <p:nvPr/>
        </p:nvGrpSpPr>
        <p:grpSpPr>
          <a:xfrm>
            <a:off x="4809066" y="802196"/>
            <a:ext cx="7104696" cy="1375545"/>
            <a:chOff x="4242373" y="711024"/>
            <a:chExt cx="7818145" cy="1513676"/>
          </a:xfrm>
        </p:grpSpPr>
        <p:pic>
          <p:nvPicPr>
            <p:cNvPr id="4" name="Graphic 3">
              <a:extLst>
                <a:ext uri="{FF2B5EF4-FFF2-40B4-BE49-F238E27FC236}">
                  <a16:creationId xmlns:a16="http://schemas.microsoft.com/office/drawing/2014/main" id="{96149A60-30DE-C0B6-5EE0-8A31DFF3E68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2373" y="711024"/>
              <a:ext cx="7772400" cy="970071"/>
            </a:xfrm>
            <a:prstGeom prst="rect">
              <a:avLst/>
            </a:prstGeom>
          </p:spPr>
        </p:pic>
        <p:cxnSp>
          <p:nvCxnSpPr>
            <p:cNvPr id="7" name="Straight Connector 6">
              <a:extLst>
                <a:ext uri="{FF2B5EF4-FFF2-40B4-BE49-F238E27FC236}">
                  <a16:creationId xmlns:a16="http://schemas.microsoft.com/office/drawing/2014/main" id="{8E12275B-5417-9BE9-5B40-5AB7EABE622F}"/>
                </a:ext>
              </a:extLst>
            </p:cNvPr>
            <p:cNvCxnSpPr>
              <a:cxnSpLocks/>
            </p:cNvCxnSpPr>
            <p:nvPr/>
          </p:nvCxnSpPr>
          <p:spPr>
            <a:xfrm flipV="1">
              <a:off x="8365067" y="711024"/>
              <a:ext cx="0" cy="970071"/>
            </a:xfrm>
            <a:prstGeom prst="line">
              <a:avLst/>
            </a:prstGeom>
            <a:ln w="38100"/>
          </p:spPr>
          <p:style>
            <a:lnRef idx="1">
              <a:schemeClr val="accent2"/>
            </a:lnRef>
            <a:fillRef idx="0">
              <a:schemeClr val="accent2"/>
            </a:fillRef>
            <a:effectRef idx="0">
              <a:schemeClr val="accent2"/>
            </a:effectRef>
            <a:fontRef idx="minor">
              <a:schemeClr val="tx1"/>
            </a:fontRef>
          </p:style>
        </p:cxnSp>
        <p:cxnSp>
          <p:nvCxnSpPr>
            <p:cNvPr id="9" name="Straight Arrow Connector 8">
              <a:extLst>
                <a:ext uri="{FF2B5EF4-FFF2-40B4-BE49-F238E27FC236}">
                  <a16:creationId xmlns:a16="http://schemas.microsoft.com/office/drawing/2014/main" id="{07FDB06A-DC01-9864-E04F-2D5663CB86D0}"/>
                </a:ext>
              </a:extLst>
            </p:cNvPr>
            <p:cNvCxnSpPr>
              <a:cxnSpLocks/>
            </p:cNvCxnSpPr>
            <p:nvPr/>
          </p:nvCxnSpPr>
          <p:spPr>
            <a:xfrm flipH="1" flipV="1">
              <a:off x="8374796" y="1427888"/>
              <a:ext cx="1019500" cy="6434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7617A570-67AB-B193-FFE0-24E4ADFE6734}"/>
                </a:ext>
              </a:extLst>
            </p:cNvPr>
            <p:cNvSpPr txBox="1"/>
            <p:nvPr/>
          </p:nvSpPr>
          <p:spPr>
            <a:xfrm>
              <a:off x="9344670" y="1855368"/>
              <a:ext cx="2715848" cy="369332"/>
            </a:xfrm>
            <a:prstGeom prst="rect">
              <a:avLst/>
            </a:prstGeom>
            <a:noFill/>
          </p:spPr>
          <p:txBody>
            <a:bodyPr wrap="square" rtlCol="0">
              <a:spAutoFit/>
            </a:bodyPr>
            <a:lstStyle/>
            <a:p>
              <a:r>
                <a:rPr lang="en-US" dirty="0"/>
                <a:t>One possible threshold</a:t>
              </a:r>
            </a:p>
          </p:txBody>
        </p:sp>
      </p:grpSp>
      <p:sp>
        <p:nvSpPr>
          <p:cNvPr id="15" name="TextBox 14">
            <a:extLst>
              <a:ext uri="{FF2B5EF4-FFF2-40B4-BE49-F238E27FC236}">
                <a16:creationId xmlns:a16="http://schemas.microsoft.com/office/drawing/2014/main" id="{7678B7A3-B26D-4D5C-44E3-1C1F57107681}"/>
              </a:ext>
            </a:extLst>
          </p:cNvPr>
          <p:cNvSpPr txBox="1"/>
          <p:nvPr/>
        </p:nvSpPr>
        <p:spPr>
          <a:xfrm>
            <a:off x="9615979" y="6488668"/>
            <a:ext cx="1659467" cy="369332"/>
          </a:xfrm>
          <a:prstGeom prst="rect">
            <a:avLst/>
          </a:prstGeom>
          <a:noFill/>
        </p:spPr>
        <p:txBody>
          <a:bodyPr wrap="square" rtlCol="0">
            <a:spAutoFit/>
          </a:bodyPr>
          <a:lstStyle/>
          <a:p>
            <a:r>
              <a:rPr lang="en-US" dirty="0"/>
              <a:t>= 1 - specificity</a:t>
            </a:r>
          </a:p>
        </p:txBody>
      </p:sp>
      <p:sp>
        <p:nvSpPr>
          <p:cNvPr id="16" name="TextBox 15">
            <a:extLst>
              <a:ext uri="{FF2B5EF4-FFF2-40B4-BE49-F238E27FC236}">
                <a16:creationId xmlns:a16="http://schemas.microsoft.com/office/drawing/2014/main" id="{E3E6A041-17E8-AAE6-AC36-DC6B0B056BA3}"/>
              </a:ext>
            </a:extLst>
          </p:cNvPr>
          <p:cNvSpPr txBox="1"/>
          <p:nvPr/>
        </p:nvSpPr>
        <p:spPr>
          <a:xfrm rot="16200000">
            <a:off x="5157016" y="2772826"/>
            <a:ext cx="1659467" cy="369332"/>
          </a:xfrm>
          <a:prstGeom prst="rect">
            <a:avLst/>
          </a:prstGeom>
          <a:noFill/>
        </p:spPr>
        <p:txBody>
          <a:bodyPr wrap="square" rtlCol="0">
            <a:spAutoFit/>
          </a:bodyPr>
          <a:lstStyle/>
          <a:p>
            <a:r>
              <a:rPr lang="en-US" dirty="0"/>
              <a:t>= sensitivity</a:t>
            </a:r>
          </a:p>
        </p:txBody>
      </p:sp>
    </p:spTree>
    <p:extLst>
      <p:ext uri="{BB962C8B-B14F-4D97-AF65-F5344CB8AC3E}">
        <p14:creationId xmlns:p14="http://schemas.microsoft.com/office/powerpoint/2010/main" val="1024682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381DF0-BA57-DC8C-0DDA-130C829377B5}"/>
              </a:ext>
            </a:extLst>
          </p:cNvPr>
          <p:cNvSpPr>
            <a:spLocks noGrp="1"/>
          </p:cNvSpPr>
          <p:nvPr>
            <p:ph type="title"/>
          </p:nvPr>
        </p:nvSpPr>
        <p:spPr/>
        <p:txBody>
          <a:bodyPr/>
          <a:lstStyle/>
          <a:p>
            <a:r>
              <a:rPr lang="en-US" dirty="0"/>
              <a:t>Problems</a:t>
            </a:r>
          </a:p>
        </p:txBody>
      </p:sp>
      <p:sp>
        <p:nvSpPr>
          <p:cNvPr id="3" name="Content Placeholder 2">
            <a:extLst>
              <a:ext uri="{FF2B5EF4-FFF2-40B4-BE49-F238E27FC236}">
                <a16:creationId xmlns:a16="http://schemas.microsoft.com/office/drawing/2014/main" id="{82F6C6B0-00B0-E928-8787-A03C9CA6BBDC}"/>
              </a:ext>
            </a:extLst>
          </p:cNvPr>
          <p:cNvSpPr>
            <a:spLocks noGrp="1"/>
          </p:cNvSpPr>
          <p:nvPr>
            <p:ph idx="1"/>
          </p:nvPr>
        </p:nvSpPr>
        <p:spPr>
          <a:xfrm>
            <a:off x="838200" y="2106864"/>
            <a:ext cx="10985500" cy="4351338"/>
          </a:xfrm>
        </p:spPr>
        <p:txBody>
          <a:bodyPr/>
          <a:lstStyle/>
          <a:p>
            <a:r>
              <a:rPr lang="en-US" dirty="0"/>
              <a:t>Problems</a:t>
            </a:r>
          </a:p>
          <a:p>
            <a:pPr lvl="1"/>
            <a:r>
              <a:rPr lang="en-US" dirty="0"/>
              <a:t>We only saw how well the model can do on the training data</a:t>
            </a:r>
          </a:p>
          <a:p>
            <a:pPr lvl="1"/>
            <a:r>
              <a:rPr lang="en-US" dirty="0"/>
              <a:t>Training performance overestimates testing performance</a:t>
            </a:r>
          </a:p>
          <a:p>
            <a:pPr lvl="1"/>
            <a:r>
              <a:rPr lang="en-US" dirty="0"/>
              <a:t>So how can we estimate the generalization error?</a:t>
            </a:r>
          </a:p>
          <a:p>
            <a:pPr lvl="1"/>
            <a:r>
              <a:rPr lang="en-US" dirty="0"/>
              <a:t>How do we choose hyperparameters (like lambda)?</a:t>
            </a:r>
          </a:p>
          <a:p>
            <a:r>
              <a:rPr lang="en-US" dirty="0"/>
              <a:t>Solution: cross-validation</a:t>
            </a:r>
          </a:p>
          <a:p>
            <a:r>
              <a:rPr lang="en-US" dirty="0"/>
              <a:t>“Bias-variance tradeoff”</a:t>
            </a:r>
          </a:p>
        </p:txBody>
      </p:sp>
    </p:spTree>
    <p:extLst>
      <p:ext uri="{BB962C8B-B14F-4D97-AF65-F5344CB8AC3E}">
        <p14:creationId xmlns:p14="http://schemas.microsoft.com/office/powerpoint/2010/main" val="330200776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53F23-6961-4F26-CDB5-BE7B444EF5E9}"/>
              </a:ext>
            </a:extLst>
          </p:cNvPr>
          <p:cNvSpPr>
            <a:spLocks noGrp="1"/>
          </p:cNvSpPr>
          <p:nvPr>
            <p:ph type="title"/>
          </p:nvPr>
        </p:nvSpPr>
        <p:spPr/>
        <p:txBody>
          <a:bodyPr/>
          <a:lstStyle/>
          <a:p>
            <a:r>
              <a:rPr lang="en-US" dirty="0"/>
              <a:t>Cross-validation</a:t>
            </a:r>
          </a:p>
        </p:txBody>
      </p:sp>
      <p:sp>
        <p:nvSpPr>
          <p:cNvPr id="3" name="Content Placeholder 2">
            <a:extLst>
              <a:ext uri="{FF2B5EF4-FFF2-40B4-BE49-F238E27FC236}">
                <a16:creationId xmlns:a16="http://schemas.microsoft.com/office/drawing/2014/main" id="{A3C83130-E435-D5AF-08A6-BD5813CD9323}"/>
              </a:ext>
            </a:extLst>
          </p:cNvPr>
          <p:cNvSpPr>
            <a:spLocks noGrp="1"/>
          </p:cNvSpPr>
          <p:nvPr>
            <p:ph idx="1"/>
          </p:nvPr>
        </p:nvSpPr>
        <p:spPr>
          <a:xfrm>
            <a:off x="139700" y="1838325"/>
            <a:ext cx="10515600" cy="4351338"/>
          </a:xfrm>
        </p:spPr>
        <p:txBody>
          <a:bodyPr>
            <a:normAutofit/>
          </a:bodyPr>
          <a:lstStyle/>
          <a:p>
            <a:r>
              <a:rPr lang="en-US" sz="2000" dirty="0"/>
              <a:t>Split data into training and testing sets (80% vs. 20%, often)</a:t>
            </a:r>
          </a:p>
          <a:p>
            <a:r>
              <a:rPr lang="en-US" sz="2000" dirty="0"/>
              <a:t>Make a “grid” of possible values for the hyperparameter(s) (e.g., lambda)</a:t>
            </a:r>
          </a:p>
          <a:p>
            <a:r>
              <a:rPr lang="en-US" sz="2000" dirty="0"/>
              <a:t>For each possible value of the hyperparameter(s)</a:t>
            </a:r>
          </a:p>
          <a:p>
            <a:pPr lvl="1"/>
            <a:r>
              <a:rPr lang="en-US" sz="1600" dirty="0"/>
              <a:t>Split training data into k folds (often 5 or 10)</a:t>
            </a:r>
          </a:p>
          <a:p>
            <a:pPr lvl="1"/>
            <a:r>
              <a:rPr lang="en-US" sz="2000" dirty="0"/>
              <a:t>For each of the k folds</a:t>
            </a:r>
          </a:p>
          <a:p>
            <a:pPr lvl="2"/>
            <a:r>
              <a:rPr lang="en-US" sz="1600" dirty="0"/>
              <a:t>Train model on the other k-1 folds</a:t>
            </a:r>
          </a:p>
          <a:p>
            <a:pPr lvl="2"/>
            <a:r>
              <a:rPr lang="en-US" sz="1600" dirty="0"/>
              <a:t>Compute its error on the left-out fold</a:t>
            </a:r>
          </a:p>
          <a:p>
            <a:pPr lvl="1"/>
            <a:r>
              <a:rPr lang="en-US" sz="2000" dirty="0"/>
              <a:t>Now average the k errors</a:t>
            </a:r>
          </a:p>
          <a:p>
            <a:r>
              <a:rPr lang="en-US" sz="2400" dirty="0"/>
              <a:t>Select the value of the hyperparameter with the smallest average error</a:t>
            </a:r>
          </a:p>
          <a:p>
            <a:r>
              <a:rPr lang="en-US" sz="2400" dirty="0"/>
              <a:t>Use that value and train the model on the full training set</a:t>
            </a:r>
          </a:p>
          <a:p>
            <a:r>
              <a:rPr lang="en-US" sz="2400" dirty="0"/>
              <a:t>Calculate its error on the testing set</a:t>
            </a:r>
          </a:p>
          <a:p>
            <a:pPr lvl="1"/>
            <a:endParaRPr lang="en-US" sz="2000" dirty="0"/>
          </a:p>
        </p:txBody>
      </p:sp>
      <p:pic>
        <p:nvPicPr>
          <p:cNvPr id="3074" name="Picture 2" descr="3.1. Cross-validation: evaluating estimator performance — scikit-learn  1.8.0 documentation">
            <a:extLst>
              <a:ext uri="{FF2B5EF4-FFF2-40B4-BE49-F238E27FC236}">
                <a16:creationId xmlns:a16="http://schemas.microsoft.com/office/drawing/2014/main" id="{173534F4-B7AE-1447-AF85-7C7B08F5DE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4226" y="2616200"/>
            <a:ext cx="3468074" cy="23256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56014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EAF64D-AD88-83C7-A4E9-B4DC5ED4666F}"/>
              </a:ext>
            </a:extLst>
          </p:cNvPr>
          <p:cNvSpPr>
            <a:spLocks noGrp="1"/>
          </p:cNvSpPr>
          <p:nvPr>
            <p:ph type="title"/>
          </p:nvPr>
        </p:nvSpPr>
        <p:spPr/>
        <p:txBody>
          <a:bodyPr/>
          <a:lstStyle/>
          <a:p>
            <a:r>
              <a:rPr lang="en-US" dirty="0"/>
              <a:t>Cross-validation</a:t>
            </a:r>
          </a:p>
        </p:txBody>
      </p:sp>
      <p:sp>
        <p:nvSpPr>
          <p:cNvPr id="3" name="Content Placeholder 2">
            <a:extLst>
              <a:ext uri="{FF2B5EF4-FFF2-40B4-BE49-F238E27FC236}">
                <a16:creationId xmlns:a16="http://schemas.microsoft.com/office/drawing/2014/main" id="{D31851B2-E2F3-42A2-2393-EC9F94C216FF}"/>
              </a:ext>
            </a:extLst>
          </p:cNvPr>
          <p:cNvSpPr>
            <a:spLocks noGrp="1"/>
          </p:cNvSpPr>
          <p:nvPr>
            <p:ph idx="1"/>
          </p:nvPr>
        </p:nvSpPr>
        <p:spPr/>
        <p:txBody>
          <a:bodyPr/>
          <a:lstStyle/>
          <a:p>
            <a:r>
              <a:rPr lang="en-US" dirty="0"/>
              <a:t>See example 2</a:t>
            </a:r>
          </a:p>
        </p:txBody>
      </p:sp>
    </p:spTree>
    <p:extLst>
      <p:ext uri="{BB962C8B-B14F-4D97-AF65-F5344CB8AC3E}">
        <p14:creationId xmlns:p14="http://schemas.microsoft.com/office/powerpoint/2010/main" val="187174497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907BC-5BA9-6164-5FE6-AAC8CDFE2D3C}"/>
              </a:ext>
            </a:extLst>
          </p:cNvPr>
          <p:cNvSpPr>
            <a:spLocks noGrp="1"/>
          </p:cNvSpPr>
          <p:nvPr>
            <p:ph type="title"/>
          </p:nvPr>
        </p:nvSpPr>
        <p:spPr/>
        <p:txBody>
          <a:bodyPr/>
          <a:lstStyle/>
          <a:p>
            <a:r>
              <a:rPr lang="en-US" dirty="0"/>
              <a:t>Kernel methods</a:t>
            </a:r>
          </a:p>
        </p:txBody>
      </p:sp>
      <p:sp>
        <p:nvSpPr>
          <p:cNvPr id="3" name="Content Placeholder 2">
            <a:extLst>
              <a:ext uri="{FF2B5EF4-FFF2-40B4-BE49-F238E27FC236}">
                <a16:creationId xmlns:a16="http://schemas.microsoft.com/office/drawing/2014/main" id="{F4594895-698D-6B74-BB35-17F73E08414B}"/>
              </a:ext>
            </a:extLst>
          </p:cNvPr>
          <p:cNvSpPr>
            <a:spLocks noGrp="1"/>
          </p:cNvSpPr>
          <p:nvPr>
            <p:ph idx="1"/>
          </p:nvPr>
        </p:nvSpPr>
        <p:spPr>
          <a:xfrm>
            <a:off x="838200" y="1431925"/>
            <a:ext cx="10515600" cy="4351338"/>
          </a:xfrm>
        </p:spPr>
        <p:txBody>
          <a:bodyPr/>
          <a:lstStyle/>
          <a:p>
            <a:r>
              <a:rPr lang="en-US" dirty="0"/>
              <a:t>Example: support vector machine</a:t>
            </a:r>
          </a:p>
          <a:p>
            <a:r>
              <a:rPr lang="en-US" dirty="0"/>
              <a:t>Goal: binary classification (like logistic regression)</a:t>
            </a:r>
          </a:p>
          <a:p>
            <a:r>
              <a:rPr lang="en-US" dirty="0"/>
              <a:t>Want a decision boundary dividing the two classes</a:t>
            </a:r>
          </a:p>
          <a:p>
            <a:r>
              <a:rPr lang="en-US" dirty="0"/>
              <a:t>SVM: choose the separating hyperplane with the largest margin</a:t>
            </a:r>
          </a:p>
        </p:txBody>
      </p:sp>
      <p:pic>
        <p:nvPicPr>
          <p:cNvPr id="5122" name="Picture 2" descr="Support Vector Machine with Scikit-Learn: A Friendly Introduction | Towards  Data Science">
            <a:extLst>
              <a:ext uri="{FF2B5EF4-FFF2-40B4-BE49-F238E27FC236}">
                <a16:creationId xmlns:a16="http://schemas.microsoft.com/office/drawing/2014/main" id="{A9E31909-08C2-9423-546D-60E27EBEF3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2915" y="4111262"/>
            <a:ext cx="3174733" cy="26670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Support Vector Machines (SVM) Made Simple &amp; How To Tutorial">
            <a:extLst>
              <a:ext uri="{FF2B5EF4-FFF2-40B4-BE49-F238E27FC236}">
                <a16:creationId xmlns:a16="http://schemas.microsoft.com/office/drawing/2014/main" id="{BA627C72-0A15-4D01-EDF5-DB8666F3F1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02363" y="4280761"/>
            <a:ext cx="4135437" cy="232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796231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360F0-66CC-C0C8-134A-0C8ADDEE743D}"/>
              </a:ext>
            </a:extLst>
          </p:cNvPr>
          <p:cNvSpPr>
            <a:spLocks noGrp="1"/>
          </p:cNvSpPr>
          <p:nvPr>
            <p:ph type="title"/>
          </p:nvPr>
        </p:nvSpPr>
        <p:spPr/>
        <p:txBody>
          <a:bodyPr/>
          <a:lstStyle/>
          <a:p>
            <a:r>
              <a:rPr lang="en-US" dirty="0"/>
              <a:t>Instance/distance-based methods</a:t>
            </a:r>
          </a:p>
        </p:txBody>
      </p:sp>
      <p:sp>
        <p:nvSpPr>
          <p:cNvPr id="3" name="Content Placeholder 2">
            <a:extLst>
              <a:ext uri="{FF2B5EF4-FFF2-40B4-BE49-F238E27FC236}">
                <a16:creationId xmlns:a16="http://schemas.microsoft.com/office/drawing/2014/main" id="{0A870FD0-E5AF-3F0A-8DDE-75C75F0E7FA1}"/>
              </a:ext>
            </a:extLst>
          </p:cNvPr>
          <p:cNvSpPr>
            <a:spLocks noGrp="1"/>
          </p:cNvSpPr>
          <p:nvPr>
            <p:ph idx="1"/>
          </p:nvPr>
        </p:nvSpPr>
        <p:spPr/>
        <p:txBody>
          <a:bodyPr/>
          <a:lstStyle/>
          <a:p>
            <a:r>
              <a:rPr lang="en-US" dirty="0"/>
              <a:t>Distance-based methods: prediction relies on distance/similarity</a:t>
            </a:r>
          </a:p>
          <a:p>
            <a:r>
              <a:rPr lang="en-US" dirty="0"/>
              <a:t>Instance-based methods: are training data stored in the model and use for prediction?</a:t>
            </a:r>
          </a:p>
          <a:p>
            <a:pPr marL="0" indent="0">
              <a:buNone/>
            </a:pPr>
            <a:endParaRPr lang="en-US" dirty="0"/>
          </a:p>
          <a:p>
            <a:pPr marL="0" indent="0">
              <a:buNone/>
            </a:pPr>
            <a:r>
              <a:rPr lang="en-US" dirty="0"/>
              <a:t>k-nearest neighbors (</a:t>
            </a:r>
            <a:r>
              <a:rPr lang="en-US" dirty="0" err="1"/>
              <a:t>kNN</a:t>
            </a:r>
            <a:r>
              <a:rPr lang="en-US" dirty="0"/>
              <a:t>) is an example of both</a:t>
            </a:r>
          </a:p>
        </p:txBody>
      </p:sp>
    </p:spTree>
    <p:extLst>
      <p:ext uri="{BB962C8B-B14F-4D97-AF65-F5344CB8AC3E}">
        <p14:creationId xmlns:p14="http://schemas.microsoft.com/office/powerpoint/2010/main" val="34747525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7B1E7-A0EF-3863-0DA0-60DABE5F4CFA}"/>
              </a:ext>
            </a:extLst>
          </p:cNvPr>
          <p:cNvSpPr>
            <a:spLocks noGrp="1"/>
          </p:cNvSpPr>
          <p:nvPr>
            <p:ph type="title"/>
          </p:nvPr>
        </p:nvSpPr>
        <p:spPr/>
        <p:txBody>
          <a:bodyPr/>
          <a:lstStyle/>
          <a:p>
            <a:r>
              <a:rPr lang="en-US" dirty="0" err="1"/>
              <a:t>kNN</a:t>
            </a:r>
            <a:endParaRPr lang="en-US" dirty="0"/>
          </a:p>
        </p:txBody>
      </p:sp>
      <p:sp>
        <p:nvSpPr>
          <p:cNvPr id="3" name="Content Placeholder 2">
            <a:extLst>
              <a:ext uri="{FF2B5EF4-FFF2-40B4-BE49-F238E27FC236}">
                <a16:creationId xmlns:a16="http://schemas.microsoft.com/office/drawing/2014/main" id="{06881252-CC01-E65A-412E-6B8F5846AE32}"/>
              </a:ext>
            </a:extLst>
          </p:cNvPr>
          <p:cNvSpPr>
            <a:spLocks noGrp="1"/>
          </p:cNvSpPr>
          <p:nvPr>
            <p:ph idx="1"/>
          </p:nvPr>
        </p:nvSpPr>
        <p:spPr/>
        <p:txBody>
          <a:bodyPr>
            <a:normAutofit fontScale="85000" lnSpcReduction="20000"/>
          </a:bodyPr>
          <a:lstStyle/>
          <a:p>
            <a:r>
              <a:rPr lang="en-US" dirty="0"/>
              <a:t>Idea: classify a new point based on labels of its neighbors</a:t>
            </a:r>
          </a:p>
          <a:p>
            <a:pPr lvl="1"/>
            <a:r>
              <a:rPr lang="en-US" dirty="0"/>
              <a:t>Choose k</a:t>
            </a:r>
          </a:p>
          <a:p>
            <a:pPr lvl="1"/>
            <a:r>
              <a:rPr lang="en-US" dirty="0"/>
              <a:t>Compute its distance from all training data points</a:t>
            </a:r>
          </a:p>
          <a:p>
            <a:pPr lvl="1"/>
            <a:r>
              <a:rPr lang="en-US" dirty="0"/>
              <a:t>Find the k nearest neighbors</a:t>
            </a:r>
          </a:p>
          <a:p>
            <a:pPr lvl="1"/>
            <a:r>
              <a:rPr lang="en-US" dirty="0"/>
              <a:t>Assign the point to the majority class among those </a:t>
            </a:r>
            <a:r>
              <a:rPr lang="en-US" dirty="0" err="1"/>
              <a:t>neigbors</a:t>
            </a:r>
            <a:endParaRPr lang="en-US" dirty="0"/>
          </a:p>
          <a:p>
            <a:r>
              <a:rPr lang="en-US" dirty="0"/>
              <a:t>Parameters to tune</a:t>
            </a:r>
          </a:p>
          <a:p>
            <a:pPr lvl="1"/>
            <a:r>
              <a:rPr lang="en-US" dirty="0"/>
              <a:t>k (use cross-validation!)</a:t>
            </a:r>
          </a:p>
          <a:p>
            <a:pPr lvl="2"/>
            <a:r>
              <a:rPr lang="en-US" dirty="0"/>
              <a:t>large k = underfitting (low bias and high variance)</a:t>
            </a:r>
          </a:p>
          <a:p>
            <a:pPr lvl="2"/>
            <a:r>
              <a:rPr lang="en-US" dirty="0"/>
              <a:t>small k = overfitting (higher bias and lower variance)</a:t>
            </a:r>
          </a:p>
          <a:p>
            <a:pPr lvl="1"/>
            <a:r>
              <a:rPr lang="en-US" dirty="0"/>
              <a:t>distance metric</a:t>
            </a:r>
          </a:p>
          <a:p>
            <a:pPr lvl="1"/>
            <a:r>
              <a:rPr lang="en-US" dirty="0"/>
              <a:t>feature scaling</a:t>
            </a:r>
          </a:p>
          <a:p>
            <a:pPr lvl="1"/>
            <a:r>
              <a:rPr lang="en-US" dirty="0"/>
              <a:t>weighting</a:t>
            </a:r>
          </a:p>
          <a:p>
            <a:pPr lvl="1"/>
            <a:r>
              <a:rPr lang="en-US" dirty="0"/>
              <a:t>(dimensionality reduction?)</a:t>
            </a:r>
          </a:p>
          <a:p>
            <a:r>
              <a:rPr lang="en-US" dirty="0"/>
              <a:t>See example 3</a:t>
            </a:r>
          </a:p>
        </p:txBody>
      </p:sp>
    </p:spTree>
    <p:extLst>
      <p:ext uri="{BB962C8B-B14F-4D97-AF65-F5344CB8AC3E}">
        <p14:creationId xmlns:p14="http://schemas.microsoft.com/office/powerpoint/2010/main" val="261468836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C111E-D866-3C77-5A84-1DB97761339F}"/>
              </a:ext>
            </a:extLst>
          </p:cNvPr>
          <p:cNvSpPr>
            <a:spLocks noGrp="1"/>
          </p:cNvSpPr>
          <p:nvPr>
            <p:ph type="title"/>
          </p:nvPr>
        </p:nvSpPr>
        <p:spPr/>
        <p:txBody>
          <a:bodyPr/>
          <a:lstStyle/>
          <a:p>
            <a:r>
              <a:rPr lang="en-US" dirty="0"/>
              <a:t>Tree-based methods</a:t>
            </a:r>
          </a:p>
        </p:txBody>
      </p:sp>
      <p:sp>
        <p:nvSpPr>
          <p:cNvPr id="3" name="Content Placeholder 2">
            <a:extLst>
              <a:ext uri="{FF2B5EF4-FFF2-40B4-BE49-F238E27FC236}">
                <a16:creationId xmlns:a16="http://schemas.microsoft.com/office/drawing/2014/main" id="{44C553F8-F03C-D425-CA0E-D0BE0B80AB6F}"/>
              </a:ext>
            </a:extLst>
          </p:cNvPr>
          <p:cNvSpPr>
            <a:spLocks noGrp="1"/>
          </p:cNvSpPr>
          <p:nvPr>
            <p:ph idx="1"/>
          </p:nvPr>
        </p:nvSpPr>
        <p:spPr/>
        <p:txBody>
          <a:bodyPr>
            <a:normAutofit fontScale="77500" lnSpcReduction="20000"/>
          </a:bodyPr>
          <a:lstStyle/>
          <a:p>
            <a:r>
              <a:rPr lang="en-US" dirty="0"/>
              <a:t>Decision trees</a:t>
            </a:r>
          </a:p>
          <a:p>
            <a:pPr lvl="1"/>
            <a:r>
              <a:rPr lang="en-US" dirty="0"/>
              <a:t>Recursively partition feature-space (many if-then splits)</a:t>
            </a:r>
          </a:p>
          <a:p>
            <a:pPr lvl="1"/>
            <a:r>
              <a:rPr lang="en-US" dirty="0"/>
              <a:t>Prediction can be regression-based or majority-vote</a:t>
            </a:r>
          </a:p>
          <a:p>
            <a:pPr lvl="1"/>
            <a:r>
              <a:rPr lang="en-US" dirty="0"/>
              <a:t>Advantages</a:t>
            </a:r>
          </a:p>
          <a:p>
            <a:pPr lvl="2"/>
            <a:r>
              <a:rPr lang="en-US" dirty="0"/>
              <a:t>Nonlinear</a:t>
            </a:r>
          </a:p>
          <a:p>
            <a:pPr lvl="2"/>
            <a:r>
              <a:rPr lang="en-US" dirty="0"/>
              <a:t>Interactions</a:t>
            </a:r>
          </a:p>
          <a:p>
            <a:pPr lvl="2"/>
            <a:r>
              <a:rPr lang="en-US" dirty="0"/>
              <a:t>Mixed data types</a:t>
            </a:r>
          </a:p>
          <a:p>
            <a:pPr lvl="2"/>
            <a:r>
              <a:rPr lang="en-US" dirty="0"/>
              <a:t>Feature selection</a:t>
            </a:r>
          </a:p>
          <a:p>
            <a:pPr lvl="1"/>
            <a:r>
              <a:rPr lang="en-US" dirty="0"/>
              <a:t>Disadvantages: high variance/unstable/over-fitting</a:t>
            </a:r>
          </a:p>
          <a:p>
            <a:pPr lvl="1"/>
            <a:r>
              <a:rPr lang="en-US" dirty="0"/>
              <a:t>Parameters: maximum depth, number of samples in each split, number of terminal nodes, penalty for number of nodes</a:t>
            </a:r>
          </a:p>
          <a:p>
            <a:r>
              <a:rPr lang="en-US" dirty="0"/>
              <a:t>Random forest</a:t>
            </a:r>
          </a:p>
          <a:p>
            <a:pPr lvl="1"/>
            <a:r>
              <a:rPr lang="en-US" dirty="0"/>
              <a:t>Resample (</a:t>
            </a:r>
            <a:r>
              <a:rPr lang="en-US" dirty="0" err="1"/>
              <a:t>boostrap</a:t>
            </a:r>
            <a:r>
              <a:rPr lang="en-US" dirty="0"/>
              <a:t>) many times from your data</a:t>
            </a:r>
          </a:p>
          <a:p>
            <a:pPr lvl="1"/>
            <a:r>
              <a:rPr lang="en-US" dirty="0"/>
              <a:t>Train a decision tree on each one and keep all of them</a:t>
            </a:r>
          </a:p>
          <a:p>
            <a:pPr lvl="1"/>
            <a:r>
              <a:rPr lang="en-US" dirty="0"/>
              <a:t>Classifier: average the votes of all the trees</a:t>
            </a:r>
          </a:p>
          <a:p>
            <a:r>
              <a:rPr lang="en-US" dirty="0"/>
              <a:t>Many extensions/variations exist</a:t>
            </a:r>
          </a:p>
          <a:p>
            <a:endParaRPr lang="en-US" dirty="0"/>
          </a:p>
          <a:p>
            <a:pPr marL="0" indent="0">
              <a:buNone/>
            </a:pPr>
            <a:endParaRPr lang="en-US" dirty="0"/>
          </a:p>
        </p:txBody>
      </p:sp>
      <p:pic>
        <p:nvPicPr>
          <p:cNvPr id="6146" name="Picture 2" descr="A simple decision tree. Disease can be predicted from the genotype and... |  Download Scientific Diagram">
            <a:extLst>
              <a:ext uri="{FF2B5EF4-FFF2-40B4-BE49-F238E27FC236}">
                <a16:creationId xmlns:a16="http://schemas.microsoft.com/office/drawing/2014/main" id="{8FDAD9AA-A7FA-0EC9-ABFC-2217041EE7C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43028" y="1040606"/>
            <a:ext cx="4248972" cy="24574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02104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D717FA-0BE5-3427-7815-683F0EAC293A}"/>
              </a:ext>
            </a:extLst>
          </p:cNvPr>
          <p:cNvSpPr>
            <a:spLocks noGrp="1"/>
          </p:cNvSpPr>
          <p:nvPr>
            <p:ph type="title"/>
          </p:nvPr>
        </p:nvSpPr>
        <p:spPr/>
        <p:txBody>
          <a:bodyPr/>
          <a:lstStyle/>
          <a:p>
            <a:r>
              <a:rPr lang="en-US" dirty="0"/>
              <a:t>Neural nets</a:t>
            </a:r>
          </a:p>
        </p:txBody>
      </p:sp>
      <p:sp>
        <p:nvSpPr>
          <p:cNvPr id="3" name="Content Placeholder 2">
            <a:extLst>
              <a:ext uri="{FF2B5EF4-FFF2-40B4-BE49-F238E27FC236}">
                <a16:creationId xmlns:a16="http://schemas.microsoft.com/office/drawing/2014/main" id="{0DDFB06F-FF4D-0687-458C-84C93A67EFD7}"/>
              </a:ext>
            </a:extLst>
          </p:cNvPr>
          <p:cNvSpPr>
            <a:spLocks noGrp="1"/>
          </p:cNvSpPr>
          <p:nvPr>
            <p:ph idx="1"/>
          </p:nvPr>
        </p:nvSpPr>
        <p:spPr/>
        <p:txBody>
          <a:bodyPr>
            <a:normAutofit lnSpcReduction="10000"/>
          </a:bodyPr>
          <a:lstStyle/>
          <a:p>
            <a:r>
              <a:rPr lang="en-US" dirty="0"/>
              <a:t>Compositions of linear and nonlinear transformations</a:t>
            </a:r>
          </a:p>
          <a:p>
            <a:pPr lvl="1"/>
            <a:r>
              <a:rPr lang="en-US" dirty="0"/>
              <a:t>Linear transformations of signals between layers</a:t>
            </a:r>
          </a:p>
          <a:p>
            <a:pPr lvl="1"/>
            <a:r>
              <a:rPr lang="en-US" dirty="0"/>
              <a:t>Nonlinear activations</a:t>
            </a:r>
          </a:p>
          <a:p>
            <a:r>
              <a:rPr lang="en-US" dirty="0"/>
              <a:t>Some extensions</a:t>
            </a:r>
          </a:p>
          <a:p>
            <a:pPr lvl="1"/>
            <a:r>
              <a:rPr lang="en-US" dirty="0"/>
              <a:t>Convolutional (CNNs)</a:t>
            </a:r>
          </a:p>
          <a:p>
            <a:pPr lvl="2"/>
            <a:r>
              <a:rPr lang="en-US" dirty="0"/>
              <a:t>Often applied to image data</a:t>
            </a:r>
          </a:p>
          <a:p>
            <a:pPr lvl="1"/>
            <a:r>
              <a:rPr lang="en-US" dirty="0"/>
              <a:t>Recurrent (RNNs)</a:t>
            </a:r>
          </a:p>
          <a:p>
            <a:pPr lvl="2"/>
            <a:r>
              <a:rPr lang="en-US" dirty="0"/>
              <a:t>Often applied to time series data</a:t>
            </a:r>
          </a:p>
          <a:p>
            <a:pPr lvl="1"/>
            <a:r>
              <a:rPr lang="en-US" dirty="0"/>
              <a:t>Transformers</a:t>
            </a:r>
          </a:p>
          <a:p>
            <a:pPr lvl="2"/>
            <a:r>
              <a:rPr lang="en-US" dirty="0"/>
              <a:t>Include LLMs</a:t>
            </a:r>
          </a:p>
          <a:p>
            <a:pPr lvl="1"/>
            <a:r>
              <a:rPr lang="en-US" dirty="0"/>
              <a:t>Autoencoders</a:t>
            </a:r>
          </a:p>
          <a:p>
            <a:pPr lvl="2"/>
            <a:r>
              <a:rPr lang="en-US" dirty="0"/>
              <a:t>For unsupervised learning</a:t>
            </a:r>
          </a:p>
          <a:p>
            <a:endParaRPr lang="en-US" dirty="0"/>
          </a:p>
        </p:txBody>
      </p:sp>
      <p:pic>
        <p:nvPicPr>
          <p:cNvPr id="7170" name="Picture 2" descr="Multi-Layer Perceptrons: Notations and Trainable Parameters -">
            <a:extLst>
              <a:ext uri="{FF2B5EF4-FFF2-40B4-BE49-F238E27FC236}">
                <a16:creationId xmlns:a16="http://schemas.microsoft.com/office/drawing/2014/main" id="{96A8FD24-28DF-DFD4-B4B2-F6D1DED401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37600" y="192881"/>
            <a:ext cx="3221812" cy="1695450"/>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6" descr="What Is a Neural Network? | IBM">
            <a:extLst>
              <a:ext uri="{FF2B5EF4-FFF2-40B4-BE49-F238E27FC236}">
                <a16:creationId xmlns:a16="http://schemas.microsoft.com/office/drawing/2014/main" id="{4FAEFD42-F680-F19A-4F37-E53B8A5123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46172" y="3165229"/>
            <a:ext cx="5345828" cy="3011734"/>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C849F2E4-4DE5-6173-A2AE-B1A271C50DFE}"/>
              </a:ext>
            </a:extLst>
          </p:cNvPr>
          <p:cNvCxnSpPr>
            <a:cxnSpLocks/>
          </p:cNvCxnSpPr>
          <p:nvPr/>
        </p:nvCxnSpPr>
        <p:spPr>
          <a:xfrm flipH="1">
            <a:off x="8737600" y="1199630"/>
            <a:ext cx="2563406" cy="29278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295122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25F15-EC1A-932B-E862-116BD8D492D3}"/>
              </a:ext>
            </a:extLst>
          </p:cNvPr>
          <p:cNvSpPr>
            <a:spLocks noGrp="1"/>
          </p:cNvSpPr>
          <p:nvPr>
            <p:ph type="title"/>
          </p:nvPr>
        </p:nvSpPr>
        <p:spPr/>
        <p:txBody>
          <a:bodyPr/>
          <a:lstStyle/>
          <a:p>
            <a:r>
              <a:rPr lang="en-US" dirty="0"/>
              <a:t>Probabilistic models</a:t>
            </a:r>
          </a:p>
        </p:txBody>
      </p:sp>
      <p:sp>
        <p:nvSpPr>
          <p:cNvPr id="3" name="Content Placeholder 2">
            <a:extLst>
              <a:ext uri="{FF2B5EF4-FFF2-40B4-BE49-F238E27FC236}">
                <a16:creationId xmlns:a16="http://schemas.microsoft.com/office/drawing/2014/main" id="{07B25559-0E6A-8F13-7BDE-14CB67AA448E}"/>
              </a:ext>
            </a:extLst>
          </p:cNvPr>
          <p:cNvSpPr>
            <a:spLocks noGrp="1"/>
          </p:cNvSpPr>
          <p:nvPr>
            <p:ph idx="1"/>
          </p:nvPr>
        </p:nvSpPr>
        <p:spPr>
          <a:xfrm>
            <a:off x="78501" y="1690688"/>
            <a:ext cx="10515600" cy="4351338"/>
          </a:xfrm>
        </p:spPr>
        <p:txBody>
          <a:bodyPr>
            <a:normAutofit fontScale="77500" lnSpcReduction="20000"/>
          </a:bodyPr>
          <a:lstStyle/>
          <a:p>
            <a:pPr marL="0" indent="0">
              <a:buNone/>
            </a:pPr>
            <a:r>
              <a:rPr lang="en-US" dirty="0"/>
              <a:t>Core idea</a:t>
            </a:r>
          </a:p>
          <a:p>
            <a:r>
              <a:rPr lang="en-US" dirty="0"/>
              <a:t>“How likely are the data to have been generated by each class?”</a:t>
            </a:r>
          </a:p>
          <a:p>
            <a:r>
              <a:rPr lang="en-US" dirty="0"/>
              <a:t>Prediction: pick the class that makes the data most probable</a:t>
            </a:r>
          </a:p>
          <a:p>
            <a:pPr marL="0" indent="0">
              <a:buNone/>
            </a:pPr>
            <a:r>
              <a:rPr lang="en-US" dirty="0"/>
              <a:t>Examples</a:t>
            </a:r>
          </a:p>
          <a:p>
            <a:r>
              <a:rPr lang="en-US" dirty="0"/>
              <a:t>Naïve Bayes</a:t>
            </a:r>
          </a:p>
          <a:p>
            <a:pPr lvl="1"/>
            <a:r>
              <a:rPr lang="en-US" dirty="0"/>
              <a:t>“ How strongly does each piece of evidence (e.g., dosage of allele A, expression of gene B, clinical feature C) point to “case vs. control”?</a:t>
            </a:r>
          </a:p>
          <a:p>
            <a:pPr lvl="1"/>
            <a:r>
              <a:rPr lang="en-US" dirty="0"/>
              <a:t>Naïve = no interactions</a:t>
            </a:r>
          </a:p>
          <a:p>
            <a:r>
              <a:rPr lang="en-US" dirty="0"/>
              <a:t>Gaussian mixture classifiers</a:t>
            </a:r>
          </a:p>
          <a:p>
            <a:pPr lvl="1"/>
            <a:endParaRPr lang="en-US" dirty="0"/>
          </a:p>
          <a:p>
            <a:r>
              <a:rPr lang="en-US" dirty="0"/>
              <a:t>Hidden Markov models</a:t>
            </a:r>
          </a:p>
          <a:p>
            <a:pPr lvl="1"/>
            <a:r>
              <a:rPr lang="en-US" dirty="0"/>
              <a:t>For sequential data (e.g., chromatin states along a segment of a chromosome)</a:t>
            </a:r>
          </a:p>
          <a:p>
            <a:pPr lvl="1"/>
            <a:r>
              <a:rPr lang="en-US" dirty="0"/>
              <a:t>You observe noisy signals but cannot directly observe state</a:t>
            </a:r>
          </a:p>
          <a:p>
            <a:pPr lvl="1"/>
            <a:r>
              <a:rPr lang="en-US" dirty="0"/>
              <a:t>Infer the state most likely to have emitted a signal</a:t>
            </a:r>
          </a:p>
          <a:p>
            <a:endParaRPr lang="en-US" dirty="0"/>
          </a:p>
        </p:txBody>
      </p:sp>
      <p:pic>
        <p:nvPicPr>
          <p:cNvPr id="8196" name="Picture 4" descr="Gaussian Mixture Models Explained | by Oscar Contreras Carrasco | TDS  Archive | Medium">
            <a:extLst>
              <a:ext uri="{FF2B5EF4-FFF2-40B4-BE49-F238E27FC236}">
                <a16:creationId xmlns:a16="http://schemas.microsoft.com/office/drawing/2014/main" id="{F2390F19-D797-1B4C-6A7C-A469E802C8D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89903" y="1956594"/>
            <a:ext cx="2408397" cy="1301750"/>
          </a:xfrm>
          <a:prstGeom prst="rect">
            <a:avLst/>
          </a:prstGeom>
          <a:noFill/>
          <a:extLst>
            <a:ext uri="{909E8E84-426E-40DD-AFC4-6F175D3DCCD1}">
              <a14:hiddenFill xmlns:a14="http://schemas.microsoft.com/office/drawing/2010/main">
                <a:solidFill>
                  <a:srgbClr val="FFFFFF"/>
                </a:solidFill>
              </a14:hiddenFill>
            </a:ext>
          </a:extLst>
        </p:spPr>
      </p:pic>
      <p:pic>
        <p:nvPicPr>
          <p:cNvPr id="8199" name="Picture 7" descr="Hidden Markov model - Wikipedia">
            <a:extLst>
              <a:ext uri="{FF2B5EF4-FFF2-40B4-BE49-F238E27FC236}">
                <a16:creationId xmlns:a16="http://schemas.microsoft.com/office/drawing/2014/main" id="{C5090608-1D4B-6ED9-60C3-641B2601C3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23447" y="3910736"/>
            <a:ext cx="3594100" cy="27746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25580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3330</TotalTime>
  <Words>5423</Words>
  <Application>Microsoft Macintosh PowerPoint</Application>
  <PresentationFormat>Widescreen</PresentationFormat>
  <Paragraphs>613</Paragraphs>
  <Slides>57</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57</vt:i4>
      </vt:variant>
    </vt:vector>
  </HeadingPairs>
  <TitlesOfParts>
    <vt:vector size="64" baseType="lpstr">
      <vt:lpstr>Aptos</vt:lpstr>
      <vt:lpstr>Aptos Display</vt:lpstr>
      <vt:lpstr>Arial</vt:lpstr>
      <vt:lpstr>Calibri</vt:lpstr>
      <vt:lpstr>Cambria Math</vt:lpstr>
      <vt:lpstr>Wingdings</vt:lpstr>
      <vt:lpstr>Office Theme</vt:lpstr>
      <vt:lpstr>Machine Learning 1</vt:lpstr>
      <vt:lpstr>Terminology</vt:lpstr>
      <vt:lpstr>High-dimension datasets (n &lt;&lt; p)</vt:lpstr>
      <vt:lpstr>2D plots are not enough</vt:lpstr>
      <vt:lpstr>The curse of dimensionality</vt:lpstr>
      <vt:lpstr>What kind of structure?</vt:lpstr>
      <vt:lpstr>Supervised vs. unsupervised ML answer different questions</vt:lpstr>
      <vt:lpstr>How to measure distance</vt:lpstr>
      <vt:lpstr>Euclidean distance example</vt:lpstr>
      <vt:lpstr>Euclidean distance example</vt:lpstr>
      <vt:lpstr>Other metrics</vt:lpstr>
      <vt:lpstr>Other distances (con’t.)</vt:lpstr>
      <vt:lpstr>Unsupervised ML</vt:lpstr>
      <vt:lpstr>Principal components analysis for dimension reduction</vt:lpstr>
      <vt:lpstr>Principal components maximize variance</vt:lpstr>
      <vt:lpstr>Principal components maximize variance</vt:lpstr>
      <vt:lpstr>Principal components in biomedical research</vt:lpstr>
      <vt:lpstr>Principal components in biomedical research</vt:lpstr>
      <vt:lpstr>Principal components in biomedical research</vt:lpstr>
      <vt:lpstr>Principal components in biomedical research</vt:lpstr>
      <vt:lpstr>Principal components in biomedical research</vt:lpstr>
      <vt:lpstr>A loading plot shows how strongly each dimension influences a principal component.</vt:lpstr>
      <vt:lpstr>PCA biplot = PCA score plot + loading plot</vt:lpstr>
      <vt:lpstr>Example of PCA in genetics: principal components of ancestry</vt:lpstr>
      <vt:lpstr>Limitations of PCA</vt:lpstr>
      <vt:lpstr>PCA examples</vt:lpstr>
      <vt:lpstr>Hierarchical clustering groups data points in a nested fashion by similarity</vt:lpstr>
      <vt:lpstr>Hierarchical clustering groups data points in a nested fashion by similarity</vt:lpstr>
      <vt:lpstr>Hierarchical clustering makes a tree (dendrogram)</vt:lpstr>
      <vt:lpstr>Dendrogram visualizes hierarchical relationship of terminal nodes</vt:lpstr>
      <vt:lpstr>Dendrogram visualize group memberships</vt:lpstr>
      <vt:lpstr>Dendrogram visualizes distances among objects</vt:lpstr>
      <vt:lpstr>Clustering based on distance</vt:lpstr>
      <vt:lpstr>Clustering based on distance</vt:lpstr>
      <vt:lpstr>Clustering based on distance</vt:lpstr>
      <vt:lpstr>Clustering based on distance</vt:lpstr>
      <vt:lpstr>Clustering based on distance</vt:lpstr>
      <vt:lpstr>Clustering based on distance</vt:lpstr>
      <vt:lpstr>Dimension reduction and clustering example</vt:lpstr>
      <vt:lpstr>How “unsupervised”?</vt:lpstr>
      <vt:lpstr>Supervised ML</vt:lpstr>
      <vt:lpstr>What can you predict with ML?</vt:lpstr>
      <vt:lpstr>Regression/linear models</vt:lpstr>
      <vt:lpstr>Problems</vt:lpstr>
      <vt:lpstr>Fitting and “bias-variance tradeoff”</vt:lpstr>
      <vt:lpstr>Comparison of regression methods</vt:lpstr>
      <vt:lpstr>Regression example</vt:lpstr>
      <vt:lpstr>Digression on visualizing classifier results</vt:lpstr>
      <vt:lpstr>Problems</vt:lpstr>
      <vt:lpstr>Cross-validation</vt:lpstr>
      <vt:lpstr>Cross-validation</vt:lpstr>
      <vt:lpstr>Kernel methods</vt:lpstr>
      <vt:lpstr>Instance/distance-based methods</vt:lpstr>
      <vt:lpstr>kNN</vt:lpstr>
      <vt:lpstr>Tree-based methods</vt:lpstr>
      <vt:lpstr>Neural nets</vt:lpstr>
      <vt:lpstr>Probabilistic models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Chernus, Jonathan M</dc:creator>
  <cp:lastModifiedBy>Chernus, Jonathan M</cp:lastModifiedBy>
  <cp:revision>355</cp:revision>
  <dcterms:created xsi:type="dcterms:W3CDTF">2026-02-16T20:53:23Z</dcterms:created>
  <dcterms:modified xsi:type="dcterms:W3CDTF">2026-02-19T14:25:46Z</dcterms:modified>
</cp:coreProperties>
</file>