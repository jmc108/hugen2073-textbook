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65" r:id="rId5"/>
    <p:sldId id="259" r:id="rId6"/>
    <p:sldId id="260" r:id="rId7"/>
    <p:sldId id="261" r:id="rId8"/>
    <p:sldId id="262" r:id="rId9"/>
    <p:sldId id="451" r:id="rId10"/>
    <p:sldId id="512" r:id="rId11"/>
    <p:sldId id="268" r:id="rId12"/>
    <p:sldId id="511" r:id="rId13"/>
    <p:sldId id="263" r:id="rId14"/>
    <p:sldId id="521" r:id="rId15"/>
    <p:sldId id="455" r:id="rId16"/>
    <p:sldId id="454" r:id="rId17"/>
    <p:sldId id="456" r:id="rId18"/>
    <p:sldId id="458" r:id="rId19"/>
    <p:sldId id="459" r:id="rId20"/>
    <p:sldId id="457" r:id="rId21"/>
    <p:sldId id="460" r:id="rId22"/>
    <p:sldId id="418" r:id="rId23"/>
    <p:sldId id="419" r:id="rId24"/>
    <p:sldId id="522" r:id="rId25"/>
    <p:sldId id="523" r:id="rId26"/>
    <p:sldId id="525" r:id="rId27"/>
    <p:sldId id="499" r:id="rId28"/>
    <p:sldId id="520" r:id="rId29"/>
    <p:sldId id="498" r:id="rId30"/>
    <p:sldId id="367" r:id="rId31"/>
    <p:sldId id="368" r:id="rId32"/>
    <p:sldId id="463" r:id="rId33"/>
    <p:sldId id="350" r:id="rId34"/>
    <p:sldId id="352" r:id="rId35"/>
    <p:sldId id="466" r:id="rId36"/>
    <p:sldId id="356" r:id="rId37"/>
    <p:sldId id="357" r:id="rId38"/>
    <p:sldId id="358" r:id="rId39"/>
    <p:sldId id="524" r:id="rId40"/>
    <p:sldId id="264"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596"/>
  </p:normalViewPr>
  <p:slideViewPr>
    <p:cSldViewPr snapToGrid="0">
      <p:cViewPr>
        <p:scale>
          <a:sx n="100" d="100"/>
          <a:sy n="100" d="100"/>
        </p:scale>
        <p:origin x="1544"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53B621-37E1-FF45-B396-9F283F989628}" type="datetimeFigureOut">
              <a:rPr lang="en-US" smtClean="0"/>
              <a:t>2/16/26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408639-2EBE-844D-A655-BB439C65C397}" type="slidenum">
              <a:rPr lang="en-US" smtClean="0"/>
              <a:t>‹#›</a:t>
            </a:fld>
            <a:endParaRPr lang="en-US"/>
          </a:p>
        </p:txBody>
      </p:sp>
    </p:spTree>
    <p:extLst>
      <p:ext uri="{BB962C8B-B14F-4D97-AF65-F5344CB8AC3E}">
        <p14:creationId xmlns:p14="http://schemas.microsoft.com/office/powerpoint/2010/main" val="2678122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statisticshowto.datasciencecentral.com/probability-and-statistics/correlation-coefficient-formula/"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statisticshowto.datasciencecentral.com/probability-and-statistics/correlation-coefficient-formula/"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commons.wikimedia.org</a:t>
            </a:r>
            <a:r>
              <a:rPr lang="en-US" dirty="0"/>
              <a:t>/wiki/File:AI_relation_to_Generative_Models_subset,_</a:t>
            </a:r>
            <a:r>
              <a:rPr lang="en-US" dirty="0" err="1"/>
              <a:t>venn_diagram.png</a:t>
            </a:r>
            <a:endParaRPr lang="en-US" dirty="0"/>
          </a:p>
        </p:txBody>
      </p:sp>
      <p:sp>
        <p:nvSpPr>
          <p:cNvPr id="4" name="Slide Number Placeholder 3"/>
          <p:cNvSpPr>
            <a:spLocks noGrp="1"/>
          </p:cNvSpPr>
          <p:nvPr>
            <p:ph type="sldNum" sz="quarter" idx="5"/>
          </p:nvPr>
        </p:nvSpPr>
        <p:spPr/>
        <p:txBody>
          <a:bodyPr/>
          <a:lstStyle/>
          <a:p>
            <a:fld id="{26408639-2EBE-844D-A655-BB439C65C397}" type="slidenum">
              <a:rPr lang="en-US" smtClean="0"/>
              <a:t>2</a:t>
            </a:fld>
            <a:endParaRPr lang="en-US"/>
          </a:p>
        </p:txBody>
      </p:sp>
    </p:spTree>
    <p:extLst>
      <p:ext uri="{BB962C8B-B14F-4D97-AF65-F5344CB8AC3E}">
        <p14:creationId xmlns:p14="http://schemas.microsoft.com/office/powerpoint/2010/main" val="3299165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you have more than 2 features or dimensions, you can still calculate distances in a similar way. </a:t>
            </a:r>
          </a:p>
        </p:txBody>
      </p:sp>
      <p:sp>
        <p:nvSpPr>
          <p:cNvPr id="4" name="Slide Number Placeholder 3"/>
          <p:cNvSpPr>
            <a:spLocks noGrp="1"/>
          </p:cNvSpPr>
          <p:nvPr>
            <p:ph type="sldNum" sz="quarter" idx="10"/>
          </p:nvPr>
        </p:nvSpPr>
        <p:spPr/>
        <p:txBody>
          <a:bodyPr/>
          <a:lstStyle/>
          <a:p>
            <a:fld id="{4BAF0735-F145-4B9C-9BE5-23AA3F3DE317}" type="slidenum">
              <a:rPr lang="en-US" smtClean="0"/>
              <a:t>9</a:t>
            </a:fld>
            <a:endParaRPr lang="en-US"/>
          </a:p>
        </p:txBody>
      </p:sp>
    </p:spTree>
    <p:extLst>
      <p:ext uri="{BB962C8B-B14F-4D97-AF65-F5344CB8AC3E}">
        <p14:creationId xmlns:p14="http://schemas.microsoft.com/office/powerpoint/2010/main" val="3199655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3668E-EE8E-2272-C032-3E34FCBA7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FEE75C-CB9A-4069-FAA8-07BED32CD1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6FB26-9A2F-672D-DBB0-7F73302699BA}"/>
              </a:ext>
            </a:extLst>
          </p:cNvPr>
          <p:cNvSpPr>
            <a:spLocks noGrp="1"/>
          </p:cNvSpPr>
          <p:nvPr>
            <p:ph type="body" idx="1"/>
          </p:nvPr>
        </p:nvSpPr>
        <p:spPr/>
        <p:txBody>
          <a:bodyPr/>
          <a:lstStyle/>
          <a:p>
            <a:r>
              <a:rPr lang="en-US"/>
              <a:t>When you have more than 2 features or dimensions, you can still calculate distances in a similar way. </a:t>
            </a:r>
          </a:p>
        </p:txBody>
      </p:sp>
      <p:sp>
        <p:nvSpPr>
          <p:cNvPr id="4" name="Slide Number Placeholder 3">
            <a:extLst>
              <a:ext uri="{FF2B5EF4-FFF2-40B4-BE49-F238E27FC236}">
                <a16:creationId xmlns:a16="http://schemas.microsoft.com/office/drawing/2014/main" id="{98DE745E-35C8-E21B-DFC5-DEE3EBB166C5}"/>
              </a:ext>
            </a:extLst>
          </p:cNvPr>
          <p:cNvSpPr>
            <a:spLocks noGrp="1"/>
          </p:cNvSpPr>
          <p:nvPr>
            <p:ph type="sldNum" sz="quarter" idx="10"/>
          </p:nvPr>
        </p:nvSpPr>
        <p:spPr/>
        <p:txBody>
          <a:bodyPr/>
          <a:lstStyle/>
          <a:p>
            <a:fld id="{4BAF0735-F145-4B9C-9BE5-23AA3F3DE317}" type="slidenum">
              <a:rPr lang="en-US" smtClean="0"/>
              <a:t>10</a:t>
            </a:fld>
            <a:endParaRPr lang="en-US"/>
          </a:p>
        </p:txBody>
      </p:sp>
    </p:spTree>
    <p:extLst>
      <p:ext uri="{BB962C8B-B14F-4D97-AF65-F5344CB8AC3E}">
        <p14:creationId xmlns:p14="http://schemas.microsoft.com/office/powerpoint/2010/main" val="3069203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12</a:t>
            </a:fld>
            <a:endParaRPr lang="en-US"/>
          </a:p>
        </p:txBody>
      </p:sp>
    </p:spTree>
    <p:extLst>
      <p:ext uri="{BB962C8B-B14F-4D97-AF65-F5344CB8AC3E}">
        <p14:creationId xmlns:p14="http://schemas.microsoft.com/office/powerpoint/2010/main" val="36082133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PCA is useful for eliminating dimensions. Below, we've plotted the data along a pair of lines: one composed of the x-values and another of the y-values.</a:t>
            </a:r>
          </a:p>
          <a:p>
            <a:r>
              <a:rPr lang="en-US" sz="1200" b="0" i="0" kern="1200" dirty="0">
                <a:solidFill>
                  <a:schemeClr val="tx1"/>
                </a:solidFill>
                <a:effectLst/>
                <a:latin typeface="+mn-lt"/>
                <a:ea typeface="+mn-ea"/>
                <a:cs typeface="+mn-cs"/>
              </a:rPr>
              <a:t>If we're going to only see the data along one dimension, though, it might be better to make that dimension the principal component with most variation. We don't lose much by dropping PC2 since it contributes the least to the variation in the data set.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By</a:t>
            </a:r>
            <a:r>
              <a:rPr lang="en-US" sz="1200" b="0" i="0" kern="1200" baseline="0" dirty="0">
                <a:solidFill>
                  <a:schemeClr val="tx1"/>
                </a:solidFill>
                <a:effectLst/>
                <a:latin typeface="+mn-lt"/>
                <a:ea typeface="+mn-ea"/>
                <a:cs typeface="+mn-cs"/>
              </a:rPr>
              <a:t> comping up with the variable </a:t>
            </a:r>
            <a:r>
              <a:rPr lang="en-US" sz="1200" b="0" i="0" kern="1200" dirty="0">
                <a:solidFill>
                  <a:schemeClr val="tx1"/>
                </a:solidFill>
                <a:effectLst/>
                <a:latin typeface="+mn-lt"/>
                <a:ea typeface="+mn-ea"/>
                <a:cs typeface="+mn-cs"/>
              </a:rPr>
              <a:t>maximizing variance within a</a:t>
            </a:r>
            <a:r>
              <a:rPr lang="en-US" sz="1200" b="0" i="0" kern="1200" baseline="0" dirty="0">
                <a:solidFill>
                  <a:schemeClr val="tx1"/>
                </a:solidFill>
                <a:effectLst/>
                <a:latin typeface="+mn-lt"/>
                <a:ea typeface="+mn-ea"/>
                <a:cs typeface="+mn-cs"/>
              </a:rPr>
              <a:t> data set, the data set might need a small number of variables. </a:t>
            </a:r>
          </a:p>
          <a:p>
            <a:r>
              <a:rPr lang="en-US" sz="1200" b="0" i="0" kern="1200" baseline="0" dirty="0">
                <a:solidFill>
                  <a:schemeClr val="tx1"/>
                </a:solidFill>
                <a:effectLst/>
                <a:latin typeface="+mn-lt"/>
                <a:ea typeface="+mn-ea"/>
                <a:cs typeface="+mn-cs"/>
              </a:rPr>
              <a:t>In this example when two variables x and y represent the data set, the first principal component, the extracted variable that maximize the variance explains all the difference in the data and it effectively reduces dimensionality. </a:t>
            </a:r>
            <a:endParaRPr lang="en-US" dirty="0"/>
          </a:p>
        </p:txBody>
      </p:sp>
      <p:sp>
        <p:nvSpPr>
          <p:cNvPr id="4" name="Slide Number Placeholder 3"/>
          <p:cNvSpPr>
            <a:spLocks noGrp="1"/>
          </p:cNvSpPr>
          <p:nvPr>
            <p:ph type="sldNum" sz="quarter" idx="10"/>
          </p:nvPr>
        </p:nvSpPr>
        <p:spPr/>
        <p:txBody>
          <a:bodyPr/>
          <a:lstStyle/>
          <a:p>
            <a:fld id="{4BAF0735-F145-4B9C-9BE5-23AA3F3DE317}" type="slidenum">
              <a:rPr lang="en-US" smtClean="0"/>
              <a:t>14</a:t>
            </a:fld>
            <a:endParaRPr lang="en-US"/>
          </a:p>
        </p:txBody>
      </p:sp>
    </p:spTree>
    <p:extLst>
      <p:ext uri="{BB962C8B-B14F-4D97-AF65-F5344CB8AC3E}">
        <p14:creationId xmlns:p14="http://schemas.microsoft.com/office/powerpoint/2010/main" val="148949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PCA is useful for eliminating dimensions. Below, we've plotted the data along a pair of lines: one composed of the x-values and another of the y-values.</a:t>
            </a:r>
          </a:p>
          <a:p>
            <a:r>
              <a:rPr lang="en-US" sz="1200" b="0" i="0" kern="1200" dirty="0">
                <a:solidFill>
                  <a:schemeClr val="tx1"/>
                </a:solidFill>
                <a:effectLst/>
                <a:latin typeface="+mn-lt"/>
                <a:ea typeface="+mn-ea"/>
                <a:cs typeface="+mn-cs"/>
              </a:rPr>
              <a:t>If we're going to only see the data along one dimension, though, it might be better to make that dimension the principal component with most variation. We don't lose much by dropping PC2 since it contributes the least to the variation in the data set.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By</a:t>
            </a:r>
            <a:r>
              <a:rPr lang="en-US" sz="1200" b="0" i="0" kern="1200" baseline="0" dirty="0">
                <a:solidFill>
                  <a:schemeClr val="tx1"/>
                </a:solidFill>
                <a:effectLst/>
                <a:latin typeface="+mn-lt"/>
                <a:ea typeface="+mn-ea"/>
                <a:cs typeface="+mn-cs"/>
              </a:rPr>
              <a:t> comping up with the variable </a:t>
            </a:r>
            <a:r>
              <a:rPr lang="en-US" sz="1200" b="0" i="0" kern="1200" dirty="0">
                <a:solidFill>
                  <a:schemeClr val="tx1"/>
                </a:solidFill>
                <a:effectLst/>
                <a:latin typeface="+mn-lt"/>
                <a:ea typeface="+mn-ea"/>
                <a:cs typeface="+mn-cs"/>
              </a:rPr>
              <a:t>maximizing variance within a</a:t>
            </a:r>
            <a:r>
              <a:rPr lang="en-US" sz="1200" b="0" i="0" kern="1200" baseline="0" dirty="0">
                <a:solidFill>
                  <a:schemeClr val="tx1"/>
                </a:solidFill>
                <a:effectLst/>
                <a:latin typeface="+mn-lt"/>
                <a:ea typeface="+mn-ea"/>
                <a:cs typeface="+mn-cs"/>
              </a:rPr>
              <a:t> data set, the data set might need a small number of variables. </a:t>
            </a:r>
          </a:p>
          <a:p>
            <a:r>
              <a:rPr lang="en-US" sz="1200" b="0" i="0" kern="1200" baseline="0" dirty="0">
                <a:solidFill>
                  <a:schemeClr val="tx1"/>
                </a:solidFill>
                <a:effectLst/>
                <a:latin typeface="+mn-lt"/>
                <a:ea typeface="+mn-ea"/>
                <a:cs typeface="+mn-cs"/>
              </a:rPr>
              <a:t>In this example when two variables x and y represent the data set, the first principal component, the extracted variable that maximize the variance explains all the difference in the data and it effectively reduces dimensionality. </a:t>
            </a:r>
            <a:endParaRPr lang="en-US" dirty="0"/>
          </a:p>
        </p:txBody>
      </p:sp>
      <p:sp>
        <p:nvSpPr>
          <p:cNvPr id="4" name="Slide Number Placeholder 3"/>
          <p:cNvSpPr>
            <a:spLocks noGrp="1"/>
          </p:cNvSpPr>
          <p:nvPr>
            <p:ph type="sldNum" sz="quarter" idx="10"/>
          </p:nvPr>
        </p:nvSpPr>
        <p:spPr/>
        <p:txBody>
          <a:bodyPr/>
          <a:lstStyle/>
          <a:p>
            <a:fld id="{4BAF0735-F145-4B9C-9BE5-23AA3F3DE317}" type="slidenum">
              <a:rPr lang="en-US" smtClean="0"/>
              <a:t>15</a:t>
            </a:fld>
            <a:endParaRPr lang="en-US"/>
          </a:p>
        </p:txBody>
      </p:sp>
    </p:spTree>
    <p:extLst>
      <p:ext uri="{BB962C8B-B14F-4D97-AF65-F5344CB8AC3E}">
        <p14:creationId xmlns:p14="http://schemas.microsoft.com/office/powerpoint/2010/main" val="167325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we're going to only see the data along one dimension, though, it might be better to make that dimension the principal component with most variation. We don't lose much by dropping PC2 since it contributes the least to the variation in the data set.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By</a:t>
            </a:r>
            <a:r>
              <a:rPr lang="en-US" sz="1200" b="0" i="0" kern="1200" baseline="0" dirty="0">
                <a:solidFill>
                  <a:schemeClr val="tx1"/>
                </a:solidFill>
                <a:effectLst/>
                <a:latin typeface="+mn-lt"/>
                <a:ea typeface="+mn-ea"/>
                <a:cs typeface="+mn-cs"/>
              </a:rPr>
              <a:t> comping up with the variable </a:t>
            </a:r>
            <a:r>
              <a:rPr lang="en-US" sz="1200" b="0" i="0" kern="1200" dirty="0">
                <a:solidFill>
                  <a:schemeClr val="tx1"/>
                </a:solidFill>
                <a:effectLst/>
                <a:latin typeface="+mn-lt"/>
                <a:ea typeface="+mn-ea"/>
                <a:cs typeface="+mn-cs"/>
              </a:rPr>
              <a:t>maximizing variance within a</a:t>
            </a:r>
            <a:r>
              <a:rPr lang="en-US" sz="1200" b="0" i="0" kern="1200" baseline="0" dirty="0">
                <a:solidFill>
                  <a:schemeClr val="tx1"/>
                </a:solidFill>
                <a:effectLst/>
                <a:latin typeface="+mn-lt"/>
                <a:ea typeface="+mn-ea"/>
                <a:cs typeface="+mn-cs"/>
              </a:rPr>
              <a:t> data set, the data set might need a small number of variables. </a:t>
            </a:r>
          </a:p>
          <a:p>
            <a:r>
              <a:rPr lang="en-US" sz="1200" b="0" i="0" kern="1200" baseline="0" dirty="0">
                <a:solidFill>
                  <a:schemeClr val="tx1"/>
                </a:solidFill>
                <a:effectLst/>
                <a:latin typeface="+mn-lt"/>
                <a:ea typeface="+mn-ea"/>
                <a:cs typeface="+mn-cs"/>
              </a:rPr>
              <a:t>In this example when two variables x and y represent the data set, the first principal component, the extracted variable that maximize the variance explains all the difference in the data and it effectively reduces dimensionality. </a:t>
            </a:r>
            <a:endParaRPr lang="en-US" dirty="0"/>
          </a:p>
        </p:txBody>
      </p:sp>
      <p:sp>
        <p:nvSpPr>
          <p:cNvPr id="4" name="Slide Number Placeholder 3"/>
          <p:cNvSpPr>
            <a:spLocks noGrp="1"/>
          </p:cNvSpPr>
          <p:nvPr>
            <p:ph type="sldNum" sz="quarter" idx="10"/>
          </p:nvPr>
        </p:nvSpPr>
        <p:spPr/>
        <p:txBody>
          <a:bodyPr/>
          <a:lstStyle/>
          <a:p>
            <a:fld id="{4BAF0735-F145-4B9C-9BE5-23AA3F3DE317}" type="slidenum">
              <a:rPr lang="en-US" smtClean="0"/>
              <a:t>16</a:t>
            </a:fld>
            <a:endParaRPr lang="en-US"/>
          </a:p>
        </p:txBody>
      </p:sp>
    </p:spTree>
    <p:extLst>
      <p:ext uri="{BB962C8B-B14F-4D97-AF65-F5344CB8AC3E}">
        <p14:creationId xmlns:p14="http://schemas.microsoft.com/office/powerpoint/2010/main" val="685546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Principal component analysis (PCA) is a technique used to emphasize variation and bring out strong patterns in a dataset. It's often used to make data easy to explore and visualize.</a:t>
            </a:r>
          </a:p>
          <a:p>
            <a:r>
              <a:rPr lang="en-US" sz="1200" b="0" i="0" kern="1200" dirty="0">
                <a:solidFill>
                  <a:schemeClr val="tx1"/>
                </a:solidFill>
                <a:effectLst/>
                <a:latin typeface="+mn-lt"/>
                <a:ea typeface="+mn-ea"/>
                <a:cs typeface="+mn-cs"/>
              </a:rPr>
              <a:t>First, consider a dataset in only two dimensions, like (height, weight). This dataset can be plotted as points in a plane. But if we want to tease out variation, PCA finds a new coordinate system in which every point has a new (</a:t>
            </a:r>
            <a:r>
              <a:rPr lang="en-US" sz="1200" b="0" i="0" kern="1200" dirty="0" err="1">
                <a:solidFill>
                  <a:schemeClr val="tx1"/>
                </a:solidFill>
                <a:effectLst/>
                <a:latin typeface="+mn-lt"/>
                <a:ea typeface="+mn-ea"/>
                <a:cs typeface="+mn-cs"/>
              </a:rPr>
              <a:t>x,y</a:t>
            </a:r>
            <a:r>
              <a:rPr lang="en-US" sz="1200" b="0" i="0" kern="1200" dirty="0">
                <a:solidFill>
                  <a:schemeClr val="tx1"/>
                </a:solidFill>
                <a:effectLst/>
                <a:latin typeface="+mn-lt"/>
                <a:ea typeface="+mn-ea"/>
                <a:cs typeface="+mn-cs"/>
              </a:rPr>
              <a:t>) value. The axes don't actually mean anything physical; they're combinations of height and weight called "principal components" that are chosen to give one axes lots of variation.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PCA is useful for eliminating dimensions. Below, we've plotted the data along a pair of lines: one composed of the x-values and another of the y-values.</a:t>
            </a:r>
          </a:p>
          <a:p>
            <a:r>
              <a:rPr lang="en-US" sz="1200" b="0" i="0" kern="1200" dirty="0">
                <a:solidFill>
                  <a:schemeClr val="tx1"/>
                </a:solidFill>
                <a:effectLst/>
                <a:latin typeface="+mn-lt"/>
                <a:ea typeface="+mn-ea"/>
                <a:cs typeface="+mn-cs"/>
              </a:rPr>
              <a:t>If we're going to only see the data along one dimension, though, it might be better to make that dimension the principal component with most variation. We don't lose much by dropping PC2 since it contributes the least to the variation in the data set.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By</a:t>
            </a:r>
            <a:r>
              <a:rPr lang="en-US" sz="1200" b="0" i="0" kern="1200" baseline="0" dirty="0">
                <a:solidFill>
                  <a:schemeClr val="tx1"/>
                </a:solidFill>
                <a:effectLst/>
                <a:latin typeface="+mn-lt"/>
                <a:ea typeface="+mn-ea"/>
                <a:cs typeface="+mn-cs"/>
              </a:rPr>
              <a:t> comping up with the variable </a:t>
            </a:r>
            <a:r>
              <a:rPr lang="en-US" sz="1200" b="0" i="0" kern="1200" dirty="0">
                <a:solidFill>
                  <a:schemeClr val="tx1"/>
                </a:solidFill>
                <a:effectLst/>
                <a:latin typeface="+mn-lt"/>
                <a:ea typeface="+mn-ea"/>
                <a:cs typeface="+mn-cs"/>
              </a:rPr>
              <a:t>maximizing variance within a</a:t>
            </a:r>
            <a:r>
              <a:rPr lang="en-US" sz="1200" b="0" i="0" kern="1200" baseline="0" dirty="0">
                <a:solidFill>
                  <a:schemeClr val="tx1"/>
                </a:solidFill>
                <a:effectLst/>
                <a:latin typeface="+mn-lt"/>
                <a:ea typeface="+mn-ea"/>
                <a:cs typeface="+mn-cs"/>
              </a:rPr>
              <a:t> data set, the data set might need a small number of variables. </a:t>
            </a:r>
          </a:p>
          <a:p>
            <a:r>
              <a:rPr lang="en-US" sz="1200" b="0" i="0" kern="1200" baseline="0" dirty="0">
                <a:solidFill>
                  <a:schemeClr val="tx1"/>
                </a:solidFill>
                <a:effectLst/>
                <a:latin typeface="+mn-lt"/>
                <a:ea typeface="+mn-ea"/>
                <a:cs typeface="+mn-cs"/>
              </a:rPr>
              <a:t>In this example when two variables x and y represent the data set, the first principal component, the extracted variable that maximize the variance explains all the difference in the data and it effectively reduces dimensionality. </a:t>
            </a:r>
            <a:endParaRPr lang="en-US" dirty="0"/>
          </a:p>
        </p:txBody>
      </p:sp>
      <p:sp>
        <p:nvSpPr>
          <p:cNvPr id="4" name="Slide Number Placeholder 3"/>
          <p:cNvSpPr>
            <a:spLocks noGrp="1"/>
          </p:cNvSpPr>
          <p:nvPr>
            <p:ph type="sldNum" sz="quarter" idx="10"/>
          </p:nvPr>
        </p:nvSpPr>
        <p:spPr/>
        <p:txBody>
          <a:bodyPr/>
          <a:lstStyle/>
          <a:p>
            <a:fld id="{4BAF0735-F145-4B9C-9BE5-23AA3F3DE317}" type="slidenum">
              <a:rPr lang="en-US" smtClean="0"/>
              <a:t>17</a:t>
            </a:fld>
            <a:endParaRPr lang="en-US"/>
          </a:p>
        </p:txBody>
      </p:sp>
    </p:spTree>
    <p:extLst>
      <p:ext uri="{BB962C8B-B14F-4D97-AF65-F5344CB8AC3E}">
        <p14:creationId xmlns:p14="http://schemas.microsoft.com/office/powerpoint/2010/main" val="19724131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Principal component analysis (PCA) is a technique used to emphasize variation and bring out strong patterns in a dataset. It's often used to make data easy to explore and visualize.</a:t>
            </a:r>
          </a:p>
          <a:p>
            <a:r>
              <a:rPr lang="en-US" sz="1200" b="0" i="0" kern="1200">
                <a:solidFill>
                  <a:schemeClr val="tx1"/>
                </a:solidFill>
                <a:effectLst/>
                <a:latin typeface="+mn-lt"/>
                <a:ea typeface="+mn-ea"/>
                <a:cs typeface="+mn-cs"/>
              </a:rPr>
              <a:t>First, consider a dataset in only two dimensions, like (height, weight). This dataset can be plotted as points in a plane. But if we want to tease out variation, PCA finds a new coordinate system in which every point has a new (x,y) value. The axes don't actually mean anything physical; they're combinations of height and weight called "principal components" that are chosen to give one axes lots of variation.</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PCA is useful for eliminating dimensions. Below, we've plotted the data along a pair of lines: one composed of the x-values and another of the y-values.</a:t>
            </a:r>
          </a:p>
          <a:p>
            <a:r>
              <a:rPr lang="en-US" sz="1200" b="0" i="0" kern="1200">
                <a:solidFill>
                  <a:schemeClr val="tx1"/>
                </a:solidFill>
                <a:effectLst/>
                <a:latin typeface="+mn-lt"/>
                <a:ea typeface="+mn-ea"/>
                <a:cs typeface="+mn-cs"/>
              </a:rPr>
              <a:t>If we're going to only see the data along one dimension, though, it might be better to make that dimension the principal component with most variation. We don't lose much by dropping PC2 since it contributes the least to the variation in the data set.</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By</a:t>
            </a:r>
            <a:r>
              <a:rPr lang="en-US" sz="1200" b="0" i="0" kern="1200" baseline="0">
                <a:solidFill>
                  <a:schemeClr val="tx1"/>
                </a:solidFill>
                <a:effectLst/>
                <a:latin typeface="+mn-lt"/>
                <a:ea typeface="+mn-ea"/>
                <a:cs typeface="+mn-cs"/>
              </a:rPr>
              <a:t> comping up with the variable </a:t>
            </a:r>
            <a:r>
              <a:rPr lang="en-US" sz="1200" b="0" i="0" kern="1200">
                <a:solidFill>
                  <a:schemeClr val="tx1"/>
                </a:solidFill>
                <a:effectLst/>
                <a:latin typeface="+mn-lt"/>
                <a:ea typeface="+mn-ea"/>
                <a:cs typeface="+mn-cs"/>
              </a:rPr>
              <a:t>maximizing variance within a</a:t>
            </a:r>
            <a:r>
              <a:rPr lang="en-US" sz="1200" b="0" i="0" kern="1200" baseline="0">
                <a:solidFill>
                  <a:schemeClr val="tx1"/>
                </a:solidFill>
                <a:effectLst/>
                <a:latin typeface="+mn-lt"/>
                <a:ea typeface="+mn-ea"/>
                <a:cs typeface="+mn-cs"/>
              </a:rPr>
              <a:t> data set, the data set might need a small number of variables. </a:t>
            </a:r>
          </a:p>
          <a:p>
            <a:r>
              <a:rPr lang="en-US" sz="1200" b="0" i="0" kern="1200" baseline="0">
                <a:solidFill>
                  <a:schemeClr val="tx1"/>
                </a:solidFill>
                <a:effectLst/>
                <a:latin typeface="+mn-lt"/>
                <a:ea typeface="+mn-ea"/>
                <a:cs typeface="+mn-cs"/>
              </a:rPr>
              <a:t>In this example when two variables x and y represent the data set, the first principal component, the extracted variable that maximize the variance explains all the difference in the data and it effectively reduces dimensionality. </a:t>
            </a:r>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18</a:t>
            </a:fld>
            <a:endParaRPr lang="en-US"/>
          </a:p>
        </p:txBody>
      </p:sp>
    </p:spTree>
    <p:extLst>
      <p:ext uri="{BB962C8B-B14F-4D97-AF65-F5344CB8AC3E}">
        <p14:creationId xmlns:p14="http://schemas.microsoft.com/office/powerpoint/2010/main" val="712182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Principal component analysis (PCA) is a technique used to emphasize variation and bring out strong patterns in a dataset. It's often used to make data easy to explore and visualize.</a:t>
            </a:r>
          </a:p>
          <a:p>
            <a:r>
              <a:rPr lang="en-US" sz="1200" b="0" i="0" kern="1200" dirty="0">
                <a:solidFill>
                  <a:schemeClr val="tx1"/>
                </a:solidFill>
                <a:effectLst/>
                <a:latin typeface="+mn-lt"/>
                <a:ea typeface="+mn-ea"/>
                <a:cs typeface="+mn-cs"/>
              </a:rPr>
              <a:t>First, consider a dataset in only two dimensions, like (height, weight). This dataset can be plotted as points in a plane. But if we want to tease out variation, PCA finds a new coordinate system in which every point has a new (</a:t>
            </a:r>
            <a:r>
              <a:rPr lang="en-US" sz="1200" b="0" i="0" kern="1200" dirty="0" err="1">
                <a:solidFill>
                  <a:schemeClr val="tx1"/>
                </a:solidFill>
                <a:effectLst/>
                <a:latin typeface="+mn-lt"/>
                <a:ea typeface="+mn-ea"/>
                <a:cs typeface="+mn-cs"/>
              </a:rPr>
              <a:t>x,y</a:t>
            </a:r>
            <a:r>
              <a:rPr lang="en-US" sz="1200" b="0" i="0" kern="1200" dirty="0">
                <a:solidFill>
                  <a:schemeClr val="tx1"/>
                </a:solidFill>
                <a:effectLst/>
                <a:latin typeface="+mn-lt"/>
                <a:ea typeface="+mn-ea"/>
                <a:cs typeface="+mn-cs"/>
              </a:rPr>
              <a:t>) value. The axes don't actually mean anything physical; they're combinations of height and weight called "principal components" that are chosen to give one axes lots of variation.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PCA is useful for eliminating dimensions. Below, we've plotted the data along a pair of lines: one composed of the x-values and another of the y-values.</a:t>
            </a:r>
          </a:p>
          <a:p>
            <a:r>
              <a:rPr lang="en-US" sz="1200" b="0" i="0" kern="1200" dirty="0">
                <a:solidFill>
                  <a:schemeClr val="tx1"/>
                </a:solidFill>
                <a:effectLst/>
                <a:latin typeface="+mn-lt"/>
                <a:ea typeface="+mn-ea"/>
                <a:cs typeface="+mn-cs"/>
              </a:rPr>
              <a:t>If we're going to only see the data along one dimension, though, it might be better to make that dimension the principal component with most variation. We don't lose much by dropping PC2 since it contributes the least to the variation in the data set.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By</a:t>
            </a:r>
            <a:r>
              <a:rPr lang="en-US" sz="1200" b="0" i="0" kern="1200" baseline="0" dirty="0">
                <a:solidFill>
                  <a:schemeClr val="tx1"/>
                </a:solidFill>
                <a:effectLst/>
                <a:latin typeface="+mn-lt"/>
                <a:ea typeface="+mn-ea"/>
                <a:cs typeface="+mn-cs"/>
              </a:rPr>
              <a:t> comping up with the variable </a:t>
            </a:r>
            <a:r>
              <a:rPr lang="en-US" sz="1200" b="0" i="0" kern="1200" dirty="0">
                <a:solidFill>
                  <a:schemeClr val="tx1"/>
                </a:solidFill>
                <a:effectLst/>
                <a:latin typeface="+mn-lt"/>
                <a:ea typeface="+mn-ea"/>
                <a:cs typeface="+mn-cs"/>
              </a:rPr>
              <a:t>maximizing variance within a</a:t>
            </a:r>
            <a:r>
              <a:rPr lang="en-US" sz="1200" b="0" i="0" kern="1200" baseline="0" dirty="0">
                <a:solidFill>
                  <a:schemeClr val="tx1"/>
                </a:solidFill>
                <a:effectLst/>
                <a:latin typeface="+mn-lt"/>
                <a:ea typeface="+mn-ea"/>
                <a:cs typeface="+mn-cs"/>
              </a:rPr>
              <a:t> data set, the data set might need a small number of variables. </a:t>
            </a:r>
          </a:p>
          <a:p>
            <a:r>
              <a:rPr lang="en-US" sz="1200" b="0" i="0" kern="1200" baseline="0" dirty="0">
                <a:solidFill>
                  <a:schemeClr val="tx1"/>
                </a:solidFill>
                <a:effectLst/>
                <a:latin typeface="+mn-lt"/>
                <a:ea typeface="+mn-ea"/>
                <a:cs typeface="+mn-cs"/>
              </a:rPr>
              <a:t>In this example when two variables x and y represent the data set, the first principal component, the extracted variable that maximize the variance explains all the difference in the data and it effectively reduces dimensionality. </a:t>
            </a:r>
            <a:endParaRPr lang="en-US" dirty="0"/>
          </a:p>
        </p:txBody>
      </p:sp>
      <p:sp>
        <p:nvSpPr>
          <p:cNvPr id="4" name="Slide Number Placeholder 3"/>
          <p:cNvSpPr>
            <a:spLocks noGrp="1"/>
          </p:cNvSpPr>
          <p:nvPr>
            <p:ph type="sldNum" sz="quarter" idx="10"/>
          </p:nvPr>
        </p:nvSpPr>
        <p:spPr/>
        <p:txBody>
          <a:bodyPr/>
          <a:lstStyle/>
          <a:p>
            <a:fld id="{4BAF0735-F145-4B9C-9BE5-23AA3F3DE317}" type="slidenum">
              <a:rPr lang="en-US" smtClean="0"/>
              <a:t>19</a:t>
            </a:fld>
            <a:endParaRPr lang="en-US"/>
          </a:p>
        </p:txBody>
      </p:sp>
    </p:spTree>
    <p:extLst>
      <p:ext uri="{BB962C8B-B14F-4D97-AF65-F5344CB8AC3E}">
        <p14:creationId xmlns:p14="http://schemas.microsoft.com/office/powerpoint/2010/main" val="1592835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Principal component analysis (PCA) is a technique used to emphasize variation and bring out strong patterns in a dataset. It's often used to make data easy to explore and visualize.</a:t>
            </a:r>
          </a:p>
          <a:p>
            <a:r>
              <a:rPr lang="en-US" sz="1200" b="0" i="0" kern="1200">
                <a:solidFill>
                  <a:schemeClr val="tx1"/>
                </a:solidFill>
                <a:effectLst/>
                <a:latin typeface="+mn-lt"/>
                <a:ea typeface="+mn-ea"/>
                <a:cs typeface="+mn-cs"/>
              </a:rPr>
              <a:t>First, consider a dataset in only two dimensions, like (height, weight). This dataset can be plotted as points in a plane. But if we want to tease out variation, PCA finds a new coordinate system in which every point has a new (x,y) value. The axes don't actually mean anything physical; they're combinations of height and weight called "principal components" that are chosen to give one axes lots of variation.</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PCA is useful for eliminating dimensions. Below, we've plotted the data along a pair of lines: one composed of the x-values and another of the y-values.</a:t>
            </a:r>
          </a:p>
          <a:p>
            <a:r>
              <a:rPr lang="en-US" sz="1200" b="0" i="0" kern="1200">
                <a:solidFill>
                  <a:schemeClr val="tx1"/>
                </a:solidFill>
                <a:effectLst/>
                <a:latin typeface="+mn-lt"/>
                <a:ea typeface="+mn-ea"/>
                <a:cs typeface="+mn-cs"/>
              </a:rPr>
              <a:t>If we're going to only see the data along one dimension, though, it might be better to make that dimension the principal component with most variation. We don't lose much by dropping PC2 since it contributes the least to the variation in the data set.</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By</a:t>
            </a:r>
            <a:r>
              <a:rPr lang="en-US" sz="1200" b="0" i="0" kern="1200" baseline="0">
                <a:solidFill>
                  <a:schemeClr val="tx1"/>
                </a:solidFill>
                <a:effectLst/>
                <a:latin typeface="+mn-lt"/>
                <a:ea typeface="+mn-ea"/>
                <a:cs typeface="+mn-cs"/>
              </a:rPr>
              <a:t> comping up with the variable </a:t>
            </a:r>
            <a:r>
              <a:rPr lang="en-US" sz="1200" b="0" i="0" kern="1200">
                <a:solidFill>
                  <a:schemeClr val="tx1"/>
                </a:solidFill>
                <a:effectLst/>
                <a:latin typeface="+mn-lt"/>
                <a:ea typeface="+mn-ea"/>
                <a:cs typeface="+mn-cs"/>
              </a:rPr>
              <a:t>maximizing variance within a</a:t>
            </a:r>
            <a:r>
              <a:rPr lang="en-US" sz="1200" b="0" i="0" kern="1200" baseline="0">
                <a:solidFill>
                  <a:schemeClr val="tx1"/>
                </a:solidFill>
                <a:effectLst/>
                <a:latin typeface="+mn-lt"/>
                <a:ea typeface="+mn-ea"/>
                <a:cs typeface="+mn-cs"/>
              </a:rPr>
              <a:t> data set, the data set might need a small number of variables. </a:t>
            </a:r>
          </a:p>
          <a:p>
            <a:r>
              <a:rPr lang="en-US" sz="1200" b="0" i="0" kern="1200" baseline="0">
                <a:solidFill>
                  <a:schemeClr val="tx1"/>
                </a:solidFill>
                <a:effectLst/>
                <a:latin typeface="+mn-lt"/>
                <a:ea typeface="+mn-ea"/>
                <a:cs typeface="+mn-cs"/>
              </a:rPr>
              <a:t>In this example when two variables x and y represent the data set, the first principal component, the extracted variable that maximize the variance explains all the difference in the data and it effectively reduces dimensionality. </a:t>
            </a:r>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20</a:t>
            </a:fld>
            <a:endParaRPr lang="en-US"/>
          </a:p>
        </p:txBody>
      </p:sp>
    </p:spTree>
    <p:extLst>
      <p:ext uri="{BB962C8B-B14F-4D97-AF65-F5344CB8AC3E}">
        <p14:creationId xmlns:p14="http://schemas.microsoft.com/office/powerpoint/2010/main" val="3110838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Principal component analysis (PCA) is a technique used to emphasize variation and bring out strong patterns in a dataset. It's often used to make data easy to explore and visualize.</a:t>
            </a:r>
          </a:p>
          <a:p>
            <a:r>
              <a:rPr lang="en-US" sz="1200" b="0" i="0" kern="1200">
                <a:solidFill>
                  <a:schemeClr val="tx1"/>
                </a:solidFill>
                <a:effectLst/>
                <a:latin typeface="+mn-lt"/>
                <a:ea typeface="+mn-ea"/>
                <a:cs typeface="+mn-cs"/>
              </a:rPr>
              <a:t>First, consider a dataset in only two dimensions, like (height, weight). This dataset can be plotted as points in a plane. But if we want to tease out variation, PCA finds a new coordinate system in which every point has a new (x,y) value. The axes don't actually mean anything physical; they're combinations of height and weight called "principal components" that are chosen to give one axes lots of variation.</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PCA is useful for eliminating dimensions. Below, we've plotted the data along a pair of lines: one composed of the x-values and another of the y-values.</a:t>
            </a:r>
          </a:p>
          <a:p>
            <a:r>
              <a:rPr lang="en-US" sz="1200" b="0" i="0" kern="1200">
                <a:solidFill>
                  <a:schemeClr val="tx1"/>
                </a:solidFill>
                <a:effectLst/>
                <a:latin typeface="+mn-lt"/>
                <a:ea typeface="+mn-ea"/>
                <a:cs typeface="+mn-cs"/>
              </a:rPr>
              <a:t>If we're going to only see the data along one dimension, though, it might be better to make that dimension the principal component with most variation. We don't lose much by dropping PC2 since it contributes the least to the variation in the data set.</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By</a:t>
            </a:r>
            <a:r>
              <a:rPr lang="en-US" sz="1200" b="0" i="0" kern="1200" baseline="0">
                <a:solidFill>
                  <a:schemeClr val="tx1"/>
                </a:solidFill>
                <a:effectLst/>
                <a:latin typeface="+mn-lt"/>
                <a:ea typeface="+mn-ea"/>
                <a:cs typeface="+mn-cs"/>
              </a:rPr>
              <a:t> comping up with the variable </a:t>
            </a:r>
            <a:r>
              <a:rPr lang="en-US" sz="1200" b="0" i="0" kern="1200">
                <a:solidFill>
                  <a:schemeClr val="tx1"/>
                </a:solidFill>
                <a:effectLst/>
                <a:latin typeface="+mn-lt"/>
                <a:ea typeface="+mn-ea"/>
                <a:cs typeface="+mn-cs"/>
              </a:rPr>
              <a:t>maximizing variance within a</a:t>
            </a:r>
            <a:r>
              <a:rPr lang="en-US" sz="1200" b="0" i="0" kern="1200" baseline="0">
                <a:solidFill>
                  <a:schemeClr val="tx1"/>
                </a:solidFill>
                <a:effectLst/>
                <a:latin typeface="+mn-lt"/>
                <a:ea typeface="+mn-ea"/>
                <a:cs typeface="+mn-cs"/>
              </a:rPr>
              <a:t> data set, the data set might need a small number of variables. </a:t>
            </a:r>
          </a:p>
          <a:p>
            <a:r>
              <a:rPr lang="en-US" sz="1200" b="0" i="0" kern="1200" baseline="0">
                <a:solidFill>
                  <a:schemeClr val="tx1"/>
                </a:solidFill>
                <a:effectLst/>
                <a:latin typeface="+mn-lt"/>
                <a:ea typeface="+mn-ea"/>
                <a:cs typeface="+mn-cs"/>
              </a:rPr>
              <a:t>In this example when two variables x and y represent the data set, the first principal component, the extracted variable that maximize the variance explains all the difference in the data and it effectively reduces dimensionality. </a:t>
            </a:r>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21</a:t>
            </a:fld>
            <a:endParaRPr lang="en-US"/>
          </a:p>
        </p:txBody>
      </p:sp>
    </p:spTree>
    <p:extLst>
      <p:ext uri="{BB962C8B-B14F-4D97-AF65-F5344CB8AC3E}">
        <p14:creationId xmlns:p14="http://schemas.microsoft.com/office/powerpoint/2010/main" val="33433091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Suppose we had another data set with a different set of variables,</a:t>
            </a:r>
            <a:r>
              <a:rPr lang="en-US" sz="1200" b="0" i="0" kern="1200" baseline="0" dirty="0">
                <a:solidFill>
                  <a:schemeClr val="tx1"/>
                </a:solidFill>
                <a:effectLst/>
                <a:latin typeface="+mn-lt"/>
                <a:ea typeface="+mn-ea"/>
                <a:cs typeface="+mn-cs"/>
              </a:rPr>
              <a:t> such as NPC2, UGT8 and so on. </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See how these vectors are pinned at the origin of PCs (PC1 = 0 and PC2 = 0)? Their project values on each PC show how much weight they have on that PC. In this example, NPC2 and CHIT1 strongly influence PC1, while GBA and LCAT have more say in PC2.</a:t>
            </a:r>
          </a:p>
          <a:p>
            <a:pPr fontAlgn="base"/>
            <a:r>
              <a:rPr lang="en-US" sz="1200" b="0" i="0" kern="1200" dirty="0">
                <a:solidFill>
                  <a:schemeClr val="tx1"/>
                </a:solidFill>
                <a:effectLst/>
                <a:latin typeface="+mn-lt"/>
                <a:ea typeface="+mn-ea"/>
                <a:cs typeface="+mn-cs"/>
              </a:rPr>
              <a:t>Another nice thing about loading plots: the angles between the vectors tell us how characteristics correlate with one another. Let’s look at Figure 2.</a:t>
            </a:r>
          </a:p>
          <a:p>
            <a:pPr fontAlgn="base"/>
            <a:r>
              <a:rPr lang="en-US" sz="1200" b="0" i="0" kern="1200" dirty="0">
                <a:solidFill>
                  <a:schemeClr val="tx1"/>
                </a:solidFill>
                <a:effectLst/>
                <a:latin typeface="+mn-lt"/>
                <a:ea typeface="+mn-ea"/>
                <a:cs typeface="+mn-cs"/>
              </a:rPr>
              <a:t>When two vectors are close, forming a small angle, the two variables they represent are positively correlated. Example: APOD and PSAP</a:t>
            </a:r>
          </a:p>
          <a:p>
            <a:pPr fontAlgn="base"/>
            <a:r>
              <a:rPr lang="en-US" sz="1200" b="0" i="0" kern="1200" dirty="0">
                <a:solidFill>
                  <a:schemeClr val="tx1"/>
                </a:solidFill>
                <a:effectLst/>
                <a:latin typeface="+mn-lt"/>
                <a:ea typeface="+mn-ea"/>
                <a:cs typeface="+mn-cs"/>
              </a:rPr>
              <a:t>If they meet each other at 90°, they are not likely to be correlated. Example: NPC2 and GBA.</a:t>
            </a:r>
          </a:p>
          <a:p>
            <a:pPr fontAlgn="base"/>
            <a:r>
              <a:rPr lang="en-US" sz="1200" b="0" i="0" kern="1200" dirty="0">
                <a:solidFill>
                  <a:schemeClr val="tx1"/>
                </a:solidFill>
                <a:effectLst/>
                <a:latin typeface="+mn-lt"/>
                <a:ea typeface="+mn-ea"/>
                <a:cs typeface="+mn-cs"/>
              </a:rPr>
              <a:t>When they diverge and form a large angle (close to 180°), they are negative correlated. Example: NPC2 and MAG.</a:t>
            </a:r>
          </a:p>
          <a:p>
            <a:pPr fontAlgn="base"/>
            <a:r>
              <a:rPr lang="en-US" sz="1200" b="0" i="0" kern="1200" dirty="0">
                <a:solidFill>
                  <a:schemeClr val="tx1"/>
                </a:solidFill>
                <a:effectLst/>
                <a:latin typeface="+mn-lt"/>
                <a:ea typeface="+mn-ea"/>
                <a:cs typeface="+mn-cs"/>
              </a:rPr>
              <a:t>Now that you know all that, reading a PCA biplot is a piece of cake.</a:t>
            </a:r>
          </a:p>
        </p:txBody>
      </p:sp>
      <p:sp>
        <p:nvSpPr>
          <p:cNvPr id="4" name="Slide Number Placeholder 3"/>
          <p:cNvSpPr>
            <a:spLocks noGrp="1"/>
          </p:cNvSpPr>
          <p:nvPr>
            <p:ph type="sldNum" sz="quarter" idx="10"/>
          </p:nvPr>
        </p:nvSpPr>
        <p:spPr/>
        <p:txBody>
          <a:bodyPr/>
          <a:lstStyle/>
          <a:p>
            <a:fld id="{4BAF0735-F145-4B9C-9BE5-23AA3F3DE317}" type="slidenum">
              <a:rPr lang="en-US" smtClean="0"/>
              <a:t>22</a:t>
            </a:fld>
            <a:endParaRPr lang="en-US"/>
          </a:p>
        </p:txBody>
      </p:sp>
    </p:spTree>
    <p:extLst>
      <p:ext uri="{BB962C8B-B14F-4D97-AF65-F5344CB8AC3E}">
        <p14:creationId xmlns:p14="http://schemas.microsoft.com/office/powerpoint/2010/main" val="25879912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a:solidFill>
                  <a:schemeClr val="tx1"/>
                </a:solidFill>
                <a:effectLst/>
                <a:latin typeface="+mn-lt"/>
                <a:ea typeface="+mn-ea"/>
                <a:cs typeface="+mn-cs"/>
              </a:rPr>
              <a:t>You probably notice that a PCA biplot simply merge an usual PCA plot with a plot of loadings. The arrangement is like this:</a:t>
            </a:r>
          </a:p>
          <a:p>
            <a:pPr fontAlgn="base"/>
            <a:r>
              <a:rPr lang="en-US" sz="1200" b="0" i="0" kern="1200">
                <a:solidFill>
                  <a:schemeClr val="tx1"/>
                </a:solidFill>
                <a:effectLst/>
                <a:latin typeface="+mn-lt"/>
                <a:ea typeface="+mn-ea"/>
                <a:cs typeface="+mn-cs"/>
              </a:rPr>
              <a:t>In other words, the left and bottom axes are of the PCA plot — use them to read PCA scores of the samples (dots). The top and right axes belong to the loading plot — use them to read how strongly each characteristic (vector) influence the principal components.</a:t>
            </a:r>
          </a:p>
        </p:txBody>
      </p:sp>
      <p:sp>
        <p:nvSpPr>
          <p:cNvPr id="4" name="Slide Number Placeholder 3"/>
          <p:cNvSpPr>
            <a:spLocks noGrp="1"/>
          </p:cNvSpPr>
          <p:nvPr>
            <p:ph type="sldNum" sz="quarter" idx="10"/>
          </p:nvPr>
        </p:nvSpPr>
        <p:spPr/>
        <p:txBody>
          <a:bodyPr/>
          <a:lstStyle/>
          <a:p>
            <a:fld id="{4BAF0735-F145-4B9C-9BE5-23AA3F3DE317}" type="slidenum">
              <a:rPr lang="en-US" smtClean="0"/>
              <a:t>23</a:t>
            </a:fld>
            <a:endParaRPr lang="en-US"/>
          </a:p>
        </p:txBody>
      </p:sp>
    </p:spTree>
    <p:extLst>
      <p:ext uri="{BB962C8B-B14F-4D97-AF65-F5344CB8AC3E}">
        <p14:creationId xmlns:p14="http://schemas.microsoft.com/office/powerpoint/2010/main" val="29168804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dendogram</a:t>
            </a:r>
            <a:r>
              <a:rPr lang="en-US" sz="1200" b="0" i="0" kern="1200" dirty="0">
                <a:solidFill>
                  <a:schemeClr val="tx1"/>
                </a:solidFill>
                <a:effectLst/>
                <a:latin typeface="+mn-lt"/>
                <a:ea typeface="+mn-ea"/>
                <a:cs typeface="+mn-cs"/>
              </a:rPr>
              <a:t> can be a column graph (as in the image below) or a row graph. Some </a:t>
            </a:r>
            <a:r>
              <a:rPr lang="en-US" sz="1200" b="0" i="0" kern="1200" dirty="0" err="1">
                <a:solidFill>
                  <a:schemeClr val="tx1"/>
                </a:solidFill>
                <a:effectLst/>
                <a:latin typeface="+mn-lt"/>
                <a:ea typeface="+mn-ea"/>
                <a:cs typeface="+mn-cs"/>
              </a:rPr>
              <a:t>dendograms</a:t>
            </a:r>
            <a:r>
              <a:rPr lang="en-US" sz="1200" b="0" i="0" kern="1200" dirty="0">
                <a:solidFill>
                  <a:schemeClr val="tx1"/>
                </a:solidFill>
                <a:effectLst/>
                <a:latin typeface="+mn-lt"/>
                <a:ea typeface="+mn-ea"/>
                <a:cs typeface="+mn-cs"/>
              </a:rPr>
              <a:t> are circular or have a fluid-shape, but software will usually produce a row or column graph. No matter what the shape, the basic graph comprises of the same parts:</a:t>
            </a:r>
          </a:p>
          <a:p>
            <a:pPr fontAlgn="base"/>
            <a:r>
              <a:rPr lang="en-US" sz="1200" b="0" i="0" kern="1200" dirty="0">
                <a:solidFill>
                  <a:schemeClr val="tx1"/>
                </a:solidFill>
                <a:effectLst/>
                <a:latin typeface="+mn-lt"/>
                <a:ea typeface="+mn-ea"/>
                <a:cs typeface="+mn-cs"/>
              </a:rPr>
              <a:t>The </a:t>
            </a:r>
            <a:r>
              <a:rPr lang="en-US" sz="1200" b="0" i="1" kern="1200" dirty="0">
                <a:solidFill>
                  <a:schemeClr val="tx1"/>
                </a:solidFill>
                <a:effectLst/>
                <a:latin typeface="+mn-lt"/>
                <a:ea typeface="+mn-ea"/>
                <a:cs typeface="+mn-cs"/>
              </a:rPr>
              <a:t>clade</a:t>
            </a:r>
            <a:r>
              <a:rPr lang="en-US" sz="1200" b="0" i="0" kern="1200" dirty="0">
                <a:solidFill>
                  <a:schemeClr val="tx1"/>
                </a:solidFill>
                <a:effectLst/>
                <a:latin typeface="+mn-lt"/>
                <a:ea typeface="+mn-ea"/>
                <a:cs typeface="+mn-cs"/>
              </a:rPr>
              <a:t> is the branch. Usually labeled with Greek letters from left to right (e.g. α β, </a:t>
            </a:r>
            <a:r>
              <a:rPr lang="en-US" sz="1200" b="0" i="0" kern="1200" dirty="0" err="1">
                <a:solidFill>
                  <a:schemeClr val="tx1"/>
                </a:solidFill>
                <a:effectLst/>
                <a:latin typeface="+mn-lt"/>
                <a:ea typeface="+mn-ea"/>
                <a:cs typeface="+mn-cs"/>
              </a:rPr>
              <a:t>δ</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Each clade has one or more </a:t>
            </a:r>
            <a:r>
              <a:rPr lang="en-US" sz="1200" b="0" i="1" kern="1200" dirty="0">
                <a:solidFill>
                  <a:schemeClr val="tx1"/>
                </a:solidFill>
                <a:effectLst/>
                <a:latin typeface="+mn-lt"/>
                <a:ea typeface="+mn-ea"/>
                <a:cs typeface="+mn-cs"/>
              </a:rPr>
              <a:t>leaves</a:t>
            </a:r>
            <a:r>
              <a:rPr lang="en-US" sz="1200" b="0" i="0" kern="1200" dirty="0">
                <a:solidFill>
                  <a:schemeClr val="tx1"/>
                </a:solidFill>
                <a:effectLst/>
                <a:latin typeface="+mn-lt"/>
                <a:ea typeface="+mn-ea"/>
                <a:cs typeface="+mn-cs"/>
              </a:rPr>
              <a:t>. The leaves in the above image are:</a:t>
            </a:r>
          </a:p>
          <a:p>
            <a:pPr lvl="1" fontAlgn="base"/>
            <a:r>
              <a:rPr lang="en-US" sz="1200" b="0" i="0" kern="1200" dirty="0">
                <a:solidFill>
                  <a:schemeClr val="tx1"/>
                </a:solidFill>
                <a:effectLst/>
                <a:latin typeface="+mn-lt"/>
                <a:ea typeface="+mn-ea"/>
                <a:cs typeface="+mn-cs"/>
              </a:rPr>
              <a:t>Single (</a:t>
            </a:r>
            <a:r>
              <a:rPr lang="en-US" sz="1200" b="0" i="0" kern="1200" dirty="0" err="1">
                <a:solidFill>
                  <a:schemeClr val="tx1"/>
                </a:solidFill>
                <a:effectLst/>
                <a:latin typeface="+mn-lt"/>
                <a:ea typeface="+mn-ea"/>
                <a:cs typeface="+mn-cs"/>
              </a:rPr>
              <a:t>simplicifolius</a:t>
            </a:r>
            <a:r>
              <a:rPr lang="en-US" sz="1200" b="0" i="0" kern="1200" dirty="0">
                <a:solidFill>
                  <a:schemeClr val="tx1"/>
                </a:solidFill>
                <a:effectLst/>
                <a:latin typeface="+mn-lt"/>
                <a:ea typeface="+mn-ea"/>
                <a:cs typeface="+mn-cs"/>
              </a:rPr>
              <a:t>): F</a:t>
            </a:r>
          </a:p>
          <a:p>
            <a:pPr lvl="1" fontAlgn="base"/>
            <a:r>
              <a:rPr lang="en-US" sz="1200" b="0" i="0" kern="1200" dirty="0">
                <a:solidFill>
                  <a:schemeClr val="tx1"/>
                </a:solidFill>
                <a:effectLst/>
                <a:latin typeface="+mn-lt"/>
                <a:ea typeface="+mn-ea"/>
                <a:cs typeface="+mn-cs"/>
              </a:rPr>
              <a:t>Double (</a:t>
            </a:r>
            <a:r>
              <a:rPr lang="en-US" sz="1200" b="0" i="0" kern="1200" dirty="0" err="1">
                <a:solidFill>
                  <a:schemeClr val="tx1"/>
                </a:solidFill>
                <a:effectLst/>
                <a:latin typeface="+mn-lt"/>
                <a:ea typeface="+mn-ea"/>
                <a:cs typeface="+mn-cs"/>
              </a:rPr>
              <a:t>bifolius</a:t>
            </a:r>
            <a:r>
              <a:rPr lang="en-US" sz="1200" b="0" i="0" kern="1200" dirty="0">
                <a:solidFill>
                  <a:schemeClr val="tx1"/>
                </a:solidFill>
                <a:effectLst/>
                <a:latin typeface="+mn-lt"/>
                <a:ea typeface="+mn-ea"/>
                <a:cs typeface="+mn-cs"/>
              </a:rPr>
              <a:t>): D E</a:t>
            </a:r>
          </a:p>
          <a:p>
            <a:pPr lvl="1" fontAlgn="base"/>
            <a:r>
              <a:rPr lang="en-US" sz="1200" b="0" i="0" kern="1200" dirty="0">
                <a:solidFill>
                  <a:schemeClr val="tx1"/>
                </a:solidFill>
                <a:effectLst/>
                <a:latin typeface="+mn-lt"/>
                <a:ea typeface="+mn-ea"/>
                <a:cs typeface="+mn-cs"/>
              </a:rPr>
              <a:t>Triple (</a:t>
            </a:r>
            <a:r>
              <a:rPr lang="en-US" sz="1200" b="0" i="0" kern="1200" dirty="0" err="1">
                <a:solidFill>
                  <a:schemeClr val="tx1"/>
                </a:solidFill>
                <a:effectLst/>
                <a:latin typeface="+mn-lt"/>
                <a:ea typeface="+mn-ea"/>
                <a:cs typeface="+mn-cs"/>
              </a:rPr>
              <a:t>trifolious</a:t>
            </a:r>
            <a:r>
              <a:rPr lang="en-US" sz="1200" b="0" i="0" kern="1200" dirty="0">
                <a:solidFill>
                  <a:schemeClr val="tx1"/>
                </a:solidFill>
                <a:effectLst/>
                <a:latin typeface="+mn-lt"/>
                <a:ea typeface="+mn-ea"/>
                <a:cs typeface="+mn-cs"/>
              </a:rPr>
              <a:t>): A B C</a:t>
            </a:r>
          </a:p>
          <a:p>
            <a:pPr fontAlgn="base"/>
            <a:r>
              <a:rPr lang="en-US" sz="1200" b="0" i="0" kern="1200" dirty="0">
                <a:solidFill>
                  <a:schemeClr val="tx1"/>
                </a:solidFill>
                <a:effectLst/>
                <a:latin typeface="+mn-lt"/>
                <a:ea typeface="+mn-ea"/>
                <a:cs typeface="+mn-cs"/>
              </a:rPr>
              <a:t>A clade can theoretically have an infinite amount of leaves. However, the more leaves you have, the harder the graph will be to read with the naked eye.</a:t>
            </a:r>
          </a:p>
          <a:p>
            <a:endParaRPr lang="en-US" dirty="0"/>
          </a:p>
        </p:txBody>
      </p:sp>
      <p:sp>
        <p:nvSpPr>
          <p:cNvPr id="4" name="Slide Number Placeholder 3"/>
          <p:cNvSpPr>
            <a:spLocks noGrp="1"/>
          </p:cNvSpPr>
          <p:nvPr>
            <p:ph type="sldNum" sz="quarter" idx="10"/>
          </p:nvPr>
        </p:nvSpPr>
        <p:spPr/>
        <p:txBody>
          <a:bodyPr/>
          <a:lstStyle/>
          <a:p>
            <a:fld id="{4BAF0735-F145-4B9C-9BE5-23AA3F3DE317}" type="slidenum">
              <a:rPr lang="en-US" smtClean="0"/>
              <a:t>30</a:t>
            </a:fld>
            <a:endParaRPr lang="en-US"/>
          </a:p>
        </p:txBody>
      </p:sp>
    </p:spTree>
    <p:extLst>
      <p:ext uri="{BB962C8B-B14F-4D97-AF65-F5344CB8AC3E}">
        <p14:creationId xmlns:p14="http://schemas.microsoft.com/office/powerpoint/2010/main" val="9263145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The clades are arranged according to how similar (or dissimilar) they are. Clades that are close to the same height are similar to each other; clades with different heights are dissimilar — </a:t>
            </a:r>
            <a:r>
              <a:rPr lang="en-US" sz="1200" b="1" i="0" kern="1200">
                <a:solidFill>
                  <a:schemeClr val="tx1"/>
                </a:solidFill>
                <a:effectLst/>
                <a:latin typeface="+mn-lt"/>
                <a:ea typeface="+mn-ea"/>
                <a:cs typeface="+mn-cs"/>
              </a:rPr>
              <a:t>the greater the difference in height, the more dissimilarity</a:t>
            </a:r>
            <a:r>
              <a:rPr lang="en-US" sz="1200" b="0" i="0" kern="1200">
                <a:solidFill>
                  <a:schemeClr val="tx1"/>
                </a:solidFill>
                <a:effectLst/>
                <a:latin typeface="+mn-lt"/>
                <a:ea typeface="+mn-ea"/>
                <a:cs typeface="+mn-cs"/>
              </a:rPr>
              <a:t> (you can measure similarity in many different ways; One of the most popular measures is </a:t>
            </a:r>
            <a:r>
              <a:rPr lang="en-US" sz="1200" b="0" i="0" u="none" strike="noStrike" kern="1200">
                <a:solidFill>
                  <a:schemeClr val="tx1"/>
                </a:solidFill>
                <a:effectLst/>
                <a:latin typeface="+mn-lt"/>
                <a:ea typeface="+mn-ea"/>
                <a:cs typeface="+mn-cs"/>
                <a:hlinkClick r:id="rId3"/>
              </a:rPr>
              <a:t>Pearson’s Correlation Coefficient</a:t>
            </a:r>
            <a:r>
              <a:rPr lang="en-US" sz="1200" b="0" i="0" kern="1200">
                <a:solidFill>
                  <a:schemeClr val="tx1"/>
                </a:solidFill>
                <a:effectLst/>
                <a:latin typeface="+mn-lt"/>
                <a:ea typeface="+mn-ea"/>
                <a:cs typeface="+mn-cs"/>
              </a:rPr>
              <a:t>).</a:t>
            </a:r>
          </a:p>
          <a:p>
            <a:r>
              <a:rPr lang="en-US" sz="1200" b="0" i="0" kern="1200">
                <a:solidFill>
                  <a:schemeClr val="tx1"/>
                </a:solidFill>
                <a:effectLst/>
                <a:latin typeface="+mn-lt"/>
                <a:ea typeface="+mn-ea"/>
                <a:cs typeface="+mn-cs"/>
              </a:rPr>
              <a:t>Note that on the above graph, the same clave, β joins leaves A, B, C, D,and E. That means that the two groups (A,B,C &amp; D,E) are more similar to each other than they are to F.</a:t>
            </a:r>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31</a:t>
            </a:fld>
            <a:endParaRPr lang="en-US"/>
          </a:p>
        </p:txBody>
      </p:sp>
    </p:spTree>
    <p:extLst>
      <p:ext uri="{BB962C8B-B14F-4D97-AF65-F5344CB8AC3E}">
        <p14:creationId xmlns:p14="http://schemas.microsoft.com/office/powerpoint/2010/main" val="14373677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The clades are arranged according to how similar (or dissimilar) they are. Clades that are close to the same height are similar to each other; clades with different heights are dissimilar — </a:t>
            </a:r>
            <a:r>
              <a:rPr lang="en-US" sz="1200" b="1" i="0" kern="1200">
                <a:solidFill>
                  <a:schemeClr val="tx1"/>
                </a:solidFill>
                <a:effectLst/>
                <a:latin typeface="+mn-lt"/>
                <a:ea typeface="+mn-ea"/>
                <a:cs typeface="+mn-cs"/>
              </a:rPr>
              <a:t>the greater the difference in height, the more dissimilarity</a:t>
            </a:r>
            <a:r>
              <a:rPr lang="en-US" sz="1200" b="0" i="0" kern="1200">
                <a:solidFill>
                  <a:schemeClr val="tx1"/>
                </a:solidFill>
                <a:effectLst/>
                <a:latin typeface="+mn-lt"/>
                <a:ea typeface="+mn-ea"/>
                <a:cs typeface="+mn-cs"/>
              </a:rPr>
              <a:t> (you can measure similarity in many different ways; One of the most popular measures is </a:t>
            </a:r>
            <a:r>
              <a:rPr lang="en-US" sz="1200" b="0" i="0" u="none" strike="noStrike" kern="1200">
                <a:solidFill>
                  <a:schemeClr val="tx1"/>
                </a:solidFill>
                <a:effectLst/>
                <a:latin typeface="+mn-lt"/>
                <a:ea typeface="+mn-ea"/>
                <a:cs typeface="+mn-cs"/>
                <a:hlinkClick r:id="rId3"/>
              </a:rPr>
              <a:t>Pearson’s Correlation Coefficient</a:t>
            </a:r>
            <a:r>
              <a:rPr lang="en-US" sz="1200" b="0" i="0" kern="1200">
                <a:solidFill>
                  <a:schemeClr val="tx1"/>
                </a:solidFill>
                <a:effectLst/>
                <a:latin typeface="+mn-lt"/>
                <a:ea typeface="+mn-ea"/>
                <a:cs typeface="+mn-cs"/>
              </a:rPr>
              <a:t>).</a:t>
            </a:r>
          </a:p>
          <a:p>
            <a:r>
              <a:rPr lang="en-US" sz="1200" b="0" i="0" kern="1200">
                <a:solidFill>
                  <a:schemeClr val="tx1"/>
                </a:solidFill>
                <a:effectLst/>
                <a:latin typeface="+mn-lt"/>
                <a:ea typeface="+mn-ea"/>
                <a:cs typeface="+mn-cs"/>
              </a:rPr>
              <a:t>Note that on the above graph, the same clave, β joins leaves A, B, C, D,and E. That means that the two groups (A,B,C &amp; D,E) are more similar to each other than they are to F.</a:t>
            </a:r>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32</a:t>
            </a:fld>
            <a:endParaRPr lang="en-US"/>
          </a:p>
        </p:txBody>
      </p:sp>
    </p:spTree>
    <p:extLst>
      <p:ext uri="{BB962C8B-B14F-4D97-AF65-F5344CB8AC3E}">
        <p14:creationId xmlns:p14="http://schemas.microsoft.com/office/powerpoint/2010/main" val="1624967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 that there are a</a:t>
            </a:r>
            <a:r>
              <a:rPr lang="en-US" baseline="0"/>
              <a:t> wealth of methods to determine </a:t>
            </a:r>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34</a:t>
            </a:fld>
            <a:endParaRPr lang="en-US"/>
          </a:p>
        </p:txBody>
      </p:sp>
    </p:spTree>
    <p:extLst>
      <p:ext uri="{BB962C8B-B14F-4D97-AF65-F5344CB8AC3E}">
        <p14:creationId xmlns:p14="http://schemas.microsoft.com/office/powerpoint/2010/main" val="32889313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 that there are a</a:t>
            </a:r>
            <a:r>
              <a:rPr lang="en-US" baseline="0"/>
              <a:t> wealth of methods to determine </a:t>
            </a:r>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35</a:t>
            </a:fld>
            <a:endParaRPr lang="en-US"/>
          </a:p>
        </p:txBody>
      </p:sp>
    </p:spTree>
    <p:extLst>
      <p:ext uri="{BB962C8B-B14F-4D97-AF65-F5344CB8AC3E}">
        <p14:creationId xmlns:p14="http://schemas.microsoft.com/office/powerpoint/2010/main" val="16006521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AF0735-F145-4B9C-9BE5-23AA3F3DE317}" type="slidenum">
              <a:rPr lang="en-US" smtClean="0"/>
              <a:t>38</a:t>
            </a:fld>
            <a:endParaRPr lang="en-US"/>
          </a:p>
        </p:txBody>
      </p:sp>
    </p:spTree>
    <p:extLst>
      <p:ext uri="{BB962C8B-B14F-4D97-AF65-F5344CB8AC3E}">
        <p14:creationId xmlns:p14="http://schemas.microsoft.com/office/powerpoint/2010/main" val="1009842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875FA-86F8-171D-C7E3-624DF23410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13B0B97-A775-C935-D79E-5F906921A5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4B80A2-117B-52C0-2CF0-53857ADB2099}"/>
              </a:ext>
            </a:extLst>
          </p:cNvPr>
          <p:cNvSpPr>
            <a:spLocks noGrp="1"/>
          </p:cNvSpPr>
          <p:nvPr>
            <p:ph type="dt" sz="half" idx="10"/>
          </p:nvPr>
        </p:nvSpPr>
        <p:spPr/>
        <p:txBody>
          <a:bodyPr/>
          <a:lstStyle/>
          <a:p>
            <a:fld id="{C986F8B0-BA74-0148-8AEE-4A6414E81F50}" type="datetimeFigureOut">
              <a:rPr lang="en-US" smtClean="0"/>
              <a:t>2/16/26</a:t>
            </a:fld>
            <a:endParaRPr lang="en-US"/>
          </a:p>
        </p:txBody>
      </p:sp>
      <p:sp>
        <p:nvSpPr>
          <p:cNvPr id="5" name="Footer Placeholder 4">
            <a:extLst>
              <a:ext uri="{FF2B5EF4-FFF2-40B4-BE49-F238E27FC236}">
                <a16:creationId xmlns:a16="http://schemas.microsoft.com/office/drawing/2014/main" id="{E107BC23-0693-F158-D62C-28A54DC82A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99F5A6-3A44-7141-2978-7A0CB0193D49}"/>
              </a:ext>
            </a:extLst>
          </p:cNvPr>
          <p:cNvSpPr>
            <a:spLocks noGrp="1"/>
          </p:cNvSpPr>
          <p:nvPr>
            <p:ph type="sldNum" sz="quarter" idx="12"/>
          </p:nvPr>
        </p:nvSpPr>
        <p:spPr/>
        <p:txBody>
          <a:bodyPr/>
          <a:lstStyle/>
          <a:p>
            <a:fld id="{BAEF3343-CC17-8F4D-A8D8-9221F9783F14}" type="slidenum">
              <a:rPr lang="en-US" smtClean="0"/>
              <a:t>‹#›</a:t>
            </a:fld>
            <a:endParaRPr lang="en-US"/>
          </a:p>
        </p:txBody>
      </p:sp>
    </p:spTree>
    <p:extLst>
      <p:ext uri="{BB962C8B-B14F-4D97-AF65-F5344CB8AC3E}">
        <p14:creationId xmlns:p14="http://schemas.microsoft.com/office/powerpoint/2010/main" val="1506651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B5269-EC7B-37E7-8381-2B6D8FF795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DF1C0D-894A-1BD8-98F7-0F4B34CBFA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6CF6BF-EC52-5C04-15CB-C0584D12A9A6}"/>
              </a:ext>
            </a:extLst>
          </p:cNvPr>
          <p:cNvSpPr>
            <a:spLocks noGrp="1"/>
          </p:cNvSpPr>
          <p:nvPr>
            <p:ph type="dt" sz="half" idx="10"/>
          </p:nvPr>
        </p:nvSpPr>
        <p:spPr/>
        <p:txBody>
          <a:bodyPr/>
          <a:lstStyle/>
          <a:p>
            <a:fld id="{C986F8B0-BA74-0148-8AEE-4A6414E81F50}" type="datetimeFigureOut">
              <a:rPr lang="en-US" smtClean="0"/>
              <a:t>2/16/26</a:t>
            </a:fld>
            <a:endParaRPr lang="en-US"/>
          </a:p>
        </p:txBody>
      </p:sp>
      <p:sp>
        <p:nvSpPr>
          <p:cNvPr id="5" name="Footer Placeholder 4">
            <a:extLst>
              <a:ext uri="{FF2B5EF4-FFF2-40B4-BE49-F238E27FC236}">
                <a16:creationId xmlns:a16="http://schemas.microsoft.com/office/drawing/2014/main" id="{6C52D5C0-0DB8-B462-FD10-6408D406AE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2B67B9-E913-5B7F-4090-99C5A1E16510}"/>
              </a:ext>
            </a:extLst>
          </p:cNvPr>
          <p:cNvSpPr>
            <a:spLocks noGrp="1"/>
          </p:cNvSpPr>
          <p:nvPr>
            <p:ph type="sldNum" sz="quarter" idx="12"/>
          </p:nvPr>
        </p:nvSpPr>
        <p:spPr/>
        <p:txBody>
          <a:bodyPr/>
          <a:lstStyle/>
          <a:p>
            <a:fld id="{BAEF3343-CC17-8F4D-A8D8-9221F9783F14}" type="slidenum">
              <a:rPr lang="en-US" smtClean="0"/>
              <a:t>‹#›</a:t>
            </a:fld>
            <a:endParaRPr lang="en-US"/>
          </a:p>
        </p:txBody>
      </p:sp>
    </p:spTree>
    <p:extLst>
      <p:ext uri="{BB962C8B-B14F-4D97-AF65-F5344CB8AC3E}">
        <p14:creationId xmlns:p14="http://schemas.microsoft.com/office/powerpoint/2010/main" val="1867102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E6C55-0B77-D794-6C17-763DCB63CF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3C1B56-BFCA-94A9-55EA-038AD13371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0B39E5-9379-19BC-59FB-F6CDF97AD218}"/>
              </a:ext>
            </a:extLst>
          </p:cNvPr>
          <p:cNvSpPr>
            <a:spLocks noGrp="1"/>
          </p:cNvSpPr>
          <p:nvPr>
            <p:ph type="dt" sz="half" idx="10"/>
          </p:nvPr>
        </p:nvSpPr>
        <p:spPr/>
        <p:txBody>
          <a:bodyPr/>
          <a:lstStyle/>
          <a:p>
            <a:fld id="{C986F8B0-BA74-0148-8AEE-4A6414E81F50}" type="datetimeFigureOut">
              <a:rPr lang="en-US" smtClean="0"/>
              <a:t>2/16/26</a:t>
            </a:fld>
            <a:endParaRPr lang="en-US"/>
          </a:p>
        </p:txBody>
      </p:sp>
      <p:sp>
        <p:nvSpPr>
          <p:cNvPr id="5" name="Footer Placeholder 4">
            <a:extLst>
              <a:ext uri="{FF2B5EF4-FFF2-40B4-BE49-F238E27FC236}">
                <a16:creationId xmlns:a16="http://schemas.microsoft.com/office/drawing/2014/main" id="{957E6947-BD1B-34A0-77ED-7CFCF268EF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BBDBA6-0419-21F1-6201-CDDEE0C56E44}"/>
              </a:ext>
            </a:extLst>
          </p:cNvPr>
          <p:cNvSpPr>
            <a:spLocks noGrp="1"/>
          </p:cNvSpPr>
          <p:nvPr>
            <p:ph type="sldNum" sz="quarter" idx="12"/>
          </p:nvPr>
        </p:nvSpPr>
        <p:spPr/>
        <p:txBody>
          <a:bodyPr/>
          <a:lstStyle/>
          <a:p>
            <a:fld id="{BAEF3343-CC17-8F4D-A8D8-9221F9783F14}" type="slidenum">
              <a:rPr lang="en-US" smtClean="0"/>
              <a:t>‹#›</a:t>
            </a:fld>
            <a:endParaRPr lang="en-US"/>
          </a:p>
        </p:txBody>
      </p:sp>
    </p:spTree>
    <p:extLst>
      <p:ext uri="{BB962C8B-B14F-4D97-AF65-F5344CB8AC3E}">
        <p14:creationId xmlns:p14="http://schemas.microsoft.com/office/powerpoint/2010/main" val="575996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959CD-16B9-2B89-0D99-C526E93A08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4E4109-D2FA-8349-594C-F8B1C8B69E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1F91A9-B50B-4B94-6855-8C928274FC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1C2CA3-86A5-5195-7A84-2F83BF1AF532}"/>
              </a:ext>
            </a:extLst>
          </p:cNvPr>
          <p:cNvSpPr>
            <a:spLocks noGrp="1"/>
          </p:cNvSpPr>
          <p:nvPr>
            <p:ph type="dt" sz="half" idx="10"/>
          </p:nvPr>
        </p:nvSpPr>
        <p:spPr/>
        <p:txBody>
          <a:bodyPr/>
          <a:lstStyle/>
          <a:p>
            <a:fld id="{C986F8B0-BA74-0148-8AEE-4A6414E81F50}" type="datetimeFigureOut">
              <a:rPr lang="en-US" smtClean="0"/>
              <a:t>2/16/26</a:t>
            </a:fld>
            <a:endParaRPr lang="en-US"/>
          </a:p>
        </p:txBody>
      </p:sp>
      <p:sp>
        <p:nvSpPr>
          <p:cNvPr id="6" name="Footer Placeholder 5">
            <a:extLst>
              <a:ext uri="{FF2B5EF4-FFF2-40B4-BE49-F238E27FC236}">
                <a16:creationId xmlns:a16="http://schemas.microsoft.com/office/drawing/2014/main" id="{D9225B52-80CD-68BD-22B9-5DBF69B249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89DE28-F9CA-A44D-3A27-45DE21A5076F}"/>
              </a:ext>
            </a:extLst>
          </p:cNvPr>
          <p:cNvSpPr>
            <a:spLocks noGrp="1"/>
          </p:cNvSpPr>
          <p:nvPr>
            <p:ph type="sldNum" sz="quarter" idx="12"/>
          </p:nvPr>
        </p:nvSpPr>
        <p:spPr/>
        <p:txBody>
          <a:bodyPr/>
          <a:lstStyle/>
          <a:p>
            <a:fld id="{BAEF3343-CC17-8F4D-A8D8-9221F9783F14}" type="slidenum">
              <a:rPr lang="en-US" smtClean="0"/>
              <a:t>‹#›</a:t>
            </a:fld>
            <a:endParaRPr lang="en-US"/>
          </a:p>
        </p:txBody>
      </p:sp>
    </p:spTree>
    <p:extLst>
      <p:ext uri="{BB962C8B-B14F-4D97-AF65-F5344CB8AC3E}">
        <p14:creationId xmlns:p14="http://schemas.microsoft.com/office/powerpoint/2010/main" val="454684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45465-E7FE-F477-6058-7921DA2297A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852204-A285-7E70-E3AE-3C14D713F3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106372-0901-5C3E-0582-BBE16D90C1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5A62F1-39B1-C9D4-18C6-91198B3EDA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462A86-A413-5DF4-54DF-3085B8ACB3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58E040-8593-FE03-FEDF-EB01B4705570}"/>
              </a:ext>
            </a:extLst>
          </p:cNvPr>
          <p:cNvSpPr>
            <a:spLocks noGrp="1"/>
          </p:cNvSpPr>
          <p:nvPr>
            <p:ph type="dt" sz="half" idx="10"/>
          </p:nvPr>
        </p:nvSpPr>
        <p:spPr/>
        <p:txBody>
          <a:bodyPr/>
          <a:lstStyle/>
          <a:p>
            <a:fld id="{C986F8B0-BA74-0148-8AEE-4A6414E81F50}" type="datetimeFigureOut">
              <a:rPr lang="en-US" smtClean="0"/>
              <a:t>2/16/26</a:t>
            </a:fld>
            <a:endParaRPr lang="en-US"/>
          </a:p>
        </p:txBody>
      </p:sp>
      <p:sp>
        <p:nvSpPr>
          <p:cNvPr id="8" name="Footer Placeholder 7">
            <a:extLst>
              <a:ext uri="{FF2B5EF4-FFF2-40B4-BE49-F238E27FC236}">
                <a16:creationId xmlns:a16="http://schemas.microsoft.com/office/drawing/2014/main" id="{23ECFD38-19E4-5627-74B2-AB5C28F6C2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60D2A1-C8E3-1658-6F3F-46FA3D5BFA98}"/>
              </a:ext>
            </a:extLst>
          </p:cNvPr>
          <p:cNvSpPr>
            <a:spLocks noGrp="1"/>
          </p:cNvSpPr>
          <p:nvPr>
            <p:ph type="sldNum" sz="quarter" idx="12"/>
          </p:nvPr>
        </p:nvSpPr>
        <p:spPr/>
        <p:txBody>
          <a:bodyPr/>
          <a:lstStyle/>
          <a:p>
            <a:fld id="{BAEF3343-CC17-8F4D-A8D8-9221F9783F14}" type="slidenum">
              <a:rPr lang="en-US" smtClean="0"/>
              <a:t>‹#›</a:t>
            </a:fld>
            <a:endParaRPr lang="en-US"/>
          </a:p>
        </p:txBody>
      </p:sp>
    </p:spTree>
    <p:extLst>
      <p:ext uri="{BB962C8B-B14F-4D97-AF65-F5344CB8AC3E}">
        <p14:creationId xmlns:p14="http://schemas.microsoft.com/office/powerpoint/2010/main" val="1917617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A116A-8F58-0D04-3EA4-2D278C2FD13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08808B-BD79-EEED-A63B-E4179B81B2CB}"/>
              </a:ext>
            </a:extLst>
          </p:cNvPr>
          <p:cNvSpPr>
            <a:spLocks noGrp="1"/>
          </p:cNvSpPr>
          <p:nvPr>
            <p:ph type="dt" sz="half" idx="10"/>
          </p:nvPr>
        </p:nvSpPr>
        <p:spPr/>
        <p:txBody>
          <a:bodyPr/>
          <a:lstStyle/>
          <a:p>
            <a:fld id="{C986F8B0-BA74-0148-8AEE-4A6414E81F50}" type="datetimeFigureOut">
              <a:rPr lang="en-US" smtClean="0"/>
              <a:t>2/16/26</a:t>
            </a:fld>
            <a:endParaRPr lang="en-US"/>
          </a:p>
        </p:txBody>
      </p:sp>
      <p:sp>
        <p:nvSpPr>
          <p:cNvPr id="4" name="Footer Placeholder 3">
            <a:extLst>
              <a:ext uri="{FF2B5EF4-FFF2-40B4-BE49-F238E27FC236}">
                <a16:creationId xmlns:a16="http://schemas.microsoft.com/office/drawing/2014/main" id="{EE01D6AE-E0CD-FC0A-EB11-C72A9FC4D1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6B8FD0F-BCA6-4F33-A5AE-F77C5F14D739}"/>
              </a:ext>
            </a:extLst>
          </p:cNvPr>
          <p:cNvSpPr>
            <a:spLocks noGrp="1"/>
          </p:cNvSpPr>
          <p:nvPr>
            <p:ph type="sldNum" sz="quarter" idx="12"/>
          </p:nvPr>
        </p:nvSpPr>
        <p:spPr/>
        <p:txBody>
          <a:bodyPr/>
          <a:lstStyle/>
          <a:p>
            <a:fld id="{BAEF3343-CC17-8F4D-A8D8-9221F9783F14}" type="slidenum">
              <a:rPr lang="en-US" smtClean="0"/>
              <a:t>‹#›</a:t>
            </a:fld>
            <a:endParaRPr lang="en-US"/>
          </a:p>
        </p:txBody>
      </p:sp>
    </p:spTree>
    <p:extLst>
      <p:ext uri="{BB962C8B-B14F-4D97-AF65-F5344CB8AC3E}">
        <p14:creationId xmlns:p14="http://schemas.microsoft.com/office/powerpoint/2010/main" val="4046445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74956A-CF92-1104-778C-35A6B7DA0DD2}"/>
              </a:ext>
            </a:extLst>
          </p:cNvPr>
          <p:cNvSpPr>
            <a:spLocks noGrp="1"/>
          </p:cNvSpPr>
          <p:nvPr>
            <p:ph type="dt" sz="half" idx="10"/>
          </p:nvPr>
        </p:nvSpPr>
        <p:spPr/>
        <p:txBody>
          <a:bodyPr/>
          <a:lstStyle/>
          <a:p>
            <a:fld id="{C986F8B0-BA74-0148-8AEE-4A6414E81F50}" type="datetimeFigureOut">
              <a:rPr lang="en-US" smtClean="0"/>
              <a:t>2/16/26</a:t>
            </a:fld>
            <a:endParaRPr lang="en-US"/>
          </a:p>
        </p:txBody>
      </p:sp>
      <p:sp>
        <p:nvSpPr>
          <p:cNvPr id="3" name="Footer Placeholder 2">
            <a:extLst>
              <a:ext uri="{FF2B5EF4-FFF2-40B4-BE49-F238E27FC236}">
                <a16:creationId xmlns:a16="http://schemas.microsoft.com/office/drawing/2014/main" id="{1E6489FD-818C-552E-A60A-7A23C76AA80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2D1EB7-8F9B-6DBC-5888-F2E22C6B208A}"/>
              </a:ext>
            </a:extLst>
          </p:cNvPr>
          <p:cNvSpPr>
            <a:spLocks noGrp="1"/>
          </p:cNvSpPr>
          <p:nvPr>
            <p:ph type="sldNum" sz="quarter" idx="12"/>
          </p:nvPr>
        </p:nvSpPr>
        <p:spPr/>
        <p:txBody>
          <a:bodyPr/>
          <a:lstStyle/>
          <a:p>
            <a:fld id="{BAEF3343-CC17-8F4D-A8D8-9221F9783F14}" type="slidenum">
              <a:rPr lang="en-US" smtClean="0"/>
              <a:t>‹#›</a:t>
            </a:fld>
            <a:endParaRPr lang="en-US"/>
          </a:p>
        </p:txBody>
      </p:sp>
    </p:spTree>
    <p:extLst>
      <p:ext uri="{BB962C8B-B14F-4D97-AF65-F5344CB8AC3E}">
        <p14:creationId xmlns:p14="http://schemas.microsoft.com/office/powerpoint/2010/main" val="3570287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386C7-E81C-A0CF-643C-B04C8484B2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0912EB-0F16-9716-CCB3-A71F4BC641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F8013C-6DD6-D370-0474-B5B338B8CC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B0F8E5-25B1-40B7-7077-E35CE4B2F67C}"/>
              </a:ext>
            </a:extLst>
          </p:cNvPr>
          <p:cNvSpPr>
            <a:spLocks noGrp="1"/>
          </p:cNvSpPr>
          <p:nvPr>
            <p:ph type="dt" sz="half" idx="10"/>
          </p:nvPr>
        </p:nvSpPr>
        <p:spPr/>
        <p:txBody>
          <a:bodyPr/>
          <a:lstStyle/>
          <a:p>
            <a:fld id="{C986F8B0-BA74-0148-8AEE-4A6414E81F50}" type="datetimeFigureOut">
              <a:rPr lang="en-US" smtClean="0"/>
              <a:t>2/16/26</a:t>
            </a:fld>
            <a:endParaRPr lang="en-US"/>
          </a:p>
        </p:txBody>
      </p:sp>
      <p:sp>
        <p:nvSpPr>
          <p:cNvPr id="6" name="Footer Placeholder 5">
            <a:extLst>
              <a:ext uri="{FF2B5EF4-FFF2-40B4-BE49-F238E27FC236}">
                <a16:creationId xmlns:a16="http://schemas.microsoft.com/office/drawing/2014/main" id="{352B80D6-84A4-147E-A6A3-55497AAC75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EA086C-C56E-C779-F0F0-A1D2E9042FCB}"/>
              </a:ext>
            </a:extLst>
          </p:cNvPr>
          <p:cNvSpPr>
            <a:spLocks noGrp="1"/>
          </p:cNvSpPr>
          <p:nvPr>
            <p:ph type="sldNum" sz="quarter" idx="12"/>
          </p:nvPr>
        </p:nvSpPr>
        <p:spPr/>
        <p:txBody>
          <a:bodyPr/>
          <a:lstStyle/>
          <a:p>
            <a:fld id="{BAEF3343-CC17-8F4D-A8D8-9221F9783F14}" type="slidenum">
              <a:rPr lang="en-US" smtClean="0"/>
              <a:t>‹#›</a:t>
            </a:fld>
            <a:endParaRPr lang="en-US"/>
          </a:p>
        </p:txBody>
      </p:sp>
    </p:spTree>
    <p:extLst>
      <p:ext uri="{BB962C8B-B14F-4D97-AF65-F5344CB8AC3E}">
        <p14:creationId xmlns:p14="http://schemas.microsoft.com/office/powerpoint/2010/main" val="744838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77EA9-F990-9BEF-056D-650CEBC259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BCFBB4-E352-AAB9-9BC4-59AC9D706A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B948CE-C1CE-25CF-34EF-E996736FC3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1F40D7-67D9-5C6D-3E6F-A1D7806DAD59}"/>
              </a:ext>
            </a:extLst>
          </p:cNvPr>
          <p:cNvSpPr>
            <a:spLocks noGrp="1"/>
          </p:cNvSpPr>
          <p:nvPr>
            <p:ph type="dt" sz="half" idx="10"/>
          </p:nvPr>
        </p:nvSpPr>
        <p:spPr/>
        <p:txBody>
          <a:bodyPr/>
          <a:lstStyle/>
          <a:p>
            <a:fld id="{C986F8B0-BA74-0148-8AEE-4A6414E81F50}" type="datetimeFigureOut">
              <a:rPr lang="en-US" smtClean="0"/>
              <a:t>2/16/26</a:t>
            </a:fld>
            <a:endParaRPr lang="en-US"/>
          </a:p>
        </p:txBody>
      </p:sp>
      <p:sp>
        <p:nvSpPr>
          <p:cNvPr id="6" name="Footer Placeholder 5">
            <a:extLst>
              <a:ext uri="{FF2B5EF4-FFF2-40B4-BE49-F238E27FC236}">
                <a16:creationId xmlns:a16="http://schemas.microsoft.com/office/drawing/2014/main" id="{5E593AB4-FBE0-DFCE-A071-869E0F4D20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24D0C0-2460-6B06-9D66-43DA9118F5C2}"/>
              </a:ext>
            </a:extLst>
          </p:cNvPr>
          <p:cNvSpPr>
            <a:spLocks noGrp="1"/>
          </p:cNvSpPr>
          <p:nvPr>
            <p:ph type="sldNum" sz="quarter" idx="12"/>
          </p:nvPr>
        </p:nvSpPr>
        <p:spPr/>
        <p:txBody>
          <a:bodyPr/>
          <a:lstStyle/>
          <a:p>
            <a:fld id="{BAEF3343-CC17-8F4D-A8D8-9221F9783F14}" type="slidenum">
              <a:rPr lang="en-US" smtClean="0"/>
              <a:t>‹#›</a:t>
            </a:fld>
            <a:endParaRPr lang="en-US"/>
          </a:p>
        </p:txBody>
      </p:sp>
    </p:spTree>
    <p:extLst>
      <p:ext uri="{BB962C8B-B14F-4D97-AF65-F5344CB8AC3E}">
        <p14:creationId xmlns:p14="http://schemas.microsoft.com/office/powerpoint/2010/main" val="2066148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C7D75-7CF2-FD23-0CBC-8CB2D960098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497FC3-9768-8FC5-8C09-F0683F3587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FF2B12-600E-CC1C-D15B-0DB8B833AF17}"/>
              </a:ext>
            </a:extLst>
          </p:cNvPr>
          <p:cNvSpPr>
            <a:spLocks noGrp="1"/>
          </p:cNvSpPr>
          <p:nvPr>
            <p:ph type="dt" sz="half" idx="10"/>
          </p:nvPr>
        </p:nvSpPr>
        <p:spPr/>
        <p:txBody>
          <a:bodyPr/>
          <a:lstStyle/>
          <a:p>
            <a:fld id="{C986F8B0-BA74-0148-8AEE-4A6414E81F50}" type="datetimeFigureOut">
              <a:rPr lang="en-US" smtClean="0"/>
              <a:t>2/16/26</a:t>
            </a:fld>
            <a:endParaRPr lang="en-US"/>
          </a:p>
        </p:txBody>
      </p:sp>
      <p:sp>
        <p:nvSpPr>
          <p:cNvPr id="5" name="Footer Placeholder 4">
            <a:extLst>
              <a:ext uri="{FF2B5EF4-FFF2-40B4-BE49-F238E27FC236}">
                <a16:creationId xmlns:a16="http://schemas.microsoft.com/office/drawing/2014/main" id="{88964319-2B94-C699-7CBC-4F2B4D5A89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3A1E42-889C-D54D-4FB2-65C49991F719}"/>
              </a:ext>
            </a:extLst>
          </p:cNvPr>
          <p:cNvSpPr>
            <a:spLocks noGrp="1"/>
          </p:cNvSpPr>
          <p:nvPr>
            <p:ph type="sldNum" sz="quarter" idx="12"/>
          </p:nvPr>
        </p:nvSpPr>
        <p:spPr/>
        <p:txBody>
          <a:bodyPr/>
          <a:lstStyle/>
          <a:p>
            <a:fld id="{BAEF3343-CC17-8F4D-A8D8-9221F9783F14}" type="slidenum">
              <a:rPr lang="en-US" smtClean="0"/>
              <a:t>‹#›</a:t>
            </a:fld>
            <a:endParaRPr lang="en-US"/>
          </a:p>
        </p:txBody>
      </p:sp>
    </p:spTree>
    <p:extLst>
      <p:ext uri="{BB962C8B-B14F-4D97-AF65-F5344CB8AC3E}">
        <p14:creationId xmlns:p14="http://schemas.microsoft.com/office/powerpoint/2010/main" val="777624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7DE07F-4AD7-15D5-C5D5-0666381A02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636540-105B-F401-A1FF-52C5367BE5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E20E34-4AA9-214C-8093-5E63444BCCA3}"/>
              </a:ext>
            </a:extLst>
          </p:cNvPr>
          <p:cNvSpPr>
            <a:spLocks noGrp="1"/>
          </p:cNvSpPr>
          <p:nvPr>
            <p:ph type="dt" sz="half" idx="10"/>
          </p:nvPr>
        </p:nvSpPr>
        <p:spPr/>
        <p:txBody>
          <a:bodyPr/>
          <a:lstStyle/>
          <a:p>
            <a:fld id="{C986F8B0-BA74-0148-8AEE-4A6414E81F50}" type="datetimeFigureOut">
              <a:rPr lang="en-US" smtClean="0"/>
              <a:t>2/16/26</a:t>
            </a:fld>
            <a:endParaRPr lang="en-US"/>
          </a:p>
        </p:txBody>
      </p:sp>
      <p:sp>
        <p:nvSpPr>
          <p:cNvPr id="5" name="Footer Placeholder 4">
            <a:extLst>
              <a:ext uri="{FF2B5EF4-FFF2-40B4-BE49-F238E27FC236}">
                <a16:creationId xmlns:a16="http://schemas.microsoft.com/office/drawing/2014/main" id="{1FA164C5-F447-BDA4-D634-737DAC8D3C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EDDC8-DD50-5A8F-2C3B-967F49CC673F}"/>
              </a:ext>
            </a:extLst>
          </p:cNvPr>
          <p:cNvSpPr>
            <a:spLocks noGrp="1"/>
          </p:cNvSpPr>
          <p:nvPr>
            <p:ph type="sldNum" sz="quarter" idx="12"/>
          </p:nvPr>
        </p:nvSpPr>
        <p:spPr/>
        <p:txBody>
          <a:bodyPr/>
          <a:lstStyle/>
          <a:p>
            <a:fld id="{BAEF3343-CC17-8F4D-A8D8-9221F9783F14}" type="slidenum">
              <a:rPr lang="en-US" smtClean="0"/>
              <a:t>‹#›</a:t>
            </a:fld>
            <a:endParaRPr lang="en-US"/>
          </a:p>
        </p:txBody>
      </p:sp>
    </p:spTree>
    <p:extLst>
      <p:ext uri="{BB962C8B-B14F-4D97-AF65-F5344CB8AC3E}">
        <p14:creationId xmlns:p14="http://schemas.microsoft.com/office/powerpoint/2010/main" val="1975653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C928AF-0205-E8FB-8669-777422D017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3CE598-58E9-98AA-21F5-4489BAC187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3E373B-B9D4-C554-A208-690FFBCA73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986F8B0-BA74-0148-8AEE-4A6414E81F50}" type="datetimeFigureOut">
              <a:rPr lang="en-US" smtClean="0"/>
              <a:t>2/16/26</a:t>
            </a:fld>
            <a:endParaRPr lang="en-US"/>
          </a:p>
        </p:txBody>
      </p:sp>
      <p:sp>
        <p:nvSpPr>
          <p:cNvPr id="5" name="Footer Placeholder 4">
            <a:extLst>
              <a:ext uri="{FF2B5EF4-FFF2-40B4-BE49-F238E27FC236}">
                <a16:creationId xmlns:a16="http://schemas.microsoft.com/office/drawing/2014/main" id="{C1D6DD83-62FA-8FFF-2F4E-6B3D54CC21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2B5522-72E1-864E-C087-6F5D3E4292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EF3343-CC17-8F4D-A8D8-9221F9783F14}" type="slidenum">
              <a:rPr lang="en-US" smtClean="0"/>
              <a:t>‹#›</a:t>
            </a:fld>
            <a:endParaRPr lang="en-US"/>
          </a:p>
        </p:txBody>
      </p:sp>
    </p:spTree>
    <p:extLst>
      <p:ext uri="{BB962C8B-B14F-4D97-AF65-F5344CB8AC3E}">
        <p14:creationId xmlns:p14="http://schemas.microsoft.com/office/powerpoint/2010/main" val="39497985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0.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80.png"/><Relationship Id="rId4" Type="http://schemas.openxmlformats.org/officeDocument/2006/relationships/image" Target="../media/image170.png"/></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CB105-7385-4938-3B1E-FDFB184058C8}"/>
              </a:ext>
            </a:extLst>
          </p:cNvPr>
          <p:cNvSpPr>
            <a:spLocks noGrp="1"/>
          </p:cNvSpPr>
          <p:nvPr>
            <p:ph type="ctrTitle"/>
          </p:nvPr>
        </p:nvSpPr>
        <p:spPr/>
        <p:txBody>
          <a:bodyPr/>
          <a:lstStyle/>
          <a:p>
            <a:r>
              <a:rPr lang="en-US" dirty="0"/>
              <a:t>Machine Learning 1</a:t>
            </a:r>
          </a:p>
        </p:txBody>
      </p:sp>
      <p:sp>
        <p:nvSpPr>
          <p:cNvPr id="3" name="Subtitle 2">
            <a:extLst>
              <a:ext uri="{FF2B5EF4-FFF2-40B4-BE49-F238E27FC236}">
                <a16:creationId xmlns:a16="http://schemas.microsoft.com/office/drawing/2014/main" id="{8F57CB07-9465-F7EF-3975-0003023471F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40523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BB072-6433-3220-91AC-CB242CDC37D0}"/>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FC62857A-B3B9-8A51-D8EB-4A3A9F5D1D3E}"/>
              </a:ext>
            </a:extLst>
          </p:cNvPr>
          <p:cNvSpPr>
            <a:spLocks noGrp="1"/>
          </p:cNvSpPr>
          <p:nvPr>
            <p:ph idx="1"/>
          </p:nvPr>
        </p:nvSpPr>
        <p:spPr/>
        <p:txBody>
          <a:bodyPr/>
          <a:lstStyle/>
          <a:p>
            <a:r>
              <a:rPr lang="en-US" dirty="0"/>
              <a:t>AI</a:t>
            </a:r>
          </a:p>
          <a:p>
            <a:r>
              <a:rPr lang="en-US" dirty="0"/>
              <a:t>ML</a:t>
            </a:r>
          </a:p>
          <a:p>
            <a:r>
              <a:rPr lang="en-US" dirty="0"/>
              <a:t>Deep learning</a:t>
            </a:r>
          </a:p>
          <a:p>
            <a:r>
              <a:rPr lang="en-US" dirty="0"/>
              <a:t>Statistical learning</a:t>
            </a:r>
          </a:p>
        </p:txBody>
      </p:sp>
      <p:pic>
        <p:nvPicPr>
          <p:cNvPr id="1026" name="Picture 2">
            <a:extLst>
              <a:ext uri="{FF2B5EF4-FFF2-40B4-BE49-F238E27FC236}">
                <a16:creationId xmlns:a16="http://schemas.microsoft.com/office/drawing/2014/main" id="{5C7B0B1C-BD38-44AC-9544-939581EBE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3648" y="803188"/>
            <a:ext cx="4522573" cy="452257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50B94D6-3105-4778-A0C2-93AACDDE44ED}"/>
              </a:ext>
            </a:extLst>
          </p:cNvPr>
          <p:cNvSpPr txBox="1"/>
          <p:nvPr/>
        </p:nvSpPr>
        <p:spPr>
          <a:xfrm>
            <a:off x="10524461" y="5842337"/>
            <a:ext cx="1667539" cy="1015663"/>
          </a:xfrm>
          <a:prstGeom prst="rect">
            <a:avLst/>
          </a:prstGeom>
          <a:noFill/>
        </p:spPr>
        <p:txBody>
          <a:bodyPr wrap="square">
            <a:spAutoFit/>
          </a:bodyPr>
          <a:lstStyle/>
          <a:p>
            <a:r>
              <a:rPr lang="en-US" sz="1200" dirty="0"/>
              <a:t>https://</a:t>
            </a:r>
            <a:r>
              <a:rPr lang="en-US" sz="1200" dirty="0" err="1"/>
              <a:t>commons.wikimedia.org</a:t>
            </a:r>
            <a:r>
              <a:rPr lang="en-US" sz="1200" dirty="0"/>
              <a:t>/wiki/File:AI_relation_to_Generative_Models_subset,_</a:t>
            </a:r>
            <a:r>
              <a:rPr lang="en-US" sz="1200" dirty="0" err="1"/>
              <a:t>venn_diagram.png</a:t>
            </a:r>
            <a:endParaRPr lang="en-US" sz="1200" dirty="0"/>
          </a:p>
        </p:txBody>
      </p:sp>
    </p:spTree>
    <p:extLst>
      <p:ext uri="{BB962C8B-B14F-4D97-AF65-F5344CB8AC3E}">
        <p14:creationId xmlns:p14="http://schemas.microsoft.com/office/powerpoint/2010/main" val="63465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2918F-DB26-7CD8-7BC1-5D83DE2D688E}"/>
              </a:ext>
            </a:extLst>
          </p:cNvPr>
          <p:cNvSpPr>
            <a:spLocks noGrp="1"/>
          </p:cNvSpPr>
          <p:nvPr>
            <p:ph type="title"/>
          </p:nvPr>
        </p:nvSpPr>
        <p:spPr/>
        <p:txBody>
          <a:bodyPr/>
          <a:lstStyle/>
          <a:p>
            <a:r>
              <a:rPr lang="en-US" dirty="0"/>
              <a:t>High-dimension datasets (n &lt;&lt; p)</a:t>
            </a:r>
          </a:p>
        </p:txBody>
      </p:sp>
      <p:sp>
        <p:nvSpPr>
          <p:cNvPr id="3" name="Content Placeholder 2">
            <a:extLst>
              <a:ext uri="{FF2B5EF4-FFF2-40B4-BE49-F238E27FC236}">
                <a16:creationId xmlns:a16="http://schemas.microsoft.com/office/drawing/2014/main" id="{9593915E-4A98-5F51-3261-DB089549AD35}"/>
              </a:ext>
            </a:extLst>
          </p:cNvPr>
          <p:cNvSpPr>
            <a:spLocks noGrp="1"/>
          </p:cNvSpPr>
          <p:nvPr>
            <p:ph idx="1"/>
          </p:nvPr>
        </p:nvSpPr>
        <p:spPr/>
        <p:txBody>
          <a:bodyPr>
            <a:normAutofit lnSpcReduction="10000"/>
          </a:bodyPr>
          <a:lstStyle/>
          <a:p>
            <a:r>
              <a:rPr lang="en-US" dirty="0"/>
              <a:t>SNP arrays</a:t>
            </a:r>
          </a:p>
          <a:p>
            <a:r>
              <a:rPr lang="en-US" dirty="0"/>
              <a:t>RNA-seq</a:t>
            </a:r>
          </a:p>
          <a:p>
            <a:r>
              <a:rPr lang="en-US" dirty="0"/>
              <a:t>Single-cell RNA-seq</a:t>
            </a:r>
          </a:p>
          <a:p>
            <a:r>
              <a:rPr lang="en-US" dirty="0"/>
              <a:t>Methylation/epigenetics</a:t>
            </a:r>
          </a:p>
          <a:p>
            <a:r>
              <a:rPr lang="en-US" dirty="0"/>
              <a:t>Proteomics</a:t>
            </a:r>
          </a:p>
          <a:p>
            <a:r>
              <a:rPr lang="en-US" dirty="0"/>
              <a:t>Metabolomics</a:t>
            </a:r>
          </a:p>
          <a:p>
            <a:r>
              <a:rPr lang="en-US" dirty="0"/>
              <a:t>Images</a:t>
            </a:r>
          </a:p>
          <a:p>
            <a:r>
              <a:rPr lang="en-US" dirty="0"/>
              <a:t>Text/language</a:t>
            </a:r>
          </a:p>
          <a:p>
            <a:r>
              <a:rPr lang="en-US" dirty="0"/>
              <a:t>…</a:t>
            </a:r>
          </a:p>
        </p:txBody>
      </p:sp>
    </p:spTree>
    <p:extLst>
      <p:ext uri="{BB962C8B-B14F-4D97-AF65-F5344CB8AC3E}">
        <p14:creationId xmlns:p14="http://schemas.microsoft.com/office/powerpoint/2010/main" val="1735965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1B6CA-282E-A27B-5BF6-7314D4CD4945}"/>
              </a:ext>
            </a:extLst>
          </p:cNvPr>
          <p:cNvSpPr>
            <a:spLocks noGrp="1"/>
          </p:cNvSpPr>
          <p:nvPr>
            <p:ph type="title"/>
          </p:nvPr>
        </p:nvSpPr>
        <p:spPr/>
        <p:txBody>
          <a:bodyPr/>
          <a:lstStyle/>
          <a:p>
            <a:r>
              <a:rPr lang="en-US" dirty="0"/>
              <a:t>2D plots are not enough</a:t>
            </a:r>
          </a:p>
        </p:txBody>
      </p:sp>
      <p:sp>
        <p:nvSpPr>
          <p:cNvPr id="3" name="Content Placeholder 2">
            <a:extLst>
              <a:ext uri="{FF2B5EF4-FFF2-40B4-BE49-F238E27FC236}">
                <a16:creationId xmlns:a16="http://schemas.microsoft.com/office/drawing/2014/main" id="{8256129C-79C5-65B5-2FA5-0E9A81A28BCD}"/>
              </a:ext>
            </a:extLst>
          </p:cNvPr>
          <p:cNvSpPr>
            <a:spLocks noGrp="1"/>
          </p:cNvSpPr>
          <p:nvPr>
            <p:ph idx="1"/>
          </p:nvPr>
        </p:nvSpPr>
        <p:spPr/>
        <p:txBody>
          <a:bodyPr/>
          <a:lstStyle/>
          <a:p>
            <a:r>
              <a:rPr lang="en-US" dirty="0"/>
              <a:t>Try exercises 1 and 2</a:t>
            </a:r>
          </a:p>
        </p:txBody>
      </p:sp>
    </p:spTree>
    <p:extLst>
      <p:ext uri="{BB962C8B-B14F-4D97-AF65-F5344CB8AC3E}">
        <p14:creationId xmlns:p14="http://schemas.microsoft.com/office/powerpoint/2010/main" val="3034188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16E22-AE8A-8F86-3C05-759D53735A5C}"/>
              </a:ext>
            </a:extLst>
          </p:cNvPr>
          <p:cNvSpPr>
            <a:spLocks noGrp="1"/>
          </p:cNvSpPr>
          <p:nvPr>
            <p:ph type="title"/>
          </p:nvPr>
        </p:nvSpPr>
        <p:spPr/>
        <p:txBody>
          <a:bodyPr/>
          <a:lstStyle/>
          <a:p>
            <a:r>
              <a:rPr lang="en-US" dirty="0"/>
              <a:t>The curse of dimensionality</a:t>
            </a:r>
          </a:p>
        </p:txBody>
      </p:sp>
      <p:sp>
        <p:nvSpPr>
          <p:cNvPr id="3" name="Content Placeholder 2">
            <a:extLst>
              <a:ext uri="{FF2B5EF4-FFF2-40B4-BE49-F238E27FC236}">
                <a16:creationId xmlns:a16="http://schemas.microsoft.com/office/drawing/2014/main" id="{62BEC9CE-E7A2-B3FC-98B6-5AA7F238DD0B}"/>
              </a:ext>
            </a:extLst>
          </p:cNvPr>
          <p:cNvSpPr>
            <a:spLocks noGrp="1"/>
          </p:cNvSpPr>
          <p:nvPr>
            <p:ph idx="1"/>
          </p:nvPr>
        </p:nvSpPr>
        <p:spPr/>
        <p:txBody>
          <a:bodyPr>
            <a:normAutofit fontScale="55000" lnSpcReduction="20000"/>
          </a:bodyPr>
          <a:lstStyle/>
          <a:p>
            <a:pPr marL="0" indent="0">
              <a:buNone/>
            </a:pPr>
            <a:r>
              <a:rPr lang="en-US" dirty="0"/>
              <a:t>Not just “there are a lot of variables, and we don’t know which are important”</a:t>
            </a:r>
          </a:p>
          <a:p>
            <a:r>
              <a:rPr lang="en-US" dirty="0"/>
              <a:t>Distance concentration</a:t>
            </a:r>
          </a:p>
          <a:p>
            <a:pPr lvl="1"/>
            <a:r>
              <a:rPr lang="en-US" dirty="0"/>
              <a:t>Points become ~equidistant</a:t>
            </a:r>
          </a:p>
          <a:p>
            <a:pPr lvl="1"/>
            <a:r>
              <a:rPr lang="en-US" dirty="0">
                <a:sym typeface="Wingdings" pitchFamily="2" charset="2"/>
              </a:rPr>
              <a:t> “Nearest neighbor” means less</a:t>
            </a:r>
          </a:p>
          <a:p>
            <a:r>
              <a:rPr lang="en-US" dirty="0">
                <a:sym typeface="Wingdings" pitchFamily="2" charset="2"/>
              </a:rPr>
              <a:t>Volume</a:t>
            </a:r>
          </a:p>
          <a:p>
            <a:pPr lvl="1"/>
            <a:r>
              <a:rPr lang="en-US" dirty="0"/>
              <a:t>Grows exponentially with p</a:t>
            </a:r>
          </a:p>
          <a:p>
            <a:pPr lvl="1"/>
            <a:r>
              <a:rPr lang="en-US" dirty="0">
                <a:sym typeface="Wingdings" pitchFamily="2" charset="2"/>
              </a:rPr>
              <a:t> Data extremely sparse</a:t>
            </a:r>
          </a:p>
          <a:p>
            <a:pPr lvl="1"/>
            <a:r>
              <a:rPr lang="en-US" dirty="0">
                <a:sym typeface="Wingdings" pitchFamily="2" charset="2"/>
              </a:rPr>
              <a:t> Huge sample size needed to cover the space</a:t>
            </a:r>
          </a:p>
          <a:p>
            <a:r>
              <a:rPr lang="en-US" dirty="0"/>
              <a:t>Most of the volume is near the boundary</a:t>
            </a:r>
          </a:p>
          <a:p>
            <a:pPr lvl="1"/>
            <a:r>
              <a:rPr lang="en-US" dirty="0"/>
              <a:t>Very little interior</a:t>
            </a:r>
          </a:p>
          <a:p>
            <a:pPr lvl="1"/>
            <a:r>
              <a:rPr lang="en-US" dirty="0"/>
              <a:t>“Distance from center” means less</a:t>
            </a:r>
          </a:p>
          <a:p>
            <a:r>
              <a:rPr lang="en-US" dirty="0"/>
              <a:t>Projections are deceptive</a:t>
            </a:r>
          </a:p>
          <a:p>
            <a:pPr lvl="1"/>
            <a:r>
              <a:rPr lang="en-US" dirty="0"/>
              <a:t>Lower-dimensional subsets will </a:t>
            </a:r>
            <a:r>
              <a:rPr lang="en-US" i="1" dirty="0"/>
              <a:t>appear </a:t>
            </a:r>
            <a:r>
              <a:rPr lang="en-US" dirty="0"/>
              <a:t> to have structure even if they’re pure noise</a:t>
            </a:r>
          </a:p>
          <a:p>
            <a:r>
              <a:rPr lang="en-US" dirty="0"/>
              <a:t>Statistical problems (more variables than datapoints)</a:t>
            </a:r>
          </a:p>
          <a:p>
            <a:pPr lvl="1"/>
            <a:r>
              <a:rPr lang="en-US" dirty="0">
                <a:sym typeface="Wingdings" pitchFamily="2" charset="2"/>
              </a:rPr>
              <a:t> need for feature selection/extraction</a:t>
            </a:r>
          </a:p>
          <a:p>
            <a:pPr lvl="1"/>
            <a:r>
              <a:rPr lang="en-US" dirty="0">
                <a:sym typeface="Wingdings" pitchFamily="2" charset="2"/>
              </a:rPr>
              <a:t> easy to find “perfect fit” based on noise alone (overfitting)</a:t>
            </a:r>
          </a:p>
          <a:p>
            <a:pPr marL="0" indent="0">
              <a:buNone/>
            </a:pPr>
            <a:endParaRPr lang="en-US" dirty="0">
              <a:sym typeface="Wingdings" pitchFamily="2" charset="2"/>
            </a:endParaRPr>
          </a:p>
          <a:p>
            <a:pPr marL="0" indent="0">
              <a:buNone/>
            </a:pPr>
            <a:r>
              <a:rPr lang="en-US" dirty="0">
                <a:sym typeface="Wingdings" pitchFamily="2" charset="2"/>
              </a:rPr>
              <a:t>See Example 3</a:t>
            </a:r>
            <a:endParaRPr lang="en-US" dirty="0"/>
          </a:p>
        </p:txBody>
      </p:sp>
    </p:spTree>
    <p:extLst>
      <p:ext uri="{BB962C8B-B14F-4D97-AF65-F5344CB8AC3E}">
        <p14:creationId xmlns:p14="http://schemas.microsoft.com/office/powerpoint/2010/main" val="414860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1F393-0538-6A0D-A3A0-F7DD974DE31A}"/>
              </a:ext>
            </a:extLst>
          </p:cNvPr>
          <p:cNvSpPr>
            <a:spLocks noGrp="1"/>
          </p:cNvSpPr>
          <p:nvPr>
            <p:ph type="title"/>
          </p:nvPr>
        </p:nvSpPr>
        <p:spPr/>
        <p:txBody>
          <a:bodyPr/>
          <a:lstStyle/>
          <a:p>
            <a:r>
              <a:rPr lang="en-US" dirty="0"/>
              <a:t>What kind of structure?</a:t>
            </a:r>
          </a:p>
        </p:txBody>
      </p:sp>
      <p:sp>
        <p:nvSpPr>
          <p:cNvPr id="3" name="Content Placeholder 2">
            <a:extLst>
              <a:ext uri="{FF2B5EF4-FFF2-40B4-BE49-F238E27FC236}">
                <a16:creationId xmlns:a16="http://schemas.microsoft.com/office/drawing/2014/main" id="{8150EDBA-AAF9-5FC4-B097-5EB61CFFC34C}"/>
              </a:ext>
            </a:extLst>
          </p:cNvPr>
          <p:cNvSpPr>
            <a:spLocks noGrp="1"/>
          </p:cNvSpPr>
          <p:nvPr>
            <p:ph idx="1"/>
          </p:nvPr>
        </p:nvSpPr>
        <p:spPr/>
        <p:txBody>
          <a:bodyPr>
            <a:normAutofit fontScale="92500"/>
          </a:bodyPr>
          <a:lstStyle/>
          <a:p>
            <a:pPr marL="0" indent="0">
              <a:buNone/>
            </a:pPr>
            <a:r>
              <a:rPr lang="en-US" dirty="0"/>
              <a:t>ML methods assume structure.</a:t>
            </a:r>
          </a:p>
          <a:p>
            <a:pPr marL="0" indent="0">
              <a:buNone/>
            </a:pPr>
            <a:r>
              <a:rPr lang="en-US" dirty="0"/>
              <a:t>It’s up to you to ask the right question and choose the right tool.</a:t>
            </a:r>
          </a:p>
          <a:p>
            <a:r>
              <a:rPr lang="en-US" dirty="0"/>
              <a:t>Are there clusters/groups?</a:t>
            </a:r>
          </a:p>
          <a:p>
            <a:r>
              <a:rPr lang="en-US" dirty="0"/>
              <a:t>Does variation exist globally along smooth gradients?</a:t>
            </a:r>
          </a:p>
          <a:p>
            <a:r>
              <a:rPr lang="en-US" dirty="0"/>
              <a:t>Is there predictive structure (i.e., can some variables predict others?)</a:t>
            </a:r>
          </a:p>
          <a:p>
            <a:r>
              <a:rPr lang="en-US" dirty="0"/>
              <a:t>Are there local structures?</a:t>
            </a:r>
          </a:p>
          <a:p>
            <a:r>
              <a:rPr lang="en-US" dirty="0"/>
              <a:t>Is there hierarchical structure?</a:t>
            </a:r>
          </a:p>
          <a:p>
            <a:r>
              <a:rPr lang="en-US" dirty="0"/>
              <a:t>Are there networks/relational structures?</a:t>
            </a:r>
          </a:p>
          <a:p>
            <a:r>
              <a:rPr lang="en-US" dirty="0"/>
              <a:t>How complex is the structure? What is the intrinsic dimensionality?</a:t>
            </a:r>
          </a:p>
        </p:txBody>
      </p:sp>
    </p:spTree>
    <p:extLst>
      <p:ext uri="{BB962C8B-B14F-4D97-AF65-F5344CB8AC3E}">
        <p14:creationId xmlns:p14="http://schemas.microsoft.com/office/powerpoint/2010/main" val="4077472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0611B-CFCC-518B-236C-084DE819A2F6}"/>
              </a:ext>
            </a:extLst>
          </p:cNvPr>
          <p:cNvSpPr>
            <a:spLocks noGrp="1"/>
          </p:cNvSpPr>
          <p:nvPr>
            <p:ph type="title"/>
          </p:nvPr>
        </p:nvSpPr>
        <p:spPr/>
        <p:txBody>
          <a:bodyPr/>
          <a:lstStyle/>
          <a:p>
            <a:r>
              <a:rPr lang="en-US" dirty="0"/>
              <a:t>Supervised vs. unsupervised ML answer different questions</a:t>
            </a:r>
          </a:p>
        </p:txBody>
      </p:sp>
      <p:graphicFrame>
        <p:nvGraphicFramePr>
          <p:cNvPr id="7" name="Content Placeholder 6">
            <a:extLst>
              <a:ext uri="{FF2B5EF4-FFF2-40B4-BE49-F238E27FC236}">
                <a16:creationId xmlns:a16="http://schemas.microsoft.com/office/drawing/2014/main" id="{C81CC0C5-594C-D6E4-F18B-44ADFD937736}"/>
              </a:ext>
            </a:extLst>
          </p:cNvPr>
          <p:cNvGraphicFramePr>
            <a:graphicFrameLocks noGrp="1"/>
          </p:cNvGraphicFramePr>
          <p:nvPr>
            <p:ph idx="1"/>
            <p:extLst>
              <p:ext uri="{D42A27DB-BD31-4B8C-83A1-F6EECF244321}">
                <p14:modId xmlns:p14="http://schemas.microsoft.com/office/powerpoint/2010/main" val="3483060966"/>
              </p:ext>
            </p:extLst>
          </p:nvPr>
        </p:nvGraphicFramePr>
        <p:xfrm>
          <a:off x="177800" y="2192020"/>
          <a:ext cx="11455654" cy="35712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1644731968"/>
                    </a:ext>
                  </a:extLst>
                </a:gridCol>
                <a:gridCol w="2103120">
                  <a:extLst>
                    <a:ext uri="{9D8B030D-6E8A-4147-A177-3AD203B41FA5}">
                      <a16:colId xmlns:a16="http://schemas.microsoft.com/office/drawing/2014/main" val="2803646451"/>
                    </a:ext>
                  </a:extLst>
                </a:gridCol>
                <a:gridCol w="3043174">
                  <a:extLst>
                    <a:ext uri="{9D8B030D-6E8A-4147-A177-3AD203B41FA5}">
                      <a16:colId xmlns:a16="http://schemas.microsoft.com/office/drawing/2014/main" val="4170807727"/>
                    </a:ext>
                  </a:extLst>
                </a:gridCol>
                <a:gridCol w="2103120">
                  <a:extLst>
                    <a:ext uri="{9D8B030D-6E8A-4147-A177-3AD203B41FA5}">
                      <a16:colId xmlns:a16="http://schemas.microsoft.com/office/drawing/2014/main" val="1260282904"/>
                    </a:ext>
                  </a:extLst>
                </a:gridCol>
                <a:gridCol w="2103120">
                  <a:extLst>
                    <a:ext uri="{9D8B030D-6E8A-4147-A177-3AD203B41FA5}">
                      <a16:colId xmlns:a16="http://schemas.microsoft.com/office/drawing/2014/main" val="1262646446"/>
                    </a:ext>
                  </a:extLst>
                </a:gridCol>
              </a:tblGrid>
              <a:tr h="370840">
                <a:tc>
                  <a:txBody>
                    <a:bodyPr/>
                    <a:lstStyle/>
                    <a:p>
                      <a:r>
                        <a:rPr lang="en-US" dirty="0"/>
                        <a:t>Type of ML</a:t>
                      </a:r>
                    </a:p>
                  </a:txBody>
                  <a:tcPr/>
                </a:tc>
                <a:tc>
                  <a:txBody>
                    <a:bodyPr/>
                    <a:lstStyle/>
                    <a:p>
                      <a:r>
                        <a:rPr lang="en-US" dirty="0"/>
                        <a:t>Kind of question</a:t>
                      </a:r>
                    </a:p>
                  </a:txBody>
                  <a:tcPr/>
                </a:tc>
                <a:tc>
                  <a:txBody>
                    <a:bodyPr/>
                    <a:lstStyle/>
                    <a:p>
                      <a:r>
                        <a:rPr lang="en-US" dirty="0"/>
                        <a:t>You are given</a:t>
                      </a:r>
                    </a:p>
                  </a:txBody>
                  <a:tcPr/>
                </a:tc>
                <a:tc>
                  <a:txBody>
                    <a:bodyPr/>
                    <a:lstStyle/>
                    <a:p>
                      <a:r>
                        <a:rPr lang="en-US" dirty="0"/>
                        <a:t>Goal</a:t>
                      </a:r>
                    </a:p>
                  </a:txBody>
                  <a:tcPr/>
                </a:tc>
                <a:tc>
                  <a:txBody>
                    <a:bodyPr/>
                    <a:lstStyle/>
                    <a:p>
                      <a:r>
                        <a:rPr lang="en-US" dirty="0"/>
                        <a:t>Assumptions</a:t>
                      </a:r>
                    </a:p>
                  </a:txBody>
                  <a:tcPr/>
                </a:tc>
                <a:extLst>
                  <a:ext uri="{0D108BD9-81ED-4DB2-BD59-A6C34878D82A}">
                    <a16:rowId xmlns:a16="http://schemas.microsoft.com/office/drawing/2014/main" val="985870170"/>
                  </a:ext>
                </a:extLst>
              </a:tr>
              <a:tr h="370840">
                <a:tc>
                  <a:txBody>
                    <a:bodyPr/>
                    <a:lstStyle/>
                    <a:p>
                      <a:r>
                        <a:rPr lang="en-US" dirty="0"/>
                        <a:t>Supervised</a:t>
                      </a:r>
                    </a:p>
                  </a:txBody>
                  <a:tcPr/>
                </a:tc>
                <a:tc>
                  <a:txBody>
                    <a:bodyPr/>
                    <a:lstStyle/>
                    <a:p>
                      <a:r>
                        <a:rPr lang="en-US" dirty="0"/>
                        <a:t>Is there a mapping from X</a:t>
                      </a:r>
                      <a:r>
                        <a:rPr lang="en-US" dirty="0">
                          <a:sym typeface="Wingdings" pitchFamily="2" charset="2"/>
                        </a:rPr>
                        <a:t>Y?</a:t>
                      </a:r>
                      <a:endParaRPr lang="en-US" dirty="0"/>
                    </a:p>
                  </a:txBody>
                  <a:tcPr/>
                </a:tc>
                <a:tc>
                  <a:txBody>
                    <a:bodyPr/>
                    <a:lstStyle/>
                    <a:p>
                      <a:pPr marL="285750" indent="-285750">
                        <a:buFont typeface="Arial" panose="020B0604020202020204" pitchFamily="34" charset="0"/>
                        <a:buChar char="•"/>
                      </a:pPr>
                      <a:r>
                        <a:rPr lang="en-US" dirty="0"/>
                        <a:t>Input variables (X)</a:t>
                      </a:r>
                    </a:p>
                    <a:p>
                      <a:pPr marL="285750" indent="-285750">
                        <a:buFont typeface="Arial" panose="020B0604020202020204" pitchFamily="34" charset="0"/>
                        <a:buChar char="•"/>
                      </a:pPr>
                      <a:r>
                        <a:rPr lang="en-US" dirty="0"/>
                        <a:t>Target/outcome/labels (Y)</a:t>
                      </a:r>
                    </a:p>
                  </a:txBody>
                  <a:tcPr/>
                </a:tc>
                <a:tc>
                  <a:txBody>
                    <a:bodyPr/>
                    <a:lstStyle/>
                    <a:p>
                      <a:pPr marL="285750" indent="-285750">
                        <a:buFont typeface="Arial" panose="020B0604020202020204" pitchFamily="34" charset="0"/>
                        <a:buChar char="•"/>
                      </a:pPr>
                      <a:r>
                        <a:rPr lang="en-US" dirty="0"/>
                        <a:t>Predict Y</a:t>
                      </a:r>
                    </a:p>
                    <a:p>
                      <a:pPr marL="285750" indent="-285750">
                        <a:buFont typeface="Arial" panose="020B0604020202020204" pitchFamily="34" charset="0"/>
                        <a:buChar char="•"/>
                      </a:pPr>
                      <a:r>
                        <a:rPr lang="en-US" dirty="0"/>
                        <a:t>Estimate relationships between X and Y</a:t>
                      </a:r>
                    </a:p>
                  </a:txBody>
                  <a:tcPr/>
                </a:tc>
                <a:tc>
                  <a:txBody>
                    <a:bodyPr/>
                    <a:lstStyle/>
                    <a:p>
                      <a:pPr marL="285750" indent="-285750">
                        <a:buFont typeface="Arial" panose="020B0604020202020204" pitchFamily="34" charset="0"/>
                        <a:buChar char="•"/>
                      </a:pPr>
                      <a:r>
                        <a:rPr lang="en-US" dirty="0"/>
                        <a:t>The predictive structure (model type)</a:t>
                      </a:r>
                    </a:p>
                    <a:p>
                      <a:pPr marL="285750" indent="-285750">
                        <a:buFont typeface="Arial" panose="020B0604020202020204" pitchFamily="34" charset="0"/>
                        <a:buChar char="•"/>
                      </a:pPr>
                      <a:r>
                        <a:rPr lang="en-US" dirty="0"/>
                        <a:t>Signal in X could explain Y</a:t>
                      </a:r>
                    </a:p>
                  </a:txBody>
                  <a:tcPr/>
                </a:tc>
                <a:extLst>
                  <a:ext uri="{0D108BD9-81ED-4DB2-BD59-A6C34878D82A}">
                    <a16:rowId xmlns:a16="http://schemas.microsoft.com/office/drawing/2014/main" val="265033129"/>
                  </a:ext>
                </a:extLst>
              </a:tr>
              <a:tr h="370840">
                <a:tc>
                  <a:txBody>
                    <a:bodyPr/>
                    <a:lstStyle/>
                    <a:p>
                      <a:r>
                        <a:rPr lang="en-US" dirty="0"/>
                        <a:t>Unsupervised</a:t>
                      </a:r>
                    </a:p>
                  </a:txBody>
                  <a:tcPr/>
                </a:tc>
                <a:tc>
                  <a:txBody>
                    <a:bodyPr/>
                    <a:lstStyle/>
                    <a:p>
                      <a:r>
                        <a:rPr lang="en-US" dirty="0"/>
                        <a:t>What structure exists in X?</a:t>
                      </a:r>
                    </a:p>
                  </a:txBody>
                  <a:tcPr/>
                </a:tc>
                <a:tc>
                  <a:txBody>
                    <a:bodyPr/>
                    <a:lstStyle/>
                    <a:p>
                      <a:pPr marL="285750" indent="-285750">
                        <a:buFont typeface="Arial" panose="020B0604020202020204" pitchFamily="34" charset="0"/>
                        <a:buChar char="•"/>
                      </a:pPr>
                      <a:r>
                        <a:rPr lang="en-US" dirty="0"/>
                        <a:t>Only the data (X)</a:t>
                      </a:r>
                    </a:p>
                    <a:p>
                      <a:pPr marL="285750" indent="-285750">
                        <a:buFont typeface="Arial" panose="020B0604020202020204" pitchFamily="34" charset="0"/>
                        <a:buChar char="•"/>
                      </a:pPr>
                      <a:r>
                        <a:rPr lang="en-US" dirty="0"/>
                        <a:t>No outcome/labels</a:t>
                      </a:r>
                    </a:p>
                  </a:txBody>
                  <a:tcPr/>
                </a:tc>
                <a:tc>
                  <a:txBody>
                    <a:bodyPr/>
                    <a:lstStyle/>
                    <a:p>
                      <a:pPr marL="285750" indent="-285750">
                        <a:buFont typeface="Arial" panose="020B0604020202020204" pitchFamily="34" charset="0"/>
                        <a:buChar char="•"/>
                      </a:pPr>
                      <a:r>
                        <a:rPr lang="en-US" dirty="0"/>
                        <a:t>Describe variation</a:t>
                      </a:r>
                    </a:p>
                    <a:p>
                      <a:pPr marL="285750" indent="-285750">
                        <a:buFont typeface="Arial" panose="020B0604020202020204" pitchFamily="34" charset="0"/>
                        <a:buChar char="•"/>
                      </a:pPr>
                      <a:r>
                        <a:rPr lang="en-US" dirty="0"/>
                        <a:t>Find groups, dimensions, gradients, etc.</a:t>
                      </a:r>
                    </a:p>
                  </a:txBody>
                  <a:tcPr/>
                </a:tc>
                <a:tc>
                  <a:txBody>
                    <a:bodyPr/>
                    <a:lstStyle/>
                    <a:p>
                      <a:pPr marL="285750" indent="-285750">
                        <a:buFont typeface="Arial" panose="020B0604020202020204" pitchFamily="34" charset="0"/>
                        <a:buChar char="•"/>
                      </a:pPr>
                      <a:r>
                        <a:rPr lang="en-US" dirty="0"/>
                        <a:t>Continuous or discrete structure</a:t>
                      </a:r>
                    </a:p>
                    <a:p>
                      <a:pPr marL="285750" indent="-285750">
                        <a:buFont typeface="Arial" panose="020B0604020202020204" pitchFamily="34" charset="0"/>
                        <a:buChar char="•"/>
                      </a:pPr>
                      <a:r>
                        <a:rPr lang="en-US" dirty="0"/>
                        <a:t>Local or relational structure</a:t>
                      </a:r>
                    </a:p>
                  </a:txBody>
                  <a:tcPr/>
                </a:tc>
                <a:extLst>
                  <a:ext uri="{0D108BD9-81ED-4DB2-BD59-A6C34878D82A}">
                    <a16:rowId xmlns:a16="http://schemas.microsoft.com/office/drawing/2014/main" val="1767588008"/>
                  </a:ext>
                </a:extLst>
              </a:tr>
            </a:tbl>
          </a:graphicData>
        </a:graphic>
      </p:graphicFrame>
    </p:spTree>
    <p:extLst>
      <p:ext uri="{BB962C8B-B14F-4D97-AF65-F5344CB8AC3E}">
        <p14:creationId xmlns:p14="http://schemas.microsoft.com/office/powerpoint/2010/main" val="3274407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E46063-A338-696D-2670-B6C6F6E5FF82}"/>
              </a:ext>
            </a:extLst>
          </p:cNvPr>
          <p:cNvPicPr>
            <a:picLocks noChangeAspect="1"/>
          </p:cNvPicPr>
          <p:nvPr/>
        </p:nvPicPr>
        <p:blipFill>
          <a:blip r:embed="rId2"/>
          <a:stretch>
            <a:fillRect/>
          </a:stretch>
        </p:blipFill>
        <p:spPr>
          <a:xfrm>
            <a:off x="4451350" y="1593851"/>
            <a:ext cx="2832100" cy="927100"/>
          </a:xfrm>
          <a:prstGeom prst="rect">
            <a:avLst/>
          </a:prstGeom>
        </p:spPr>
      </p:pic>
      <p:sp>
        <p:nvSpPr>
          <p:cNvPr id="2" name="Title 1">
            <a:extLst>
              <a:ext uri="{FF2B5EF4-FFF2-40B4-BE49-F238E27FC236}">
                <a16:creationId xmlns:a16="http://schemas.microsoft.com/office/drawing/2014/main" id="{56D8892B-24D7-17D4-7ADD-2E524FE82CBD}"/>
              </a:ext>
            </a:extLst>
          </p:cNvPr>
          <p:cNvSpPr>
            <a:spLocks noGrp="1"/>
          </p:cNvSpPr>
          <p:nvPr>
            <p:ph type="title"/>
          </p:nvPr>
        </p:nvSpPr>
        <p:spPr/>
        <p:txBody>
          <a:bodyPr/>
          <a:lstStyle/>
          <a:p>
            <a:r>
              <a:rPr lang="en-US" dirty="0"/>
              <a:t>How to measure distance</a:t>
            </a:r>
          </a:p>
        </p:txBody>
      </p:sp>
      <p:sp>
        <p:nvSpPr>
          <p:cNvPr id="3" name="Content Placeholder 2">
            <a:extLst>
              <a:ext uri="{FF2B5EF4-FFF2-40B4-BE49-F238E27FC236}">
                <a16:creationId xmlns:a16="http://schemas.microsoft.com/office/drawing/2014/main" id="{28E9EA28-8FB9-2C3B-717E-D283E8508C87}"/>
              </a:ext>
            </a:extLst>
          </p:cNvPr>
          <p:cNvSpPr>
            <a:spLocks noGrp="1"/>
          </p:cNvSpPr>
          <p:nvPr>
            <p:ph idx="1"/>
          </p:nvPr>
        </p:nvSpPr>
        <p:spPr/>
        <p:txBody>
          <a:bodyPr/>
          <a:lstStyle/>
          <a:p>
            <a:r>
              <a:rPr lang="en-US" dirty="0"/>
              <a:t>Minkowski distance =</a:t>
            </a:r>
          </a:p>
          <a:p>
            <a:pPr lvl="1"/>
            <a:r>
              <a:rPr lang="en-US" dirty="0"/>
              <a:t>Euclidean distance (p=2)</a:t>
            </a:r>
          </a:p>
          <a:p>
            <a:pPr lvl="1"/>
            <a:r>
              <a:rPr lang="en-US" dirty="0"/>
              <a:t>Manhattan Distance (p=1)</a:t>
            </a:r>
          </a:p>
          <a:p>
            <a:pPr lvl="1"/>
            <a:r>
              <a:rPr lang="en-US" dirty="0"/>
              <a:t>More generally, p &gt;= 1</a:t>
            </a:r>
          </a:p>
          <a:p>
            <a:r>
              <a:rPr lang="en-US" dirty="0"/>
              <a:t>Correlation distance</a:t>
            </a:r>
          </a:p>
          <a:p>
            <a:r>
              <a:rPr lang="en-US" dirty="0" err="1"/>
              <a:t>Mahalanobis</a:t>
            </a:r>
            <a:r>
              <a:rPr lang="en-US" dirty="0"/>
              <a:t> distance (analogous to a higher-dimensional z-score)</a:t>
            </a:r>
          </a:p>
        </p:txBody>
      </p:sp>
      <p:pic>
        <p:nvPicPr>
          <p:cNvPr id="5" name="Picture 4">
            <a:extLst>
              <a:ext uri="{FF2B5EF4-FFF2-40B4-BE49-F238E27FC236}">
                <a16:creationId xmlns:a16="http://schemas.microsoft.com/office/drawing/2014/main" id="{66BBDCBB-5A51-D80A-B2E9-DE0B908D6601}"/>
              </a:ext>
            </a:extLst>
          </p:cNvPr>
          <p:cNvPicPr>
            <a:picLocks noChangeAspect="1"/>
          </p:cNvPicPr>
          <p:nvPr/>
        </p:nvPicPr>
        <p:blipFill>
          <a:blip r:embed="rId3"/>
          <a:stretch>
            <a:fillRect/>
          </a:stretch>
        </p:blipFill>
        <p:spPr>
          <a:xfrm>
            <a:off x="2768600" y="4508498"/>
            <a:ext cx="4419600" cy="774700"/>
          </a:xfrm>
          <a:prstGeom prst="rect">
            <a:avLst/>
          </a:prstGeom>
        </p:spPr>
      </p:pic>
      <p:pic>
        <p:nvPicPr>
          <p:cNvPr id="6" name="Picture 2" descr="Example of different Minkowski distance contour curves when the value of P alters.">
            <a:extLst>
              <a:ext uri="{FF2B5EF4-FFF2-40B4-BE49-F238E27FC236}">
                <a16:creationId xmlns:a16="http://schemas.microsoft.com/office/drawing/2014/main" id="{D79E9464-4061-5BD4-C930-F4EB30359D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83450" y="203994"/>
            <a:ext cx="4618600" cy="277971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D8941BF-6DAD-D3D7-1410-9AF02FD562DA}"/>
              </a:ext>
            </a:extLst>
          </p:cNvPr>
          <p:cNvSpPr txBox="1"/>
          <p:nvPr/>
        </p:nvSpPr>
        <p:spPr>
          <a:xfrm>
            <a:off x="7685054" y="3144838"/>
            <a:ext cx="5305425" cy="307777"/>
          </a:xfrm>
          <a:prstGeom prst="rect">
            <a:avLst/>
          </a:prstGeom>
          <a:noFill/>
        </p:spPr>
        <p:txBody>
          <a:bodyPr wrap="square">
            <a:spAutoFit/>
          </a:bodyPr>
          <a:lstStyle/>
          <a:p>
            <a:r>
              <a:rPr lang="en-US" sz="1400" dirty="0"/>
              <a:t>Xu et al. 2018 IEEE Transactions on Cybernetics 49(11)</a:t>
            </a:r>
          </a:p>
        </p:txBody>
      </p:sp>
    </p:spTree>
    <p:extLst>
      <p:ext uri="{BB962C8B-B14F-4D97-AF65-F5344CB8AC3E}">
        <p14:creationId xmlns:p14="http://schemas.microsoft.com/office/powerpoint/2010/main" val="4158910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7118765" y="1283533"/>
            <a:ext cx="2431627" cy="36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p:cNvGraphicFramePr>
            <a:graphicFrameLocks noGrp="1"/>
          </p:cNvGraphicFramePr>
          <p:nvPr/>
        </p:nvGraphicFramePr>
        <p:xfrm>
          <a:off x="6011694" y="2563937"/>
          <a:ext cx="5457217" cy="1832232"/>
        </p:xfrm>
        <a:graphic>
          <a:graphicData uri="http://schemas.openxmlformats.org/drawingml/2006/table">
            <a:tbl>
              <a:tblPr/>
              <a:tblGrid>
                <a:gridCol w="1339181">
                  <a:extLst>
                    <a:ext uri="{9D8B030D-6E8A-4147-A177-3AD203B41FA5}">
                      <a16:colId xmlns:a16="http://schemas.microsoft.com/office/drawing/2014/main" val="2809128138"/>
                    </a:ext>
                  </a:extLst>
                </a:gridCol>
                <a:gridCol w="853812">
                  <a:extLst>
                    <a:ext uri="{9D8B030D-6E8A-4147-A177-3AD203B41FA5}">
                      <a16:colId xmlns:a16="http://schemas.microsoft.com/office/drawing/2014/main" val="2667562099"/>
                    </a:ext>
                  </a:extLst>
                </a:gridCol>
                <a:gridCol w="879218">
                  <a:extLst>
                    <a:ext uri="{9D8B030D-6E8A-4147-A177-3AD203B41FA5}">
                      <a16:colId xmlns:a16="http://schemas.microsoft.com/office/drawing/2014/main" val="3553510567"/>
                    </a:ext>
                  </a:extLst>
                </a:gridCol>
                <a:gridCol w="760486">
                  <a:extLst>
                    <a:ext uri="{9D8B030D-6E8A-4147-A177-3AD203B41FA5}">
                      <a16:colId xmlns:a16="http://schemas.microsoft.com/office/drawing/2014/main" val="497599556"/>
                    </a:ext>
                  </a:extLst>
                </a:gridCol>
                <a:gridCol w="749030">
                  <a:extLst>
                    <a:ext uri="{9D8B030D-6E8A-4147-A177-3AD203B41FA5}">
                      <a16:colId xmlns:a16="http://schemas.microsoft.com/office/drawing/2014/main" val="3368297842"/>
                    </a:ext>
                  </a:extLst>
                </a:gridCol>
                <a:gridCol w="875490">
                  <a:extLst>
                    <a:ext uri="{9D8B030D-6E8A-4147-A177-3AD203B41FA5}">
                      <a16:colId xmlns:a16="http://schemas.microsoft.com/office/drawing/2014/main" val="1082688981"/>
                    </a:ext>
                  </a:extLst>
                </a:gridCol>
              </a:tblGrid>
              <a:tr h="610744">
                <a:tc>
                  <a:txBody>
                    <a:bodyPr/>
                    <a:lstStyle/>
                    <a:p>
                      <a:pPr algn="l" fontAlgn="b"/>
                      <a:r>
                        <a:rPr lang="en-US" sz="1600" b="0" i="0" u="none" strike="noStrike" dirty="0">
                          <a:solidFill>
                            <a:srgbClr val="000000"/>
                          </a:solidFill>
                          <a:effectLst/>
                          <a:latin typeface="Calibri" panose="020F0502020204030204" pitchFamily="34" charset="0"/>
                        </a:rPr>
                        <a:t>Observation\features</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000000"/>
                          </a:solidFill>
                          <a:effectLst/>
                          <a:latin typeface="Calibri" panose="020F0502020204030204" pitchFamily="34" charset="0"/>
                        </a:rPr>
                        <a:t>Feature 1</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rgbClr val="808080"/>
                    </a:solidFill>
                  </a:tcPr>
                </a:tc>
                <a:tc>
                  <a:txBody>
                    <a:bodyPr/>
                    <a:lstStyle/>
                    <a:p>
                      <a:pPr algn="l" fontAlgn="b"/>
                      <a:r>
                        <a:rPr lang="en-US" sz="1600" b="0" i="0" u="none" strike="noStrike" dirty="0">
                          <a:solidFill>
                            <a:srgbClr val="000000"/>
                          </a:solidFill>
                          <a:effectLst/>
                          <a:latin typeface="Calibri" panose="020F0502020204030204" pitchFamily="34" charset="0"/>
                        </a:rPr>
                        <a:t>Feature 2</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rgbClr val="808080"/>
                    </a:solidFill>
                  </a:tcPr>
                </a:tc>
                <a:tc>
                  <a:txBody>
                    <a:bodyPr/>
                    <a:lstStyle/>
                    <a:p>
                      <a:pPr algn="l" fontAlgn="b"/>
                      <a:r>
                        <a:rPr lang="en-US" sz="1600" b="0" i="0" u="none" strike="noStrike" dirty="0">
                          <a:solidFill>
                            <a:srgbClr val="000000"/>
                          </a:solidFill>
                          <a:effectLst/>
                          <a:latin typeface="Calibri" panose="020F0502020204030204" pitchFamily="34" charset="0"/>
                        </a:rPr>
                        <a:t>Feature 3</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600" b="0" i="0" u="none" strike="noStrike" dirty="0">
                          <a:solidFill>
                            <a:srgbClr val="000000"/>
                          </a:solidFill>
                          <a:effectLst/>
                          <a:latin typeface="Calibri" panose="020F0502020204030204" pitchFamily="34" charset="0"/>
                        </a:rPr>
                        <a:t>Feature 4</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600" b="0" i="0" u="none" strike="noStrike" dirty="0">
                          <a:solidFill>
                            <a:srgbClr val="000000"/>
                          </a:solidFill>
                          <a:effectLst/>
                          <a:latin typeface="Calibri" panose="020F0502020204030204" pitchFamily="34" charset="0"/>
                        </a:rPr>
                        <a:t>Feature 5</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805200"/>
                  </a:ext>
                </a:extLst>
              </a:tr>
              <a:tr h="610744">
                <a:tc>
                  <a:txBody>
                    <a:bodyPr/>
                    <a:lstStyle/>
                    <a:p>
                      <a:pPr algn="l" fontAlgn="b"/>
                      <a:r>
                        <a:rPr lang="en-US" sz="1600" b="0" i="0" u="none" strike="noStrike" dirty="0">
                          <a:solidFill>
                            <a:srgbClr val="000000"/>
                          </a:solidFill>
                          <a:effectLst/>
                          <a:latin typeface="Calibri" panose="020F0502020204030204" pitchFamily="34" charset="0"/>
                        </a:rPr>
                        <a:t>Observation A</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r" fontAlgn="b"/>
                      <a:r>
                        <a:rPr lang="en-US" sz="1600" b="0" i="0" u="none" strike="noStrike">
                          <a:solidFill>
                            <a:srgbClr val="000000"/>
                          </a:solidFill>
                          <a:effectLst/>
                          <a:latin typeface="Calibri" panose="020F0502020204030204" pitchFamily="34" charset="0"/>
                        </a:rPr>
                        <a:t>45</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rgbClr val="808080"/>
                    </a:solidFill>
                  </a:tcPr>
                </a:tc>
                <a:tc>
                  <a:txBody>
                    <a:bodyPr/>
                    <a:lstStyle/>
                    <a:p>
                      <a:pPr algn="r" fontAlgn="b"/>
                      <a:r>
                        <a:rPr lang="en-US" sz="1600" b="0" i="0" u="none" strike="noStrike" dirty="0">
                          <a:solidFill>
                            <a:srgbClr val="000000"/>
                          </a:solidFill>
                          <a:effectLst/>
                          <a:latin typeface="Calibri" panose="020F0502020204030204" pitchFamily="34" charset="0"/>
                        </a:rPr>
                        <a:t>40</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rgbClr val="808080"/>
                    </a:solidFill>
                  </a:tcPr>
                </a:tc>
                <a:tc>
                  <a:txBody>
                    <a:bodyPr/>
                    <a:lstStyle/>
                    <a:p>
                      <a:pPr algn="r" fontAlgn="b"/>
                      <a:r>
                        <a:rPr lang="en-US" sz="1600" b="0" i="0" u="none" strike="noStrike" dirty="0">
                          <a:solidFill>
                            <a:srgbClr val="000000"/>
                          </a:solidFill>
                          <a:effectLst/>
                          <a:latin typeface="Calibri" panose="020F0502020204030204" pitchFamily="34" charset="0"/>
                        </a:rPr>
                        <a:t>35</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chemeClr val="bg1"/>
                    </a:solidFill>
                  </a:tcPr>
                </a:tc>
                <a:tc>
                  <a:txBody>
                    <a:bodyPr/>
                    <a:lstStyle/>
                    <a:p>
                      <a:pPr algn="r" fontAlgn="b"/>
                      <a:r>
                        <a:rPr lang="en-US" sz="1600" b="0" i="0" u="none" strike="noStrike" dirty="0">
                          <a:solidFill>
                            <a:srgbClr val="000000"/>
                          </a:solidFill>
                          <a:effectLst/>
                          <a:latin typeface="Calibri" panose="020F0502020204030204" pitchFamily="34" charset="0"/>
                        </a:rPr>
                        <a:t>35</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chemeClr val="bg1"/>
                    </a:solidFill>
                  </a:tcPr>
                </a:tc>
                <a:tc>
                  <a:txBody>
                    <a:bodyPr/>
                    <a:lstStyle/>
                    <a:p>
                      <a:pPr algn="r" fontAlgn="b"/>
                      <a:r>
                        <a:rPr lang="en-US" sz="1600" b="0" i="0" u="none" strike="noStrike" dirty="0">
                          <a:solidFill>
                            <a:srgbClr val="000000"/>
                          </a:solidFill>
                          <a:effectLst/>
                          <a:latin typeface="Calibri" panose="020F0502020204030204" pitchFamily="34" charset="0"/>
                        </a:rPr>
                        <a:t>56</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2537553975"/>
                  </a:ext>
                </a:extLst>
              </a:tr>
              <a:tr h="610744">
                <a:tc>
                  <a:txBody>
                    <a:bodyPr/>
                    <a:lstStyle/>
                    <a:p>
                      <a:pPr algn="l" fontAlgn="b"/>
                      <a:r>
                        <a:rPr lang="en-US" sz="1600" b="0" i="0" u="none" strike="noStrike" dirty="0">
                          <a:solidFill>
                            <a:srgbClr val="000000"/>
                          </a:solidFill>
                          <a:effectLst/>
                          <a:latin typeface="Calibri" panose="020F0502020204030204" pitchFamily="34" charset="0"/>
                        </a:rPr>
                        <a:t>Observation B</a:t>
                      </a:r>
                    </a:p>
                  </a:txBody>
                  <a:tcPr marL="5359" marR="5359" marT="5359"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60</a:t>
                      </a:r>
                    </a:p>
                  </a:txBody>
                  <a:tcPr marL="5359" marR="5359" marT="5359" marB="0" anchor="b">
                    <a:lnL>
                      <a:noFill/>
                    </a:lnL>
                    <a:lnR>
                      <a:noFill/>
                    </a:lnR>
                    <a:lnT>
                      <a:noFill/>
                    </a:lnT>
                    <a:lnB>
                      <a:noFill/>
                    </a:lnB>
                    <a:solidFill>
                      <a:srgbClr val="808080"/>
                    </a:solidFill>
                  </a:tcPr>
                </a:tc>
                <a:tc>
                  <a:txBody>
                    <a:bodyPr/>
                    <a:lstStyle/>
                    <a:p>
                      <a:pPr algn="r" fontAlgn="b"/>
                      <a:r>
                        <a:rPr lang="en-US" sz="1600" b="0" i="0" u="none" strike="noStrike" dirty="0">
                          <a:solidFill>
                            <a:srgbClr val="000000"/>
                          </a:solidFill>
                          <a:effectLst/>
                          <a:latin typeface="Calibri" panose="020F0502020204030204" pitchFamily="34" charset="0"/>
                        </a:rPr>
                        <a:t>55</a:t>
                      </a:r>
                    </a:p>
                  </a:txBody>
                  <a:tcPr marL="5359" marR="5359" marT="5359" marB="0" anchor="b">
                    <a:lnL>
                      <a:noFill/>
                    </a:lnL>
                    <a:lnR>
                      <a:noFill/>
                    </a:lnR>
                    <a:lnT>
                      <a:noFill/>
                    </a:lnT>
                    <a:lnB>
                      <a:noFill/>
                    </a:lnB>
                    <a:solidFill>
                      <a:srgbClr val="808080"/>
                    </a:solidFill>
                  </a:tcPr>
                </a:tc>
                <a:tc>
                  <a:txBody>
                    <a:bodyPr/>
                    <a:lstStyle/>
                    <a:p>
                      <a:pPr algn="r" fontAlgn="b"/>
                      <a:r>
                        <a:rPr lang="en-US" sz="1600" b="0" i="0" u="none" strike="noStrike" dirty="0">
                          <a:solidFill>
                            <a:srgbClr val="000000"/>
                          </a:solidFill>
                          <a:effectLst/>
                          <a:latin typeface="Calibri" panose="020F0502020204030204" pitchFamily="34" charset="0"/>
                        </a:rPr>
                        <a:t>50</a:t>
                      </a:r>
                    </a:p>
                  </a:txBody>
                  <a:tcPr marL="5359" marR="5359" marT="5359" marB="0" anchor="b">
                    <a:lnL>
                      <a:noFill/>
                    </a:lnL>
                    <a:lnR>
                      <a:noFill/>
                    </a:lnR>
                    <a:lnT>
                      <a:noFill/>
                    </a:lnT>
                    <a:lnB>
                      <a:noFill/>
                    </a:lnB>
                    <a:solidFill>
                      <a:schemeClr val="bg1"/>
                    </a:solidFill>
                  </a:tcPr>
                </a:tc>
                <a:tc>
                  <a:txBody>
                    <a:bodyPr/>
                    <a:lstStyle/>
                    <a:p>
                      <a:pPr algn="r" fontAlgn="b"/>
                      <a:r>
                        <a:rPr lang="en-US" sz="1600" b="0" i="0" u="none" strike="noStrike" dirty="0">
                          <a:solidFill>
                            <a:srgbClr val="000000"/>
                          </a:solidFill>
                          <a:effectLst/>
                          <a:latin typeface="Calibri" panose="020F0502020204030204" pitchFamily="34" charset="0"/>
                        </a:rPr>
                        <a:t>50</a:t>
                      </a:r>
                    </a:p>
                  </a:txBody>
                  <a:tcPr marL="5359" marR="5359" marT="5359" marB="0" anchor="b">
                    <a:lnL>
                      <a:noFill/>
                    </a:lnL>
                    <a:lnR>
                      <a:noFill/>
                    </a:lnR>
                    <a:lnT>
                      <a:noFill/>
                    </a:lnT>
                    <a:lnB>
                      <a:noFill/>
                    </a:lnB>
                    <a:solidFill>
                      <a:schemeClr val="bg1"/>
                    </a:solidFill>
                  </a:tcPr>
                </a:tc>
                <a:tc>
                  <a:txBody>
                    <a:bodyPr/>
                    <a:lstStyle/>
                    <a:p>
                      <a:pPr algn="r" fontAlgn="b"/>
                      <a:r>
                        <a:rPr lang="en-US" sz="1600" b="0" i="0" u="none" strike="noStrike" dirty="0">
                          <a:solidFill>
                            <a:srgbClr val="000000"/>
                          </a:solidFill>
                          <a:effectLst/>
                          <a:latin typeface="Calibri" panose="020F0502020204030204" pitchFamily="34" charset="0"/>
                        </a:rPr>
                        <a:t>71</a:t>
                      </a:r>
                    </a:p>
                  </a:txBody>
                  <a:tcPr marL="5359" marR="5359" marT="5359" marB="0" anchor="b">
                    <a:lnL>
                      <a:noFill/>
                    </a:lnL>
                    <a:lnR>
                      <a:noFill/>
                    </a:lnR>
                    <a:lnT>
                      <a:noFill/>
                    </a:lnT>
                    <a:lnB>
                      <a:noFill/>
                    </a:lnB>
                    <a:solidFill>
                      <a:schemeClr val="bg1"/>
                    </a:solidFill>
                  </a:tcPr>
                </a:tc>
                <a:extLst>
                  <a:ext uri="{0D108BD9-81ED-4DB2-BD59-A6C34878D82A}">
                    <a16:rowId xmlns:a16="http://schemas.microsoft.com/office/drawing/2014/main" val="2857319171"/>
                  </a:ext>
                </a:extLst>
              </a:tr>
            </a:tbl>
          </a:graphicData>
        </a:graphic>
      </p:graphicFrame>
      <p:sp>
        <p:nvSpPr>
          <p:cNvPr id="7" name="Title 1"/>
          <p:cNvSpPr>
            <a:spLocks noGrp="1"/>
          </p:cNvSpPr>
          <p:nvPr>
            <p:ph type="title"/>
          </p:nvPr>
        </p:nvSpPr>
        <p:spPr>
          <a:xfrm>
            <a:off x="0" y="0"/>
            <a:ext cx="12192000" cy="1325563"/>
          </a:xfrm>
        </p:spPr>
        <p:txBody>
          <a:bodyPr/>
          <a:lstStyle/>
          <a:p>
            <a:r>
              <a:rPr lang="en-US" dirty="0"/>
              <a:t>Euclidean distance example</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3E0AB251-8A43-5C38-8B6A-7E9F5E9A8587}"/>
                  </a:ext>
                </a:extLst>
              </p:cNvPr>
              <p:cNvSpPr txBox="1"/>
              <p:nvPr/>
            </p:nvSpPr>
            <p:spPr>
              <a:xfrm>
                <a:off x="235625" y="2912200"/>
                <a:ext cx="5457217" cy="1942391"/>
              </a:xfrm>
              <a:prstGeom prst="rect">
                <a:avLst/>
              </a:prstGeom>
              <a:noFill/>
            </p:spPr>
            <p:txBody>
              <a:bodyPr wrap="square" rtlCol="0">
                <a:spAutoFit/>
              </a:bodyPr>
              <a:lstStyle/>
              <a:p>
                <a:r>
                  <a:rPr lang="en-US" sz="2000" dirty="0"/>
                  <a:t>Euclidean Distance b/w observation A and B in 2-D space (Feature 1 and 2)</a:t>
                </a:r>
              </a:p>
              <a:p>
                <a:r>
                  <a:rPr lang="en-US" sz="2000" dirty="0"/>
                  <a:t>= </a:t>
                </a:r>
                <a14:m>
                  <m:oMath xmlns:m="http://schemas.openxmlformats.org/officeDocument/2006/math">
                    <m:rad>
                      <m:radPr>
                        <m:degHide m:val="on"/>
                        <m:ctrlPr>
                          <a:rPr lang="en-US" sz="2000" i="1">
                            <a:latin typeface="Cambria Math" panose="02040503050406030204" pitchFamily="18" charset="0"/>
                          </a:rPr>
                        </m:ctrlPr>
                      </m:radPr>
                      <m:deg/>
                      <m:e>
                        <m:sSup>
                          <m:sSupPr>
                            <m:ctrlPr>
                              <a:rPr lang="en-US" sz="2000" i="1">
                                <a:latin typeface="Cambria Math" panose="02040503050406030204" pitchFamily="18" charset="0"/>
                              </a:rPr>
                            </m:ctrlPr>
                          </m:sSupPr>
                          <m:e>
                            <m:r>
                              <a:rPr lang="en-US" sz="2000" i="1">
                                <a:latin typeface="Cambria Math" panose="02040503050406030204" pitchFamily="18" charset="0"/>
                              </a:rPr>
                              <m:t>(60−45)</m:t>
                            </m:r>
                          </m:e>
                          <m:sup>
                            <m:r>
                              <a:rPr lang="en-US" sz="2000" i="1">
                                <a:latin typeface="Cambria Math" panose="02040503050406030204" pitchFamily="18" charset="0"/>
                              </a:rPr>
                              <m:t>2</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(55−40)</m:t>
                            </m:r>
                          </m:e>
                          <m:sup>
                            <m:r>
                              <a:rPr lang="en-US" sz="2000" i="1">
                                <a:latin typeface="Cambria Math" panose="02040503050406030204" pitchFamily="18" charset="0"/>
                              </a:rPr>
                              <m:t>2</m:t>
                            </m:r>
                          </m:sup>
                        </m:sSup>
                      </m:e>
                    </m:rad>
                  </m:oMath>
                </a14:m>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dirty="0"/>
              </a:p>
              <a:p>
                <a:endParaRPr lang="en-US" dirty="0"/>
              </a:p>
            </p:txBody>
          </p:sp>
        </mc:Choice>
        <mc:Fallback>
          <p:sp>
            <p:nvSpPr>
              <p:cNvPr id="5" name="TextBox 4">
                <a:extLst>
                  <a:ext uri="{FF2B5EF4-FFF2-40B4-BE49-F238E27FC236}">
                    <a16:creationId xmlns:a16="http://schemas.microsoft.com/office/drawing/2014/main" id="{3E0AB251-8A43-5C38-8B6A-7E9F5E9A8587}"/>
                  </a:ext>
                </a:extLst>
              </p:cNvPr>
              <p:cNvSpPr txBox="1">
                <a:spLocks noRot="1" noChangeAspect="1" noMove="1" noResize="1" noEditPoints="1" noAdjustHandles="1" noChangeArrowheads="1" noChangeShapeType="1" noTextEdit="1"/>
              </p:cNvSpPr>
              <p:nvPr/>
            </p:nvSpPr>
            <p:spPr>
              <a:xfrm>
                <a:off x="235625" y="2912200"/>
                <a:ext cx="5457217" cy="1942391"/>
              </a:xfrm>
              <a:prstGeom prst="rect">
                <a:avLst/>
              </a:prstGeom>
              <a:blipFill>
                <a:blip r:embed="rId3"/>
                <a:stretch>
                  <a:fillRect l="-1160" t="-1948"/>
                </a:stretch>
              </a:blipFill>
            </p:spPr>
            <p:txBody>
              <a:bodyPr/>
              <a:lstStyle/>
              <a:p>
                <a:r>
                  <a:rPr lang="en-US">
                    <a:noFill/>
                  </a:rPr>
                  <a:t> </a:t>
                </a:r>
              </a:p>
            </p:txBody>
          </p:sp>
        </mc:Fallback>
      </mc:AlternateContent>
    </p:spTree>
    <p:extLst>
      <p:ext uri="{BB962C8B-B14F-4D97-AF65-F5344CB8AC3E}">
        <p14:creationId xmlns:p14="http://schemas.microsoft.com/office/powerpoint/2010/main" val="3559605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BAA22-62C1-44E1-950E-4A95E2AD750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544FC2B-0398-4B62-5FF8-3C7BF1E95EC7}"/>
              </a:ext>
            </a:extLst>
          </p:cNvPr>
          <p:cNvSpPr/>
          <p:nvPr/>
        </p:nvSpPr>
        <p:spPr>
          <a:xfrm>
            <a:off x="7118765" y="1283533"/>
            <a:ext cx="2431627" cy="36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8505CE65-A92B-821F-7B44-2B8D45A50FDD}"/>
              </a:ext>
            </a:extLst>
          </p:cNvPr>
          <p:cNvGraphicFramePr>
            <a:graphicFrameLocks noGrp="1"/>
          </p:cNvGraphicFramePr>
          <p:nvPr/>
        </p:nvGraphicFramePr>
        <p:xfrm>
          <a:off x="6011694" y="2563937"/>
          <a:ext cx="5457217" cy="1832232"/>
        </p:xfrm>
        <a:graphic>
          <a:graphicData uri="http://schemas.openxmlformats.org/drawingml/2006/table">
            <a:tbl>
              <a:tblPr/>
              <a:tblGrid>
                <a:gridCol w="1339181">
                  <a:extLst>
                    <a:ext uri="{9D8B030D-6E8A-4147-A177-3AD203B41FA5}">
                      <a16:colId xmlns:a16="http://schemas.microsoft.com/office/drawing/2014/main" val="2809128138"/>
                    </a:ext>
                  </a:extLst>
                </a:gridCol>
                <a:gridCol w="853812">
                  <a:extLst>
                    <a:ext uri="{9D8B030D-6E8A-4147-A177-3AD203B41FA5}">
                      <a16:colId xmlns:a16="http://schemas.microsoft.com/office/drawing/2014/main" val="2667562099"/>
                    </a:ext>
                  </a:extLst>
                </a:gridCol>
                <a:gridCol w="879218">
                  <a:extLst>
                    <a:ext uri="{9D8B030D-6E8A-4147-A177-3AD203B41FA5}">
                      <a16:colId xmlns:a16="http://schemas.microsoft.com/office/drawing/2014/main" val="3553510567"/>
                    </a:ext>
                  </a:extLst>
                </a:gridCol>
                <a:gridCol w="760486">
                  <a:extLst>
                    <a:ext uri="{9D8B030D-6E8A-4147-A177-3AD203B41FA5}">
                      <a16:colId xmlns:a16="http://schemas.microsoft.com/office/drawing/2014/main" val="497599556"/>
                    </a:ext>
                  </a:extLst>
                </a:gridCol>
                <a:gridCol w="749030">
                  <a:extLst>
                    <a:ext uri="{9D8B030D-6E8A-4147-A177-3AD203B41FA5}">
                      <a16:colId xmlns:a16="http://schemas.microsoft.com/office/drawing/2014/main" val="3368297842"/>
                    </a:ext>
                  </a:extLst>
                </a:gridCol>
                <a:gridCol w="875490">
                  <a:extLst>
                    <a:ext uri="{9D8B030D-6E8A-4147-A177-3AD203B41FA5}">
                      <a16:colId xmlns:a16="http://schemas.microsoft.com/office/drawing/2014/main" val="1082688981"/>
                    </a:ext>
                  </a:extLst>
                </a:gridCol>
              </a:tblGrid>
              <a:tr h="610744">
                <a:tc>
                  <a:txBody>
                    <a:bodyPr/>
                    <a:lstStyle/>
                    <a:p>
                      <a:pPr algn="l" fontAlgn="b"/>
                      <a:r>
                        <a:rPr lang="en-US" sz="1600" b="0" i="0" u="none" strike="noStrike" dirty="0">
                          <a:solidFill>
                            <a:srgbClr val="000000"/>
                          </a:solidFill>
                          <a:effectLst/>
                          <a:latin typeface="Calibri" panose="020F0502020204030204" pitchFamily="34" charset="0"/>
                        </a:rPr>
                        <a:t>Observation\features</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b"/>
                      <a:r>
                        <a:rPr lang="en-US" sz="1600" b="0" i="0" u="none" strike="noStrike" dirty="0">
                          <a:solidFill>
                            <a:srgbClr val="000000"/>
                          </a:solidFill>
                          <a:effectLst/>
                          <a:latin typeface="Calibri" panose="020F0502020204030204" pitchFamily="34" charset="0"/>
                        </a:rPr>
                        <a:t>Feature 1</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rgbClr val="808080"/>
                    </a:solidFill>
                  </a:tcPr>
                </a:tc>
                <a:tc>
                  <a:txBody>
                    <a:bodyPr/>
                    <a:lstStyle/>
                    <a:p>
                      <a:pPr algn="l" fontAlgn="b"/>
                      <a:r>
                        <a:rPr lang="en-US" sz="1600" b="0" i="0" u="none" strike="noStrike" dirty="0">
                          <a:solidFill>
                            <a:srgbClr val="000000"/>
                          </a:solidFill>
                          <a:effectLst/>
                          <a:latin typeface="Calibri" panose="020F0502020204030204" pitchFamily="34" charset="0"/>
                        </a:rPr>
                        <a:t>Feature 2</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rgbClr val="808080"/>
                    </a:solidFill>
                  </a:tcPr>
                </a:tc>
                <a:tc>
                  <a:txBody>
                    <a:bodyPr/>
                    <a:lstStyle/>
                    <a:p>
                      <a:pPr algn="l" fontAlgn="b"/>
                      <a:r>
                        <a:rPr lang="en-US" sz="1600" b="0" i="0" u="none" strike="noStrike" dirty="0">
                          <a:solidFill>
                            <a:srgbClr val="000000"/>
                          </a:solidFill>
                          <a:effectLst/>
                          <a:latin typeface="Calibri" panose="020F0502020204030204" pitchFamily="34" charset="0"/>
                        </a:rPr>
                        <a:t>Feature 3</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600" b="0" i="0" u="none" strike="noStrike" dirty="0">
                          <a:solidFill>
                            <a:srgbClr val="000000"/>
                          </a:solidFill>
                          <a:effectLst/>
                          <a:latin typeface="Calibri" panose="020F0502020204030204" pitchFamily="34" charset="0"/>
                        </a:rPr>
                        <a:t>Feature 4</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600" b="0" i="0" u="none" strike="noStrike" dirty="0">
                          <a:solidFill>
                            <a:srgbClr val="000000"/>
                          </a:solidFill>
                          <a:effectLst/>
                          <a:latin typeface="Calibri" panose="020F0502020204030204" pitchFamily="34" charset="0"/>
                        </a:rPr>
                        <a:t>Feature 5</a:t>
                      </a:r>
                    </a:p>
                  </a:txBody>
                  <a:tcPr marL="5359" marR="5359" marT="5359" marB="0" anchor="b">
                    <a:lnL>
                      <a:noFill/>
                    </a:lnL>
                    <a:lnR>
                      <a:noFill/>
                    </a:lnR>
                    <a:lnT>
                      <a:no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805200"/>
                  </a:ext>
                </a:extLst>
              </a:tr>
              <a:tr h="610744">
                <a:tc>
                  <a:txBody>
                    <a:bodyPr/>
                    <a:lstStyle/>
                    <a:p>
                      <a:pPr algn="l" fontAlgn="b"/>
                      <a:r>
                        <a:rPr lang="en-US" sz="1600" b="0" i="0" u="none" strike="noStrike" dirty="0">
                          <a:solidFill>
                            <a:srgbClr val="000000"/>
                          </a:solidFill>
                          <a:effectLst/>
                          <a:latin typeface="Calibri" panose="020F0502020204030204" pitchFamily="34" charset="0"/>
                        </a:rPr>
                        <a:t>Observation A</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r" fontAlgn="b"/>
                      <a:r>
                        <a:rPr lang="en-US" sz="1600" b="0" i="0" u="none" strike="noStrike">
                          <a:solidFill>
                            <a:srgbClr val="000000"/>
                          </a:solidFill>
                          <a:effectLst/>
                          <a:latin typeface="Calibri" panose="020F0502020204030204" pitchFamily="34" charset="0"/>
                        </a:rPr>
                        <a:t>45</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rgbClr val="808080"/>
                    </a:solidFill>
                  </a:tcPr>
                </a:tc>
                <a:tc>
                  <a:txBody>
                    <a:bodyPr/>
                    <a:lstStyle/>
                    <a:p>
                      <a:pPr algn="r" fontAlgn="b"/>
                      <a:r>
                        <a:rPr lang="en-US" sz="1600" b="0" i="0" u="none" strike="noStrike" dirty="0">
                          <a:solidFill>
                            <a:srgbClr val="000000"/>
                          </a:solidFill>
                          <a:effectLst/>
                          <a:latin typeface="Calibri" panose="020F0502020204030204" pitchFamily="34" charset="0"/>
                        </a:rPr>
                        <a:t>40</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rgbClr val="808080"/>
                    </a:solidFill>
                  </a:tcPr>
                </a:tc>
                <a:tc>
                  <a:txBody>
                    <a:bodyPr/>
                    <a:lstStyle/>
                    <a:p>
                      <a:pPr algn="r" fontAlgn="b"/>
                      <a:r>
                        <a:rPr lang="en-US" sz="1600" b="0" i="0" u="none" strike="noStrike" dirty="0">
                          <a:solidFill>
                            <a:srgbClr val="000000"/>
                          </a:solidFill>
                          <a:effectLst/>
                          <a:latin typeface="Calibri" panose="020F0502020204030204" pitchFamily="34" charset="0"/>
                        </a:rPr>
                        <a:t>35</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chemeClr val="bg1"/>
                    </a:solidFill>
                  </a:tcPr>
                </a:tc>
                <a:tc>
                  <a:txBody>
                    <a:bodyPr/>
                    <a:lstStyle/>
                    <a:p>
                      <a:pPr algn="r" fontAlgn="b"/>
                      <a:r>
                        <a:rPr lang="en-US" sz="1600" b="0" i="0" u="none" strike="noStrike" dirty="0">
                          <a:solidFill>
                            <a:srgbClr val="000000"/>
                          </a:solidFill>
                          <a:effectLst/>
                          <a:latin typeface="Calibri" panose="020F0502020204030204" pitchFamily="34" charset="0"/>
                        </a:rPr>
                        <a:t>35</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chemeClr val="bg1"/>
                    </a:solidFill>
                  </a:tcPr>
                </a:tc>
                <a:tc>
                  <a:txBody>
                    <a:bodyPr/>
                    <a:lstStyle/>
                    <a:p>
                      <a:pPr algn="r" fontAlgn="b"/>
                      <a:r>
                        <a:rPr lang="en-US" sz="1600" b="0" i="0" u="none" strike="noStrike" dirty="0">
                          <a:solidFill>
                            <a:srgbClr val="000000"/>
                          </a:solidFill>
                          <a:effectLst/>
                          <a:latin typeface="Calibri" panose="020F0502020204030204" pitchFamily="34" charset="0"/>
                        </a:rPr>
                        <a:t>56</a:t>
                      </a:r>
                    </a:p>
                  </a:txBody>
                  <a:tcPr marL="5359" marR="5359" marT="5359" marB="0" anchor="b">
                    <a:lnL>
                      <a:noFill/>
                    </a:lnL>
                    <a:lnR>
                      <a:noFill/>
                    </a:lnR>
                    <a:lnT w="12700" cap="flat" cmpd="sng" algn="ctr">
                      <a:solidFill>
                        <a:schemeClr val="tx1"/>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2537553975"/>
                  </a:ext>
                </a:extLst>
              </a:tr>
              <a:tr h="610744">
                <a:tc>
                  <a:txBody>
                    <a:bodyPr/>
                    <a:lstStyle/>
                    <a:p>
                      <a:pPr algn="l" fontAlgn="b"/>
                      <a:r>
                        <a:rPr lang="en-US" sz="1600" b="0" i="0" u="none" strike="noStrike" dirty="0">
                          <a:solidFill>
                            <a:srgbClr val="000000"/>
                          </a:solidFill>
                          <a:effectLst/>
                          <a:latin typeface="Calibri" panose="020F0502020204030204" pitchFamily="34" charset="0"/>
                        </a:rPr>
                        <a:t>Observation B</a:t>
                      </a:r>
                    </a:p>
                  </a:txBody>
                  <a:tcPr marL="5359" marR="5359" marT="5359" marB="0" anchor="b">
                    <a:lnL>
                      <a:noFill/>
                    </a:lnL>
                    <a:lnR>
                      <a:noFill/>
                    </a:lnR>
                    <a:lnT>
                      <a:noFill/>
                    </a:lnT>
                    <a:lnB>
                      <a:noFill/>
                    </a:lnB>
                  </a:tcPr>
                </a:tc>
                <a:tc>
                  <a:txBody>
                    <a:bodyPr/>
                    <a:lstStyle/>
                    <a:p>
                      <a:pPr algn="r" fontAlgn="b"/>
                      <a:r>
                        <a:rPr lang="en-US" sz="1600" b="0" i="0" u="none" strike="noStrike" dirty="0">
                          <a:solidFill>
                            <a:srgbClr val="000000"/>
                          </a:solidFill>
                          <a:effectLst/>
                          <a:latin typeface="Calibri" panose="020F0502020204030204" pitchFamily="34" charset="0"/>
                        </a:rPr>
                        <a:t>60</a:t>
                      </a:r>
                    </a:p>
                  </a:txBody>
                  <a:tcPr marL="5359" marR="5359" marT="5359" marB="0" anchor="b">
                    <a:lnL>
                      <a:noFill/>
                    </a:lnL>
                    <a:lnR>
                      <a:noFill/>
                    </a:lnR>
                    <a:lnT>
                      <a:noFill/>
                    </a:lnT>
                    <a:lnB>
                      <a:noFill/>
                    </a:lnB>
                    <a:solidFill>
                      <a:srgbClr val="808080"/>
                    </a:solidFill>
                  </a:tcPr>
                </a:tc>
                <a:tc>
                  <a:txBody>
                    <a:bodyPr/>
                    <a:lstStyle/>
                    <a:p>
                      <a:pPr algn="r" fontAlgn="b"/>
                      <a:r>
                        <a:rPr lang="en-US" sz="1600" b="0" i="0" u="none" strike="noStrike" dirty="0">
                          <a:solidFill>
                            <a:srgbClr val="000000"/>
                          </a:solidFill>
                          <a:effectLst/>
                          <a:latin typeface="Calibri" panose="020F0502020204030204" pitchFamily="34" charset="0"/>
                        </a:rPr>
                        <a:t>55</a:t>
                      </a:r>
                    </a:p>
                  </a:txBody>
                  <a:tcPr marL="5359" marR="5359" marT="5359" marB="0" anchor="b">
                    <a:lnL>
                      <a:noFill/>
                    </a:lnL>
                    <a:lnR>
                      <a:noFill/>
                    </a:lnR>
                    <a:lnT>
                      <a:noFill/>
                    </a:lnT>
                    <a:lnB>
                      <a:noFill/>
                    </a:lnB>
                    <a:solidFill>
                      <a:srgbClr val="808080"/>
                    </a:solidFill>
                  </a:tcPr>
                </a:tc>
                <a:tc>
                  <a:txBody>
                    <a:bodyPr/>
                    <a:lstStyle/>
                    <a:p>
                      <a:pPr algn="r" fontAlgn="b"/>
                      <a:r>
                        <a:rPr lang="en-US" sz="1600" b="0" i="0" u="none" strike="noStrike" dirty="0">
                          <a:solidFill>
                            <a:srgbClr val="000000"/>
                          </a:solidFill>
                          <a:effectLst/>
                          <a:latin typeface="Calibri" panose="020F0502020204030204" pitchFamily="34" charset="0"/>
                        </a:rPr>
                        <a:t>50</a:t>
                      </a:r>
                    </a:p>
                  </a:txBody>
                  <a:tcPr marL="5359" marR="5359" marT="5359" marB="0" anchor="b">
                    <a:lnL>
                      <a:noFill/>
                    </a:lnL>
                    <a:lnR>
                      <a:noFill/>
                    </a:lnR>
                    <a:lnT>
                      <a:noFill/>
                    </a:lnT>
                    <a:lnB>
                      <a:noFill/>
                    </a:lnB>
                    <a:solidFill>
                      <a:schemeClr val="bg1"/>
                    </a:solidFill>
                  </a:tcPr>
                </a:tc>
                <a:tc>
                  <a:txBody>
                    <a:bodyPr/>
                    <a:lstStyle/>
                    <a:p>
                      <a:pPr algn="r" fontAlgn="b"/>
                      <a:r>
                        <a:rPr lang="en-US" sz="1600" b="0" i="0" u="none" strike="noStrike" dirty="0">
                          <a:solidFill>
                            <a:srgbClr val="000000"/>
                          </a:solidFill>
                          <a:effectLst/>
                          <a:latin typeface="Calibri" panose="020F0502020204030204" pitchFamily="34" charset="0"/>
                        </a:rPr>
                        <a:t>50</a:t>
                      </a:r>
                    </a:p>
                  </a:txBody>
                  <a:tcPr marL="5359" marR="5359" marT="5359" marB="0" anchor="b">
                    <a:lnL>
                      <a:noFill/>
                    </a:lnL>
                    <a:lnR>
                      <a:noFill/>
                    </a:lnR>
                    <a:lnT>
                      <a:noFill/>
                    </a:lnT>
                    <a:lnB>
                      <a:noFill/>
                    </a:lnB>
                    <a:solidFill>
                      <a:schemeClr val="bg1"/>
                    </a:solidFill>
                  </a:tcPr>
                </a:tc>
                <a:tc>
                  <a:txBody>
                    <a:bodyPr/>
                    <a:lstStyle/>
                    <a:p>
                      <a:pPr algn="r" fontAlgn="b"/>
                      <a:r>
                        <a:rPr lang="en-US" sz="1600" b="0" i="0" u="none" strike="noStrike" dirty="0">
                          <a:solidFill>
                            <a:srgbClr val="000000"/>
                          </a:solidFill>
                          <a:effectLst/>
                          <a:latin typeface="Calibri" panose="020F0502020204030204" pitchFamily="34" charset="0"/>
                        </a:rPr>
                        <a:t>71</a:t>
                      </a:r>
                    </a:p>
                  </a:txBody>
                  <a:tcPr marL="5359" marR="5359" marT="5359" marB="0" anchor="b">
                    <a:lnL>
                      <a:noFill/>
                    </a:lnL>
                    <a:lnR>
                      <a:noFill/>
                    </a:lnR>
                    <a:lnT>
                      <a:noFill/>
                    </a:lnT>
                    <a:lnB>
                      <a:noFill/>
                    </a:lnB>
                    <a:solidFill>
                      <a:schemeClr val="bg1"/>
                    </a:solidFill>
                  </a:tcPr>
                </a:tc>
                <a:extLst>
                  <a:ext uri="{0D108BD9-81ED-4DB2-BD59-A6C34878D82A}">
                    <a16:rowId xmlns:a16="http://schemas.microsoft.com/office/drawing/2014/main" val="2857319171"/>
                  </a:ext>
                </a:extLst>
              </a:tr>
            </a:tbl>
          </a:graphicData>
        </a:graphic>
      </p:graphicFrame>
      <p:sp>
        <p:nvSpPr>
          <p:cNvPr id="7" name="Title 1">
            <a:extLst>
              <a:ext uri="{FF2B5EF4-FFF2-40B4-BE49-F238E27FC236}">
                <a16:creationId xmlns:a16="http://schemas.microsoft.com/office/drawing/2014/main" id="{65E1EED4-A83E-851A-4968-B9CE4EBA158D}"/>
              </a:ext>
            </a:extLst>
          </p:cNvPr>
          <p:cNvSpPr>
            <a:spLocks noGrp="1"/>
          </p:cNvSpPr>
          <p:nvPr>
            <p:ph type="title"/>
          </p:nvPr>
        </p:nvSpPr>
        <p:spPr>
          <a:xfrm>
            <a:off x="0" y="0"/>
            <a:ext cx="12192000" cy="1325563"/>
          </a:xfrm>
        </p:spPr>
        <p:txBody>
          <a:bodyPr/>
          <a:lstStyle/>
          <a:p>
            <a:r>
              <a:rPr lang="en-US" dirty="0"/>
              <a:t>Euclidean distance example</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2024F19-DE26-3DF6-CEE8-76FC1B242C22}"/>
                  </a:ext>
                </a:extLst>
              </p:cNvPr>
              <p:cNvSpPr txBox="1"/>
              <p:nvPr/>
            </p:nvSpPr>
            <p:spPr>
              <a:xfrm>
                <a:off x="235625" y="2912200"/>
                <a:ext cx="5457217" cy="3546227"/>
              </a:xfrm>
              <a:prstGeom prst="rect">
                <a:avLst/>
              </a:prstGeom>
              <a:noFill/>
            </p:spPr>
            <p:txBody>
              <a:bodyPr wrap="square" rtlCol="0">
                <a:spAutoFit/>
              </a:bodyPr>
              <a:lstStyle/>
              <a:p>
                <a:r>
                  <a:rPr lang="en-US" sz="2000" dirty="0"/>
                  <a:t>Euclidean Distance b/w observation A and B in 2-D space (Feature 1 and 2)</a:t>
                </a:r>
              </a:p>
              <a:p>
                <a:r>
                  <a:rPr lang="en-US" sz="2000" dirty="0"/>
                  <a:t>= </a:t>
                </a:r>
                <a14:m>
                  <m:oMath xmlns:m="http://schemas.openxmlformats.org/officeDocument/2006/math">
                    <m:rad>
                      <m:radPr>
                        <m:degHide m:val="on"/>
                        <m:ctrlPr>
                          <a:rPr lang="en-US" sz="2000" i="1">
                            <a:latin typeface="Cambria Math" panose="02040503050406030204" pitchFamily="18" charset="0"/>
                          </a:rPr>
                        </m:ctrlPr>
                      </m:radPr>
                      <m:deg/>
                      <m:e>
                        <m:sSup>
                          <m:sSupPr>
                            <m:ctrlPr>
                              <a:rPr lang="en-US" sz="2000" i="1">
                                <a:latin typeface="Cambria Math" panose="02040503050406030204" pitchFamily="18" charset="0"/>
                              </a:rPr>
                            </m:ctrlPr>
                          </m:sSupPr>
                          <m:e>
                            <m:r>
                              <a:rPr lang="en-US" sz="2000" i="1">
                                <a:latin typeface="Cambria Math" panose="02040503050406030204" pitchFamily="18" charset="0"/>
                              </a:rPr>
                              <m:t>(60−45)</m:t>
                            </m:r>
                          </m:e>
                          <m:sup>
                            <m:r>
                              <a:rPr lang="en-US" sz="2000" i="1">
                                <a:latin typeface="Cambria Math" panose="02040503050406030204" pitchFamily="18" charset="0"/>
                              </a:rPr>
                              <m:t>2</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(55−40)</m:t>
                            </m:r>
                          </m:e>
                          <m:sup>
                            <m:r>
                              <a:rPr lang="en-US" sz="2000" i="1">
                                <a:latin typeface="Cambria Math" panose="02040503050406030204" pitchFamily="18" charset="0"/>
                              </a:rPr>
                              <m:t>2</m:t>
                            </m:r>
                          </m:sup>
                        </m:sSup>
                      </m:e>
                    </m:rad>
                  </m:oMath>
                </a14:m>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Euclidean Distance b/w observation A and B in 5-D space (Feature 1~5)</a:t>
                </a:r>
              </a:p>
              <a:p>
                <a:r>
                  <a:rPr lang="en-US" sz="2000" dirty="0"/>
                  <a:t>=</a:t>
                </a:r>
                <a14:m>
                  <m:oMath xmlns:m="http://schemas.openxmlformats.org/officeDocument/2006/math">
                    <m:rad>
                      <m:radPr>
                        <m:degHide m:val="on"/>
                        <m:ctrlPr>
                          <a:rPr lang="en-US" sz="2000" i="1">
                            <a:latin typeface="Cambria Math" panose="02040503050406030204" pitchFamily="18" charset="0"/>
                          </a:rPr>
                        </m:ctrlPr>
                      </m:radPr>
                      <m:deg/>
                      <m:e>
                        <m:sSup>
                          <m:sSupPr>
                            <m:ctrlPr>
                              <a:rPr lang="en-US" sz="2000" i="1">
                                <a:latin typeface="Cambria Math" panose="02040503050406030204" pitchFamily="18" charset="0"/>
                              </a:rPr>
                            </m:ctrlPr>
                          </m:sSupPr>
                          <m:e>
                            <m:r>
                              <a:rPr lang="en-US" sz="2000" i="1">
                                <a:latin typeface="Cambria Math" panose="02040503050406030204" pitchFamily="18" charset="0"/>
                              </a:rPr>
                              <m:t>(60−45)</m:t>
                            </m:r>
                          </m:e>
                          <m:sup>
                            <m:r>
                              <a:rPr lang="en-US" sz="2000" i="1">
                                <a:latin typeface="Cambria Math" panose="02040503050406030204" pitchFamily="18" charset="0"/>
                              </a:rPr>
                              <m:t>2</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(55−40)</m:t>
                            </m:r>
                          </m:e>
                          <m:sup>
                            <m:r>
                              <a:rPr lang="en-US" sz="2000" i="1">
                                <a:latin typeface="Cambria Math" panose="02040503050406030204" pitchFamily="18" charset="0"/>
                              </a:rPr>
                              <m:t>2</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(50−35)</m:t>
                            </m:r>
                          </m:e>
                          <m:sup>
                            <m:r>
                              <a:rPr lang="en-US" sz="2000" i="1">
                                <a:latin typeface="Cambria Math" panose="02040503050406030204" pitchFamily="18" charset="0"/>
                              </a:rPr>
                              <m:t>2</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(50−35)</m:t>
                            </m:r>
                          </m:e>
                          <m:sup>
                            <m:r>
                              <a:rPr lang="en-US" sz="2000" i="1">
                                <a:latin typeface="Cambria Math" panose="02040503050406030204" pitchFamily="18" charset="0"/>
                              </a:rPr>
                              <m:t>2</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(71−56)</m:t>
                            </m:r>
                          </m:e>
                          <m:sup>
                            <m:r>
                              <a:rPr lang="en-US" sz="2000" b="0" i="1" smtClean="0">
                                <a:latin typeface="Cambria Math" panose="02040503050406030204" pitchFamily="18" charset="0"/>
                              </a:rPr>
                              <m:t>2</m:t>
                            </m:r>
                          </m:sup>
                        </m:sSup>
                      </m:e>
                    </m:rad>
                  </m:oMath>
                </a14:m>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dirty="0"/>
              </a:p>
              <a:p>
                <a:endParaRPr lang="en-US" dirty="0"/>
              </a:p>
            </p:txBody>
          </p:sp>
        </mc:Choice>
        <mc:Fallback>
          <p:sp>
            <p:nvSpPr>
              <p:cNvPr id="2" name="TextBox 1">
                <a:extLst>
                  <a:ext uri="{FF2B5EF4-FFF2-40B4-BE49-F238E27FC236}">
                    <a16:creationId xmlns:a16="http://schemas.microsoft.com/office/drawing/2014/main" id="{72024F19-DE26-3DF6-CEE8-76FC1B242C22}"/>
                  </a:ext>
                </a:extLst>
              </p:cNvPr>
              <p:cNvSpPr txBox="1">
                <a:spLocks noRot="1" noChangeAspect="1" noMove="1" noResize="1" noEditPoints="1" noAdjustHandles="1" noChangeArrowheads="1" noChangeShapeType="1" noTextEdit="1"/>
              </p:cNvSpPr>
              <p:nvPr/>
            </p:nvSpPr>
            <p:spPr>
              <a:xfrm>
                <a:off x="235625" y="2912200"/>
                <a:ext cx="5457217" cy="3546227"/>
              </a:xfrm>
              <a:prstGeom prst="rect">
                <a:avLst/>
              </a:prstGeom>
              <a:blipFill>
                <a:blip r:embed="rId3"/>
                <a:stretch>
                  <a:fillRect l="-1160" t="-1071" r="-29466"/>
                </a:stretch>
              </a:blipFill>
            </p:spPr>
            <p:txBody>
              <a:bodyPr/>
              <a:lstStyle/>
              <a:p>
                <a:r>
                  <a:rPr lang="en-US">
                    <a:noFill/>
                  </a:rPr>
                  <a:t> </a:t>
                </a:r>
              </a:p>
            </p:txBody>
          </p:sp>
        </mc:Fallback>
      </mc:AlternateContent>
    </p:spTree>
    <p:extLst>
      <p:ext uri="{BB962C8B-B14F-4D97-AF65-F5344CB8AC3E}">
        <p14:creationId xmlns:p14="http://schemas.microsoft.com/office/powerpoint/2010/main" val="88099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39B2D-CECA-49B9-54D2-0A1BA079D6A7}"/>
              </a:ext>
            </a:extLst>
          </p:cNvPr>
          <p:cNvSpPr>
            <a:spLocks noGrp="1"/>
          </p:cNvSpPr>
          <p:nvPr>
            <p:ph type="title"/>
          </p:nvPr>
        </p:nvSpPr>
        <p:spPr/>
        <p:txBody>
          <a:bodyPr/>
          <a:lstStyle/>
          <a:p>
            <a:r>
              <a:rPr lang="en-US" dirty="0"/>
              <a:t>Other metrics</a:t>
            </a:r>
          </a:p>
        </p:txBody>
      </p:sp>
      <p:sp>
        <p:nvSpPr>
          <p:cNvPr id="3" name="Content Placeholder 2">
            <a:extLst>
              <a:ext uri="{FF2B5EF4-FFF2-40B4-BE49-F238E27FC236}">
                <a16:creationId xmlns:a16="http://schemas.microsoft.com/office/drawing/2014/main" id="{EB6B31F6-06AF-95D8-D377-64F626051334}"/>
              </a:ext>
            </a:extLst>
          </p:cNvPr>
          <p:cNvSpPr>
            <a:spLocks noGrp="1"/>
          </p:cNvSpPr>
          <p:nvPr>
            <p:ph idx="1"/>
          </p:nvPr>
        </p:nvSpPr>
        <p:spPr/>
        <p:txBody>
          <a:bodyPr/>
          <a:lstStyle/>
          <a:p>
            <a:r>
              <a:rPr lang="en-US" dirty="0"/>
              <a:t>Hamming distance</a:t>
            </a:r>
          </a:p>
          <a:p>
            <a:r>
              <a:rPr lang="en-US" dirty="0" err="1"/>
              <a:t>Levenshtein</a:t>
            </a:r>
            <a:r>
              <a:rPr lang="en-US" dirty="0"/>
              <a:t> distance</a:t>
            </a:r>
          </a:p>
          <a:p>
            <a:endParaRPr lang="en-US" dirty="0"/>
          </a:p>
        </p:txBody>
      </p:sp>
      <p:sp>
        <p:nvSpPr>
          <p:cNvPr id="4" name="TextBox 3">
            <a:extLst>
              <a:ext uri="{FF2B5EF4-FFF2-40B4-BE49-F238E27FC236}">
                <a16:creationId xmlns:a16="http://schemas.microsoft.com/office/drawing/2014/main" id="{B3DB40E0-1282-B559-1A36-EAD3DA9667E3}"/>
              </a:ext>
            </a:extLst>
          </p:cNvPr>
          <p:cNvSpPr txBox="1"/>
          <p:nvPr/>
        </p:nvSpPr>
        <p:spPr>
          <a:xfrm>
            <a:off x="8271957" y="3557587"/>
            <a:ext cx="4305300" cy="307777"/>
          </a:xfrm>
          <a:prstGeom prst="rect">
            <a:avLst/>
          </a:prstGeom>
          <a:noFill/>
        </p:spPr>
        <p:txBody>
          <a:bodyPr wrap="square">
            <a:spAutoFit/>
          </a:bodyPr>
          <a:lstStyle/>
          <a:p>
            <a:r>
              <a:rPr lang="en-US" sz="1400" dirty="0" err="1"/>
              <a:t>Ishengoma</a:t>
            </a:r>
            <a:r>
              <a:rPr lang="en-US" sz="1400" dirty="0"/>
              <a:t>, DOI: 10.5815/ijieeb.2014.06.08</a:t>
            </a:r>
          </a:p>
        </p:txBody>
      </p:sp>
      <p:pic>
        <p:nvPicPr>
          <p:cNvPr id="5" name="Picture 2" descr="Example of Hamming Distance ">
            <a:extLst>
              <a:ext uri="{FF2B5EF4-FFF2-40B4-BE49-F238E27FC236}">
                <a16:creationId xmlns:a16="http://schemas.microsoft.com/office/drawing/2014/main" id="{9DAE4652-104C-1003-1813-18CE4FD570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681037"/>
            <a:ext cx="5316481" cy="28765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8AA0E6A-FFCA-7524-5610-FF7EFEA912C5}"/>
              </a:ext>
            </a:extLst>
          </p:cNvPr>
          <p:cNvSpPr txBox="1"/>
          <p:nvPr/>
        </p:nvSpPr>
        <p:spPr>
          <a:xfrm>
            <a:off x="433062" y="6248678"/>
            <a:ext cx="8070803" cy="369332"/>
          </a:xfrm>
          <a:prstGeom prst="rect">
            <a:avLst/>
          </a:prstGeom>
          <a:noFill/>
        </p:spPr>
        <p:txBody>
          <a:bodyPr wrap="square">
            <a:spAutoFit/>
          </a:bodyPr>
          <a:lstStyle/>
          <a:p>
            <a:r>
              <a:rPr lang="en-US" dirty="0"/>
              <a:t>https://</a:t>
            </a:r>
            <a:r>
              <a:rPr lang="en-US" dirty="0" err="1"/>
              <a:t>viblo.asia</a:t>
            </a:r>
            <a:r>
              <a:rPr lang="en-US" dirty="0"/>
              <a:t>/p/edit-distance-L4x5xdQ15BM</a:t>
            </a:r>
          </a:p>
        </p:txBody>
      </p:sp>
      <p:pic>
        <p:nvPicPr>
          <p:cNvPr id="7" name="Picture 2">
            <a:extLst>
              <a:ext uri="{FF2B5EF4-FFF2-40B4-BE49-F238E27FC236}">
                <a16:creationId xmlns:a16="http://schemas.microsoft.com/office/drawing/2014/main" id="{CDDB47ED-51CC-406A-CA74-5714846CFF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063" y="3192922"/>
            <a:ext cx="5431029" cy="3055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342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125937" y="1159708"/>
            <a:ext cx="2431627" cy="36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p:cNvSpPr>
            <a:spLocks noGrp="1"/>
          </p:cNvSpPr>
          <p:nvPr>
            <p:ph type="title"/>
          </p:nvPr>
        </p:nvSpPr>
        <p:spPr>
          <a:xfrm>
            <a:off x="824653" y="0"/>
            <a:ext cx="10515600" cy="1325563"/>
          </a:xfrm>
        </p:spPr>
        <p:txBody>
          <a:bodyPr/>
          <a:lstStyle/>
          <a:p>
            <a:r>
              <a:rPr lang="en-US" dirty="0"/>
              <a:t>Other distances (</a:t>
            </a:r>
            <a:r>
              <a:rPr lang="en-US" dirty="0" err="1"/>
              <a:t>con’t</a:t>
            </a:r>
            <a:r>
              <a:rPr lang="en-US" dirty="0"/>
              <a:t>.)</a:t>
            </a:r>
          </a:p>
        </p:txBody>
      </p:sp>
      <p:sp>
        <p:nvSpPr>
          <p:cNvPr id="12" name="TextBox 11">
            <a:extLst>
              <a:ext uri="{FF2B5EF4-FFF2-40B4-BE49-F238E27FC236}">
                <a16:creationId xmlns:a16="http://schemas.microsoft.com/office/drawing/2014/main" id="{FFF716B5-7A62-4AF7-9778-3119BFDC1849}"/>
              </a:ext>
            </a:extLst>
          </p:cNvPr>
          <p:cNvSpPr txBox="1"/>
          <p:nvPr/>
        </p:nvSpPr>
        <p:spPr>
          <a:xfrm>
            <a:off x="295275" y="1944869"/>
            <a:ext cx="6096000" cy="4154984"/>
          </a:xfrm>
          <a:prstGeom prst="rect">
            <a:avLst/>
          </a:prstGeom>
          <a:noFill/>
        </p:spPr>
        <p:txBody>
          <a:bodyPr wrap="square">
            <a:spAutoFit/>
          </a:bodyPr>
          <a:lstStyle/>
          <a:p>
            <a:pPr marL="342900" indent="-342900">
              <a:buFont typeface="Arial" panose="020B0604020202020204" pitchFamily="34" charset="0"/>
              <a:buChar char="•"/>
            </a:pPr>
            <a:r>
              <a:rPr lang="en-US" sz="2400" dirty="0"/>
              <a:t>The Edit Distance (</a:t>
            </a:r>
            <a:r>
              <a:rPr lang="en-US" sz="2400" dirty="0" err="1"/>
              <a:t>Levenshtein</a:t>
            </a:r>
            <a:r>
              <a:rPr lang="en-US" sz="2400" dirty="0"/>
              <a:t> distance) between two strings, str1 and str2 is the number of the number of operations required to transform str2 into str1</a:t>
            </a:r>
          </a:p>
          <a:p>
            <a:pPr marL="342900" indent="-342900">
              <a:buFont typeface="Arial" panose="020B0604020202020204" pitchFamily="34" charset="0"/>
              <a:buChar char="•"/>
            </a:pPr>
            <a:r>
              <a:rPr lang="en-US" sz="2400" dirty="0"/>
              <a:t>Requires a set of operators</a:t>
            </a:r>
          </a:p>
          <a:p>
            <a:pPr marL="342900" indent="-342900">
              <a:buFont typeface="Arial" panose="020B0604020202020204" pitchFamily="34" charset="0"/>
              <a:buChar char="•"/>
            </a:pPr>
            <a:r>
              <a:rPr lang="en-US" sz="2400" dirty="0"/>
              <a:t>E. g., graph edit distance with operators for</a:t>
            </a:r>
          </a:p>
          <a:p>
            <a:pPr marL="800100" lvl="1" indent="-342900">
              <a:buFont typeface="Arial" panose="020B0604020202020204" pitchFamily="34" charset="0"/>
              <a:buChar char="•"/>
            </a:pPr>
            <a:r>
              <a:rPr lang="en-US" sz="2400" dirty="0"/>
              <a:t>Edge add/delete</a:t>
            </a:r>
          </a:p>
          <a:p>
            <a:pPr marL="800100" lvl="1" indent="-342900">
              <a:buFont typeface="Arial" panose="020B0604020202020204" pitchFamily="34" charset="0"/>
              <a:buChar char="•"/>
            </a:pPr>
            <a:r>
              <a:rPr lang="en-US" sz="2400" dirty="0"/>
              <a:t>Node add/delete</a:t>
            </a:r>
          </a:p>
          <a:p>
            <a:pPr marL="342900" indent="-342900">
              <a:buFont typeface="Arial" panose="020B0604020202020204" pitchFamily="34" charset="0"/>
              <a:buChar char="•"/>
            </a:pPr>
            <a:r>
              <a:rPr lang="en-US" sz="2400" dirty="0"/>
              <a:t>E. g., distance between two genotype sequences of the same length</a:t>
            </a:r>
          </a:p>
          <a:p>
            <a:pPr marL="800100" lvl="1" indent="-342900">
              <a:buFont typeface="Arial" panose="020B0604020202020204" pitchFamily="34" charset="0"/>
              <a:buChar char="•"/>
            </a:pPr>
            <a:endParaRPr lang="en-US" sz="2400" dirty="0"/>
          </a:p>
        </p:txBody>
      </p:sp>
      <p:sp>
        <p:nvSpPr>
          <p:cNvPr id="13" name="TextBox 12">
            <a:extLst>
              <a:ext uri="{FF2B5EF4-FFF2-40B4-BE49-F238E27FC236}">
                <a16:creationId xmlns:a16="http://schemas.microsoft.com/office/drawing/2014/main" id="{3B103D17-51E4-4C7F-B549-9665F07929D2}"/>
              </a:ext>
            </a:extLst>
          </p:cNvPr>
          <p:cNvSpPr txBox="1"/>
          <p:nvPr/>
        </p:nvSpPr>
        <p:spPr>
          <a:xfrm>
            <a:off x="8411326" y="5134919"/>
            <a:ext cx="4876800" cy="307777"/>
          </a:xfrm>
          <a:prstGeom prst="rect">
            <a:avLst/>
          </a:prstGeom>
          <a:noFill/>
        </p:spPr>
        <p:txBody>
          <a:bodyPr wrap="square">
            <a:spAutoFit/>
          </a:bodyPr>
          <a:lstStyle/>
          <a:p>
            <a:r>
              <a:rPr lang="en-US" sz="1400" dirty="0"/>
              <a:t>https://viblo.asia/p/edit-distance-L4x5xdQ15BM</a:t>
            </a:r>
          </a:p>
        </p:txBody>
      </p:sp>
      <p:pic>
        <p:nvPicPr>
          <p:cNvPr id="8194" name="Picture 2" descr="transforming one graph into the other">
            <a:extLst>
              <a:ext uri="{FF2B5EF4-FFF2-40B4-BE49-F238E27FC236}">
                <a16:creationId xmlns:a16="http://schemas.microsoft.com/office/drawing/2014/main" id="{3552EEAE-79F5-4B44-98FB-35711BD771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8061" y="2485271"/>
            <a:ext cx="5915025" cy="265174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7A5CCD0-D393-4DFB-8FEA-E085DA056E6A}"/>
              </a:ext>
            </a:extLst>
          </p:cNvPr>
          <p:cNvSpPr txBox="1"/>
          <p:nvPr/>
        </p:nvSpPr>
        <p:spPr>
          <a:xfrm>
            <a:off x="8859884" y="4251195"/>
            <a:ext cx="351378" cy="523220"/>
          </a:xfrm>
          <a:prstGeom prst="rect">
            <a:avLst/>
          </a:prstGeom>
          <a:noFill/>
        </p:spPr>
        <p:txBody>
          <a:bodyPr wrap="none" rtlCol="0">
            <a:spAutoFit/>
          </a:bodyPr>
          <a:lstStyle/>
          <a:p>
            <a:r>
              <a:rPr lang="en-US" sz="2800" dirty="0"/>
              <a:t>?</a:t>
            </a:r>
          </a:p>
        </p:txBody>
      </p:sp>
    </p:spTree>
    <p:extLst>
      <p:ext uri="{BB962C8B-B14F-4D97-AF65-F5344CB8AC3E}">
        <p14:creationId xmlns:p14="http://schemas.microsoft.com/office/powerpoint/2010/main" val="241318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24140-33F6-9C3A-171A-FBB31900ADCC}"/>
              </a:ext>
            </a:extLst>
          </p:cNvPr>
          <p:cNvSpPr>
            <a:spLocks noGrp="1"/>
          </p:cNvSpPr>
          <p:nvPr>
            <p:ph type="title"/>
          </p:nvPr>
        </p:nvSpPr>
        <p:spPr/>
        <p:txBody>
          <a:bodyPr/>
          <a:lstStyle/>
          <a:p>
            <a:r>
              <a:rPr lang="en-US" dirty="0"/>
              <a:t>Unsupervised ML</a:t>
            </a:r>
          </a:p>
        </p:txBody>
      </p:sp>
      <p:sp>
        <p:nvSpPr>
          <p:cNvPr id="3" name="Content Placeholder 2">
            <a:extLst>
              <a:ext uri="{FF2B5EF4-FFF2-40B4-BE49-F238E27FC236}">
                <a16:creationId xmlns:a16="http://schemas.microsoft.com/office/drawing/2014/main" id="{EE6C7BF1-6CFB-209F-9125-A07583E50215}"/>
              </a:ext>
            </a:extLst>
          </p:cNvPr>
          <p:cNvSpPr>
            <a:spLocks noGrp="1"/>
          </p:cNvSpPr>
          <p:nvPr>
            <p:ph idx="1"/>
          </p:nvPr>
        </p:nvSpPr>
        <p:spPr/>
        <p:txBody>
          <a:bodyPr/>
          <a:lstStyle/>
          <a:p>
            <a:pPr marL="0" indent="0">
              <a:buNone/>
            </a:pPr>
            <a:r>
              <a:rPr lang="en-US" dirty="0"/>
              <a:t>Main kinds of techniques, and some specific algorithms</a:t>
            </a:r>
          </a:p>
          <a:p>
            <a:r>
              <a:rPr lang="en-US" dirty="0"/>
              <a:t>Dimension reduction</a:t>
            </a:r>
          </a:p>
          <a:p>
            <a:pPr lvl="1"/>
            <a:r>
              <a:rPr lang="en-US" dirty="0"/>
              <a:t>PCA, MDS, etc.</a:t>
            </a:r>
          </a:p>
          <a:p>
            <a:pPr lvl="1"/>
            <a:r>
              <a:rPr lang="en-US" dirty="0"/>
              <a:t>UMAP/t-SNE</a:t>
            </a:r>
          </a:p>
          <a:p>
            <a:r>
              <a:rPr lang="en-US" dirty="0"/>
              <a:t>Clustering</a:t>
            </a:r>
          </a:p>
          <a:p>
            <a:pPr lvl="1"/>
            <a:r>
              <a:rPr lang="en-US" dirty="0"/>
              <a:t>Hierarchical clustering</a:t>
            </a:r>
          </a:p>
          <a:p>
            <a:pPr lvl="1"/>
            <a:r>
              <a:rPr lang="en-US" dirty="0"/>
              <a:t>k-means</a:t>
            </a:r>
          </a:p>
        </p:txBody>
      </p:sp>
    </p:spTree>
    <p:extLst>
      <p:ext uri="{BB962C8B-B14F-4D97-AF65-F5344CB8AC3E}">
        <p14:creationId xmlns:p14="http://schemas.microsoft.com/office/powerpoint/2010/main" val="1050764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Principal components analysis for dimension reduction</a:t>
            </a:r>
          </a:p>
        </p:txBody>
      </p:sp>
      <p:sp>
        <p:nvSpPr>
          <p:cNvPr id="4" name="Rectangle 3"/>
          <p:cNvSpPr/>
          <p:nvPr/>
        </p:nvSpPr>
        <p:spPr>
          <a:xfrm>
            <a:off x="8369810" y="6550223"/>
            <a:ext cx="3914955" cy="307777"/>
          </a:xfrm>
          <a:prstGeom prst="rect">
            <a:avLst/>
          </a:prstGeom>
        </p:spPr>
        <p:txBody>
          <a:bodyPr wrap="square">
            <a:spAutoFit/>
          </a:bodyPr>
          <a:lstStyle/>
          <a:p>
            <a:r>
              <a:rPr lang="en-US" sz="1400" dirty="0"/>
              <a:t>http://setosa.io/ev/principal-component-analysis/</a:t>
            </a:r>
          </a:p>
        </p:txBody>
      </p:sp>
      <p:pic>
        <p:nvPicPr>
          <p:cNvPr id="7" name="Picture 6"/>
          <p:cNvPicPr>
            <a:picLocks noChangeAspect="1"/>
          </p:cNvPicPr>
          <p:nvPr/>
        </p:nvPicPr>
        <p:blipFill>
          <a:blip r:embed="rId3"/>
          <a:stretch>
            <a:fillRect/>
          </a:stretch>
        </p:blipFill>
        <p:spPr>
          <a:xfrm>
            <a:off x="6615952" y="1760687"/>
            <a:ext cx="5292645" cy="1302624"/>
          </a:xfrm>
          <a:prstGeom prst="rect">
            <a:avLst/>
          </a:prstGeom>
        </p:spPr>
      </p:pic>
      <p:sp>
        <p:nvSpPr>
          <p:cNvPr id="10" name="TextBox 9">
            <a:extLst>
              <a:ext uri="{FF2B5EF4-FFF2-40B4-BE49-F238E27FC236}">
                <a16:creationId xmlns:a16="http://schemas.microsoft.com/office/drawing/2014/main" id="{034DB6A5-0FC0-4FED-8673-F7DD64230C8C}"/>
              </a:ext>
            </a:extLst>
          </p:cNvPr>
          <p:cNvSpPr txBox="1"/>
          <p:nvPr/>
        </p:nvSpPr>
        <p:spPr>
          <a:xfrm>
            <a:off x="7259138" y="1393832"/>
            <a:ext cx="4365912" cy="400110"/>
          </a:xfrm>
          <a:prstGeom prst="rect">
            <a:avLst/>
          </a:prstGeom>
          <a:noFill/>
        </p:spPr>
        <p:txBody>
          <a:bodyPr wrap="square" rtlCol="0">
            <a:spAutoFit/>
          </a:bodyPr>
          <a:lstStyle/>
          <a:p>
            <a:r>
              <a:rPr lang="en-US" sz="2000" dirty="0"/>
              <a:t>5 samples on a 2-d space (X and Y)</a:t>
            </a:r>
          </a:p>
        </p:txBody>
      </p:sp>
      <p:pic>
        <p:nvPicPr>
          <p:cNvPr id="12" name="Picture 11">
            <a:extLst>
              <a:ext uri="{FF2B5EF4-FFF2-40B4-BE49-F238E27FC236}">
                <a16:creationId xmlns:a16="http://schemas.microsoft.com/office/drawing/2014/main" id="{444BE0CE-73DC-4B18-819F-A6B750FD3AFF}"/>
              </a:ext>
            </a:extLst>
          </p:cNvPr>
          <p:cNvPicPr>
            <a:picLocks noChangeAspect="1"/>
          </p:cNvPicPr>
          <p:nvPr/>
        </p:nvPicPr>
        <p:blipFill>
          <a:blip r:embed="rId4"/>
          <a:stretch>
            <a:fillRect/>
          </a:stretch>
        </p:blipFill>
        <p:spPr>
          <a:xfrm>
            <a:off x="7498091" y="2909339"/>
            <a:ext cx="3528366" cy="3589331"/>
          </a:xfrm>
          <a:prstGeom prst="rect">
            <a:avLst/>
          </a:prstGeom>
        </p:spPr>
      </p:pic>
      <p:sp>
        <p:nvSpPr>
          <p:cNvPr id="15" name="TextBox 14">
            <a:extLst>
              <a:ext uri="{FF2B5EF4-FFF2-40B4-BE49-F238E27FC236}">
                <a16:creationId xmlns:a16="http://schemas.microsoft.com/office/drawing/2014/main" id="{6D06FFDA-ADE4-4840-A85D-4F655F306F84}"/>
              </a:ext>
            </a:extLst>
          </p:cNvPr>
          <p:cNvSpPr txBox="1"/>
          <p:nvPr/>
        </p:nvSpPr>
        <p:spPr>
          <a:xfrm>
            <a:off x="899419" y="1793942"/>
            <a:ext cx="4834393"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t>How to find 2D (two variables) space in which information among data points are mostly kept?</a:t>
            </a:r>
          </a:p>
          <a:p>
            <a:pPr marL="285750" indent="-285750">
              <a:buFont typeface="Arial" panose="020B0604020202020204" pitchFamily="34" charset="0"/>
              <a:buChar char="•"/>
            </a:pPr>
            <a:r>
              <a:rPr lang="en-US" sz="2400" dirty="0"/>
              <a:t>With variance in data as information, PCA can find a 1-d line preserving most information. </a:t>
            </a:r>
          </a:p>
        </p:txBody>
      </p:sp>
    </p:spTree>
    <p:extLst>
      <p:ext uri="{BB962C8B-B14F-4D97-AF65-F5344CB8AC3E}">
        <p14:creationId xmlns:p14="http://schemas.microsoft.com/office/powerpoint/2010/main" val="1317564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t>Principal components maximize variance</a:t>
            </a:r>
          </a:p>
        </p:txBody>
      </p:sp>
      <p:sp>
        <p:nvSpPr>
          <p:cNvPr id="4" name="Rectangle 3"/>
          <p:cNvSpPr/>
          <p:nvPr/>
        </p:nvSpPr>
        <p:spPr>
          <a:xfrm>
            <a:off x="8511702" y="3039462"/>
            <a:ext cx="3393684" cy="523220"/>
          </a:xfrm>
          <a:prstGeom prst="rect">
            <a:avLst/>
          </a:prstGeom>
        </p:spPr>
        <p:txBody>
          <a:bodyPr wrap="square">
            <a:spAutoFit/>
          </a:bodyPr>
          <a:lstStyle/>
          <a:p>
            <a:r>
              <a:rPr lang="en-US" sz="1400" dirty="0"/>
              <a:t>Adapted from http://setosa.io/ev/principal-component-analysis/</a:t>
            </a:r>
          </a:p>
        </p:txBody>
      </p:sp>
      <p:pic>
        <p:nvPicPr>
          <p:cNvPr id="7" name="Picture 6"/>
          <p:cNvPicPr>
            <a:picLocks noChangeAspect="1"/>
          </p:cNvPicPr>
          <p:nvPr/>
        </p:nvPicPr>
        <p:blipFill>
          <a:blip r:embed="rId3"/>
          <a:stretch>
            <a:fillRect/>
          </a:stretch>
        </p:blipFill>
        <p:spPr>
          <a:xfrm>
            <a:off x="6615952" y="1760687"/>
            <a:ext cx="5292645" cy="1302624"/>
          </a:xfrm>
          <a:prstGeom prst="rect">
            <a:avLst/>
          </a:prstGeom>
        </p:spPr>
      </p:pic>
      <p:sp>
        <p:nvSpPr>
          <p:cNvPr id="10" name="TextBox 9">
            <a:extLst>
              <a:ext uri="{FF2B5EF4-FFF2-40B4-BE49-F238E27FC236}">
                <a16:creationId xmlns:a16="http://schemas.microsoft.com/office/drawing/2014/main" id="{034DB6A5-0FC0-4FED-8673-F7DD64230C8C}"/>
              </a:ext>
            </a:extLst>
          </p:cNvPr>
          <p:cNvSpPr txBox="1"/>
          <p:nvPr/>
        </p:nvSpPr>
        <p:spPr>
          <a:xfrm>
            <a:off x="7259138" y="1393832"/>
            <a:ext cx="4365912" cy="400110"/>
          </a:xfrm>
          <a:prstGeom prst="rect">
            <a:avLst/>
          </a:prstGeom>
          <a:noFill/>
        </p:spPr>
        <p:txBody>
          <a:bodyPr wrap="square" rtlCol="0">
            <a:spAutoFit/>
          </a:bodyPr>
          <a:lstStyle/>
          <a:p>
            <a:r>
              <a:rPr lang="en-US" sz="2000" dirty="0"/>
              <a:t>5 samples on a 2-d space (X and Y)</a:t>
            </a:r>
          </a:p>
        </p:txBody>
      </p:sp>
      <p:sp>
        <p:nvSpPr>
          <p:cNvPr id="15" name="TextBox 14">
            <a:extLst>
              <a:ext uri="{FF2B5EF4-FFF2-40B4-BE49-F238E27FC236}">
                <a16:creationId xmlns:a16="http://schemas.microsoft.com/office/drawing/2014/main" id="{6D06FFDA-ADE4-4840-A85D-4F655F306F84}"/>
              </a:ext>
            </a:extLst>
          </p:cNvPr>
          <p:cNvSpPr txBox="1"/>
          <p:nvPr/>
        </p:nvSpPr>
        <p:spPr>
          <a:xfrm>
            <a:off x="899419" y="1793942"/>
            <a:ext cx="4834393" cy="1938992"/>
          </a:xfrm>
          <a:prstGeom prst="rect">
            <a:avLst/>
          </a:prstGeom>
          <a:noFill/>
        </p:spPr>
        <p:txBody>
          <a:bodyPr wrap="square" rtlCol="0">
            <a:spAutoFit/>
          </a:bodyPr>
          <a:lstStyle/>
          <a:p>
            <a:pPr marL="285750" indent="-285750">
              <a:buFont typeface="Arial" panose="020B0604020202020204" pitchFamily="34" charset="0"/>
              <a:buChar char="•"/>
            </a:pPr>
            <a:r>
              <a:rPr lang="en-US" sz="2400" dirty="0"/>
              <a:t>How to find 2D (two variables) space in which information among data points are mostly kept?</a:t>
            </a:r>
          </a:p>
          <a:p>
            <a:pPr marL="285750" indent="-285750">
              <a:buFont typeface="Arial" panose="020B0604020202020204" pitchFamily="34" charset="0"/>
              <a:buChar char="•"/>
            </a:pPr>
            <a:r>
              <a:rPr lang="en-US" sz="2400" dirty="0"/>
              <a:t>Variance in data can be taken as information</a:t>
            </a:r>
          </a:p>
        </p:txBody>
      </p:sp>
      <p:sp>
        <p:nvSpPr>
          <p:cNvPr id="6" name="Rectangle 5">
            <a:extLst>
              <a:ext uri="{FF2B5EF4-FFF2-40B4-BE49-F238E27FC236}">
                <a16:creationId xmlns:a16="http://schemas.microsoft.com/office/drawing/2014/main" id="{9CF9E7F2-2749-48A2-8EE9-8FD75837F2DB}"/>
              </a:ext>
            </a:extLst>
          </p:cNvPr>
          <p:cNvSpPr/>
          <p:nvPr/>
        </p:nvSpPr>
        <p:spPr>
          <a:xfrm>
            <a:off x="8210145" y="1793942"/>
            <a:ext cx="603115" cy="4001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7144013-A0C3-4565-BB9D-02571A483B7F}"/>
              </a:ext>
            </a:extLst>
          </p:cNvPr>
          <p:cNvSpPr/>
          <p:nvPr/>
        </p:nvSpPr>
        <p:spPr>
          <a:xfrm>
            <a:off x="9092285" y="1855877"/>
            <a:ext cx="603115" cy="4001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4857A1A-5068-42B2-84F0-3C6AFFA7596E}"/>
              </a:ext>
            </a:extLst>
          </p:cNvPr>
          <p:cNvSpPr/>
          <p:nvPr/>
        </p:nvSpPr>
        <p:spPr>
          <a:xfrm>
            <a:off x="9897326" y="1769090"/>
            <a:ext cx="603115" cy="4001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F70B61F-8825-4174-97E9-49DACBCAE364}"/>
              </a:ext>
            </a:extLst>
          </p:cNvPr>
          <p:cNvSpPr/>
          <p:nvPr/>
        </p:nvSpPr>
        <p:spPr>
          <a:xfrm>
            <a:off x="10702367" y="1704434"/>
            <a:ext cx="603115" cy="4412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71FDBDD7-7BE9-4D06-8A9E-9329951BAD72}"/>
              </a:ext>
            </a:extLst>
          </p:cNvPr>
          <p:cNvCxnSpPr/>
          <p:nvPr/>
        </p:nvCxnSpPr>
        <p:spPr>
          <a:xfrm>
            <a:off x="7259138" y="2029166"/>
            <a:ext cx="4325369" cy="1508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2475464-771F-459D-A346-ACB983D3A4D8}"/>
              </a:ext>
            </a:extLst>
          </p:cNvPr>
          <p:cNvSpPr/>
          <p:nvPr/>
        </p:nvSpPr>
        <p:spPr>
          <a:xfrm>
            <a:off x="9419680" y="1908653"/>
            <a:ext cx="91440" cy="914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5776596-1608-4907-8E9D-D3C5CB6CEE59}"/>
              </a:ext>
            </a:extLst>
          </p:cNvPr>
          <p:cNvSpPr/>
          <p:nvPr/>
        </p:nvSpPr>
        <p:spPr>
          <a:xfrm>
            <a:off x="9419680" y="1957421"/>
            <a:ext cx="91440" cy="914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866944A-2C79-434F-A51B-B3C3EAD03BE3}"/>
              </a:ext>
            </a:extLst>
          </p:cNvPr>
          <p:cNvSpPr/>
          <p:nvPr/>
        </p:nvSpPr>
        <p:spPr>
          <a:xfrm>
            <a:off x="9419680" y="2006189"/>
            <a:ext cx="91440" cy="914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59F6CA9-972C-452A-8A9E-C0BEDE7A420A}"/>
              </a:ext>
            </a:extLst>
          </p:cNvPr>
          <p:cNvSpPr/>
          <p:nvPr/>
        </p:nvSpPr>
        <p:spPr>
          <a:xfrm>
            <a:off x="9419680" y="2054957"/>
            <a:ext cx="91440" cy="914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C481240-5987-42CC-8A40-07C79360C53A}"/>
              </a:ext>
            </a:extLst>
          </p:cNvPr>
          <p:cNvSpPr/>
          <p:nvPr/>
        </p:nvSpPr>
        <p:spPr>
          <a:xfrm>
            <a:off x="9419680" y="2103725"/>
            <a:ext cx="91440" cy="914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6668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a:t>Principal components maximize variance</a:t>
            </a:r>
          </a:p>
        </p:txBody>
      </p:sp>
      <p:sp>
        <p:nvSpPr>
          <p:cNvPr id="4" name="Rectangle 3"/>
          <p:cNvSpPr/>
          <p:nvPr/>
        </p:nvSpPr>
        <p:spPr>
          <a:xfrm>
            <a:off x="8369810" y="6550223"/>
            <a:ext cx="3914955" cy="307777"/>
          </a:xfrm>
          <a:prstGeom prst="rect">
            <a:avLst/>
          </a:prstGeom>
        </p:spPr>
        <p:txBody>
          <a:bodyPr wrap="square">
            <a:spAutoFit/>
          </a:bodyPr>
          <a:lstStyle/>
          <a:p>
            <a:r>
              <a:rPr lang="en-US" sz="1400" dirty="0"/>
              <a:t>http://</a:t>
            </a:r>
            <a:r>
              <a:rPr lang="en-US" sz="1400" dirty="0" err="1"/>
              <a:t>setosa.io</a:t>
            </a:r>
            <a:r>
              <a:rPr lang="en-US" sz="1400" dirty="0"/>
              <a:t>/</a:t>
            </a:r>
            <a:r>
              <a:rPr lang="en-US" sz="1400" dirty="0" err="1"/>
              <a:t>ev</a:t>
            </a:r>
            <a:r>
              <a:rPr lang="en-US" sz="1400" dirty="0"/>
              <a:t>/principal-component-analysis/</a:t>
            </a:r>
          </a:p>
        </p:txBody>
      </p:sp>
      <p:pic>
        <p:nvPicPr>
          <p:cNvPr id="5" name="Picture 4"/>
          <p:cNvPicPr>
            <a:picLocks noChangeAspect="1"/>
          </p:cNvPicPr>
          <p:nvPr/>
        </p:nvPicPr>
        <p:blipFill>
          <a:blip r:embed="rId3"/>
          <a:stretch>
            <a:fillRect/>
          </a:stretch>
        </p:blipFill>
        <p:spPr>
          <a:xfrm>
            <a:off x="1461396" y="1102797"/>
            <a:ext cx="3528366" cy="3589331"/>
          </a:xfrm>
          <a:prstGeom prst="rect">
            <a:avLst/>
          </a:prstGeom>
        </p:spPr>
      </p:pic>
      <p:pic>
        <p:nvPicPr>
          <p:cNvPr id="6" name="Picture 5"/>
          <p:cNvPicPr>
            <a:picLocks noChangeAspect="1"/>
          </p:cNvPicPr>
          <p:nvPr/>
        </p:nvPicPr>
        <p:blipFill>
          <a:blip r:embed="rId4"/>
          <a:stretch>
            <a:fillRect/>
          </a:stretch>
        </p:blipFill>
        <p:spPr>
          <a:xfrm>
            <a:off x="6254868" y="942397"/>
            <a:ext cx="3657917" cy="3772227"/>
          </a:xfrm>
          <a:prstGeom prst="rect">
            <a:avLst/>
          </a:prstGeom>
        </p:spPr>
      </p:pic>
      <p:pic>
        <p:nvPicPr>
          <p:cNvPr id="7" name="Picture 6"/>
          <p:cNvPicPr>
            <a:picLocks noChangeAspect="1"/>
          </p:cNvPicPr>
          <p:nvPr/>
        </p:nvPicPr>
        <p:blipFill>
          <a:blip r:embed="rId5"/>
          <a:stretch>
            <a:fillRect/>
          </a:stretch>
        </p:blipFill>
        <p:spPr>
          <a:xfrm>
            <a:off x="1507120" y="4872456"/>
            <a:ext cx="3436918" cy="845893"/>
          </a:xfrm>
          <a:prstGeom prst="rect">
            <a:avLst/>
          </a:prstGeom>
        </p:spPr>
      </p:pic>
      <p:pic>
        <p:nvPicPr>
          <p:cNvPr id="8" name="Picture 7"/>
          <p:cNvPicPr>
            <a:picLocks noChangeAspect="1"/>
          </p:cNvPicPr>
          <p:nvPr/>
        </p:nvPicPr>
        <p:blipFill>
          <a:blip r:embed="rId6"/>
          <a:stretch>
            <a:fillRect/>
          </a:stretch>
        </p:blipFill>
        <p:spPr>
          <a:xfrm>
            <a:off x="6463932" y="4849594"/>
            <a:ext cx="3528366" cy="868755"/>
          </a:xfrm>
          <a:prstGeom prst="rect">
            <a:avLst/>
          </a:prstGeom>
        </p:spPr>
      </p:pic>
      <p:sp>
        <p:nvSpPr>
          <p:cNvPr id="9" name="Right Arrow 8"/>
          <p:cNvSpPr/>
          <p:nvPr/>
        </p:nvSpPr>
        <p:spPr>
          <a:xfrm>
            <a:off x="5208104" y="2589972"/>
            <a:ext cx="887896" cy="4770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F93E530-C8A4-4185-B2D4-4239EFF503CC}"/>
              </a:ext>
            </a:extLst>
          </p:cNvPr>
          <p:cNvSpPr txBox="1"/>
          <p:nvPr/>
        </p:nvSpPr>
        <p:spPr>
          <a:xfrm>
            <a:off x="1826932" y="5892446"/>
            <a:ext cx="8538136"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t>Can identify two axes that maximize variance in high dimension</a:t>
            </a:r>
            <a:endParaRPr lang="en-US" sz="2000" dirty="0"/>
          </a:p>
        </p:txBody>
      </p:sp>
    </p:spTree>
    <p:extLst>
      <p:ext uri="{BB962C8B-B14F-4D97-AF65-F5344CB8AC3E}">
        <p14:creationId xmlns:p14="http://schemas.microsoft.com/office/powerpoint/2010/main" val="3870780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Principal components in biomedical research</a:t>
            </a:r>
          </a:p>
        </p:txBody>
      </p:sp>
      <p:pic>
        <p:nvPicPr>
          <p:cNvPr id="3" name="Picture 2">
            <a:extLst>
              <a:ext uri="{FF2B5EF4-FFF2-40B4-BE49-F238E27FC236}">
                <a16:creationId xmlns:a16="http://schemas.microsoft.com/office/drawing/2014/main" id="{1A4CCFAB-10F4-48E6-B581-8CD56D19330E}"/>
              </a:ext>
            </a:extLst>
          </p:cNvPr>
          <p:cNvPicPr>
            <a:picLocks noChangeAspect="1"/>
          </p:cNvPicPr>
          <p:nvPr/>
        </p:nvPicPr>
        <p:blipFill>
          <a:blip r:embed="rId3"/>
          <a:stretch>
            <a:fillRect/>
          </a:stretch>
        </p:blipFill>
        <p:spPr>
          <a:xfrm>
            <a:off x="3336575" y="1533166"/>
            <a:ext cx="5136584" cy="4475054"/>
          </a:xfrm>
          <a:prstGeom prst="rect">
            <a:avLst/>
          </a:prstGeom>
        </p:spPr>
      </p:pic>
      <p:sp>
        <p:nvSpPr>
          <p:cNvPr id="11" name="TextBox 10">
            <a:extLst>
              <a:ext uri="{FF2B5EF4-FFF2-40B4-BE49-F238E27FC236}">
                <a16:creationId xmlns:a16="http://schemas.microsoft.com/office/drawing/2014/main" id="{33373791-A2F3-4496-A473-52D84E07FD80}"/>
              </a:ext>
            </a:extLst>
          </p:cNvPr>
          <p:cNvSpPr txBox="1"/>
          <p:nvPr/>
        </p:nvSpPr>
        <p:spPr>
          <a:xfrm>
            <a:off x="3336575" y="1264656"/>
            <a:ext cx="5518849" cy="400110"/>
          </a:xfrm>
          <a:prstGeom prst="rect">
            <a:avLst/>
          </a:prstGeom>
          <a:noFill/>
        </p:spPr>
        <p:txBody>
          <a:bodyPr wrap="square" rtlCol="0">
            <a:spAutoFit/>
          </a:bodyPr>
          <a:lstStyle/>
          <a:p>
            <a:r>
              <a:rPr lang="en-US" sz="2000" dirty="0"/>
              <a:t>Breast cancer samples (ER+ in red and ER- in black)</a:t>
            </a:r>
          </a:p>
        </p:txBody>
      </p:sp>
      <p:sp>
        <p:nvSpPr>
          <p:cNvPr id="12" name="Rectangle 11">
            <a:extLst>
              <a:ext uri="{FF2B5EF4-FFF2-40B4-BE49-F238E27FC236}">
                <a16:creationId xmlns:a16="http://schemas.microsoft.com/office/drawing/2014/main" id="{4B2380A2-1CF7-4270-9B10-C2F9C1C81E36}"/>
              </a:ext>
            </a:extLst>
          </p:cNvPr>
          <p:cNvSpPr/>
          <p:nvPr/>
        </p:nvSpPr>
        <p:spPr>
          <a:xfrm>
            <a:off x="8270420" y="6555026"/>
            <a:ext cx="3914955" cy="307777"/>
          </a:xfrm>
          <a:prstGeom prst="rect">
            <a:avLst/>
          </a:prstGeom>
        </p:spPr>
        <p:txBody>
          <a:bodyPr wrap="square">
            <a:spAutoFit/>
          </a:bodyPr>
          <a:lstStyle/>
          <a:p>
            <a:r>
              <a:rPr lang="en-US" sz="1400" dirty="0"/>
              <a:t>Markus, Nat. Biotechnology, Vol. 26 Num. 3, 2008</a:t>
            </a:r>
          </a:p>
        </p:txBody>
      </p:sp>
    </p:spTree>
    <p:extLst>
      <p:ext uri="{BB962C8B-B14F-4D97-AF65-F5344CB8AC3E}">
        <p14:creationId xmlns:p14="http://schemas.microsoft.com/office/powerpoint/2010/main" val="1659644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5FC947-84D9-4986-9BA4-1406F5AA11FF}"/>
              </a:ext>
            </a:extLst>
          </p:cNvPr>
          <p:cNvPicPr>
            <a:picLocks noChangeAspect="1"/>
          </p:cNvPicPr>
          <p:nvPr/>
        </p:nvPicPr>
        <p:blipFill>
          <a:blip r:embed="rId3"/>
          <a:stretch>
            <a:fillRect/>
          </a:stretch>
        </p:blipFill>
        <p:spPr>
          <a:xfrm>
            <a:off x="2915322" y="1803421"/>
            <a:ext cx="5943905" cy="4985006"/>
          </a:xfrm>
          <a:prstGeom prst="rect">
            <a:avLst/>
          </a:prstGeom>
        </p:spPr>
      </p:pic>
      <p:sp>
        <p:nvSpPr>
          <p:cNvPr id="2" name="Title 1"/>
          <p:cNvSpPr>
            <a:spLocks noGrp="1"/>
          </p:cNvSpPr>
          <p:nvPr>
            <p:ph type="title"/>
          </p:nvPr>
        </p:nvSpPr>
        <p:spPr>
          <a:xfrm>
            <a:off x="0" y="0"/>
            <a:ext cx="12192000" cy="1325563"/>
          </a:xfrm>
        </p:spPr>
        <p:txBody>
          <a:bodyPr/>
          <a:lstStyle/>
          <a:p>
            <a:r>
              <a:rPr lang="en-US" dirty="0"/>
              <a:t>Principal components in biomedical research</a:t>
            </a:r>
          </a:p>
        </p:txBody>
      </p:sp>
      <p:sp>
        <p:nvSpPr>
          <p:cNvPr id="11" name="TextBox 10">
            <a:extLst>
              <a:ext uri="{FF2B5EF4-FFF2-40B4-BE49-F238E27FC236}">
                <a16:creationId xmlns:a16="http://schemas.microsoft.com/office/drawing/2014/main" id="{33373791-A2F3-4496-A473-52D84E07FD80}"/>
              </a:ext>
            </a:extLst>
          </p:cNvPr>
          <p:cNvSpPr txBox="1"/>
          <p:nvPr/>
        </p:nvSpPr>
        <p:spPr>
          <a:xfrm>
            <a:off x="3590292" y="1377297"/>
            <a:ext cx="6173467" cy="430887"/>
          </a:xfrm>
          <a:prstGeom prst="rect">
            <a:avLst/>
          </a:prstGeom>
          <a:noFill/>
        </p:spPr>
        <p:txBody>
          <a:bodyPr wrap="square" rtlCol="0">
            <a:spAutoFit/>
          </a:bodyPr>
          <a:lstStyle/>
          <a:p>
            <a:r>
              <a:rPr lang="en-US" sz="2200" dirty="0"/>
              <a:t>Breast cancer samples (ER+ in red and ER- in black)</a:t>
            </a:r>
          </a:p>
        </p:txBody>
      </p:sp>
      <p:sp>
        <p:nvSpPr>
          <p:cNvPr id="12" name="Rectangle 11">
            <a:extLst>
              <a:ext uri="{FF2B5EF4-FFF2-40B4-BE49-F238E27FC236}">
                <a16:creationId xmlns:a16="http://schemas.microsoft.com/office/drawing/2014/main" id="{4B2380A2-1CF7-4270-9B10-C2F9C1C81E36}"/>
              </a:ext>
            </a:extLst>
          </p:cNvPr>
          <p:cNvSpPr/>
          <p:nvPr/>
        </p:nvSpPr>
        <p:spPr>
          <a:xfrm>
            <a:off x="8270420" y="6555026"/>
            <a:ext cx="3914955" cy="307777"/>
          </a:xfrm>
          <a:prstGeom prst="rect">
            <a:avLst/>
          </a:prstGeom>
        </p:spPr>
        <p:txBody>
          <a:bodyPr wrap="square">
            <a:spAutoFit/>
          </a:bodyPr>
          <a:lstStyle/>
          <a:p>
            <a:r>
              <a:rPr lang="en-US" sz="1400" dirty="0"/>
              <a:t>Markus, Nat. Biotechnology, Vol. 26 Num. 3, 2008</a:t>
            </a:r>
          </a:p>
        </p:txBody>
      </p:sp>
    </p:spTree>
    <p:extLst>
      <p:ext uri="{BB962C8B-B14F-4D97-AF65-F5344CB8AC3E}">
        <p14:creationId xmlns:p14="http://schemas.microsoft.com/office/powerpoint/2010/main" val="4002720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95B0DD-F527-4083-9AE8-80D69DD460ED}"/>
              </a:ext>
            </a:extLst>
          </p:cNvPr>
          <p:cNvPicPr>
            <a:picLocks noChangeAspect="1"/>
          </p:cNvPicPr>
          <p:nvPr/>
        </p:nvPicPr>
        <p:blipFill>
          <a:blip r:embed="rId3"/>
          <a:stretch>
            <a:fillRect/>
          </a:stretch>
        </p:blipFill>
        <p:spPr>
          <a:xfrm>
            <a:off x="6926614" y="2936546"/>
            <a:ext cx="3815538" cy="3236394"/>
          </a:xfrm>
          <a:prstGeom prst="rect">
            <a:avLst/>
          </a:prstGeom>
        </p:spPr>
      </p:pic>
      <p:sp>
        <p:nvSpPr>
          <p:cNvPr id="2" name="Title 1"/>
          <p:cNvSpPr>
            <a:spLocks noGrp="1"/>
          </p:cNvSpPr>
          <p:nvPr>
            <p:ph type="title"/>
          </p:nvPr>
        </p:nvSpPr>
        <p:spPr>
          <a:xfrm>
            <a:off x="0" y="0"/>
            <a:ext cx="12192000" cy="1325563"/>
          </a:xfrm>
        </p:spPr>
        <p:txBody>
          <a:bodyPr/>
          <a:lstStyle/>
          <a:p>
            <a:r>
              <a:rPr lang="en-US" dirty="0"/>
              <a:t>Principal components in biomedical research</a:t>
            </a:r>
          </a:p>
        </p:txBody>
      </p:sp>
      <p:sp>
        <p:nvSpPr>
          <p:cNvPr id="12" name="Rectangle 11">
            <a:extLst>
              <a:ext uri="{FF2B5EF4-FFF2-40B4-BE49-F238E27FC236}">
                <a16:creationId xmlns:a16="http://schemas.microsoft.com/office/drawing/2014/main" id="{4B2380A2-1CF7-4270-9B10-C2F9C1C81E36}"/>
              </a:ext>
            </a:extLst>
          </p:cNvPr>
          <p:cNvSpPr/>
          <p:nvPr/>
        </p:nvSpPr>
        <p:spPr>
          <a:xfrm>
            <a:off x="8270420" y="6555026"/>
            <a:ext cx="3914955" cy="307777"/>
          </a:xfrm>
          <a:prstGeom prst="rect">
            <a:avLst/>
          </a:prstGeom>
        </p:spPr>
        <p:txBody>
          <a:bodyPr wrap="square">
            <a:spAutoFit/>
          </a:bodyPr>
          <a:lstStyle/>
          <a:p>
            <a:r>
              <a:rPr lang="en-US" sz="1400" dirty="0"/>
              <a:t>Markus, Nat. Biotechnology, Vol. 26 Num. 3, 2008</a:t>
            </a:r>
          </a:p>
        </p:txBody>
      </p:sp>
      <p:sp>
        <p:nvSpPr>
          <p:cNvPr id="7" name="TextBox 6">
            <a:extLst>
              <a:ext uri="{FF2B5EF4-FFF2-40B4-BE49-F238E27FC236}">
                <a16:creationId xmlns:a16="http://schemas.microsoft.com/office/drawing/2014/main" id="{FE246FAD-6410-4C18-9181-0B0F1F2A3A78}"/>
              </a:ext>
            </a:extLst>
          </p:cNvPr>
          <p:cNvSpPr txBox="1"/>
          <p:nvPr/>
        </p:nvSpPr>
        <p:spPr>
          <a:xfrm>
            <a:off x="2129366" y="1533614"/>
            <a:ext cx="8532707" cy="1107996"/>
          </a:xfrm>
          <a:prstGeom prst="rect">
            <a:avLst/>
          </a:prstGeom>
          <a:noFill/>
        </p:spPr>
        <p:txBody>
          <a:bodyPr wrap="square" rtlCol="0">
            <a:spAutoFit/>
          </a:bodyPr>
          <a:lstStyle/>
          <a:p>
            <a:r>
              <a:rPr lang="en-US" sz="2200" dirty="0"/>
              <a:t>Things to analyze in PCA</a:t>
            </a:r>
          </a:p>
          <a:p>
            <a:pPr marL="457200" indent="-457200">
              <a:buFont typeface="+mj-lt"/>
              <a:buAutoNum type="arabicPeriod"/>
            </a:pPr>
            <a:r>
              <a:rPr lang="en-US" sz="2200" dirty="0"/>
              <a:t>Their projection to PCAs: PC1 well separates the grouping of your interest</a:t>
            </a:r>
          </a:p>
        </p:txBody>
      </p:sp>
      <p:pic>
        <p:nvPicPr>
          <p:cNvPr id="8" name="Picture 7">
            <a:extLst>
              <a:ext uri="{FF2B5EF4-FFF2-40B4-BE49-F238E27FC236}">
                <a16:creationId xmlns:a16="http://schemas.microsoft.com/office/drawing/2014/main" id="{A25B5D41-8AFE-497A-AB91-2D85309CB823}"/>
              </a:ext>
            </a:extLst>
          </p:cNvPr>
          <p:cNvPicPr>
            <a:picLocks noChangeAspect="1"/>
          </p:cNvPicPr>
          <p:nvPr/>
        </p:nvPicPr>
        <p:blipFill>
          <a:blip r:embed="rId4"/>
          <a:stretch>
            <a:fillRect/>
          </a:stretch>
        </p:blipFill>
        <p:spPr>
          <a:xfrm>
            <a:off x="1619892" y="2985654"/>
            <a:ext cx="3741828" cy="3138179"/>
          </a:xfrm>
          <a:prstGeom prst="rect">
            <a:avLst/>
          </a:prstGeom>
        </p:spPr>
      </p:pic>
      <p:sp>
        <p:nvSpPr>
          <p:cNvPr id="4" name="Arrow: Right 3">
            <a:extLst>
              <a:ext uri="{FF2B5EF4-FFF2-40B4-BE49-F238E27FC236}">
                <a16:creationId xmlns:a16="http://schemas.microsoft.com/office/drawing/2014/main" id="{E924E1D0-D9DA-4007-8ADD-59585FF9067F}"/>
              </a:ext>
            </a:extLst>
          </p:cNvPr>
          <p:cNvSpPr/>
          <p:nvPr/>
        </p:nvSpPr>
        <p:spPr>
          <a:xfrm>
            <a:off x="5796280" y="4064000"/>
            <a:ext cx="599440" cy="5181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8412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Principal components in biomedical research</a:t>
            </a:r>
          </a:p>
        </p:txBody>
      </p:sp>
      <p:pic>
        <p:nvPicPr>
          <p:cNvPr id="4" name="Picture 3">
            <a:extLst>
              <a:ext uri="{FF2B5EF4-FFF2-40B4-BE49-F238E27FC236}">
                <a16:creationId xmlns:a16="http://schemas.microsoft.com/office/drawing/2014/main" id="{0BAF663C-0AF5-4817-A355-41A6507A26B0}"/>
              </a:ext>
            </a:extLst>
          </p:cNvPr>
          <p:cNvPicPr>
            <a:picLocks noChangeAspect="1"/>
          </p:cNvPicPr>
          <p:nvPr/>
        </p:nvPicPr>
        <p:blipFill>
          <a:blip r:embed="rId3"/>
          <a:stretch>
            <a:fillRect/>
          </a:stretch>
        </p:blipFill>
        <p:spPr>
          <a:xfrm>
            <a:off x="7242314" y="2720505"/>
            <a:ext cx="3815538" cy="3391123"/>
          </a:xfrm>
          <a:prstGeom prst="rect">
            <a:avLst/>
          </a:prstGeom>
        </p:spPr>
      </p:pic>
      <p:sp>
        <p:nvSpPr>
          <p:cNvPr id="6" name="TextBox 5">
            <a:extLst>
              <a:ext uri="{FF2B5EF4-FFF2-40B4-BE49-F238E27FC236}">
                <a16:creationId xmlns:a16="http://schemas.microsoft.com/office/drawing/2014/main" id="{7A8B4323-B768-499F-A66F-60755E13A645}"/>
              </a:ext>
            </a:extLst>
          </p:cNvPr>
          <p:cNvSpPr txBox="1"/>
          <p:nvPr/>
        </p:nvSpPr>
        <p:spPr>
          <a:xfrm>
            <a:off x="4107151" y="1064514"/>
            <a:ext cx="4562356" cy="1107996"/>
          </a:xfrm>
          <a:prstGeom prst="rect">
            <a:avLst/>
          </a:prstGeom>
          <a:noFill/>
        </p:spPr>
        <p:txBody>
          <a:bodyPr wrap="square" rtlCol="0">
            <a:spAutoFit/>
          </a:bodyPr>
          <a:lstStyle/>
          <a:p>
            <a:r>
              <a:rPr lang="en-US" sz="2200" dirty="0"/>
              <a:t>Some things to check in PCA</a:t>
            </a:r>
          </a:p>
          <a:p>
            <a:pPr marL="457200" indent="-457200">
              <a:buFont typeface="+mj-lt"/>
              <a:buAutoNum type="arabicPeriod"/>
            </a:pPr>
            <a:r>
              <a:rPr lang="en-US" sz="2200" dirty="0"/>
              <a:t>Projection of data onto PCs</a:t>
            </a:r>
          </a:p>
          <a:p>
            <a:pPr marL="457200" indent="-457200">
              <a:buFont typeface="+mj-lt"/>
              <a:buAutoNum type="arabicPeriod"/>
            </a:pPr>
            <a:r>
              <a:rPr lang="en-US" sz="2200" dirty="0"/>
              <a:t>Proportion of variance per PC</a:t>
            </a:r>
          </a:p>
        </p:txBody>
      </p:sp>
      <p:sp>
        <p:nvSpPr>
          <p:cNvPr id="7" name="Rectangle 6">
            <a:extLst>
              <a:ext uri="{FF2B5EF4-FFF2-40B4-BE49-F238E27FC236}">
                <a16:creationId xmlns:a16="http://schemas.microsoft.com/office/drawing/2014/main" id="{5EB4D1B0-4F51-415D-AEA3-6F1AE48833D4}"/>
              </a:ext>
            </a:extLst>
          </p:cNvPr>
          <p:cNvSpPr/>
          <p:nvPr/>
        </p:nvSpPr>
        <p:spPr>
          <a:xfrm>
            <a:off x="8270420" y="6555026"/>
            <a:ext cx="3914955" cy="307777"/>
          </a:xfrm>
          <a:prstGeom prst="rect">
            <a:avLst/>
          </a:prstGeom>
        </p:spPr>
        <p:txBody>
          <a:bodyPr wrap="square">
            <a:spAutoFit/>
          </a:bodyPr>
          <a:lstStyle/>
          <a:p>
            <a:r>
              <a:rPr lang="en-US" sz="1400" dirty="0"/>
              <a:t>Markus, Nat. Biotechnology, Vol. 26 Num. 3, 2008</a:t>
            </a:r>
          </a:p>
        </p:txBody>
      </p:sp>
      <p:pic>
        <p:nvPicPr>
          <p:cNvPr id="9" name="Picture 8">
            <a:extLst>
              <a:ext uri="{FF2B5EF4-FFF2-40B4-BE49-F238E27FC236}">
                <a16:creationId xmlns:a16="http://schemas.microsoft.com/office/drawing/2014/main" id="{4AE3BF5A-9747-4350-9757-223BACDFCFB5}"/>
              </a:ext>
            </a:extLst>
          </p:cNvPr>
          <p:cNvPicPr>
            <a:picLocks noChangeAspect="1"/>
          </p:cNvPicPr>
          <p:nvPr/>
        </p:nvPicPr>
        <p:blipFill>
          <a:blip r:embed="rId4"/>
          <a:stretch>
            <a:fillRect/>
          </a:stretch>
        </p:blipFill>
        <p:spPr>
          <a:xfrm>
            <a:off x="1134150" y="2729682"/>
            <a:ext cx="3815538" cy="3236394"/>
          </a:xfrm>
          <a:prstGeom prst="rect">
            <a:avLst/>
          </a:prstGeom>
        </p:spPr>
      </p:pic>
      <p:sp>
        <p:nvSpPr>
          <p:cNvPr id="3" name="Arrow: U-Turn 2">
            <a:extLst>
              <a:ext uri="{FF2B5EF4-FFF2-40B4-BE49-F238E27FC236}">
                <a16:creationId xmlns:a16="http://schemas.microsoft.com/office/drawing/2014/main" id="{AA4C186A-7421-458D-97E1-E46AFC247A85}"/>
              </a:ext>
            </a:extLst>
          </p:cNvPr>
          <p:cNvSpPr/>
          <p:nvPr/>
        </p:nvSpPr>
        <p:spPr>
          <a:xfrm>
            <a:off x="4480560" y="2217585"/>
            <a:ext cx="3815538" cy="904240"/>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659739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AB8697-7ABB-4165-A6EC-47EC6B030252}"/>
              </a:ext>
            </a:extLst>
          </p:cNvPr>
          <p:cNvPicPr>
            <a:picLocks noChangeAspect="1"/>
          </p:cNvPicPr>
          <p:nvPr/>
        </p:nvPicPr>
        <p:blipFill>
          <a:blip r:embed="rId3"/>
          <a:stretch>
            <a:fillRect/>
          </a:stretch>
        </p:blipFill>
        <p:spPr>
          <a:xfrm>
            <a:off x="6853878" y="2844397"/>
            <a:ext cx="4118922" cy="3471788"/>
          </a:xfrm>
          <a:prstGeom prst="rect">
            <a:avLst/>
          </a:prstGeom>
        </p:spPr>
      </p:pic>
      <p:sp>
        <p:nvSpPr>
          <p:cNvPr id="2" name="Title 1"/>
          <p:cNvSpPr>
            <a:spLocks noGrp="1"/>
          </p:cNvSpPr>
          <p:nvPr>
            <p:ph type="title"/>
          </p:nvPr>
        </p:nvSpPr>
        <p:spPr>
          <a:xfrm>
            <a:off x="0" y="0"/>
            <a:ext cx="12192000" cy="1325563"/>
          </a:xfrm>
        </p:spPr>
        <p:txBody>
          <a:bodyPr/>
          <a:lstStyle/>
          <a:p>
            <a:r>
              <a:rPr lang="en-US" dirty="0"/>
              <a:t>Principal components in biomedical research</a:t>
            </a:r>
          </a:p>
        </p:txBody>
      </p:sp>
      <p:sp>
        <p:nvSpPr>
          <p:cNvPr id="6" name="TextBox 5">
            <a:extLst>
              <a:ext uri="{FF2B5EF4-FFF2-40B4-BE49-F238E27FC236}">
                <a16:creationId xmlns:a16="http://schemas.microsoft.com/office/drawing/2014/main" id="{7A8B4323-B768-499F-A66F-60755E13A645}"/>
              </a:ext>
            </a:extLst>
          </p:cNvPr>
          <p:cNvSpPr txBox="1"/>
          <p:nvPr/>
        </p:nvSpPr>
        <p:spPr>
          <a:xfrm>
            <a:off x="3866006" y="1242285"/>
            <a:ext cx="5368651" cy="1446550"/>
          </a:xfrm>
          <a:prstGeom prst="rect">
            <a:avLst/>
          </a:prstGeom>
          <a:noFill/>
        </p:spPr>
        <p:txBody>
          <a:bodyPr wrap="square" rtlCol="0">
            <a:spAutoFit/>
          </a:bodyPr>
          <a:lstStyle/>
          <a:p>
            <a:r>
              <a:rPr lang="en-US" sz="2200" dirty="0"/>
              <a:t>Things to check in PCA</a:t>
            </a:r>
          </a:p>
          <a:p>
            <a:pPr marL="457200" indent="-457200">
              <a:buFont typeface="+mj-lt"/>
              <a:buAutoNum type="arabicPeriod"/>
            </a:pPr>
            <a:r>
              <a:rPr lang="en-US" sz="2200" dirty="0"/>
              <a:t>Projection of data onto PCs</a:t>
            </a:r>
          </a:p>
          <a:p>
            <a:pPr marL="457200" indent="-457200">
              <a:buFont typeface="+mj-lt"/>
              <a:buAutoNum type="arabicPeriod"/>
            </a:pPr>
            <a:r>
              <a:rPr lang="en-US" sz="2200" dirty="0"/>
              <a:t>Proportion of variance per PC</a:t>
            </a:r>
          </a:p>
          <a:p>
            <a:pPr marL="457200" indent="-457200">
              <a:buFont typeface="+mj-lt"/>
              <a:buAutoNum type="arabicPeriod"/>
            </a:pPr>
            <a:r>
              <a:rPr lang="en-US" sz="2200" dirty="0"/>
              <a:t>Weights of your genes on the PCs</a:t>
            </a:r>
          </a:p>
        </p:txBody>
      </p:sp>
      <p:sp>
        <p:nvSpPr>
          <p:cNvPr id="7" name="Rectangle 6">
            <a:extLst>
              <a:ext uri="{FF2B5EF4-FFF2-40B4-BE49-F238E27FC236}">
                <a16:creationId xmlns:a16="http://schemas.microsoft.com/office/drawing/2014/main" id="{5EB4D1B0-4F51-415D-AEA3-6F1AE48833D4}"/>
              </a:ext>
            </a:extLst>
          </p:cNvPr>
          <p:cNvSpPr/>
          <p:nvPr/>
        </p:nvSpPr>
        <p:spPr>
          <a:xfrm>
            <a:off x="8270420" y="6555026"/>
            <a:ext cx="3914955" cy="307777"/>
          </a:xfrm>
          <a:prstGeom prst="rect">
            <a:avLst/>
          </a:prstGeom>
        </p:spPr>
        <p:txBody>
          <a:bodyPr wrap="square">
            <a:spAutoFit/>
          </a:bodyPr>
          <a:lstStyle/>
          <a:p>
            <a:r>
              <a:rPr lang="en-US" sz="1400" dirty="0"/>
              <a:t>Markus, Nat. Biotechnology, Vol. 26 Num. 3, 2008</a:t>
            </a:r>
          </a:p>
        </p:txBody>
      </p:sp>
      <p:sp>
        <p:nvSpPr>
          <p:cNvPr id="5" name="Rectangle 4">
            <a:extLst>
              <a:ext uri="{FF2B5EF4-FFF2-40B4-BE49-F238E27FC236}">
                <a16:creationId xmlns:a16="http://schemas.microsoft.com/office/drawing/2014/main" id="{792315F2-1A5E-4D8D-8276-ED3A1451050B}"/>
              </a:ext>
            </a:extLst>
          </p:cNvPr>
          <p:cNvSpPr/>
          <p:nvPr/>
        </p:nvSpPr>
        <p:spPr>
          <a:xfrm>
            <a:off x="6456313" y="2605556"/>
            <a:ext cx="795130" cy="5714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4194CE5E-92B3-4909-9C6A-518D1C4545F2}"/>
              </a:ext>
            </a:extLst>
          </p:cNvPr>
          <p:cNvPicPr>
            <a:picLocks noChangeAspect="1"/>
          </p:cNvPicPr>
          <p:nvPr/>
        </p:nvPicPr>
        <p:blipFill>
          <a:blip r:embed="rId4"/>
          <a:stretch>
            <a:fillRect/>
          </a:stretch>
        </p:blipFill>
        <p:spPr>
          <a:xfrm>
            <a:off x="1219200" y="2844397"/>
            <a:ext cx="4266907" cy="3578549"/>
          </a:xfrm>
          <a:prstGeom prst="rect">
            <a:avLst/>
          </a:prstGeom>
        </p:spPr>
      </p:pic>
      <p:sp>
        <p:nvSpPr>
          <p:cNvPr id="10" name="Arrow: Right 9">
            <a:extLst>
              <a:ext uri="{FF2B5EF4-FFF2-40B4-BE49-F238E27FC236}">
                <a16:creationId xmlns:a16="http://schemas.microsoft.com/office/drawing/2014/main" id="{A470853D-BC4B-44CD-8B63-4A1734A0D94B}"/>
              </a:ext>
            </a:extLst>
          </p:cNvPr>
          <p:cNvSpPr/>
          <p:nvPr/>
        </p:nvSpPr>
        <p:spPr>
          <a:xfrm>
            <a:off x="5796280" y="4064000"/>
            <a:ext cx="599440" cy="5181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0224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A loading plot shows how strongly each dimension influences a principal component.</a:t>
            </a:r>
          </a:p>
        </p:txBody>
      </p:sp>
      <p:sp>
        <p:nvSpPr>
          <p:cNvPr id="4" name="Rectangle 3"/>
          <p:cNvSpPr/>
          <p:nvPr/>
        </p:nvSpPr>
        <p:spPr>
          <a:xfrm>
            <a:off x="8003982" y="5854369"/>
            <a:ext cx="3914955" cy="307777"/>
          </a:xfrm>
          <a:prstGeom prst="rect">
            <a:avLst/>
          </a:prstGeom>
        </p:spPr>
        <p:txBody>
          <a:bodyPr wrap="square">
            <a:spAutoFit/>
          </a:bodyPr>
          <a:lstStyle/>
          <a:p>
            <a:r>
              <a:rPr lang="en-US" sz="1400" dirty="0"/>
              <a:t>http://setosa.io/ev/principal-component-analysis/</a:t>
            </a:r>
          </a:p>
        </p:txBody>
      </p:sp>
      <p:grpSp>
        <p:nvGrpSpPr>
          <p:cNvPr id="7" name="Group 6"/>
          <p:cNvGrpSpPr/>
          <p:nvPr/>
        </p:nvGrpSpPr>
        <p:grpSpPr>
          <a:xfrm>
            <a:off x="6419700" y="1251294"/>
            <a:ext cx="5421780" cy="4682696"/>
            <a:chOff x="5599358" y="747423"/>
            <a:chExt cx="6592642" cy="5629523"/>
          </a:xfrm>
        </p:grpSpPr>
        <p:pic>
          <p:nvPicPr>
            <p:cNvPr id="33794" name="Picture 2" descr="https://blog.bioturing.com/wp-content/uploads/2018/11/loadings-plo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9358" y="747423"/>
              <a:ext cx="6592642" cy="562952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8301162" y="1145506"/>
              <a:ext cx="1502797" cy="3601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5"/>
          <p:cNvSpPr/>
          <p:nvPr/>
        </p:nvSpPr>
        <p:spPr>
          <a:xfrm>
            <a:off x="482379" y="1928770"/>
            <a:ext cx="6164664" cy="3477875"/>
          </a:xfrm>
          <a:prstGeom prst="rect">
            <a:avLst/>
          </a:prstGeom>
        </p:spPr>
        <p:txBody>
          <a:bodyPr wrap="square">
            <a:spAutoFit/>
          </a:bodyPr>
          <a:lstStyle/>
          <a:p>
            <a:r>
              <a:rPr lang="en-US" sz="2200" dirty="0"/>
              <a:t>A loading plot shows</a:t>
            </a:r>
          </a:p>
          <a:p>
            <a:pPr marL="285750" indent="-285750">
              <a:buFont typeface="Arial" panose="020B0604020202020204" pitchFamily="34" charset="0"/>
              <a:buChar char="•"/>
            </a:pPr>
            <a:r>
              <a:rPr lang="en-US" sz="2200" dirty="0"/>
              <a:t>Their projected values on each PC show how much weight they have on that PC</a:t>
            </a:r>
          </a:p>
          <a:p>
            <a:pPr marL="742950" lvl="1" indent="-285750">
              <a:buFont typeface="Arial" panose="020B0604020202020204" pitchFamily="34" charset="0"/>
              <a:buChar char="•"/>
            </a:pPr>
            <a:r>
              <a:rPr lang="en-US" sz="2200" dirty="0"/>
              <a:t>e. g., NPC2 and MAG influence PC1</a:t>
            </a:r>
          </a:p>
          <a:p>
            <a:pPr marL="742950" lvl="1" indent="-285750">
              <a:buFont typeface="Arial" panose="020B0604020202020204" pitchFamily="34" charset="0"/>
              <a:buChar char="•"/>
            </a:pPr>
            <a:r>
              <a:rPr lang="en-US" sz="2200" dirty="0"/>
              <a:t>e. g., GBA influences PC2</a:t>
            </a:r>
          </a:p>
          <a:p>
            <a:pPr marL="285750" indent="-285750">
              <a:buFont typeface="Arial" panose="020B0604020202020204" pitchFamily="34" charset="0"/>
              <a:buChar char="•"/>
            </a:pPr>
            <a:r>
              <a:rPr lang="en-US" sz="2200" dirty="0"/>
              <a:t>The angles b/w variables show how they correlated with each other</a:t>
            </a:r>
          </a:p>
          <a:p>
            <a:pPr marL="742950" lvl="1" indent="-285750">
              <a:buFont typeface="Arial" panose="020B0604020202020204" pitchFamily="34" charset="0"/>
              <a:buChar char="•"/>
            </a:pPr>
            <a:r>
              <a:rPr lang="en-US" sz="2200" dirty="0"/>
              <a:t>e. g., APOD and PSAP positively correlated </a:t>
            </a:r>
          </a:p>
          <a:p>
            <a:pPr marL="742950" lvl="1" indent="-285750">
              <a:buFont typeface="Arial" panose="020B0604020202020204" pitchFamily="34" charset="0"/>
              <a:buChar char="•"/>
            </a:pPr>
            <a:r>
              <a:rPr lang="en-US" sz="2200" dirty="0"/>
              <a:t>NPC2 and GBA not likely to be correlated</a:t>
            </a:r>
          </a:p>
          <a:p>
            <a:pPr marL="742950" lvl="1" indent="-285750">
              <a:buFont typeface="Arial" panose="020B0604020202020204" pitchFamily="34" charset="0"/>
              <a:buChar char="•"/>
            </a:pPr>
            <a:r>
              <a:rPr lang="en-US" sz="2200" dirty="0"/>
              <a:t>NPC2 and MAG negatively correlated</a:t>
            </a:r>
          </a:p>
        </p:txBody>
      </p:sp>
    </p:spTree>
    <p:extLst>
      <p:ext uri="{BB962C8B-B14F-4D97-AF65-F5344CB8AC3E}">
        <p14:creationId xmlns:p14="http://schemas.microsoft.com/office/powerpoint/2010/main" val="39006430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015434" y="6077447"/>
            <a:ext cx="3914955" cy="307777"/>
          </a:xfrm>
          <a:prstGeom prst="rect">
            <a:avLst/>
          </a:prstGeom>
        </p:spPr>
        <p:txBody>
          <a:bodyPr wrap="square">
            <a:spAutoFit/>
          </a:bodyPr>
          <a:lstStyle/>
          <a:p>
            <a:r>
              <a:rPr lang="en-US" sz="1400" dirty="0"/>
              <a:t>http://setosa.io/ev/principal-component-analysis/</a:t>
            </a:r>
          </a:p>
        </p:txBody>
      </p:sp>
      <p:sp>
        <p:nvSpPr>
          <p:cNvPr id="6" name="Rectangle 5"/>
          <p:cNvSpPr/>
          <p:nvPr/>
        </p:nvSpPr>
        <p:spPr>
          <a:xfrm>
            <a:off x="646043" y="2086706"/>
            <a:ext cx="4312257" cy="1569660"/>
          </a:xfrm>
          <a:prstGeom prst="rect">
            <a:avLst/>
          </a:prstGeom>
        </p:spPr>
        <p:txBody>
          <a:bodyPr wrap="square">
            <a:spAutoFit/>
          </a:bodyPr>
          <a:lstStyle/>
          <a:p>
            <a:pPr marL="285750" indent="-285750">
              <a:buFont typeface="Arial" panose="020B0604020202020204" pitchFamily="34" charset="0"/>
              <a:buChar char="•"/>
            </a:pPr>
            <a:r>
              <a:rPr lang="en-US" sz="2400" dirty="0"/>
              <a:t>Bottom axis: PC1 score</a:t>
            </a:r>
          </a:p>
          <a:p>
            <a:pPr marL="285750" indent="-285750">
              <a:buFont typeface="Arial" panose="020B0604020202020204" pitchFamily="34" charset="0"/>
              <a:buChar char="•"/>
            </a:pPr>
            <a:r>
              <a:rPr lang="en-US" sz="2400" dirty="0"/>
              <a:t>Left axis: PC2 score</a:t>
            </a:r>
          </a:p>
          <a:p>
            <a:pPr marL="285750" indent="-285750">
              <a:buFont typeface="Arial" panose="020B0604020202020204" pitchFamily="34" charset="0"/>
              <a:buChar char="•"/>
            </a:pPr>
            <a:r>
              <a:rPr lang="en-US" sz="2400" dirty="0"/>
              <a:t>Top axis: loadings on PC1</a:t>
            </a:r>
          </a:p>
          <a:p>
            <a:pPr marL="285750" indent="-285750">
              <a:buFont typeface="Arial" panose="020B0604020202020204" pitchFamily="34" charset="0"/>
              <a:buChar char="•"/>
            </a:pPr>
            <a:r>
              <a:rPr lang="en-US" sz="2400" dirty="0"/>
              <a:t>Right axis: loadings on PC2</a:t>
            </a:r>
          </a:p>
        </p:txBody>
      </p:sp>
      <p:pic>
        <p:nvPicPr>
          <p:cNvPr id="35842" name="Picture 2" descr="https://blog.bioturing.com/wp-content/uploads/2018/11/PCA-bi-plo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0755" y="780552"/>
            <a:ext cx="5518024" cy="529689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1DA4B4B-1E60-4F2C-A250-0820493B1F46}"/>
              </a:ext>
            </a:extLst>
          </p:cNvPr>
          <p:cNvSpPr/>
          <p:nvPr/>
        </p:nvSpPr>
        <p:spPr>
          <a:xfrm>
            <a:off x="8458200" y="556108"/>
            <a:ext cx="903135" cy="5864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0" y="0"/>
            <a:ext cx="12192000" cy="1325563"/>
          </a:xfrm>
          <a:solidFill>
            <a:schemeClr val="bg1"/>
          </a:solidFill>
        </p:spPr>
        <p:txBody>
          <a:bodyPr/>
          <a:lstStyle/>
          <a:p>
            <a:r>
              <a:rPr lang="en-US" dirty="0"/>
              <a:t>PCA biplot = PCA score plot + loading plot</a:t>
            </a:r>
          </a:p>
        </p:txBody>
      </p:sp>
    </p:spTree>
    <p:extLst>
      <p:ext uri="{BB962C8B-B14F-4D97-AF65-F5344CB8AC3E}">
        <p14:creationId xmlns:p14="http://schemas.microsoft.com/office/powerpoint/2010/main" val="3341564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2DE69-1AF6-4089-7A1F-D744F82AB1F9}"/>
              </a:ext>
            </a:extLst>
          </p:cNvPr>
          <p:cNvSpPr>
            <a:spLocks noGrp="1"/>
          </p:cNvSpPr>
          <p:nvPr>
            <p:ph type="title"/>
          </p:nvPr>
        </p:nvSpPr>
        <p:spPr>
          <a:xfrm>
            <a:off x="838200" y="365125"/>
            <a:ext cx="5182456" cy="4206875"/>
          </a:xfrm>
        </p:spPr>
        <p:txBody>
          <a:bodyPr>
            <a:normAutofit/>
          </a:bodyPr>
          <a:lstStyle/>
          <a:p>
            <a:r>
              <a:rPr lang="en-US" dirty="0"/>
              <a:t>Example of PCA in genetics:</a:t>
            </a:r>
            <a:br>
              <a:rPr lang="en-US" dirty="0"/>
            </a:br>
            <a:r>
              <a:rPr lang="en-US" dirty="0"/>
              <a:t>principal components of ancestry</a:t>
            </a:r>
          </a:p>
        </p:txBody>
      </p:sp>
      <p:pic>
        <p:nvPicPr>
          <p:cNvPr id="1026" name="Picture 2">
            <a:extLst>
              <a:ext uri="{FF2B5EF4-FFF2-40B4-BE49-F238E27FC236}">
                <a16:creationId xmlns:a16="http://schemas.microsoft.com/office/drawing/2014/main" id="{B81FEF79-4166-13E9-756F-24D27723DE8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07469" y="77056"/>
            <a:ext cx="5204136" cy="670388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1600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C6F31-DE03-CE91-607E-BD6CF8D984FB}"/>
              </a:ext>
            </a:extLst>
          </p:cNvPr>
          <p:cNvSpPr>
            <a:spLocks noGrp="1"/>
          </p:cNvSpPr>
          <p:nvPr>
            <p:ph type="title"/>
          </p:nvPr>
        </p:nvSpPr>
        <p:spPr/>
        <p:txBody>
          <a:bodyPr/>
          <a:lstStyle/>
          <a:p>
            <a:r>
              <a:rPr lang="en-US" dirty="0"/>
              <a:t>Limitations of PCA</a:t>
            </a:r>
          </a:p>
        </p:txBody>
      </p:sp>
      <p:sp>
        <p:nvSpPr>
          <p:cNvPr id="3" name="Content Placeholder 2">
            <a:extLst>
              <a:ext uri="{FF2B5EF4-FFF2-40B4-BE49-F238E27FC236}">
                <a16:creationId xmlns:a16="http://schemas.microsoft.com/office/drawing/2014/main" id="{12EB768B-3295-DAF5-E099-B973AA6496DD}"/>
              </a:ext>
            </a:extLst>
          </p:cNvPr>
          <p:cNvSpPr>
            <a:spLocks noGrp="1"/>
          </p:cNvSpPr>
          <p:nvPr>
            <p:ph idx="1"/>
          </p:nvPr>
        </p:nvSpPr>
        <p:spPr/>
        <p:txBody>
          <a:bodyPr/>
          <a:lstStyle/>
          <a:p>
            <a:r>
              <a:rPr lang="en-US" dirty="0"/>
              <a:t>PCs are </a:t>
            </a:r>
            <a:r>
              <a:rPr lang="en-US" u="sng" dirty="0"/>
              <a:t>linear</a:t>
            </a:r>
            <a:r>
              <a:rPr lang="en-US" dirty="0"/>
              <a:t> combinations of data</a:t>
            </a:r>
          </a:p>
          <a:p>
            <a:r>
              <a:rPr lang="en-US" dirty="0"/>
              <a:t>Outliers</a:t>
            </a:r>
          </a:p>
          <a:p>
            <a:r>
              <a:rPr lang="en-US" dirty="0"/>
              <a:t>Missing data</a:t>
            </a:r>
          </a:p>
        </p:txBody>
      </p:sp>
    </p:spTree>
    <p:extLst>
      <p:ext uri="{BB962C8B-B14F-4D97-AF65-F5344CB8AC3E}">
        <p14:creationId xmlns:p14="http://schemas.microsoft.com/office/powerpoint/2010/main" val="19633308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76B6A-D434-3083-35A3-9A7C958F4E29}"/>
              </a:ext>
            </a:extLst>
          </p:cNvPr>
          <p:cNvSpPr>
            <a:spLocks noGrp="1"/>
          </p:cNvSpPr>
          <p:nvPr>
            <p:ph type="title"/>
          </p:nvPr>
        </p:nvSpPr>
        <p:spPr/>
        <p:txBody>
          <a:bodyPr/>
          <a:lstStyle/>
          <a:p>
            <a:r>
              <a:rPr lang="en-US" dirty="0"/>
              <a:t>PCA examples</a:t>
            </a:r>
          </a:p>
        </p:txBody>
      </p:sp>
      <p:sp>
        <p:nvSpPr>
          <p:cNvPr id="3" name="Content Placeholder 2">
            <a:extLst>
              <a:ext uri="{FF2B5EF4-FFF2-40B4-BE49-F238E27FC236}">
                <a16:creationId xmlns:a16="http://schemas.microsoft.com/office/drawing/2014/main" id="{CF4377A8-01B6-B496-D0AD-935D32DA0FC9}"/>
              </a:ext>
            </a:extLst>
          </p:cNvPr>
          <p:cNvSpPr>
            <a:spLocks noGrp="1"/>
          </p:cNvSpPr>
          <p:nvPr>
            <p:ph idx="1"/>
          </p:nvPr>
        </p:nvSpPr>
        <p:spPr/>
        <p:txBody>
          <a:bodyPr/>
          <a:lstStyle/>
          <a:p>
            <a:pPr marL="0" indent="0">
              <a:buNone/>
            </a:pPr>
            <a:r>
              <a:rPr lang="en-US" dirty="0"/>
              <a:t>See exercises 4-8</a:t>
            </a:r>
          </a:p>
        </p:txBody>
      </p:sp>
    </p:spTree>
    <p:extLst>
      <p:ext uri="{BB962C8B-B14F-4D97-AF65-F5344CB8AC3E}">
        <p14:creationId xmlns:p14="http://schemas.microsoft.com/office/powerpoint/2010/main" val="3390987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039006" y="2319364"/>
            <a:ext cx="4149431" cy="3784164"/>
          </a:xfrm>
          <a:prstGeom prst="rect">
            <a:avLst/>
          </a:prstGeom>
        </p:spPr>
      </p:pic>
      <p:sp>
        <p:nvSpPr>
          <p:cNvPr id="2" name="Title 1"/>
          <p:cNvSpPr>
            <a:spLocks noGrp="1"/>
          </p:cNvSpPr>
          <p:nvPr>
            <p:ph type="title"/>
          </p:nvPr>
        </p:nvSpPr>
        <p:spPr>
          <a:xfrm>
            <a:off x="0" y="0"/>
            <a:ext cx="12192000" cy="1325563"/>
          </a:xfrm>
        </p:spPr>
        <p:txBody>
          <a:bodyPr/>
          <a:lstStyle/>
          <a:p>
            <a:r>
              <a:rPr lang="en-US" dirty="0"/>
              <a:t>Hierarchical clustering groups data points in a nested fashion by similarity</a:t>
            </a:r>
          </a:p>
        </p:txBody>
      </p:sp>
      <p:pic>
        <p:nvPicPr>
          <p:cNvPr id="5" name="Picture 4"/>
          <p:cNvPicPr>
            <a:picLocks noChangeAspect="1"/>
          </p:cNvPicPr>
          <p:nvPr/>
        </p:nvPicPr>
        <p:blipFill>
          <a:blip r:embed="rId3"/>
          <a:stretch>
            <a:fillRect/>
          </a:stretch>
        </p:blipFill>
        <p:spPr>
          <a:xfrm>
            <a:off x="97598" y="2642118"/>
            <a:ext cx="5906138" cy="3332896"/>
          </a:xfrm>
          <a:prstGeom prst="rect">
            <a:avLst/>
          </a:prstGeom>
        </p:spPr>
      </p:pic>
      <p:sp>
        <p:nvSpPr>
          <p:cNvPr id="6" name="Rectangle 5"/>
          <p:cNvSpPr/>
          <p:nvPr/>
        </p:nvSpPr>
        <p:spPr>
          <a:xfrm>
            <a:off x="2025413" y="5900772"/>
            <a:ext cx="3973524" cy="276999"/>
          </a:xfrm>
          <a:prstGeom prst="rect">
            <a:avLst/>
          </a:prstGeom>
        </p:spPr>
        <p:txBody>
          <a:bodyPr wrap="none">
            <a:spAutoFit/>
          </a:bodyPr>
          <a:lstStyle/>
          <a:p>
            <a:r>
              <a:rPr lang="en-US" sz="1200" dirty="0"/>
              <a:t>https://en.wikipedia.org/wiki/Multiple_sequence_alignment</a:t>
            </a:r>
          </a:p>
        </p:txBody>
      </p:sp>
      <p:sp>
        <p:nvSpPr>
          <p:cNvPr id="7" name="Right Arrow 6"/>
          <p:cNvSpPr/>
          <p:nvPr/>
        </p:nvSpPr>
        <p:spPr>
          <a:xfrm>
            <a:off x="6898640" y="3931920"/>
            <a:ext cx="721360" cy="894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p:cNvSpPr txBox="1">
            <a:spLocks/>
          </p:cNvSpPr>
          <p:nvPr/>
        </p:nvSpPr>
        <p:spPr>
          <a:xfrm>
            <a:off x="7932392" y="1942718"/>
            <a:ext cx="3384538" cy="397785"/>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Clustering of biological species</a:t>
            </a:r>
          </a:p>
        </p:txBody>
      </p:sp>
      <p:sp>
        <p:nvSpPr>
          <p:cNvPr id="11" name="TextBox 10">
            <a:extLst>
              <a:ext uri="{FF2B5EF4-FFF2-40B4-BE49-F238E27FC236}">
                <a16:creationId xmlns:a16="http://schemas.microsoft.com/office/drawing/2014/main" id="{B701C359-6110-49C5-A69F-1CBA398387FA}"/>
              </a:ext>
            </a:extLst>
          </p:cNvPr>
          <p:cNvSpPr txBox="1"/>
          <p:nvPr/>
        </p:nvSpPr>
        <p:spPr>
          <a:xfrm>
            <a:off x="553546" y="1762417"/>
            <a:ext cx="3308335" cy="1015663"/>
          </a:xfrm>
          <a:prstGeom prst="rect">
            <a:avLst/>
          </a:prstGeom>
          <a:noFill/>
        </p:spPr>
        <p:txBody>
          <a:bodyPr wrap="square" rtlCol="0">
            <a:spAutoFit/>
          </a:bodyPr>
          <a:lstStyle/>
          <a:p>
            <a:pPr marL="457200" indent="-457200">
              <a:buAutoNum type="arabicPeriod"/>
            </a:pPr>
            <a:r>
              <a:rPr lang="en-US" sz="2000" dirty="0"/>
              <a:t>What data was used? </a:t>
            </a:r>
          </a:p>
          <a:p>
            <a:r>
              <a:rPr lang="en-US" sz="2000" dirty="0"/>
              <a:t>DNA sequences of biological species</a:t>
            </a:r>
          </a:p>
        </p:txBody>
      </p:sp>
      <p:sp>
        <p:nvSpPr>
          <p:cNvPr id="13" name="TextBox 12">
            <a:extLst>
              <a:ext uri="{FF2B5EF4-FFF2-40B4-BE49-F238E27FC236}">
                <a16:creationId xmlns:a16="http://schemas.microsoft.com/office/drawing/2014/main" id="{69A5A5C3-0126-4161-86BF-07EB85F27B8C}"/>
              </a:ext>
            </a:extLst>
          </p:cNvPr>
          <p:cNvSpPr txBox="1"/>
          <p:nvPr/>
        </p:nvSpPr>
        <p:spPr>
          <a:xfrm>
            <a:off x="6003736" y="4959351"/>
            <a:ext cx="2395193" cy="1015663"/>
          </a:xfrm>
          <a:prstGeom prst="rect">
            <a:avLst/>
          </a:prstGeom>
          <a:noFill/>
        </p:spPr>
        <p:txBody>
          <a:bodyPr wrap="square" rtlCol="0">
            <a:spAutoFit/>
          </a:bodyPr>
          <a:lstStyle/>
          <a:p>
            <a:r>
              <a:rPr lang="en-US" sz="2000" dirty="0"/>
              <a:t>2. How was the distance estimated? A distance measure</a:t>
            </a:r>
          </a:p>
        </p:txBody>
      </p:sp>
    </p:spTree>
    <p:extLst>
      <p:ext uri="{BB962C8B-B14F-4D97-AF65-F5344CB8AC3E}">
        <p14:creationId xmlns:p14="http://schemas.microsoft.com/office/powerpoint/2010/main" val="40622898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039006" y="2319364"/>
            <a:ext cx="4149431" cy="3784164"/>
          </a:xfrm>
          <a:prstGeom prst="rect">
            <a:avLst/>
          </a:prstGeom>
        </p:spPr>
      </p:pic>
      <p:sp>
        <p:nvSpPr>
          <p:cNvPr id="2" name="Title 1"/>
          <p:cNvSpPr>
            <a:spLocks noGrp="1"/>
          </p:cNvSpPr>
          <p:nvPr>
            <p:ph type="title"/>
          </p:nvPr>
        </p:nvSpPr>
        <p:spPr>
          <a:xfrm>
            <a:off x="0" y="0"/>
            <a:ext cx="12192000" cy="1325563"/>
          </a:xfrm>
        </p:spPr>
        <p:txBody>
          <a:bodyPr/>
          <a:lstStyle/>
          <a:p>
            <a:r>
              <a:rPr lang="en-US" dirty="0"/>
              <a:t>Hierarchical clustering groups data points in a nested fashion by similarity</a:t>
            </a:r>
          </a:p>
        </p:txBody>
      </p:sp>
      <p:pic>
        <p:nvPicPr>
          <p:cNvPr id="5" name="Picture 4"/>
          <p:cNvPicPr>
            <a:picLocks noChangeAspect="1"/>
          </p:cNvPicPr>
          <p:nvPr/>
        </p:nvPicPr>
        <p:blipFill>
          <a:blip r:embed="rId3"/>
          <a:stretch>
            <a:fillRect/>
          </a:stretch>
        </p:blipFill>
        <p:spPr>
          <a:xfrm>
            <a:off x="97598" y="2642118"/>
            <a:ext cx="5906138" cy="3332896"/>
          </a:xfrm>
          <a:prstGeom prst="rect">
            <a:avLst/>
          </a:prstGeom>
        </p:spPr>
      </p:pic>
      <p:sp>
        <p:nvSpPr>
          <p:cNvPr id="6" name="Rectangle 5"/>
          <p:cNvSpPr/>
          <p:nvPr/>
        </p:nvSpPr>
        <p:spPr>
          <a:xfrm>
            <a:off x="2025413" y="5900772"/>
            <a:ext cx="3973524" cy="276999"/>
          </a:xfrm>
          <a:prstGeom prst="rect">
            <a:avLst/>
          </a:prstGeom>
        </p:spPr>
        <p:txBody>
          <a:bodyPr wrap="none">
            <a:spAutoFit/>
          </a:bodyPr>
          <a:lstStyle/>
          <a:p>
            <a:r>
              <a:rPr lang="en-US" sz="1200" dirty="0"/>
              <a:t>https://en.wikipedia.org/wiki/Multiple_sequence_alignment</a:t>
            </a:r>
          </a:p>
        </p:txBody>
      </p:sp>
      <p:sp>
        <p:nvSpPr>
          <p:cNvPr id="7" name="Right Arrow 6"/>
          <p:cNvSpPr/>
          <p:nvPr/>
        </p:nvSpPr>
        <p:spPr>
          <a:xfrm>
            <a:off x="6898640" y="3931920"/>
            <a:ext cx="721360" cy="894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p:cNvSpPr txBox="1">
            <a:spLocks/>
          </p:cNvSpPr>
          <p:nvPr/>
        </p:nvSpPr>
        <p:spPr>
          <a:xfrm>
            <a:off x="8972895" y="1913607"/>
            <a:ext cx="2281651" cy="3977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A phylogenetic tree</a:t>
            </a:r>
          </a:p>
        </p:txBody>
      </p:sp>
      <p:sp>
        <p:nvSpPr>
          <p:cNvPr id="11" name="TextBox 10">
            <a:extLst>
              <a:ext uri="{FF2B5EF4-FFF2-40B4-BE49-F238E27FC236}">
                <a16:creationId xmlns:a16="http://schemas.microsoft.com/office/drawing/2014/main" id="{B701C359-6110-49C5-A69F-1CBA398387FA}"/>
              </a:ext>
            </a:extLst>
          </p:cNvPr>
          <p:cNvSpPr txBox="1"/>
          <p:nvPr/>
        </p:nvSpPr>
        <p:spPr>
          <a:xfrm>
            <a:off x="553546" y="1762417"/>
            <a:ext cx="3308335" cy="1015663"/>
          </a:xfrm>
          <a:prstGeom prst="rect">
            <a:avLst/>
          </a:prstGeom>
          <a:noFill/>
        </p:spPr>
        <p:txBody>
          <a:bodyPr wrap="square" rtlCol="0">
            <a:spAutoFit/>
          </a:bodyPr>
          <a:lstStyle/>
          <a:p>
            <a:pPr marL="457200" indent="-457200">
              <a:buAutoNum type="arabicPeriod"/>
            </a:pPr>
            <a:r>
              <a:rPr lang="en-US" sz="2000" dirty="0"/>
              <a:t>What data was used? </a:t>
            </a:r>
          </a:p>
          <a:p>
            <a:r>
              <a:rPr lang="en-US" sz="2000" dirty="0"/>
              <a:t>DNA sequences of biological species</a:t>
            </a:r>
          </a:p>
        </p:txBody>
      </p:sp>
      <p:sp>
        <p:nvSpPr>
          <p:cNvPr id="13" name="TextBox 12">
            <a:extLst>
              <a:ext uri="{FF2B5EF4-FFF2-40B4-BE49-F238E27FC236}">
                <a16:creationId xmlns:a16="http://schemas.microsoft.com/office/drawing/2014/main" id="{69A5A5C3-0126-4161-86BF-07EB85F27B8C}"/>
              </a:ext>
            </a:extLst>
          </p:cNvPr>
          <p:cNvSpPr txBox="1"/>
          <p:nvPr/>
        </p:nvSpPr>
        <p:spPr>
          <a:xfrm>
            <a:off x="6003736" y="4959351"/>
            <a:ext cx="2395193" cy="1015663"/>
          </a:xfrm>
          <a:prstGeom prst="rect">
            <a:avLst/>
          </a:prstGeom>
          <a:noFill/>
        </p:spPr>
        <p:txBody>
          <a:bodyPr wrap="square" rtlCol="0">
            <a:spAutoFit/>
          </a:bodyPr>
          <a:lstStyle/>
          <a:p>
            <a:r>
              <a:rPr lang="en-US" sz="2000" dirty="0"/>
              <a:t>2. How was the distance estimated? An evolutional model</a:t>
            </a:r>
          </a:p>
        </p:txBody>
      </p:sp>
    </p:spTree>
    <p:extLst>
      <p:ext uri="{BB962C8B-B14F-4D97-AF65-F5344CB8AC3E}">
        <p14:creationId xmlns:p14="http://schemas.microsoft.com/office/powerpoint/2010/main" val="687104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82151" y="2035968"/>
            <a:ext cx="4149431" cy="3784164"/>
          </a:xfrm>
          <a:prstGeom prst="rect">
            <a:avLst/>
          </a:prstGeom>
        </p:spPr>
      </p:pic>
      <p:sp>
        <p:nvSpPr>
          <p:cNvPr id="2" name="Title 1"/>
          <p:cNvSpPr>
            <a:spLocks noGrp="1"/>
          </p:cNvSpPr>
          <p:nvPr>
            <p:ph type="title"/>
          </p:nvPr>
        </p:nvSpPr>
        <p:spPr>
          <a:xfrm>
            <a:off x="0" y="0"/>
            <a:ext cx="12192000" cy="1325563"/>
          </a:xfrm>
        </p:spPr>
        <p:txBody>
          <a:bodyPr/>
          <a:lstStyle/>
          <a:p>
            <a:r>
              <a:rPr lang="en-US" dirty="0"/>
              <a:t>Hierarchical clustering makes a tree (dendrogram)</a:t>
            </a:r>
          </a:p>
        </p:txBody>
      </p:sp>
      <p:sp>
        <p:nvSpPr>
          <p:cNvPr id="10" name="Rectangle 9">
            <a:extLst>
              <a:ext uri="{FF2B5EF4-FFF2-40B4-BE49-F238E27FC236}">
                <a16:creationId xmlns:a16="http://schemas.microsoft.com/office/drawing/2014/main" id="{6271B113-9876-44CA-B721-C3FD57852FC1}"/>
              </a:ext>
            </a:extLst>
          </p:cNvPr>
          <p:cNvSpPr/>
          <p:nvPr/>
        </p:nvSpPr>
        <p:spPr>
          <a:xfrm>
            <a:off x="2829438" y="4857214"/>
            <a:ext cx="895350" cy="1112936"/>
          </a:xfrm>
          <a:prstGeom prst="rect">
            <a:avLst/>
          </a:prstGeom>
          <a:noFill/>
          <a:ln w="31750">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C2EBD7EB-C22B-4D68-A397-B7EF5C80897F}"/>
              </a:ext>
            </a:extLst>
          </p:cNvPr>
          <p:cNvSpPr txBox="1">
            <a:spLocks/>
          </p:cNvSpPr>
          <p:nvPr/>
        </p:nvSpPr>
        <p:spPr>
          <a:xfrm>
            <a:off x="1764597" y="1638183"/>
            <a:ext cx="3384538" cy="397785"/>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Clustering of biological species</a:t>
            </a:r>
          </a:p>
        </p:txBody>
      </p:sp>
      <p:cxnSp>
        <p:nvCxnSpPr>
          <p:cNvPr id="19" name="Straight Connector 18">
            <a:extLst>
              <a:ext uri="{FF2B5EF4-FFF2-40B4-BE49-F238E27FC236}">
                <a16:creationId xmlns:a16="http://schemas.microsoft.com/office/drawing/2014/main" id="{64F7BA65-4878-49EF-95BE-A0BD7B9336AD}"/>
              </a:ext>
            </a:extLst>
          </p:cNvPr>
          <p:cNvCxnSpPr>
            <a:cxnSpLocks/>
          </p:cNvCxnSpPr>
          <p:nvPr/>
        </p:nvCxnSpPr>
        <p:spPr>
          <a:xfrm flipV="1">
            <a:off x="3724788" y="3555284"/>
            <a:ext cx="3336153" cy="1301930"/>
          </a:xfrm>
          <a:prstGeom prst="line">
            <a:avLst/>
          </a:prstGeom>
          <a:ln w="317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20" name="Picture 2" descr="dendrogram2">
            <a:extLst>
              <a:ext uri="{FF2B5EF4-FFF2-40B4-BE49-F238E27FC236}">
                <a16:creationId xmlns:a16="http://schemas.microsoft.com/office/drawing/2014/main" id="{49BA7851-2688-4DC1-B3AC-33B697F164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0941" y="3555284"/>
            <a:ext cx="3460241" cy="260386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FB02ECFC-124E-4131-80E5-F8034295B789}"/>
              </a:ext>
            </a:extLst>
          </p:cNvPr>
          <p:cNvCxnSpPr>
            <a:cxnSpLocks/>
          </p:cNvCxnSpPr>
          <p:nvPr/>
        </p:nvCxnSpPr>
        <p:spPr>
          <a:xfrm>
            <a:off x="3724788" y="5946416"/>
            <a:ext cx="3493135" cy="303830"/>
          </a:xfrm>
          <a:prstGeom prst="line">
            <a:avLst/>
          </a:prstGeom>
          <a:ln w="317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4757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Dendrogram visualizes hierarchical relationship of terminal nodes</a:t>
            </a:r>
          </a:p>
        </p:txBody>
      </p:sp>
      <p:sp>
        <p:nvSpPr>
          <p:cNvPr id="4" name="Rectangle 3"/>
          <p:cNvSpPr/>
          <p:nvPr/>
        </p:nvSpPr>
        <p:spPr>
          <a:xfrm>
            <a:off x="6421741" y="6550223"/>
            <a:ext cx="5770260" cy="307777"/>
          </a:xfrm>
          <a:prstGeom prst="rect">
            <a:avLst/>
          </a:prstGeom>
        </p:spPr>
        <p:txBody>
          <a:bodyPr wrap="square">
            <a:spAutoFit/>
          </a:bodyPr>
          <a:lstStyle/>
          <a:p>
            <a:r>
              <a:rPr lang="en-US" sz="1400" dirty="0"/>
              <a:t>https://</a:t>
            </a:r>
            <a:r>
              <a:rPr lang="en-US" sz="1400" dirty="0" err="1"/>
              <a:t>www.statisticshowto.datasciencecentral.com</a:t>
            </a:r>
            <a:r>
              <a:rPr lang="en-US" sz="1400" dirty="0"/>
              <a:t>/hierarchical-clustering/</a:t>
            </a:r>
          </a:p>
        </p:txBody>
      </p:sp>
      <p:sp>
        <p:nvSpPr>
          <p:cNvPr id="3" name="Rectangle 2"/>
          <p:cNvSpPr/>
          <p:nvPr/>
        </p:nvSpPr>
        <p:spPr>
          <a:xfrm>
            <a:off x="422829" y="2269886"/>
            <a:ext cx="5673171" cy="2677656"/>
          </a:xfrm>
          <a:prstGeom prst="rect">
            <a:avLst/>
          </a:prstGeom>
        </p:spPr>
        <p:txBody>
          <a:bodyPr wrap="square">
            <a:spAutoFit/>
          </a:bodyPr>
          <a:lstStyle/>
          <a:p>
            <a:pPr marL="342900" indent="-342900">
              <a:buFont typeface="Arial" panose="020B0604020202020204" pitchFamily="34" charset="0"/>
              <a:buChar char="•"/>
            </a:pPr>
            <a:r>
              <a:rPr lang="en-US" sz="2400" dirty="0"/>
              <a:t>Dendrogram = nodes + edges</a:t>
            </a:r>
          </a:p>
          <a:p>
            <a:pPr marL="342900" indent="-342900">
              <a:buFont typeface="Arial" panose="020B0604020202020204" pitchFamily="34" charset="0"/>
              <a:buChar char="•"/>
            </a:pPr>
            <a:r>
              <a:rPr lang="en-US" sz="2400" dirty="0"/>
              <a:t>Nodes </a:t>
            </a:r>
          </a:p>
          <a:p>
            <a:pPr marL="800100" lvl="1" indent="-342900">
              <a:buFont typeface="Arial" panose="020B0604020202020204" pitchFamily="34" charset="0"/>
              <a:buChar char="•"/>
            </a:pPr>
            <a:r>
              <a:rPr lang="en-US" sz="2400" dirty="0"/>
              <a:t>root node: no parent allowed</a:t>
            </a:r>
          </a:p>
          <a:p>
            <a:pPr marL="800100" lvl="1" indent="-342900">
              <a:buFont typeface="Arial" panose="020B0604020202020204" pitchFamily="34" charset="0"/>
              <a:buChar char="•"/>
            </a:pPr>
            <a:r>
              <a:rPr lang="en-US" sz="2400" dirty="0"/>
              <a:t>intermediate nodes: multiple descendants</a:t>
            </a:r>
          </a:p>
          <a:p>
            <a:pPr marL="800100" lvl="1" indent="-342900">
              <a:buFont typeface="Arial" panose="020B0604020202020204" pitchFamily="34" charset="0"/>
              <a:buChar char="•"/>
            </a:pPr>
            <a:r>
              <a:rPr lang="en-US" sz="2400" dirty="0"/>
              <a:t>terminal nodes: data points</a:t>
            </a:r>
          </a:p>
          <a:p>
            <a:pPr marL="342900" indent="-342900">
              <a:buFont typeface="Arial" panose="020B0604020202020204" pitchFamily="34" charset="0"/>
              <a:buChar char="•"/>
            </a:pPr>
            <a:r>
              <a:rPr lang="en-US" sz="2400" dirty="0"/>
              <a:t>Edges represent the relationship</a:t>
            </a:r>
            <a:endParaRPr lang="en-US" dirty="0"/>
          </a:p>
        </p:txBody>
      </p:sp>
      <p:pic>
        <p:nvPicPr>
          <p:cNvPr id="6" name="Picture 2" descr="dendrogram2">
            <a:extLst>
              <a:ext uri="{FF2B5EF4-FFF2-40B4-BE49-F238E27FC236}">
                <a16:creationId xmlns:a16="http://schemas.microsoft.com/office/drawing/2014/main" id="{5175885F-BD44-43F1-8694-DF98B7905F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1741" y="1721859"/>
            <a:ext cx="4979586" cy="374718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12F5F5E-EF21-4BCC-B969-59937E8CFBFD}"/>
                  </a:ext>
                </a:extLst>
              </p:cNvPr>
              <p:cNvSpPr txBox="1"/>
              <p:nvPr/>
            </p:nvSpPr>
            <p:spPr>
              <a:xfrm>
                <a:off x="11329679" y="2731440"/>
                <a:ext cx="32040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𝛾</m:t>
                      </m:r>
                    </m:oMath>
                  </m:oMathPara>
                </a14:m>
                <a:endParaRPr lang="en-US" sz="3200" b="0" dirty="0"/>
              </a:p>
            </p:txBody>
          </p:sp>
        </mc:Choice>
        <mc:Fallback xmlns="">
          <p:sp>
            <p:nvSpPr>
              <p:cNvPr id="7" name="TextBox 6">
                <a:extLst>
                  <a:ext uri="{FF2B5EF4-FFF2-40B4-BE49-F238E27FC236}">
                    <a16:creationId xmlns:a16="http://schemas.microsoft.com/office/drawing/2014/main" id="{612F5F5E-EF21-4BCC-B969-59937E8CFBFD}"/>
                  </a:ext>
                </a:extLst>
              </p:cNvPr>
              <p:cNvSpPr txBox="1">
                <a:spLocks noRot="1" noChangeAspect="1" noMove="1" noResize="1" noEditPoints="1" noAdjustHandles="1" noChangeArrowheads="1" noChangeShapeType="1" noTextEdit="1"/>
              </p:cNvSpPr>
              <p:nvPr/>
            </p:nvSpPr>
            <p:spPr>
              <a:xfrm>
                <a:off x="11329679" y="2731440"/>
                <a:ext cx="320409" cy="492443"/>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771287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Dendrogram visualize group memberships</a:t>
            </a:r>
          </a:p>
        </p:txBody>
      </p:sp>
      <p:sp>
        <p:nvSpPr>
          <p:cNvPr id="4" name="Rectangle 3"/>
          <p:cNvSpPr/>
          <p:nvPr/>
        </p:nvSpPr>
        <p:spPr>
          <a:xfrm>
            <a:off x="6421741" y="6550223"/>
            <a:ext cx="5770260" cy="307777"/>
          </a:xfrm>
          <a:prstGeom prst="rect">
            <a:avLst/>
          </a:prstGeom>
        </p:spPr>
        <p:txBody>
          <a:bodyPr wrap="square">
            <a:spAutoFit/>
          </a:bodyPr>
          <a:lstStyle/>
          <a:p>
            <a:r>
              <a:rPr lang="en-US" sz="1400"/>
              <a:t>https://www.statisticshowto.datasciencecentral.com/hierarchical-clustering/</a:t>
            </a:r>
          </a:p>
        </p:txBody>
      </p:sp>
      <p:pic>
        <p:nvPicPr>
          <p:cNvPr id="20482" name="Picture 2" descr="dendrogram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3650" y="1636798"/>
            <a:ext cx="5258160" cy="395680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83909" y="2039241"/>
            <a:ext cx="5837987" cy="2308324"/>
          </a:xfrm>
          <a:prstGeom prst="rect">
            <a:avLst/>
          </a:prstGeom>
        </p:spPr>
        <p:txBody>
          <a:bodyPr wrap="square">
            <a:spAutoFit/>
          </a:bodyPr>
          <a:lstStyle/>
          <a:p>
            <a:pPr marL="285750" indent="-285750">
              <a:buFont typeface="Arial" panose="020B0604020202020204" pitchFamily="34" charset="0"/>
              <a:buChar char="•"/>
            </a:pPr>
            <a:r>
              <a:rPr lang="en-US" sz="2400" dirty="0"/>
              <a:t>Leaves A, B, and C are more similar to each other than to D, E, or F.</a:t>
            </a:r>
          </a:p>
          <a:p>
            <a:pPr marL="285750" indent="-285750">
              <a:buFont typeface="Arial" panose="020B0604020202020204" pitchFamily="34" charset="0"/>
              <a:buChar char="•"/>
            </a:pPr>
            <a:r>
              <a:rPr lang="en-US" sz="2400" dirty="0"/>
              <a:t>Leaves D and E are more similar to each other than to A, B, C, or F.</a:t>
            </a:r>
          </a:p>
          <a:p>
            <a:pPr marL="285750" indent="-285750">
              <a:buFont typeface="Arial" panose="020B0604020202020204" pitchFamily="34" charset="0"/>
              <a:buChar char="•"/>
            </a:pPr>
            <a:r>
              <a:rPr lang="en-US" sz="2400" dirty="0"/>
              <a:t>Leaf F </a:t>
            </a:r>
            <a:r>
              <a:rPr lang="en-US" sz="2400"/>
              <a:t>is different </a:t>
            </a:r>
            <a:r>
              <a:rPr lang="en-US" sz="2400" dirty="0"/>
              <a:t>from all of the other </a:t>
            </a:r>
            <a:r>
              <a:rPr lang="en-US" sz="2400"/>
              <a:t>leaves.</a:t>
            </a:r>
            <a:endParaRPr lang="en-US" sz="240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A5E5B44-A87F-4522-A5D3-6980C00F15C2}"/>
                  </a:ext>
                </a:extLst>
              </p:cNvPr>
              <p:cNvSpPr txBox="1"/>
              <p:nvPr/>
            </p:nvSpPr>
            <p:spPr>
              <a:xfrm>
                <a:off x="11492239" y="2731440"/>
                <a:ext cx="32040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𝛾</m:t>
                      </m:r>
                    </m:oMath>
                  </m:oMathPara>
                </a14:m>
                <a:endParaRPr lang="en-US" sz="3200" b="0" dirty="0"/>
              </a:p>
            </p:txBody>
          </p:sp>
        </mc:Choice>
        <mc:Fallback xmlns="">
          <p:sp>
            <p:nvSpPr>
              <p:cNvPr id="5" name="TextBox 4">
                <a:extLst>
                  <a:ext uri="{FF2B5EF4-FFF2-40B4-BE49-F238E27FC236}">
                    <a16:creationId xmlns:a16="http://schemas.microsoft.com/office/drawing/2014/main" id="{EA5E5B44-A87F-4522-A5D3-6980C00F15C2}"/>
                  </a:ext>
                </a:extLst>
              </p:cNvPr>
              <p:cNvSpPr txBox="1">
                <a:spLocks noRot="1" noChangeAspect="1" noMove="1" noResize="1" noEditPoints="1" noAdjustHandles="1" noChangeArrowheads="1" noChangeShapeType="1" noTextEdit="1"/>
              </p:cNvSpPr>
              <p:nvPr/>
            </p:nvSpPr>
            <p:spPr>
              <a:xfrm>
                <a:off x="11492239" y="2731440"/>
                <a:ext cx="320409" cy="492443"/>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854753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dirty="0"/>
              <a:t>Dendrogram visualizes distances among objects</a:t>
            </a:r>
          </a:p>
        </p:txBody>
      </p:sp>
      <p:sp>
        <p:nvSpPr>
          <p:cNvPr id="4" name="Rectangle 3"/>
          <p:cNvSpPr/>
          <p:nvPr/>
        </p:nvSpPr>
        <p:spPr>
          <a:xfrm>
            <a:off x="6421741" y="6550223"/>
            <a:ext cx="5770260" cy="307777"/>
          </a:xfrm>
          <a:prstGeom prst="rect">
            <a:avLst/>
          </a:prstGeom>
        </p:spPr>
        <p:txBody>
          <a:bodyPr wrap="square">
            <a:spAutoFit/>
          </a:bodyPr>
          <a:lstStyle/>
          <a:p>
            <a:r>
              <a:rPr lang="en-US" sz="1400"/>
              <a:t>https://www.statisticshowto.datasciencecentral.com/hierarchical-clustering/</a:t>
            </a:r>
          </a:p>
        </p:txBody>
      </p:sp>
      <p:grpSp>
        <p:nvGrpSpPr>
          <p:cNvPr id="5" name="Group 4">
            <a:extLst>
              <a:ext uri="{FF2B5EF4-FFF2-40B4-BE49-F238E27FC236}">
                <a16:creationId xmlns:a16="http://schemas.microsoft.com/office/drawing/2014/main" id="{24FF23AF-1991-49FB-86AD-9B939A34BF2D}"/>
              </a:ext>
            </a:extLst>
          </p:cNvPr>
          <p:cNvGrpSpPr/>
          <p:nvPr/>
        </p:nvGrpSpPr>
        <p:grpSpPr>
          <a:xfrm>
            <a:off x="6711481" y="1768453"/>
            <a:ext cx="4849676" cy="3690426"/>
            <a:chOff x="6221896" y="1674897"/>
            <a:chExt cx="5770260" cy="4342169"/>
          </a:xfrm>
        </p:grpSpPr>
        <p:pic>
          <p:nvPicPr>
            <p:cNvPr id="20482" name="Picture 2" descr="dendrogram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1896" y="1674897"/>
              <a:ext cx="5770260" cy="434216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1FDFBCCD-1719-4BCF-91D9-851EB35743BB}"/>
                </a:ext>
              </a:extLst>
            </p:cNvPr>
            <p:cNvCxnSpPr/>
            <p:nvPr/>
          </p:nvCxnSpPr>
          <p:spPr>
            <a:xfrm flipV="1">
              <a:off x="7096539" y="2683565"/>
              <a:ext cx="0" cy="745435"/>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881337A-C163-4CBE-B54E-E2E423E6759C}"/>
                </a:ext>
              </a:extLst>
            </p:cNvPr>
            <p:cNvCxnSpPr>
              <a:cxnSpLocks/>
            </p:cNvCxnSpPr>
            <p:nvPr/>
          </p:nvCxnSpPr>
          <p:spPr>
            <a:xfrm flipV="1">
              <a:off x="10687878" y="2683566"/>
              <a:ext cx="0" cy="427382"/>
            </a:xfrm>
            <a:prstGeom prst="line">
              <a:avLst/>
            </a:prstGeom>
            <a:ln w="63500">
              <a:solidFill>
                <a:srgbClr val="FFC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ED3E631D-CC75-4BA5-A70C-34A2B5730798}"/>
                  </a:ext>
                </a:extLst>
              </p:cNvPr>
              <p:cNvSpPr/>
              <p:nvPr/>
            </p:nvSpPr>
            <p:spPr>
              <a:xfrm>
                <a:off x="507734" y="1720840"/>
                <a:ext cx="5837987" cy="3785652"/>
              </a:xfrm>
              <a:prstGeom prst="rect">
                <a:avLst/>
              </a:prstGeom>
            </p:spPr>
            <p:txBody>
              <a:bodyPr wrap="square">
                <a:spAutoFit/>
              </a:bodyPr>
              <a:lstStyle/>
              <a:p>
                <a:pPr marL="285750" indent="-285750">
                  <a:buFont typeface="Arial" panose="020B0604020202020204" pitchFamily="34" charset="0"/>
                  <a:buChar char="•"/>
                </a:pPr>
                <a:r>
                  <a:rPr lang="en-US" sz="2400" dirty="0"/>
                  <a:t>        indicates how A, B, C is different from each other</a:t>
                </a:r>
              </a:p>
              <a:p>
                <a:pPr marL="285750" indent="-285750">
                  <a:buFont typeface="Arial" panose="020B0604020202020204" pitchFamily="34" charset="0"/>
                  <a:buChar char="•"/>
                </a:pPr>
                <a:r>
                  <a:rPr lang="en-US" sz="2400" dirty="0"/>
                  <a:t>       indicates how D, E is different from each other</a:t>
                </a:r>
              </a:p>
              <a:p>
                <a:pPr marL="285750" indent="-285750">
                  <a:buFont typeface="Arial" panose="020B0604020202020204" pitchFamily="34" charset="0"/>
                  <a:buChar char="•"/>
                </a:pPr>
                <a:r>
                  <a:rPr lang="en-US" sz="2400" dirty="0"/>
                  <a:t>       (</a:t>
                </a:r>
                <a:r>
                  <a:rPr lang="el-GR" sz="2400" dirty="0"/>
                  <a:t>α</a:t>
                </a:r>
                <a:r>
                  <a:rPr lang="en-US" sz="2400" dirty="0"/>
                  <a:t>) indicates how the clade of A, B, C is from the rest</a:t>
                </a:r>
              </a:p>
              <a:p>
                <a:pPr marL="285750" indent="-285750">
                  <a:buFont typeface="Arial" panose="020B0604020202020204" pitchFamily="34" charset="0"/>
                  <a:buChar char="•"/>
                </a:pPr>
                <a:r>
                  <a:rPr lang="en-US" sz="2400" dirty="0"/>
                  <a:t>       (</a:t>
                </a:r>
                <a14:m>
                  <m:oMath xmlns:m="http://schemas.openxmlformats.org/officeDocument/2006/math">
                    <m:r>
                      <a:rPr lang="en-US" sz="2400" b="0" i="1" smtClean="0">
                        <a:latin typeface="Cambria Math" panose="02040503050406030204" pitchFamily="18" charset="0"/>
                      </a:rPr>
                      <m:t>𝜖</m:t>
                    </m:r>
                  </m:oMath>
                </a14:m>
                <a:r>
                  <a:rPr lang="en-US" sz="2400" dirty="0"/>
                  <a:t>) indicates how the clade of D, E is different from the rest.</a:t>
                </a:r>
              </a:p>
              <a:p>
                <a:pPr marL="285750" indent="-285750">
                  <a:buFont typeface="Arial" panose="020B0604020202020204" pitchFamily="34" charset="0"/>
                  <a:buChar char="•"/>
                </a:pPr>
                <a:r>
                  <a:rPr lang="en-US" sz="2400" dirty="0"/>
                  <a:t>          +         (</a:t>
                </a:r>
                <a14:m>
                  <m:oMath xmlns:m="http://schemas.openxmlformats.org/officeDocument/2006/math">
                    <m:r>
                      <a:rPr lang="en-US" sz="2400" b="0" i="1" smtClean="0">
                        <a:latin typeface="Cambria Math" panose="02040503050406030204" pitchFamily="18" charset="0"/>
                      </a:rPr>
                      <m:t>𝛼</m:t>
                    </m:r>
                    <m:r>
                      <a:rPr lang="en-US" sz="2400" b="0" i="1" smtClean="0">
                        <a:latin typeface="Cambria Math" panose="02040503050406030204" pitchFamily="18" charset="0"/>
                      </a:rPr>
                      <m:t>+</m:t>
                    </m:r>
                    <m:r>
                      <a:rPr lang="en-US" sz="2400" b="0" i="1" smtClean="0">
                        <a:latin typeface="Cambria Math" panose="02040503050406030204" pitchFamily="18" charset="0"/>
                      </a:rPr>
                      <m:t>𝜖</m:t>
                    </m:r>
                  </m:oMath>
                </a14:m>
                <a:r>
                  <a:rPr lang="en-US" sz="2400" dirty="0"/>
                  <a:t>) shows how different the clade of A, B, C is from that of D, E</a:t>
                </a:r>
              </a:p>
            </p:txBody>
          </p:sp>
        </mc:Choice>
        <mc:Fallback xmlns="">
          <p:sp>
            <p:nvSpPr>
              <p:cNvPr id="14" name="Rectangle 13">
                <a:extLst>
                  <a:ext uri="{FF2B5EF4-FFF2-40B4-BE49-F238E27FC236}">
                    <a16:creationId xmlns:a16="http://schemas.microsoft.com/office/drawing/2014/main" id="{ED3E631D-CC75-4BA5-A70C-34A2B5730798}"/>
                  </a:ext>
                </a:extLst>
              </p:cNvPr>
              <p:cNvSpPr>
                <a:spLocks noRot="1" noChangeAspect="1" noMove="1" noResize="1" noEditPoints="1" noAdjustHandles="1" noChangeArrowheads="1" noChangeShapeType="1" noTextEdit="1"/>
              </p:cNvSpPr>
              <p:nvPr/>
            </p:nvSpPr>
            <p:spPr>
              <a:xfrm>
                <a:off x="507734" y="1720840"/>
                <a:ext cx="5837987" cy="3785652"/>
              </a:xfrm>
              <a:prstGeom prst="rect">
                <a:avLst/>
              </a:prstGeom>
              <a:blipFill>
                <a:blip r:embed="rId4"/>
                <a:stretch>
                  <a:fillRect l="-1357" t="-1288" r="-835" b="-2738"/>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A447995F-95BE-447B-912D-D4CF6092B873}"/>
              </a:ext>
            </a:extLst>
          </p:cNvPr>
          <p:cNvCxnSpPr>
            <a:cxnSpLocks/>
          </p:cNvCxnSpPr>
          <p:nvPr/>
        </p:nvCxnSpPr>
        <p:spPr>
          <a:xfrm flipH="1" flipV="1">
            <a:off x="914400" y="2683564"/>
            <a:ext cx="321366" cy="1"/>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5054813-B139-477A-9BE4-3F6D31CA8CE0}"/>
              </a:ext>
            </a:extLst>
          </p:cNvPr>
          <p:cNvCxnSpPr>
            <a:cxnSpLocks/>
          </p:cNvCxnSpPr>
          <p:nvPr/>
        </p:nvCxnSpPr>
        <p:spPr>
          <a:xfrm flipH="1">
            <a:off x="930966" y="4143375"/>
            <a:ext cx="314739" cy="0"/>
          </a:xfrm>
          <a:prstGeom prst="line">
            <a:avLst/>
          </a:prstGeom>
          <a:ln w="635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E1E8E2E-5BFE-49EA-9537-5555B88BFE53}"/>
              </a:ext>
            </a:extLst>
          </p:cNvPr>
          <p:cNvCxnSpPr>
            <a:cxnSpLocks/>
          </p:cNvCxnSpPr>
          <p:nvPr/>
        </p:nvCxnSpPr>
        <p:spPr>
          <a:xfrm flipH="1" flipV="1">
            <a:off x="952087" y="4848745"/>
            <a:ext cx="321366" cy="1"/>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B709E82-4F96-41E1-901D-FD1F1200179B}"/>
              </a:ext>
            </a:extLst>
          </p:cNvPr>
          <p:cNvCxnSpPr>
            <a:cxnSpLocks/>
          </p:cNvCxnSpPr>
          <p:nvPr/>
        </p:nvCxnSpPr>
        <p:spPr>
          <a:xfrm flipH="1">
            <a:off x="1879739" y="4840462"/>
            <a:ext cx="314739" cy="0"/>
          </a:xfrm>
          <a:prstGeom prst="line">
            <a:avLst/>
          </a:prstGeom>
          <a:ln w="635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F955C87-46D7-4F55-8EED-91EAF87E4F83}"/>
              </a:ext>
            </a:extLst>
          </p:cNvPr>
          <p:cNvCxnSpPr>
            <a:cxnSpLocks/>
          </p:cNvCxnSpPr>
          <p:nvPr/>
        </p:nvCxnSpPr>
        <p:spPr>
          <a:xfrm flipH="1" flipV="1">
            <a:off x="914400" y="1913915"/>
            <a:ext cx="321366" cy="1"/>
          </a:xfrm>
          <a:prstGeom prst="line">
            <a:avLst/>
          </a:prstGeom>
          <a:ln w="635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58B1E9A-C848-46D6-A580-0C2784F869E4}"/>
              </a:ext>
            </a:extLst>
          </p:cNvPr>
          <p:cNvCxnSpPr>
            <a:cxnSpLocks/>
          </p:cNvCxnSpPr>
          <p:nvPr/>
        </p:nvCxnSpPr>
        <p:spPr>
          <a:xfrm flipH="1" flipV="1">
            <a:off x="914400" y="3456331"/>
            <a:ext cx="321366" cy="1"/>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4C1CE5C7-2B41-4ABF-9A4C-0D2ACDBB2141}"/>
              </a:ext>
            </a:extLst>
          </p:cNvPr>
          <p:cNvSpPr/>
          <p:nvPr/>
        </p:nvSpPr>
        <p:spPr>
          <a:xfrm>
            <a:off x="10035054" y="1400783"/>
            <a:ext cx="836578" cy="6225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6D81403-89D9-4410-BCD6-D560CAADC859}"/>
                  </a:ext>
                </a:extLst>
              </p:cNvPr>
              <p:cNvSpPr txBox="1"/>
              <p:nvPr/>
            </p:nvSpPr>
            <p:spPr>
              <a:xfrm>
                <a:off x="11483155" y="3013050"/>
                <a:ext cx="32040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𝛾</m:t>
                      </m:r>
                    </m:oMath>
                  </m:oMathPara>
                </a14:m>
                <a:endParaRPr lang="en-US" sz="3200" b="0" dirty="0"/>
              </a:p>
            </p:txBody>
          </p:sp>
        </mc:Choice>
        <mc:Fallback xmlns="">
          <p:sp>
            <p:nvSpPr>
              <p:cNvPr id="17" name="TextBox 16">
                <a:extLst>
                  <a:ext uri="{FF2B5EF4-FFF2-40B4-BE49-F238E27FC236}">
                    <a16:creationId xmlns:a16="http://schemas.microsoft.com/office/drawing/2014/main" id="{86D81403-89D9-4410-BCD6-D560CAADC859}"/>
                  </a:ext>
                </a:extLst>
              </p:cNvPr>
              <p:cNvSpPr txBox="1">
                <a:spLocks noRot="1" noChangeAspect="1" noMove="1" noResize="1" noEditPoints="1" noAdjustHandles="1" noChangeArrowheads="1" noChangeShapeType="1" noTextEdit="1"/>
              </p:cNvSpPr>
              <p:nvPr/>
            </p:nvSpPr>
            <p:spPr>
              <a:xfrm>
                <a:off x="11483155" y="3013050"/>
                <a:ext cx="320409" cy="492443"/>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291170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4653" y="0"/>
            <a:ext cx="10515600" cy="1325563"/>
          </a:xfrm>
        </p:spPr>
        <p:txBody>
          <a:bodyPr/>
          <a:lstStyle/>
          <a:p>
            <a:r>
              <a:rPr lang="en-US" dirty="0"/>
              <a:t>Clustering based on distance</a:t>
            </a:r>
          </a:p>
        </p:txBody>
      </p:sp>
      <p:pic>
        <p:nvPicPr>
          <p:cNvPr id="3" name="Picture 2"/>
          <p:cNvPicPr>
            <a:picLocks noChangeAspect="1"/>
          </p:cNvPicPr>
          <p:nvPr/>
        </p:nvPicPr>
        <p:blipFill>
          <a:blip r:embed="rId2"/>
          <a:stretch>
            <a:fillRect/>
          </a:stretch>
        </p:blipFill>
        <p:spPr>
          <a:xfrm>
            <a:off x="6365431" y="1257831"/>
            <a:ext cx="5533813" cy="4936492"/>
          </a:xfrm>
          <a:prstGeom prst="rect">
            <a:avLst/>
          </a:prstGeom>
        </p:spPr>
      </p:pic>
      <p:sp>
        <p:nvSpPr>
          <p:cNvPr id="6" name="Rectangle 5"/>
          <p:cNvSpPr/>
          <p:nvPr/>
        </p:nvSpPr>
        <p:spPr>
          <a:xfrm>
            <a:off x="7218871" y="3996268"/>
            <a:ext cx="1551093" cy="1259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40622" y="1714020"/>
            <a:ext cx="5836377" cy="830997"/>
          </a:xfrm>
          <a:prstGeom prst="rect">
            <a:avLst/>
          </a:prstGeom>
          <a:noFill/>
        </p:spPr>
        <p:txBody>
          <a:bodyPr wrap="square" rtlCol="0">
            <a:spAutoFit/>
          </a:bodyPr>
          <a:lstStyle/>
          <a:p>
            <a:r>
              <a:rPr lang="en-US" sz="2400" dirty="0"/>
              <a:t>Algorithm of K-means clustering on 2-D data</a:t>
            </a:r>
          </a:p>
          <a:p>
            <a:pPr marL="285750" indent="-285750">
              <a:buFont typeface="Arial" panose="020B0604020202020204" pitchFamily="34" charset="0"/>
              <a:buChar char="•"/>
            </a:pPr>
            <a:r>
              <a:rPr lang="en-US" sz="2400" dirty="0"/>
              <a:t>Given data of </a:t>
            </a:r>
            <a:r>
              <a:rPr lang="en-US" sz="2400" b="1" dirty="0"/>
              <a:t>two</a:t>
            </a:r>
            <a:r>
              <a:rPr lang="en-US" sz="2400" dirty="0"/>
              <a:t> dimensions (features)</a:t>
            </a:r>
          </a:p>
        </p:txBody>
      </p:sp>
      <p:sp>
        <p:nvSpPr>
          <p:cNvPr id="11" name="TextBox 10"/>
          <p:cNvSpPr txBox="1"/>
          <p:nvPr/>
        </p:nvSpPr>
        <p:spPr>
          <a:xfrm>
            <a:off x="8614177" y="5927668"/>
            <a:ext cx="1358064" cy="369332"/>
          </a:xfrm>
          <a:prstGeom prst="rect">
            <a:avLst/>
          </a:prstGeom>
          <a:noFill/>
        </p:spPr>
        <p:txBody>
          <a:bodyPr wrap="none" rtlCol="0">
            <a:spAutoFit/>
          </a:bodyPr>
          <a:lstStyle/>
          <a:p>
            <a:r>
              <a:rPr lang="en-US"/>
              <a:t>Dimension 1</a:t>
            </a:r>
          </a:p>
        </p:txBody>
      </p:sp>
      <p:sp>
        <p:nvSpPr>
          <p:cNvPr id="12" name="TextBox 11"/>
          <p:cNvSpPr txBox="1"/>
          <p:nvPr/>
        </p:nvSpPr>
        <p:spPr>
          <a:xfrm rot="16200000">
            <a:off x="5738301" y="3369448"/>
            <a:ext cx="1369036" cy="369332"/>
          </a:xfrm>
          <a:prstGeom prst="rect">
            <a:avLst/>
          </a:prstGeom>
          <a:noFill/>
        </p:spPr>
        <p:txBody>
          <a:bodyPr wrap="square" rtlCol="0">
            <a:spAutoFit/>
          </a:bodyPr>
          <a:lstStyle/>
          <a:p>
            <a:r>
              <a:rPr lang="en-US"/>
              <a:t>Dimension 2</a:t>
            </a:r>
          </a:p>
        </p:txBody>
      </p:sp>
      <p:sp>
        <p:nvSpPr>
          <p:cNvPr id="13" name="Rectangle 12"/>
          <p:cNvSpPr/>
          <p:nvPr/>
        </p:nvSpPr>
        <p:spPr>
          <a:xfrm>
            <a:off x="7752080" y="6364732"/>
            <a:ext cx="4470400" cy="523220"/>
          </a:xfrm>
          <a:prstGeom prst="rect">
            <a:avLst/>
          </a:prstGeom>
        </p:spPr>
        <p:txBody>
          <a:bodyPr wrap="square">
            <a:spAutoFit/>
          </a:bodyPr>
          <a:lstStyle/>
          <a:p>
            <a:r>
              <a:rPr lang="en-US" sz="1400" dirty="0"/>
              <a:t>https://</a:t>
            </a:r>
            <a:r>
              <a:rPr lang="en-US" sz="1400" dirty="0" err="1"/>
              <a:t>towardsdatascience.com</a:t>
            </a:r>
            <a:r>
              <a:rPr lang="en-US" sz="1400" dirty="0"/>
              <a:t>/cluster-analysis-create-visualize-and-interpret-customer-segments-474e55d00ebb</a:t>
            </a:r>
          </a:p>
        </p:txBody>
      </p:sp>
    </p:spTree>
    <p:extLst>
      <p:ext uri="{BB962C8B-B14F-4D97-AF65-F5344CB8AC3E}">
        <p14:creationId xmlns:p14="http://schemas.microsoft.com/office/powerpoint/2010/main" val="7413634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6247175" y="1375352"/>
            <a:ext cx="5533813" cy="4896929"/>
          </a:xfrm>
          <a:prstGeom prst="rect">
            <a:avLst/>
          </a:prstGeom>
        </p:spPr>
      </p:pic>
      <p:sp>
        <p:nvSpPr>
          <p:cNvPr id="5" name="TextBox 4"/>
          <p:cNvSpPr txBox="1"/>
          <p:nvPr/>
        </p:nvSpPr>
        <p:spPr>
          <a:xfrm>
            <a:off x="8509468" y="5952738"/>
            <a:ext cx="1358064" cy="369332"/>
          </a:xfrm>
          <a:prstGeom prst="rect">
            <a:avLst/>
          </a:prstGeom>
          <a:noFill/>
        </p:spPr>
        <p:txBody>
          <a:bodyPr wrap="none" rtlCol="0">
            <a:spAutoFit/>
          </a:bodyPr>
          <a:lstStyle/>
          <a:p>
            <a:r>
              <a:rPr lang="en-US"/>
              <a:t>Dimension 1</a:t>
            </a:r>
          </a:p>
        </p:txBody>
      </p:sp>
      <p:sp>
        <p:nvSpPr>
          <p:cNvPr id="6" name="TextBox 5"/>
          <p:cNvSpPr txBox="1"/>
          <p:nvPr/>
        </p:nvSpPr>
        <p:spPr>
          <a:xfrm rot="16200000">
            <a:off x="5639078" y="3389032"/>
            <a:ext cx="1358064" cy="369332"/>
          </a:xfrm>
          <a:prstGeom prst="rect">
            <a:avLst/>
          </a:prstGeom>
          <a:noFill/>
        </p:spPr>
        <p:txBody>
          <a:bodyPr wrap="none" rtlCol="0">
            <a:spAutoFit/>
          </a:bodyPr>
          <a:lstStyle/>
          <a:p>
            <a:r>
              <a:rPr lang="en-US"/>
              <a:t>Dimension 2</a:t>
            </a:r>
          </a:p>
        </p:txBody>
      </p:sp>
      <p:sp>
        <p:nvSpPr>
          <p:cNvPr id="7" name="TextBox 6"/>
          <p:cNvSpPr txBox="1"/>
          <p:nvPr/>
        </p:nvSpPr>
        <p:spPr>
          <a:xfrm>
            <a:off x="516835" y="1714019"/>
            <a:ext cx="5616609" cy="1200329"/>
          </a:xfrm>
          <a:prstGeom prst="rect">
            <a:avLst/>
          </a:prstGeom>
          <a:noFill/>
        </p:spPr>
        <p:txBody>
          <a:bodyPr wrap="square" rtlCol="0">
            <a:spAutoFit/>
          </a:bodyPr>
          <a:lstStyle/>
          <a:p>
            <a:r>
              <a:rPr lang="en-US" sz="2400" dirty="0"/>
              <a:t>Algorithm of K-mean clustering on 2-D data</a:t>
            </a:r>
          </a:p>
          <a:p>
            <a:pPr marL="285750" indent="-285750">
              <a:buFont typeface="Arial" panose="020B0604020202020204" pitchFamily="34" charset="0"/>
              <a:buChar char="•"/>
            </a:pPr>
            <a:r>
              <a:rPr lang="en-US" sz="2400" dirty="0"/>
              <a:t>Given data of </a:t>
            </a:r>
            <a:r>
              <a:rPr lang="en-US" sz="2400" b="1" dirty="0"/>
              <a:t>two</a:t>
            </a:r>
            <a:r>
              <a:rPr lang="en-US" sz="2400" dirty="0"/>
              <a:t> dimensions </a:t>
            </a:r>
          </a:p>
          <a:p>
            <a:pPr marL="285750" indent="-285750">
              <a:buFont typeface="Arial" panose="020B0604020202020204" pitchFamily="34" charset="0"/>
              <a:buChar char="•"/>
            </a:pPr>
            <a:r>
              <a:rPr lang="en-US" sz="2400" dirty="0"/>
              <a:t>Assuming </a:t>
            </a:r>
            <a:r>
              <a:rPr lang="en-US" sz="2400" b="1" dirty="0"/>
              <a:t>three</a:t>
            </a:r>
            <a:r>
              <a:rPr lang="en-US" sz="2400" dirty="0"/>
              <a:t> clusters (K=3)</a:t>
            </a:r>
          </a:p>
        </p:txBody>
      </p:sp>
      <p:sp>
        <p:nvSpPr>
          <p:cNvPr id="8" name="Rectangle 7"/>
          <p:cNvSpPr/>
          <p:nvPr/>
        </p:nvSpPr>
        <p:spPr>
          <a:xfrm>
            <a:off x="7752080" y="6364732"/>
            <a:ext cx="4470400" cy="523220"/>
          </a:xfrm>
          <a:prstGeom prst="rect">
            <a:avLst/>
          </a:prstGeom>
        </p:spPr>
        <p:txBody>
          <a:bodyPr wrap="square">
            <a:spAutoFit/>
          </a:bodyPr>
          <a:lstStyle/>
          <a:p>
            <a:r>
              <a:rPr lang="en-US" sz="1400"/>
              <a:t>https://towardsdatascience.com/cluster-analysis-create-visualize-and-interpret-customer-segments-474e55d00ebb</a:t>
            </a:r>
          </a:p>
        </p:txBody>
      </p:sp>
      <p:sp>
        <p:nvSpPr>
          <p:cNvPr id="9" name="Title 1"/>
          <p:cNvSpPr>
            <a:spLocks noGrp="1"/>
          </p:cNvSpPr>
          <p:nvPr>
            <p:ph type="title"/>
          </p:nvPr>
        </p:nvSpPr>
        <p:spPr>
          <a:xfrm>
            <a:off x="824653" y="0"/>
            <a:ext cx="10515600" cy="1325563"/>
          </a:xfrm>
        </p:spPr>
        <p:txBody>
          <a:bodyPr/>
          <a:lstStyle/>
          <a:p>
            <a:r>
              <a:rPr lang="en-US" dirty="0"/>
              <a:t>Clustering based on distance</a:t>
            </a:r>
          </a:p>
        </p:txBody>
      </p:sp>
      <p:sp>
        <p:nvSpPr>
          <p:cNvPr id="10" name="Rectangle 9">
            <a:extLst>
              <a:ext uri="{FF2B5EF4-FFF2-40B4-BE49-F238E27FC236}">
                <a16:creationId xmlns:a16="http://schemas.microsoft.com/office/drawing/2014/main" id="{4270EE98-D9F7-4205-BF28-E31860D3478C}"/>
              </a:ext>
            </a:extLst>
          </p:cNvPr>
          <p:cNvSpPr/>
          <p:nvPr/>
        </p:nvSpPr>
        <p:spPr>
          <a:xfrm>
            <a:off x="7218871" y="3996268"/>
            <a:ext cx="1551093" cy="1259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91419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6247175" y="1375352"/>
            <a:ext cx="5533813" cy="4896929"/>
          </a:xfrm>
          <a:prstGeom prst="rect">
            <a:avLst/>
          </a:prstGeom>
        </p:spPr>
      </p:pic>
      <p:sp>
        <p:nvSpPr>
          <p:cNvPr id="5" name="TextBox 4"/>
          <p:cNvSpPr txBox="1"/>
          <p:nvPr/>
        </p:nvSpPr>
        <p:spPr>
          <a:xfrm>
            <a:off x="8509468" y="5952738"/>
            <a:ext cx="1358064" cy="369332"/>
          </a:xfrm>
          <a:prstGeom prst="rect">
            <a:avLst/>
          </a:prstGeom>
          <a:noFill/>
        </p:spPr>
        <p:txBody>
          <a:bodyPr wrap="none" rtlCol="0">
            <a:spAutoFit/>
          </a:bodyPr>
          <a:lstStyle/>
          <a:p>
            <a:r>
              <a:rPr lang="en-US"/>
              <a:t>Dimension 1</a:t>
            </a:r>
          </a:p>
        </p:txBody>
      </p:sp>
      <p:sp>
        <p:nvSpPr>
          <p:cNvPr id="6" name="TextBox 5"/>
          <p:cNvSpPr txBox="1"/>
          <p:nvPr/>
        </p:nvSpPr>
        <p:spPr>
          <a:xfrm rot="16200000">
            <a:off x="5639078" y="3389032"/>
            <a:ext cx="1358064" cy="369332"/>
          </a:xfrm>
          <a:prstGeom prst="rect">
            <a:avLst/>
          </a:prstGeom>
          <a:noFill/>
        </p:spPr>
        <p:txBody>
          <a:bodyPr wrap="none" rtlCol="0">
            <a:spAutoFit/>
          </a:bodyPr>
          <a:lstStyle/>
          <a:p>
            <a:r>
              <a:rPr lang="en-US"/>
              <a:t>Dimension 2</a:t>
            </a:r>
          </a:p>
        </p:txBody>
      </p:sp>
      <p:sp>
        <p:nvSpPr>
          <p:cNvPr id="7" name="TextBox 6"/>
          <p:cNvSpPr txBox="1"/>
          <p:nvPr/>
        </p:nvSpPr>
        <p:spPr>
          <a:xfrm>
            <a:off x="516835" y="1714019"/>
            <a:ext cx="5616609" cy="1938992"/>
          </a:xfrm>
          <a:prstGeom prst="rect">
            <a:avLst/>
          </a:prstGeom>
          <a:noFill/>
        </p:spPr>
        <p:txBody>
          <a:bodyPr wrap="square" rtlCol="0">
            <a:spAutoFit/>
          </a:bodyPr>
          <a:lstStyle/>
          <a:p>
            <a:r>
              <a:rPr lang="en-US" sz="2400" dirty="0"/>
              <a:t>Algorithm of K-mean clustering on 2-D data</a:t>
            </a:r>
          </a:p>
          <a:p>
            <a:pPr marL="285750" indent="-285750">
              <a:buFont typeface="Arial" panose="020B0604020202020204" pitchFamily="34" charset="0"/>
              <a:buChar char="•"/>
            </a:pPr>
            <a:r>
              <a:rPr lang="en-US" sz="2400" dirty="0"/>
              <a:t>Given data of </a:t>
            </a:r>
            <a:r>
              <a:rPr lang="en-US" sz="2400" b="1" dirty="0"/>
              <a:t>two</a:t>
            </a:r>
            <a:r>
              <a:rPr lang="en-US" sz="2400" dirty="0"/>
              <a:t> dimensions </a:t>
            </a:r>
          </a:p>
          <a:p>
            <a:pPr marL="285750" indent="-285750">
              <a:buFont typeface="Arial" panose="020B0604020202020204" pitchFamily="34" charset="0"/>
              <a:buChar char="•"/>
            </a:pPr>
            <a:r>
              <a:rPr lang="en-US" sz="2400" dirty="0"/>
              <a:t>Assuming </a:t>
            </a:r>
            <a:r>
              <a:rPr lang="en-US" sz="2400" b="1" dirty="0"/>
              <a:t>three</a:t>
            </a:r>
            <a:r>
              <a:rPr lang="en-US" sz="2400" dirty="0"/>
              <a:t> clusters (K=3)</a:t>
            </a:r>
          </a:p>
          <a:p>
            <a:pPr marL="285750" indent="-285750">
              <a:buFont typeface="Arial" panose="020B0604020202020204" pitchFamily="34" charset="0"/>
              <a:buChar char="•"/>
            </a:pPr>
            <a:r>
              <a:rPr lang="en-US" sz="2400" b="1" dirty="0"/>
              <a:t>Randomly</a:t>
            </a:r>
            <a:r>
              <a:rPr lang="en-US" sz="2400" dirty="0"/>
              <a:t> choose the center point (centroid) for the clusters</a:t>
            </a:r>
          </a:p>
        </p:txBody>
      </p:sp>
      <p:sp>
        <p:nvSpPr>
          <p:cNvPr id="8" name="Rectangle 7"/>
          <p:cNvSpPr/>
          <p:nvPr/>
        </p:nvSpPr>
        <p:spPr>
          <a:xfrm>
            <a:off x="7752080" y="6364732"/>
            <a:ext cx="4470400" cy="523220"/>
          </a:xfrm>
          <a:prstGeom prst="rect">
            <a:avLst/>
          </a:prstGeom>
        </p:spPr>
        <p:txBody>
          <a:bodyPr wrap="square">
            <a:spAutoFit/>
          </a:bodyPr>
          <a:lstStyle/>
          <a:p>
            <a:r>
              <a:rPr lang="en-US" sz="1400"/>
              <a:t>https://towardsdatascience.com/cluster-analysis-create-visualize-and-interpret-customer-segments-474e55d00ebb</a:t>
            </a:r>
          </a:p>
        </p:txBody>
      </p:sp>
      <p:sp>
        <p:nvSpPr>
          <p:cNvPr id="9" name="Title 1"/>
          <p:cNvSpPr>
            <a:spLocks noGrp="1"/>
          </p:cNvSpPr>
          <p:nvPr>
            <p:ph type="title"/>
          </p:nvPr>
        </p:nvSpPr>
        <p:spPr>
          <a:xfrm>
            <a:off x="824653" y="0"/>
            <a:ext cx="10515600" cy="1325563"/>
          </a:xfrm>
        </p:spPr>
        <p:txBody>
          <a:bodyPr/>
          <a:lstStyle/>
          <a:p>
            <a:r>
              <a:rPr lang="en-US" dirty="0"/>
              <a:t>Clustering based on distance</a:t>
            </a:r>
          </a:p>
        </p:txBody>
      </p:sp>
    </p:spTree>
    <p:extLst>
      <p:ext uri="{BB962C8B-B14F-4D97-AF65-F5344CB8AC3E}">
        <p14:creationId xmlns:p14="http://schemas.microsoft.com/office/powerpoint/2010/main" val="21739135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715736" y="1159708"/>
            <a:ext cx="5081786" cy="5041561"/>
          </a:xfrm>
          <a:prstGeom prst="rect">
            <a:avLst/>
          </a:prstGeom>
        </p:spPr>
      </p:pic>
      <p:sp>
        <p:nvSpPr>
          <p:cNvPr id="6" name="TextBox 5"/>
          <p:cNvSpPr txBox="1"/>
          <p:nvPr/>
        </p:nvSpPr>
        <p:spPr>
          <a:xfrm>
            <a:off x="628007" y="1714019"/>
            <a:ext cx="5560958" cy="1938992"/>
          </a:xfrm>
          <a:prstGeom prst="rect">
            <a:avLst/>
          </a:prstGeom>
          <a:noFill/>
        </p:spPr>
        <p:txBody>
          <a:bodyPr wrap="square" rtlCol="0">
            <a:spAutoFit/>
          </a:bodyPr>
          <a:lstStyle/>
          <a:p>
            <a:r>
              <a:rPr lang="en-US" sz="2400" dirty="0"/>
              <a:t>Algorithm of K-mean clustering on 2-D data</a:t>
            </a:r>
          </a:p>
          <a:p>
            <a:pPr marL="285750" indent="-285750">
              <a:buFont typeface="Arial" panose="020B0604020202020204" pitchFamily="34" charset="0"/>
              <a:buChar char="•"/>
            </a:pPr>
            <a:r>
              <a:rPr lang="en-US" sz="2400" dirty="0"/>
              <a:t>Given data of </a:t>
            </a:r>
            <a:r>
              <a:rPr lang="en-US" sz="2400" b="1" dirty="0"/>
              <a:t>two</a:t>
            </a:r>
            <a:r>
              <a:rPr lang="en-US" sz="2400" dirty="0"/>
              <a:t> dimensions </a:t>
            </a:r>
          </a:p>
          <a:p>
            <a:pPr marL="285750" indent="-285750">
              <a:buFont typeface="Arial" panose="020B0604020202020204" pitchFamily="34" charset="0"/>
              <a:buChar char="•"/>
            </a:pPr>
            <a:r>
              <a:rPr lang="en-US" sz="2400" dirty="0"/>
              <a:t>Assuming </a:t>
            </a:r>
            <a:r>
              <a:rPr lang="en-US" sz="2400" b="1" dirty="0"/>
              <a:t>three</a:t>
            </a:r>
            <a:r>
              <a:rPr lang="en-US" sz="2400" dirty="0"/>
              <a:t> clusters (K=3)</a:t>
            </a:r>
          </a:p>
          <a:p>
            <a:pPr marL="285750" indent="-285750">
              <a:buFont typeface="Arial" panose="020B0604020202020204" pitchFamily="34" charset="0"/>
              <a:buChar char="•"/>
            </a:pPr>
            <a:r>
              <a:rPr lang="en-US" sz="2400" dirty="0"/>
              <a:t>Update cluster assignments based on the </a:t>
            </a:r>
            <a:r>
              <a:rPr lang="en-US" sz="2400" b="1" dirty="0"/>
              <a:t>distance</a:t>
            </a:r>
          </a:p>
        </p:txBody>
      </p:sp>
      <p:sp>
        <p:nvSpPr>
          <p:cNvPr id="7" name="TextBox 6"/>
          <p:cNvSpPr txBox="1"/>
          <p:nvPr/>
        </p:nvSpPr>
        <p:spPr>
          <a:xfrm>
            <a:off x="8590127" y="5903047"/>
            <a:ext cx="1358064" cy="369332"/>
          </a:xfrm>
          <a:prstGeom prst="rect">
            <a:avLst/>
          </a:prstGeom>
          <a:noFill/>
        </p:spPr>
        <p:txBody>
          <a:bodyPr wrap="none" rtlCol="0">
            <a:spAutoFit/>
          </a:bodyPr>
          <a:lstStyle/>
          <a:p>
            <a:r>
              <a:rPr lang="en-US"/>
              <a:t>Dimension 1</a:t>
            </a:r>
          </a:p>
        </p:txBody>
      </p:sp>
      <p:sp>
        <p:nvSpPr>
          <p:cNvPr id="8" name="TextBox 7"/>
          <p:cNvSpPr txBox="1"/>
          <p:nvPr/>
        </p:nvSpPr>
        <p:spPr>
          <a:xfrm rot="16200000">
            <a:off x="5719737" y="3339341"/>
            <a:ext cx="1358064" cy="369332"/>
          </a:xfrm>
          <a:prstGeom prst="rect">
            <a:avLst/>
          </a:prstGeom>
          <a:noFill/>
        </p:spPr>
        <p:txBody>
          <a:bodyPr wrap="none" rtlCol="0">
            <a:spAutoFit/>
          </a:bodyPr>
          <a:lstStyle/>
          <a:p>
            <a:r>
              <a:rPr lang="en-US"/>
              <a:t>Dimension 2</a:t>
            </a:r>
          </a:p>
        </p:txBody>
      </p:sp>
      <p:sp>
        <p:nvSpPr>
          <p:cNvPr id="9" name="Rectangle 8"/>
          <p:cNvSpPr/>
          <p:nvPr/>
        </p:nvSpPr>
        <p:spPr>
          <a:xfrm>
            <a:off x="8145814" y="1159708"/>
            <a:ext cx="2431627" cy="36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52080" y="6364732"/>
            <a:ext cx="4470400" cy="523220"/>
          </a:xfrm>
          <a:prstGeom prst="rect">
            <a:avLst/>
          </a:prstGeom>
        </p:spPr>
        <p:txBody>
          <a:bodyPr wrap="square">
            <a:spAutoFit/>
          </a:bodyPr>
          <a:lstStyle/>
          <a:p>
            <a:r>
              <a:rPr lang="en-US" sz="1400"/>
              <a:t>https://towardsdatascience.com/cluster-analysis-create-visualize-and-interpret-customer-segments-474e55d00ebb</a:t>
            </a:r>
          </a:p>
        </p:txBody>
      </p:sp>
      <p:sp>
        <p:nvSpPr>
          <p:cNvPr id="11" name="Title 1"/>
          <p:cNvSpPr>
            <a:spLocks noGrp="1"/>
          </p:cNvSpPr>
          <p:nvPr>
            <p:ph type="title"/>
          </p:nvPr>
        </p:nvSpPr>
        <p:spPr>
          <a:xfrm>
            <a:off x="824653" y="0"/>
            <a:ext cx="10515600" cy="1325563"/>
          </a:xfrm>
        </p:spPr>
        <p:txBody>
          <a:bodyPr/>
          <a:lstStyle/>
          <a:p>
            <a:r>
              <a:rPr lang="en-US"/>
              <a:t>Clustering based on distance</a:t>
            </a:r>
          </a:p>
        </p:txBody>
      </p:sp>
    </p:spTree>
    <p:extLst>
      <p:ext uri="{BB962C8B-B14F-4D97-AF65-F5344CB8AC3E}">
        <p14:creationId xmlns:p14="http://schemas.microsoft.com/office/powerpoint/2010/main" val="16552125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6325020" y="1159708"/>
            <a:ext cx="5301947" cy="4928005"/>
          </a:xfrm>
          <a:prstGeom prst="rect">
            <a:avLst/>
          </a:prstGeom>
        </p:spPr>
      </p:pic>
      <p:sp>
        <p:nvSpPr>
          <p:cNvPr id="6" name="TextBox 5"/>
          <p:cNvSpPr txBox="1"/>
          <p:nvPr/>
        </p:nvSpPr>
        <p:spPr>
          <a:xfrm>
            <a:off x="725263" y="1714020"/>
            <a:ext cx="5705355" cy="1569660"/>
          </a:xfrm>
          <a:prstGeom prst="rect">
            <a:avLst/>
          </a:prstGeom>
          <a:noFill/>
        </p:spPr>
        <p:txBody>
          <a:bodyPr wrap="square" rtlCol="0">
            <a:spAutoFit/>
          </a:bodyPr>
          <a:lstStyle/>
          <a:p>
            <a:r>
              <a:rPr lang="en-US" sz="2400" dirty="0"/>
              <a:t>Algorithm of K-mean clustering on 2-D data</a:t>
            </a:r>
          </a:p>
          <a:p>
            <a:pPr marL="285750" indent="-285750">
              <a:buFont typeface="Arial" panose="020B0604020202020204" pitchFamily="34" charset="0"/>
              <a:buChar char="•"/>
            </a:pPr>
            <a:r>
              <a:rPr lang="en-US" sz="2400" dirty="0"/>
              <a:t>Given data of </a:t>
            </a:r>
            <a:r>
              <a:rPr lang="en-US" sz="2400" b="1" dirty="0"/>
              <a:t>two</a:t>
            </a:r>
            <a:r>
              <a:rPr lang="en-US" sz="2400" dirty="0"/>
              <a:t> dimensions </a:t>
            </a:r>
          </a:p>
          <a:p>
            <a:pPr marL="285750" indent="-285750">
              <a:buFont typeface="Arial" panose="020B0604020202020204" pitchFamily="34" charset="0"/>
              <a:buChar char="•"/>
            </a:pPr>
            <a:r>
              <a:rPr lang="en-US" sz="2400" dirty="0"/>
              <a:t>Assuming </a:t>
            </a:r>
            <a:r>
              <a:rPr lang="en-US" sz="2400" b="1" dirty="0"/>
              <a:t>three</a:t>
            </a:r>
            <a:r>
              <a:rPr lang="en-US" sz="2400" dirty="0"/>
              <a:t> clusters (K=3)</a:t>
            </a:r>
          </a:p>
          <a:p>
            <a:pPr marL="285750" indent="-285750">
              <a:buFont typeface="Arial" panose="020B0604020202020204" pitchFamily="34" charset="0"/>
              <a:buChar char="•"/>
            </a:pPr>
            <a:r>
              <a:rPr lang="en-US" sz="2400" dirty="0"/>
              <a:t>Update the cluster centers</a:t>
            </a:r>
          </a:p>
        </p:txBody>
      </p:sp>
      <p:sp>
        <p:nvSpPr>
          <p:cNvPr id="7" name="TextBox 6"/>
          <p:cNvSpPr txBox="1"/>
          <p:nvPr/>
        </p:nvSpPr>
        <p:spPr>
          <a:xfrm>
            <a:off x="8331713" y="5903047"/>
            <a:ext cx="1358064" cy="369332"/>
          </a:xfrm>
          <a:prstGeom prst="rect">
            <a:avLst/>
          </a:prstGeom>
          <a:noFill/>
        </p:spPr>
        <p:txBody>
          <a:bodyPr wrap="none" rtlCol="0">
            <a:spAutoFit/>
          </a:bodyPr>
          <a:lstStyle/>
          <a:p>
            <a:r>
              <a:rPr lang="en-US"/>
              <a:t>Dimension 1</a:t>
            </a:r>
          </a:p>
        </p:txBody>
      </p:sp>
      <p:sp>
        <p:nvSpPr>
          <p:cNvPr id="8" name="TextBox 7"/>
          <p:cNvSpPr txBox="1"/>
          <p:nvPr/>
        </p:nvSpPr>
        <p:spPr>
          <a:xfrm rot="16200000">
            <a:off x="5461323" y="3339341"/>
            <a:ext cx="1358064" cy="369332"/>
          </a:xfrm>
          <a:prstGeom prst="rect">
            <a:avLst/>
          </a:prstGeom>
          <a:noFill/>
        </p:spPr>
        <p:txBody>
          <a:bodyPr wrap="none" rtlCol="0">
            <a:spAutoFit/>
          </a:bodyPr>
          <a:lstStyle/>
          <a:p>
            <a:r>
              <a:rPr lang="en-US"/>
              <a:t>Dimension 2</a:t>
            </a:r>
          </a:p>
        </p:txBody>
      </p:sp>
      <p:sp>
        <p:nvSpPr>
          <p:cNvPr id="9" name="Rectangle 8"/>
          <p:cNvSpPr/>
          <p:nvPr/>
        </p:nvSpPr>
        <p:spPr>
          <a:xfrm>
            <a:off x="7857580" y="1159708"/>
            <a:ext cx="2431627" cy="36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52080" y="6364732"/>
            <a:ext cx="4470400" cy="523220"/>
          </a:xfrm>
          <a:prstGeom prst="rect">
            <a:avLst/>
          </a:prstGeom>
        </p:spPr>
        <p:txBody>
          <a:bodyPr wrap="square">
            <a:spAutoFit/>
          </a:bodyPr>
          <a:lstStyle/>
          <a:p>
            <a:r>
              <a:rPr lang="en-US" sz="1400"/>
              <a:t>https://towardsdatascience.com/cluster-analysis-create-visualize-and-interpret-customer-segments-474e55d00ebb</a:t>
            </a:r>
          </a:p>
        </p:txBody>
      </p:sp>
      <p:sp>
        <p:nvSpPr>
          <p:cNvPr id="11" name="Title 1"/>
          <p:cNvSpPr>
            <a:spLocks noGrp="1"/>
          </p:cNvSpPr>
          <p:nvPr>
            <p:ph type="title"/>
          </p:nvPr>
        </p:nvSpPr>
        <p:spPr>
          <a:xfrm>
            <a:off x="824653" y="0"/>
            <a:ext cx="10515600" cy="1325563"/>
          </a:xfrm>
        </p:spPr>
        <p:txBody>
          <a:bodyPr/>
          <a:lstStyle/>
          <a:p>
            <a:r>
              <a:rPr lang="en-US"/>
              <a:t>Clustering based on distance</a:t>
            </a:r>
          </a:p>
        </p:txBody>
      </p:sp>
    </p:spTree>
    <p:extLst>
      <p:ext uri="{BB962C8B-B14F-4D97-AF65-F5344CB8AC3E}">
        <p14:creationId xmlns:p14="http://schemas.microsoft.com/office/powerpoint/2010/main" val="21425692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6593378" y="1159709"/>
            <a:ext cx="5058875" cy="4992134"/>
          </a:xfrm>
          <a:prstGeom prst="rect">
            <a:avLst/>
          </a:prstGeom>
        </p:spPr>
      </p:pic>
      <p:sp>
        <p:nvSpPr>
          <p:cNvPr id="6" name="TextBox 5"/>
          <p:cNvSpPr txBox="1"/>
          <p:nvPr/>
        </p:nvSpPr>
        <p:spPr>
          <a:xfrm>
            <a:off x="695739" y="1714019"/>
            <a:ext cx="5897639" cy="4524315"/>
          </a:xfrm>
          <a:prstGeom prst="rect">
            <a:avLst/>
          </a:prstGeom>
          <a:noFill/>
        </p:spPr>
        <p:txBody>
          <a:bodyPr wrap="square" rtlCol="0">
            <a:spAutoFit/>
          </a:bodyPr>
          <a:lstStyle/>
          <a:p>
            <a:r>
              <a:rPr lang="en-US" sz="2400" dirty="0"/>
              <a:t>Algorithm of K-means clustering on 2-D data</a:t>
            </a:r>
          </a:p>
          <a:p>
            <a:pPr marL="285750" indent="-285750">
              <a:buFont typeface="Arial" panose="020B0604020202020204" pitchFamily="34" charset="0"/>
              <a:buChar char="•"/>
            </a:pPr>
            <a:r>
              <a:rPr lang="en-US" sz="2400" dirty="0"/>
              <a:t>Given data of </a:t>
            </a:r>
            <a:r>
              <a:rPr lang="en-US" sz="2400" b="1" dirty="0"/>
              <a:t>two</a:t>
            </a:r>
            <a:r>
              <a:rPr lang="en-US" sz="2400" dirty="0"/>
              <a:t> dimensions </a:t>
            </a:r>
          </a:p>
          <a:p>
            <a:pPr marL="285750" indent="-285750">
              <a:buFont typeface="Arial" panose="020B0604020202020204" pitchFamily="34" charset="0"/>
              <a:buChar char="•"/>
            </a:pPr>
            <a:r>
              <a:rPr lang="en-US" sz="2400" dirty="0"/>
              <a:t>Assuming </a:t>
            </a:r>
            <a:r>
              <a:rPr lang="en-US" sz="2400" b="1" dirty="0"/>
              <a:t>three</a:t>
            </a:r>
            <a:r>
              <a:rPr lang="en-US" sz="2400" dirty="0"/>
              <a:t> clusters (K=3)</a:t>
            </a:r>
          </a:p>
          <a:p>
            <a:pPr marL="285750" indent="-285750">
              <a:buFont typeface="Arial" panose="020B0604020202020204" pitchFamily="34" charset="0"/>
              <a:buChar char="•"/>
            </a:pPr>
            <a:r>
              <a:rPr lang="en-US" sz="2400" dirty="0"/>
              <a:t>Update cluster assignments based on the </a:t>
            </a:r>
            <a:r>
              <a:rPr lang="en-US" sz="2400" b="1" dirty="0"/>
              <a:t>distance</a:t>
            </a:r>
          </a:p>
          <a:p>
            <a:pPr marL="285750" indent="-285750">
              <a:buFont typeface="Arial" panose="020B0604020202020204" pitchFamily="34" charset="0"/>
              <a:buChar char="•"/>
            </a:pPr>
            <a:endParaRPr lang="en-US" sz="2400" b="1" dirty="0"/>
          </a:p>
          <a:p>
            <a:r>
              <a:rPr lang="en-US" sz="2400" dirty="0"/>
              <a:t>Things to control</a:t>
            </a:r>
          </a:p>
          <a:p>
            <a:pPr marL="285750" indent="-285750">
              <a:buFont typeface="Arial" panose="020B0604020202020204" pitchFamily="34" charset="0"/>
              <a:buChar char="•"/>
            </a:pPr>
            <a:r>
              <a:rPr lang="en-US" sz="2400" dirty="0"/>
              <a:t>How to determine K</a:t>
            </a:r>
          </a:p>
          <a:p>
            <a:pPr marL="285750" indent="-285750">
              <a:buFont typeface="Arial" panose="020B0604020202020204" pitchFamily="34" charset="0"/>
              <a:buChar char="•"/>
            </a:pPr>
            <a:r>
              <a:rPr lang="en-US" sz="2400" dirty="0"/>
              <a:t>Location of the initial points</a:t>
            </a:r>
          </a:p>
          <a:p>
            <a:pPr marL="285750" indent="-285750">
              <a:buFont typeface="Arial" panose="020B0604020202020204" pitchFamily="34" charset="0"/>
              <a:buChar char="•"/>
            </a:pPr>
            <a:r>
              <a:rPr lang="en-US" sz="2400" dirty="0"/>
              <a:t>When to stop </a:t>
            </a:r>
          </a:p>
          <a:p>
            <a:pPr marL="285750" indent="-285750">
              <a:buFont typeface="Arial" panose="020B0604020202020204" pitchFamily="34" charset="0"/>
              <a:buChar char="•"/>
            </a:pPr>
            <a:r>
              <a:rPr lang="en-US" sz="2400" b="1" dirty="0"/>
              <a:t>How to calculate distance</a:t>
            </a:r>
          </a:p>
          <a:p>
            <a:endParaRPr lang="en-US" sz="2400" b="1" dirty="0"/>
          </a:p>
        </p:txBody>
      </p:sp>
      <p:sp>
        <p:nvSpPr>
          <p:cNvPr id="7" name="TextBox 6"/>
          <p:cNvSpPr txBox="1"/>
          <p:nvPr/>
        </p:nvSpPr>
        <p:spPr>
          <a:xfrm>
            <a:off x="8600070" y="5903047"/>
            <a:ext cx="1358064" cy="369332"/>
          </a:xfrm>
          <a:prstGeom prst="rect">
            <a:avLst/>
          </a:prstGeom>
          <a:noFill/>
        </p:spPr>
        <p:txBody>
          <a:bodyPr wrap="none" rtlCol="0">
            <a:spAutoFit/>
          </a:bodyPr>
          <a:lstStyle/>
          <a:p>
            <a:r>
              <a:rPr lang="en-US"/>
              <a:t>Dimension 1</a:t>
            </a:r>
          </a:p>
        </p:txBody>
      </p:sp>
      <p:sp>
        <p:nvSpPr>
          <p:cNvPr id="8" name="TextBox 7"/>
          <p:cNvSpPr txBox="1"/>
          <p:nvPr/>
        </p:nvSpPr>
        <p:spPr>
          <a:xfrm rot="16200000">
            <a:off x="5729680" y="3339341"/>
            <a:ext cx="1358064" cy="369332"/>
          </a:xfrm>
          <a:prstGeom prst="rect">
            <a:avLst/>
          </a:prstGeom>
          <a:noFill/>
        </p:spPr>
        <p:txBody>
          <a:bodyPr wrap="none" rtlCol="0">
            <a:spAutoFit/>
          </a:bodyPr>
          <a:lstStyle/>
          <a:p>
            <a:r>
              <a:rPr lang="en-US"/>
              <a:t>Dimension 2</a:t>
            </a:r>
          </a:p>
        </p:txBody>
      </p:sp>
      <p:sp>
        <p:nvSpPr>
          <p:cNvPr id="9" name="Rectangle 8"/>
          <p:cNvSpPr/>
          <p:nvPr/>
        </p:nvSpPr>
        <p:spPr>
          <a:xfrm>
            <a:off x="8125937" y="1159708"/>
            <a:ext cx="2431627" cy="36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52080" y="6364732"/>
            <a:ext cx="4470400" cy="523220"/>
          </a:xfrm>
          <a:prstGeom prst="rect">
            <a:avLst/>
          </a:prstGeom>
        </p:spPr>
        <p:txBody>
          <a:bodyPr wrap="square">
            <a:spAutoFit/>
          </a:bodyPr>
          <a:lstStyle/>
          <a:p>
            <a:r>
              <a:rPr lang="en-US" sz="1400"/>
              <a:t>https://towardsdatascience.com/cluster-analysis-create-visualize-and-interpret-customer-segments-474e55d00ebb</a:t>
            </a:r>
          </a:p>
        </p:txBody>
      </p:sp>
      <p:sp>
        <p:nvSpPr>
          <p:cNvPr id="11" name="Title 1"/>
          <p:cNvSpPr>
            <a:spLocks noGrp="1"/>
          </p:cNvSpPr>
          <p:nvPr>
            <p:ph type="title"/>
          </p:nvPr>
        </p:nvSpPr>
        <p:spPr>
          <a:xfrm>
            <a:off x="824653" y="0"/>
            <a:ext cx="10515600" cy="1325563"/>
          </a:xfrm>
        </p:spPr>
        <p:txBody>
          <a:bodyPr/>
          <a:lstStyle/>
          <a:p>
            <a:r>
              <a:rPr lang="en-US"/>
              <a:t>Clustering based on distance</a:t>
            </a:r>
          </a:p>
        </p:txBody>
      </p:sp>
    </p:spTree>
    <p:extLst>
      <p:ext uri="{BB962C8B-B14F-4D97-AF65-F5344CB8AC3E}">
        <p14:creationId xmlns:p14="http://schemas.microsoft.com/office/powerpoint/2010/main" val="11961557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A6C24-D907-A464-BA7F-BCC8B8CDB21C}"/>
              </a:ext>
            </a:extLst>
          </p:cNvPr>
          <p:cNvSpPr>
            <a:spLocks noGrp="1"/>
          </p:cNvSpPr>
          <p:nvPr>
            <p:ph type="title"/>
          </p:nvPr>
        </p:nvSpPr>
        <p:spPr/>
        <p:txBody>
          <a:bodyPr/>
          <a:lstStyle/>
          <a:p>
            <a:r>
              <a:rPr lang="en-US" dirty="0"/>
              <a:t>Dimension reduction and clustering example</a:t>
            </a:r>
          </a:p>
        </p:txBody>
      </p:sp>
      <p:sp>
        <p:nvSpPr>
          <p:cNvPr id="3" name="Content Placeholder 2">
            <a:extLst>
              <a:ext uri="{FF2B5EF4-FFF2-40B4-BE49-F238E27FC236}">
                <a16:creationId xmlns:a16="http://schemas.microsoft.com/office/drawing/2014/main" id="{F034F9BE-22F4-78C2-259C-42BFEA870FBD}"/>
              </a:ext>
            </a:extLst>
          </p:cNvPr>
          <p:cNvSpPr>
            <a:spLocks noGrp="1"/>
          </p:cNvSpPr>
          <p:nvPr>
            <p:ph idx="1"/>
          </p:nvPr>
        </p:nvSpPr>
        <p:spPr/>
        <p:txBody>
          <a:bodyPr/>
          <a:lstStyle/>
          <a:p>
            <a:pPr marL="0" indent="0">
              <a:buNone/>
            </a:pPr>
            <a:r>
              <a:rPr lang="en-US"/>
              <a:t>See exercises 9-10  </a:t>
            </a:r>
            <a:endParaRPr lang="en-US" dirty="0"/>
          </a:p>
        </p:txBody>
      </p:sp>
    </p:spTree>
    <p:extLst>
      <p:ext uri="{BB962C8B-B14F-4D97-AF65-F5344CB8AC3E}">
        <p14:creationId xmlns:p14="http://schemas.microsoft.com/office/powerpoint/2010/main" val="11116632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48EFB-9D49-4184-2640-EFD21A0F07CD}"/>
              </a:ext>
            </a:extLst>
          </p:cNvPr>
          <p:cNvSpPr>
            <a:spLocks noGrp="1"/>
          </p:cNvSpPr>
          <p:nvPr>
            <p:ph type="title"/>
          </p:nvPr>
        </p:nvSpPr>
        <p:spPr/>
        <p:txBody>
          <a:bodyPr/>
          <a:lstStyle/>
          <a:p>
            <a:r>
              <a:rPr lang="en-US" dirty="0"/>
              <a:t>How “unsupervised”?</a:t>
            </a:r>
          </a:p>
        </p:txBody>
      </p:sp>
      <p:sp>
        <p:nvSpPr>
          <p:cNvPr id="3" name="Content Placeholder 2">
            <a:extLst>
              <a:ext uri="{FF2B5EF4-FFF2-40B4-BE49-F238E27FC236}">
                <a16:creationId xmlns:a16="http://schemas.microsoft.com/office/drawing/2014/main" id="{09FB043D-E6CD-BB6A-3204-DAC35EDB4A1D}"/>
              </a:ext>
            </a:extLst>
          </p:cNvPr>
          <p:cNvSpPr>
            <a:spLocks noGrp="1"/>
          </p:cNvSpPr>
          <p:nvPr>
            <p:ph idx="1"/>
          </p:nvPr>
        </p:nvSpPr>
        <p:spPr/>
        <p:txBody>
          <a:bodyPr>
            <a:normAutofit/>
          </a:bodyPr>
          <a:lstStyle/>
          <a:p>
            <a:pPr marL="0" indent="0">
              <a:buNone/>
            </a:pPr>
            <a:r>
              <a:rPr lang="en-US" dirty="0"/>
              <a:t>The models don’t decide everything for you!</a:t>
            </a:r>
          </a:p>
          <a:p>
            <a:r>
              <a:rPr lang="en-US" dirty="0"/>
              <a:t>Pre-process the data?</a:t>
            </a:r>
          </a:p>
          <a:p>
            <a:r>
              <a:rPr lang="en-US" dirty="0"/>
              <a:t>Feature selection?</a:t>
            </a:r>
          </a:p>
          <a:p>
            <a:r>
              <a:rPr lang="en-US" dirty="0"/>
              <a:t>Linear or non-linear?</a:t>
            </a:r>
          </a:p>
          <a:p>
            <a:r>
              <a:rPr lang="en-US" dirty="0"/>
              <a:t>What distance metric? (What weights?)</a:t>
            </a:r>
          </a:p>
          <a:p>
            <a:r>
              <a:rPr lang="en-US" dirty="0"/>
              <a:t>How many clusters?</a:t>
            </a:r>
          </a:p>
          <a:p>
            <a:r>
              <a:rPr lang="en-US" dirty="0"/>
              <a:t>Etc.</a:t>
            </a:r>
          </a:p>
        </p:txBody>
      </p:sp>
    </p:spTree>
    <p:extLst>
      <p:ext uri="{BB962C8B-B14F-4D97-AF65-F5344CB8AC3E}">
        <p14:creationId xmlns:p14="http://schemas.microsoft.com/office/powerpoint/2010/main" val="14371405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585</TotalTime>
  <Words>4254</Words>
  <Application>Microsoft Macintosh PowerPoint</Application>
  <PresentationFormat>Widescreen</PresentationFormat>
  <Paragraphs>402</Paragraphs>
  <Slides>40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Aptos</vt:lpstr>
      <vt:lpstr>Aptos Display</vt:lpstr>
      <vt:lpstr>Arial</vt:lpstr>
      <vt:lpstr>Calibri</vt:lpstr>
      <vt:lpstr>Cambria Math</vt:lpstr>
      <vt:lpstr>Wingdings</vt:lpstr>
      <vt:lpstr>Office Theme</vt:lpstr>
      <vt:lpstr>Machine Learning 1</vt:lpstr>
      <vt:lpstr>Terminology</vt:lpstr>
      <vt:lpstr>High-dimension datasets (n &lt;&lt; p)</vt:lpstr>
      <vt:lpstr>2D plots are not enough</vt:lpstr>
      <vt:lpstr>The curse of dimensionality</vt:lpstr>
      <vt:lpstr>What kind of structure?</vt:lpstr>
      <vt:lpstr>Supervised vs. unsupervised ML answer different questions</vt:lpstr>
      <vt:lpstr>How to measure distance</vt:lpstr>
      <vt:lpstr>Euclidean distance example</vt:lpstr>
      <vt:lpstr>Euclidean distance example</vt:lpstr>
      <vt:lpstr>Other metrics</vt:lpstr>
      <vt:lpstr>Other distances (con’t.)</vt:lpstr>
      <vt:lpstr>Unsupervised ML</vt:lpstr>
      <vt:lpstr>Principal components analysis for dimension reduction</vt:lpstr>
      <vt:lpstr>Principal components maximize variance</vt:lpstr>
      <vt:lpstr>Principal components maximize variance</vt:lpstr>
      <vt:lpstr>Principal components in biomedical research</vt:lpstr>
      <vt:lpstr>Principal components in biomedical research</vt:lpstr>
      <vt:lpstr>Principal components in biomedical research</vt:lpstr>
      <vt:lpstr>Principal components in biomedical research</vt:lpstr>
      <vt:lpstr>Principal components in biomedical research</vt:lpstr>
      <vt:lpstr>A loading plot shows how strongly each dimension influences a principal component.</vt:lpstr>
      <vt:lpstr>PCA biplot = PCA score plot + loading plot</vt:lpstr>
      <vt:lpstr>Example of PCA in genetics: principal components of ancestry</vt:lpstr>
      <vt:lpstr>Limitations of PCA</vt:lpstr>
      <vt:lpstr>PCA examples</vt:lpstr>
      <vt:lpstr>Hierarchical clustering groups data points in a nested fashion by similarity</vt:lpstr>
      <vt:lpstr>Hierarchical clustering groups data points in a nested fashion by similarity</vt:lpstr>
      <vt:lpstr>Hierarchical clustering makes a tree (dendrogram)</vt:lpstr>
      <vt:lpstr>Dendrogram visualizes hierarchical relationship of terminal nodes</vt:lpstr>
      <vt:lpstr>Dendrogram visualize group memberships</vt:lpstr>
      <vt:lpstr>Dendrogram visualizes distances among objects</vt:lpstr>
      <vt:lpstr>Clustering based on distance</vt:lpstr>
      <vt:lpstr>Clustering based on distance</vt:lpstr>
      <vt:lpstr>Clustering based on distance</vt:lpstr>
      <vt:lpstr>Clustering based on distance</vt:lpstr>
      <vt:lpstr>Clustering based on distance</vt:lpstr>
      <vt:lpstr>Clustering based on distance</vt:lpstr>
      <vt:lpstr>Dimension reduction and clustering example</vt:lpstr>
      <vt:lpstr>How “unsupervised”?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Chernus, Jonathan M</dc:creator>
  <cp:lastModifiedBy>Chernus, Jonathan M</cp:lastModifiedBy>
  <cp:revision>137</cp:revision>
  <dcterms:created xsi:type="dcterms:W3CDTF">2026-02-16T20:53:23Z</dcterms:created>
  <dcterms:modified xsi:type="dcterms:W3CDTF">2026-02-17T06:38:27Z</dcterms:modified>
</cp:coreProperties>
</file>