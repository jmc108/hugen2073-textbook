
<file path=[Content_Types].xml><?xml version="1.0" encoding="utf-8"?>
<Types xmlns="http://schemas.openxmlformats.org/package/2006/content-types">
  <Default Extension="jpeg" ContentType="image/jpe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Lst>
  <p:notesMasterIdLst>
    <p:notesMasterId r:id="rId10"/>
  </p:notesMasterIdLst>
  <p:sldIdLst>
    <p:sldId id="256" r:id="rId2"/>
    <p:sldId id="457" r:id="rId3"/>
    <p:sldId id="458" r:id="rId4"/>
    <p:sldId id="459" r:id="rId5"/>
    <p:sldId id="460" r:id="rId6"/>
    <p:sldId id="461" r:id="rId7"/>
    <p:sldId id="462" r:id="rId8"/>
    <p:sldId id="46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ernus, Jonathan M" initials="CJM" lastIdx="1" clrIdx="0">
    <p:extLst>
      <p:ext uri="{19B8F6BF-5375-455C-9EA6-DF929625EA0E}">
        <p15:presenceInfo xmlns:p15="http://schemas.microsoft.com/office/powerpoint/2012/main" userId="S::jmc108@pitt.edu::53f1a3d2-6585-462e-a1cc-58b6519e61b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E79"/>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99"/>
    <p:restoredTop sz="88435"/>
  </p:normalViewPr>
  <p:slideViewPr>
    <p:cSldViewPr snapToGrid="0" snapToObjects="1">
      <p:cViewPr varScale="1">
        <p:scale>
          <a:sx n="112" d="100"/>
          <a:sy n="112" d="100"/>
        </p:scale>
        <p:origin x="110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565662-A8F9-5B4C-BEE1-41652F0CFF2F}" type="datetimeFigureOut">
              <a:rPr lang="en-US" smtClean="0"/>
              <a:t>3/31/24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4EAC61-49C5-D24E-8247-6FF134EF9A99}" type="slidenum">
              <a:rPr lang="en-US" smtClean="0"/>
              <a:t>‹#›</a:t>
            </a:fld>
            <a:endParaRPr lang="en-US"/>
          </a:p>
        </p:txBody>
      </p:sp>
    </p:spTree>
    <p:extLst>
      <p:ext uri="{BB962C8B-B14F-4D97-AF65-F5344CB8AC3E}">
        <p14:creationId xmlns:p14="http://schemas.microsoft.com/office/powerpoint/2010/main" val="1429288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journals.plos.org</a:t>
            </a:r>
            <a:r>
              <a:rPr lang="en-US" dirty="0"/>
              <a:t>/</a:t>
            </a:r>
            <a:r>
              <a:rPr lang="en-US" dirty="0" err="1"/>
              <a:t>ploscompbiol</a:t>
            </a:r>
            <a:r>
              <a:rPr lang="en-US" dirty="0"/>
              <a:t>/</a:t>
            </a:r>
            <a:r>
              <a:rPr lang="en-US" dirty="0" err="1"/>
              <a:t>article?id</a:t>
            </a:r>
            <a:r>
              <a:rPr lang="en-US" dirty="0"/>
              <a:t>=10.1371/journal.pcbi.1002375#pcbi-1002375-g001</a:t>
            </a:r>
          </a:p>
        </p:txBody>
      </p:sp>
      <p:sp>
        <p:nvSpPr>
          <p:cNvPr id="4" name="Slide Number Placeholder 3"/>
          <p:cNvSpPr>
            <a:spLocks noGrp="1"/>
          </p:cNvSpPr>
          <p:nvPr>
            <p:ph type="sldNum" sz="quarter" idx="5"/>
          </p:nvPr>
        </p:nvSpPr>
        <p:spPr/>
        <p:txBody>
          <a:bodyPr/>
          <a:lstStyle/>
          <a:p>
            <a:fld id="{C74EAC61-49C5-D24E-8247-6FF134EF9A99}" type="slidenum">
              <a:rPr lang="en-US" smtClean="0"/>
              <a:t>2</a:t>
            </a:fld>
            <a:endParaRPr lang="en-US"/>
          </a:p>
        </p:txBody>
      </p:sp>
    </p:spTree>
    <p:extLst>
      <p:ext uri="{BB962C8B-B14F-4D97-AF65-F5344CB8AC3E}">
        <p14:creationId xmlns:p14="http://schemas.microsoft.com/office/powerpoint/2010/main" val="25116374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www.gsea-msigdb.org</a:t>
            </a:r>
            <a:r>
              <a:rPr lang="en-US" dirty="0"/>
              <a:t>/</a:t>
            </a:r>
            <a:r>
              <a:rPr lang="en-US" dirty="0" err="1"/>
              <a:t>gsea</a:t>
            </a:r>
            <a:r>
              <a:rPr lang="en-US" dirty="0"/>
              <a:t>/doc/</a:t>
            </a:r>
            <a:r>
              <a:rPr lang="en-US" dirty="0" err="1"/>
              <a:t>GSEAUserGuideFrame.html</a:t>
            </a:r>
            <a:r>
              <a:rPr lang="en-US" dirty="0"/>
              <a:t>#:~:text=Gene%20Set%20Enrichment%20Analysis%20(GSEA)%20is%20a%20computational%20method%20that,biological%20states%20(e.g.%20phenotypes).</a:t>
            </a:r>
          </a:p>
        </p:txBody>
      </p:sp>
      <p:sp>
        <p:nvSpPr>
          <p:cNvPr id="4" name="Slide Number Placeholder 3"/>
          <p:cNvSpPr>
            <a:spLocks noGrp="1"/>
          </p:cNvSpPr>
          <p:nvPr>
            <p:ph type="sldNum" sz="quarter" idx="5"/>
          </p:nvPr>
        </p:nvSpPr>
        <p:spPr/>
        <p:txBody>
          <a:bodyPr/>
          <a:lstStyle/>
          <a:p>
            <a:fld id="{C74EAC61-49C5-D24E-8247-6FF134EF9A99}" type="slidenum">
              <a:rPr lang="en-US" smtClean="0"/>
              <a:t>4</a:t>
            </a:fld>
            <a:endParaRPr lang="en-US"/>
          </a:p>
        </p:txBody>
      </p:sp>
    </p:spTree>
    <p:extLst>
      <p:ext uri="{BB962C8B-B14F-4D97-AF65-F5344CB8AC3E}">
        <p14:creationId xmlns:p14="http://schemas.microsoft.com/office/powerpoint/2010/main" val="34423355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74EAC61-49C5-D24E-8247-6FF134EF9A99}" type="slidenum">
              <a:rPr lang="en-US" smtClean="0"/>
              <a:t>5</a:t>
            </a:fld>
            <a:endParaRPr lang="en-US"/>
          </a:p>
        </p:txBody>
      </p:sp>
    </p:spTree>
    <p:extLst>
      <p:ext uri="{BB962C8B-B14F-4D97-AF65-F5344CB8AC3E}">
        <p14:creationId xmlns:p14="http://schemas.microsoft.com/office/powerpoint/2010/main" val="38388468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3/31/24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0983147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3/31/24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7541581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F45046C-2239-C44E-BC51-7EFB739E2595}" type="datetimeFigureOut">
              <a:rPr lang="en-US" smtClean="0"/>
              <a:t>3/31/24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480134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F45046C-2239-C44E-BC51-7EFB739E2595}" type="datetimeFigureOut">
              <a:rPr lang="en-US" smtClean="0"/>
              <a:t>3/31/24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69520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F45046C-2239-C44E-BC51-7EFB739E2595}" type="datetimeFigureOut">
              <a:rPr lang="en-US" smtClean="0"/>
              <a:t>3/31/24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573828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F45046C-2239-C44E-BC51-7EFB739E2595}" type="datetimeFigureOut">
              <a:rPr lang="en-US" smtClean="0"/>
              <a:t>3/31/24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779838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F45046C-2239-C44E-BC51-7EFB739E2595}" type="datetimeFigureOut">
              <a:rPr lang="en-US" smtClean="0"/>
              <a:t>3/31/24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6569046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45046C-2239-C44E-BC51-7EFB739E2595}" type="datetimeFigureOut">
              <a:rPr lang="en-US" smtClean="0"/>
              <a:t>3/31/24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383813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F45046C-2239-C44E-BC51-7EFB739E2595}" type="datetimeFigureOut">
              <a:rPr lang="en-US" smtClean="0"/>
              <a:t>3/31/24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18559344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3/31/24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4898746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45046C-2239-C44E-BC51-7EFB739E2595}" type="datetimeFigureOut">
              <a:rPr lang="en-US" smtClean="0"/>
              <a:t>3/31/24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9B9132-F3B9-814E-81B7-7832C27DEFEE}" type="slidenum">
              <a:rPr lang="en-US" smtClean="0"/>
              <a:t>‹#›</a:t>
            </a:fld>
            <a:endParaRPr lang="en-US"/>
          </a:p>
        </p:txBody>
      </p:sp>
    </p:spTree>
    <p:extLst>
      <p:ext uri="{BB962C8B-B14F-4D97-AF65-F5344CB8AC3E}">
        <p14:creationId xmlns:p14="http://schemas.microsoft.com/office/powerpoint/2010/main" val="20190286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45046C-2239-C44E-BC51-7EFB739E2595}" type="datetimeFigureOut">
              <a:rPr lang="en-US" smtClean="0"/>
              <a:t>3/31/24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9B9132-F3B9-814E-81B7-7832C27DEFEE}" type="slidenum">
              <a:rPr lang="en-US" smtClean="0"/>
              <a:t>‹#›</a:t>
            </a:fld>
            <a:endParaRPr lang="en-US"/>
          </a:p>
        </p:txBody>
      </p:sp>
    </p:spTree>
    <p:extLst>
      <p:ext uri="{BB962C8B-B14F-4D97-AF65-F5344CB8AC3E}">
        <p14:creationId xmlns:p14="http://schemas.microsoft.com/office/powerpoint/2010/main" val="144960122"/>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bmcbioinformatics.biomedcentral.com/articles/10.1186/s12859-019-3146-1"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Gene Set Analysis II</a:t>
            </a:r>
          </a:p>
        </p:txBody>
      </p:sp>
      <p:sp>
        <p:nvSpPr>
          <p:cNvPr id="3" name="Subtitle 2"/>
          <p:cNvSpPr>
            <a:spLocks noGrp="1"/>
          </p:cNvSpPr>
          <p:nvPr>
            <p:ph type="subTitle" idx="1"/>
          </p:nvPr>
        </p:nvSpPr>
        <p:spPr>
          <a:xfrm>
            <a:off x="1524000" y="3602037"/>
            <a:ext cx="9144000" cy="2429111"/>
          </a:xfrm>
        </p:spPr>
        <p:txBody>
          <a:bodyPr>
            <a:normAutofit/>
          </a:bodyPr>
          <a:lstStyle/>
          <a:p>
            <a:r>
              <a:rPr lang="en-US" dirty="0"/>
              <a:t>HUGEN 2073</a:t>
            </a:r>
          </a:p>
          <a:p>
            <a:endParaRPr lang="en-US" dirty="0"/>
          </a:p>
          <a:p>
            <a:r>
              <a:rPr lang="en-US" dirty="0"/>
              <a:t>Jon Chernus</a:t>
            </a:r>
          </a:p>
        </p:txBody>
      </p:sp>
    </p:spTree>
    <p:extLst>
      <p:ext uri="{BB962C8B-B14F-4D97-AF65-F5344CB8AC3E}">
        <p14:creationId xmlns:p14="http://schemas.microsoft.com/office/powerpoint/2010/main" val="15854073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E9CE9-5907-5840-AF91-463522713907}"/>
              </a:ext>
            </a:extLst>
          </p:cNvPr>
          <p:cNvSpPr>
            <a:spLocks noGrp="1"/>
          </p:cNvSpPr>
          <p:nvPr>
            <p:ph type="title"/>
          </p:nvPr>
        </p:nvSpPr>
        <p:spPr/>
        <p:txBody>
          <a:bodyPr/>
          <a:lstStyle/>
          <a:p>
            <a:r>
              <a:rPr lang="en-US" dirty="0"/>
              <a:t>Some limitations</a:t>
            </a:r>
          </a:p>
        </p:txBody>
      </p:sp>
      <p:sp>
        <p:nvSpPr>
          <p:cNvPr id="3" name="Content Placeholder 2">
            <a:extLst>
              <a:ext uri="{FF2B5EF4-FFF2-40B4-BE49-F238E27FC236}">
                <a16:creationId xmlns:a16="http://schemas.microsoft.com/office/drawing/2014/main" id="{F011CFBD-4D3D-F444-B997-E1169D18AE1F}"/>
              </a:ext>
            </a:extLst>
          </p:cNvPr>
          <p:cNvSpPr>
            <a:spLocks noGrp="1"/>
          </p:cNvSpPr>
          <p:nvPr>
            <p:ph idx="1"/>
          </p:nvPr>
        </p:nvSpPr>
        <p:spPr>
          <a:xfrm>
            <a:off x="838200" y="1825625"/>
            <a:ext cx="11083290" cy="4351338"/>
          </a:xfrm>
        </p:spPr>
        <p:txBody>
          <a:bodyPr>
            <a:normAutofit/>
          </a:bodyPr>
          <a:lstStyle/>
          <a:p>
            <a:pPr marL="0" indent="0">
              <a:buNone/>
            </a:pPr>
            <a:r>
              <a:rPr lang="en-US" dirty="0"/>
              <a:t>For “over-representation”-based methods we’ve discussed</a:t>
            </a:r>
          </a:p>
          <a:p>
            <a:r>
              <a:rPr lang="en-US" dirty="0"/>
              <a:t>Genes are effectively all treated equally</a:t>
            </a:r>
            <a:br>
              <a:rPr lang="en-US" dirty="0"/>
            </a:br>
            <a:r>
              <a:rPr lang="en-US" dirty="0"/>
              <a:t>(expression fold-change, effect sizes of each gene is not considered)</a:t>
            </a:r>
          </a:p>
          <a:p>
            <a:r>
              <a:rPr lang="en-US" dirty="0"/>
              <a:t>Tends to discard genes not meeting a threshold</a:t>
            </a:r>
            <a:br>
              <a:rPr lang="en-US" dirty="0"/>
            </a:br>
            <a:r>
              <a:rPr lang="en-US" dirty="0"/>
              <a:t>(a somewhat arbitrary significance or fold-change cutoff is applied)</a:t>
            </a:r>
          </a:p>
          <a:p>
            <a:r>
              <a:rPr lang="en-US" dirty="0"/>
              <a:t>Genes are assumed independent</a:t>
            </a:r>
            <a:br>
              <a:rPr lang="en-US" dirty="0"/>
            </a:br>
            <a:r>
              <a:rPr lang="en-US" dirty="0"/>
              <a:t>(e.g., types/strengths of genes’ biological interactions are not considered)</a:t>
            </a:r>
          </a:p>
          <a:p>
            <a:r>
              <a:rPr lang="en-US" dirty="0"/>
              <a:t>Pathways/gene sets are assumed independent</a:t>
            </a:r>
            <a:br>
              <a:rPr lang="en-US" dirty="0"/>
            </a:br>
            <a:r>
              <a:rPr lang="en-US" dirty="0"/>
              <a:t>(though, e.g., GO terms are hierarchically ordered)</a:t>
            </a:r>
          </a:p>
        </p:txBody>
      </p:sp>
    </p:spTree>
    <p:extLst>
      <p:ext uri="{BB962C8B-B14F-4D97-AF65-F5344CB8AC3E}">
        <p14:creationId xmlns:p14="http://schemas.microsoft.com/office/powerpoint/2010/main" val="2416268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FB3E6-63B4-6F46-BD5D-EBCD04E25DD1}"/>
              </a:ext>
            </a:extLst>
          </p:cNvPr>
          <p:cNvSpPr>
            <a:spLocks noGrp="1"/>
          </p:cNvSpPr>
          <p:nvPr>
            <p:ph type="title"/>
          </p:nvPr>
        </p:nvSpPr>
        <p:spPr/>
        <p:txBody>
          <a:bodyPr/>
          <a:lstStyle/>
          <a:p>
            <a:r>
              <a:rPr lang="en-US" dirty="0"/>
              <a:t>Some extensions</a:t>
            </a:r>
          </a:p>
        </p:txBody>
      </p:sp>
      <p:sp>
        <p:nvSpPr>
          <p:cNvPr id="3" name="Content Placeholder 2">
            <a:extLst>
              <a:ext uri="{FF2B5EF4-FFF2-40B4-BE49-F238E27FC236}">
                <a16:creationId xmlns:a16="http://schemas.microsoft.com/office/drawing/2014/main" id="{FAFF55F3-0E14-AB41-8348-7E545765D9F7}"/>
              </a:ext>
            </a:extLst>
          </p:cNvPr>
          <p:cNvSpPr>
            <a:spLocks noGrp="1"/>
          </p:cNvSpPr>
          <p:nvPr>
            <p:ph idx="1"/>
          </p:nvPr>
        </p:nvSpPr>
        <p:spPr/>
        <p:txBody>
          <a:bodyPr/>
          <a:lstStyle/>
          <a:p>
            <a:pPr marL="0" indent="0">
              <a:buNone/>
            </a:pPr>
            <a:r>
              <a:rPr lang="en-US" dirty="0"/>
              <a:t>“Functional class scoring” (FCS) methods</a:t>
            </a:r>
          </a:p>
          <a:p>
            <a:r>
              <a:rPr lang="en-US" dirty="0"/>
              <a:t>Rather than using an arbitrary cutoff for including genes and weighing all genes equally, try to use, e.g., full matrix of expression data</a:t>
            </a:r>
          </a:p>
          <a:p>
            <a:r>
              <a:rPr lang="en-US" dirty="0"/>
              <a:t>One basic idea: calculate a score for each gene, then aggregate genes’ scores into pathway-level scores, and test for significance</a:t>
            </a:r>
          </a:p>
          <a:p>
            <a:r>
              <a:rPr lang="en-US" dirty="0"/>
              <a:t>Example: GSEA (gene set enrichment analysis)</a:t>
            </a:r>
          </a:p>
        </p:txBody>
      </p:sp>
    </p:spTree>
    <p:extLst>
      <p:ext uri="{BB962C8B-B14F-4D97-AF65-F5344CB8AC3E}">
        <p14:creationId xmlns:p14="http://schemas.microsoft.com/office/powerpoint/2010/main" val="1236750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B85320-938A-AE40-BB72-5C3DED4ACFA8}"/>
              </a:ext>
            </a:extLst>
          </p:cNvPr>
          <p:cNvSpPr>
            <a:spLocks noGrp="1"/>
          </p:cNvSpPr>
          <p:nvPr>
            <p:ph type="title"/>
          </p:nvPr>
        </p:nvSpPr>
        <p:spPr/>
        <p:txBody>
          <a:bodyPr/>
          <a:lstStyle/>
          <a:p>
            <a:r>
              <a:rPr lang="en-US" dirty="0"/>
              <a:t>Example: GSEA</a:t>
            </a:r>
          </a:p>
        </p:txBody>
      </p:sp>
      <p:sp>
        <p:nvSpPr>
          <p:cNvPr id="3" name="Content Placeholder 2">
            <a:extLst>
              <a:ext uri="{FF2B5EF4-FFF2-40B4-BE49-F238E27FC236}">
                <a16:creationId xmlns:a16="http://schemas.microsoft.com/office/drawing/2014/main" id="{C95EE806-51ED-0643-91CD-09D9CDB0522A}"/>
              </a:ext>
            </a:extLst>
          </p:cNvPr>
          <p:cNvSpPr>
            <a:spLocks noGrp="1"/>
          </p:cNvSpPr>
          <p:nvPr>
            <p:ph idx="1"/>
          </p:nvPr>
        </p:nvSpPr>
        <p:spPr>
          <a:xfrm>
            <a:off x="838200" y="1825625"/>
            <a:ext cx="4104503" cy="4667250"/>
          </a:xfrm>
        </p:spPr>
        <p:txBody>
          <a:bodyPr>
            <a:normAutofit fontScale="55000" lnSpcReduction="20000"/>
          </a:bodyPr>
          <a:lstStyle/>
          <a:p>
            <a:pPr marL="0" indent="0">
              <a:buNone/>
            </a:pPr>
            <a:r>
              <a:rPr lang="en-US" dirty="0"/>
              <a:t>Rank genes by effect on/correlation with phenotype.</a:t>
            </a:r>
          </a:p>
          <a:p>
            <a:pPr marL="0" indent="0">
              <a:buNone/>
            </a:pPr>
            <a:r>
              <a:rPr lang="en-US" dirty="0"/>
              <a:t>GSEA calculates the ES by walking down the ranked list of genes, increasing a running-sum statistic when a gene is in the gene set and decreasing it when it is not.</a:t>
            </a:r>
          </a:p>
          <a:p>
            <a:pPr marL="0" indent="0">
              <a:buNone/>
            </a:pPr>
            <a:r>
              <a:rPr lang="en-US" dirty="0"/>
              <a:t>The magnitude of the increment depends on the correlation of the gene with the phenotype. The ES is the maximum deviation from zero encountered in walking the list. A positive ES indicates gene set enrichment at the top of the ranked list; a negative ES indicates gene set enrichment at the bottom of the ranked list.</a:t>
            </a:r>
          </a:p>
          <a:p>
            <a:pPr marL="0" indent="0">
              <a:buNone/>
            </a:pPr>
            <a:r>
              <a:rPr lang="en-US" dirty="0"/>
              <a:t>The top portion of the plot shows the running ES for the gene set as the analysis walks down the ranked list. The score at the peak of the plot (the score furthest from 0.0) is the ES for the gene set. Gene sets with a distinct peak at the beginning (such as the one shown here) or end of the ranked list are generally the most interesting.</a:t>
            </a:r>
          </a:p>
          <a:p>
            <a:pPr marL="0" indent="0">
              <a:buNone/>
            </a:pPr>
            <a:r>
              <a:rPr lang="en-US" dirty="0"/>
              <a:t>Use a permutation procedure to normalize the ES and assign each gene set an enrichment p-value. Adjust for multiple testing/try to control FDR.</a:t>
            </a:r>
          </a:p>
          <a:p>
            <a:pPr marL="0" indent="0">
              <a:buNone/>
            </a:pPr>
            <a:r>
              <a:rPr lang="en-US" dirty="0"/>
              <a:t>(Numerous implementations exist.)</a:t>
            </a:r>
          </a:p>
        </p:txBody>
      </p:sp>
      <p:pic>
        <p:nvPicPr>
          <p:cNvPr id="5" name="Picture 4">
            <a:extLst>
              <a:ext uri="{FF2B5EF4-FFF2-40B4-BE49-F238E27FC236}">
                <a16:creationId xmlns:a16="http://schemas.microsoft.com/office/drawing/2014/main" id="{B1AA50AA-E665-D640-9C8F-DAB766E53CAD}"/>
              </a:ext>
            </a:extLst>
          </p:cNvPr>
          <p:cNvPicPr>
            <a:picLocks noChangeAspect="1"/>
          </p:cNvPicPr>
          <p:nvPr/>
        </p:nvPicPr>
        <p:blipFill>
          <a:blip r:embed="rId3"/>
          <a:stretch>
            <a:fillRect/>
          </a:stretch>
        </p:blipFill>
        <p:spPr>
          <a:xfrm>
            <a:off x="5076738" y="1752488"/>
            <a:ext cx="6390331" cy="4458370"/>
          </a:xfrm>
          <a:prstGeom prst="rect">
            <a:avLst/>
          </a:prstGeom>
        </p:spPr>
      </p:pic>
    </p:spTree>
    <p:extLst>
      <p:ext uri="{BB962C8B-B14F-4D97-AF65-F5344CB8AC3E}">
        <p14:creationId xmlns:p14="http://schemas.microsoft.com/office/powerpoint/2010/main" val="253483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0B1B2-9C5B-D14C-A78E-78658206657C}"/>
              </a:ext>
            </a:extLst>
          </p:cNvPr>
          <p:cNvSpPr>
            <a:spLocks noGrp="1"/>
          </p:cNvSpPr>
          <p:nvPr>
            <p:ph type="title"/>
          </p:nvPr>
        </p:nvSpPr>
        <p:spPr/>
        <p:txBody>
          <a:bodyPr/>
          <a:lstStyle/>
          <a:p>
            <a:r>
              <a:rPr lang="en-US" dirty="0"/>
              <a:t>Other extensions</a:t>
            </a:r>
          </a:p>
        </p:txBody>
      </p:sp>
      <p:sp>
        <p:nvSpPr>
          <p:cNvPr id="3" name="Content Placeholder 2">
            <a:extLst>
              <a:ext uri="{FF2B5EF4-FFF2-40B4-BE49-F238E27FC236}">
                <a16:creationId xmlns:a16="http://schemas.microsoft.com/office/drawing/2014/main" id="{3CB143E3-CBD1-E54C-86DE-3D992C2F2906}"/>
              </a:ext>
            </a:extLst>
          </p:cNvPr>
          <p:cNvSpPr>
            <a:spLocks noGrp="1"/>
          </p:cNvSpPr>
          <p:nvPr>
            <p:ph idx="1"/>
          </p:nvPr>
        </p:nvSpPr>
        <p:spPr/>
        <p:txBody>
          <a:bodyPr>
            <a:normAutofit fontScale="77500" lnSpcReduction="20000"/>
          </a:bodyPr>
          <a:lstStyle/>
          <a:p>
            <a:pPr marL="0" indent="0">
              <a:buNone/>
            </a:pPr>
            <a:r>
              <a:rPr lang="en-US" dirty="0"/>
              <a:t>Pathway topology (PT)-based approaches</a:t>
            </a:r>
          </a:p>
          <a:p>
            <a:r>
              <a:rPr lang="en-US" dirty="0"/>
              <a:t>ORA/FCS methods don’t use “structure” of gene sets</a:t>
            </a:r>
          </a:p>
          <a:p>
            <a:r>
              <a:rPr lang="en-US" dirty="0"/>
              <a:t>PT-based methods do</a:t>
            </a:r>
            <a:br>
              <a:rPr lang="en-US" dirty="0"/>
            </a:br>
            <a:br>
              <a:rPr lang="en-US" dirty="0"/>
            </a:br>
            <a:r>
              <a:rPr lang="en-US" dirty="0"/>
              <a:t>Review</a:t>
            </a:r>
            <a:r>
              <a:rPr lang="en-US"/>
              <a:t>/comparison: </a:t>
            </a:r>
            <a:r>
              <a:rPr lang="en-US" dirty="0">
                <a:hlinkClick r:id="rId3"/>
              </a:rPr>
              <a:t>https://bmcbioinformatics.biomedcentral.com/articles/10.1186/s12859-019-3146-1</a:t>
            </a:r>
            <a:r>
              <a:rPr lang="en-US" dirty="0"/>
              <a:t> </a:t>
            </a:r>
          </a:p>
          <a:p>
            <a:r>
              <a:rPr lang="en-US" dirty="0"/>
              <a:t>Some approaches</a:t>
            </a:r>
          </a:p>
          <a:p>
            <a:pPr lvl="1"/>
            <a:r>
              <a:rPr lang="en-US" dirty="0"/>
              <a:t>Computing similarities for gene pairs in a pathway and adjusting for their “distance” in the pathway </a:t>
            </a:r>
            <a:r>
              <a:rPr lang="en-US" dirty="0">
                <a:sym typeface="Wingdings" pitchFamily="2" charset="2"/>
              </a:rPr>
              <a:t> gene score  pathway score</a:t>
            </a:r>
          </a:p>
          <a:p>
            <a:pPr lvl="1"/>
            <a:r>
              <a:rPr lang="en-US" dirty="0">
                <a:sym typeface="Wingdings" pitchFamily="2" charset="2"/>
              </a:rPr>
              <a:t>“Impact factor” approach: treat signaling pathway as a graph, using its connectivity structure to model a pathway score as a weighted sum involving differential expression of each gene in the pathway</a:t>
            </a:r>
            <a:endParaRPr lang="en-US" dirty="0"/>
          </a:p>
          <a:p>
            <a:r>
              <a:rPr lang="en-US" dirty="0"/>
              <a:t>Some limitations: pathway connectivity could vary across cell types or with experimental conditions</a:t>
            </a:r>
          </a:p>
          <a:p>
            <a:endParaRPr lang="en-US" dirty="0"/>
          </a:p>
        </p:txBody>
      </p:sp>
    </p:spTree>
    <p:extLst>
      <p:ext uri="{BB962C8B-B14F-4D97-AF65-F5344CB8AC3E}">
        <p14:creationId xmlns:p14="http://schemas.microsoft.com/office/powerpoint/2010/main" val="3095329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35DDB-F63F-0644-9799-0FB658C02744}"/>
              </a:ext>
            </a:extLst>
          </p:cNvPr>
          <p:cNvSpPr>
            <a:spLocks noGrp="1"/>
          </p:cNvSpPr>
          <p:nvPr>
            <p:ph type="title"/>
          </p:nvPr>
        </p:nvSpPr>
        <p:spPr/>
        <p:txBody>
          <a:bodyPr/>
          <a:lstStyle/>
          <a:p>
            <a:r>
              <a:rPr lang="en-US" dirty="0"/>
              <a:t>Some other challenges</a:t>
            </a:r>
          </a:p>
        </p:txBody>
      </p:sp>
      <p:sp>
        <p:nvSpPr>
          <p:cNvPr id="3" name="Content Placeholder 2">
            <a:extLst>
              <a:ext uri="{FF2B5EF4-FFF2-40B4-BE49-F238E27FC236}">
                <a16:creationId xmlns:a16="http://schemas.microsoft.com/office/drawing/2014/main" id="{9FB4B5D3-4BFD-D844-8168-D9369486FE7B}"/>
              </a:ext>
            </a:extLst>
          </p:cNvPr>
          <p:cNvSpPr>
            <a:spLocks noGrp="1"/>
          </p:cNvSpPr>
          <p:nvPr>
            <p:ph idx="1"/>
          </p:nvPr>
        </p:nvSpPr>
        <p:spPr/>
        <p:txBody>
          <a:bodyPr>
            <a:normAutofit lnSpcReduction="10000"/>
          </a:bodyPr>
          <a:lstStyle/>
          <a:p>
            <a:r>
              <a:rPr lang="en-US" dirty="0"/>
              <a:t>Need for “higher-resolution” databases</a:t>
            </a:r>
          </a:p>
          <a:p>
            <a:pPr lvl="1"/>
            <a:r>
              <a:rPr lang="en-US" dirty="0"/>
              <a:t>Lots of alternative splicing </a:t>
            </a:r>
            <a:r>
              <a:rPr lang="en-US" dirty="0">
                <a:sym typeface="Wingdings" pitchFamily="2" charset="2"/>
              </a:rPr>
              <a:t> the “same gene” (as labeled in a pathway or gene set) could have various different meanings/contexts in a given pathway, though the pathway may have only one representation in databases</a:t>
            </a:r>
          </a:p>
          <a:p>
            <a:pPr lvl="1"/>
            <a:r>
              <a:rPr lang="en-US" dirty="0"/>
              <a:t>In an association study, how does a SNP affect associated with a phenotype affect a </a:t>
            </a:r>
            <a:r>
              <a:rPr lang="en-US" i="1" dirty="0"/>
              <a:t>pathway</a:t>
            </a:r>
            <a:r>
              <a:rPr lang="en-US" dirty="0"/>
              <a:t>?</a:t>
            </a:r>
          </a:p>
          <a:p>
            <a:r>
              <a:rPr lang="en-US" dirty="0"/>
              <a:t>Missing/biased data</a:t>
            </a:r>
          </a:p>
          <a:p>
            <a:pPr lvl="1"/>
            <a:r>
              <a:rPr lang="en-US" dirty="0"/>
              <a:t>How should non protein-coding elements like pseudogenes be included? (They may be transcribed/affect pathways)</a:t>
            </a:r>
          </a:p>
          <a:p>
            <a:pPr lvl="1"/>
            <a:r>
              <a:rPr lang="en-US" dirty="0"/>
              <a:t>&gt; 95% of GO term assertions (as of 2007) are inferred from electronic annotations (and more likely lower in quality or incorrect)</a:t>
            </a:r>
          </a:p>
          <a:p>
            <a:pPr lvl="1"/>
            <a:r>
              <a:rPr lang="en-US" dirty="0"/>
              <a:t>Lots more “manual” annotation needed</a:t>
            </a:r>
          </a:p>
        </p:txBody>
      </p:sp>
    </p:spTree>
    <p:extLst>
      <p:ext uri="{BB962C8B-B14F-4D97-AF65-F5344CB8AC3E}">
        <p14:creationId xmlns:p14="http://schemas.microsoft.com/office/powerpoint/2010/main" val="354156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0CD3CF-CA0D-2E46-B319-4AF49BD3585E}"/>
              </a:ext>
            </a:extLst>
          </p:cNvPr>
          <p:cNvSpPr>
            <a:spLocks noGrp="1"/>
          </p:cNvSpPr>
          <p:nvPr>
            <p:ph type="title"/>
          </p:nvPr>
        </p:nvSpPr>
        <p:spPr/>
        <p:txBody>
          <a:bodyPr/>
          <a:lstStyle/>
          <a:p>
            <a:r>
              <a:rPr lang="en-US" dirty="0"/>
              <a:t>Some other challenges (</a:t>
            </a:r>
            <a:r>
              <a:rPr lang="en-US" dirty="0" err="1"/>
              <a:t>con’t</a:t>
            </a:r>
            <a:r>
              <a:rPr lang="en-US" dirty="0"/>
              <a:t>.)</a:t>
            </a:r>
          </a:p>
        </p:txBody>
      </p:sp>
      <p:sp>
        <p:nvSpPr>
          <p:cNvPr id="3" name="Content Placeholder 2">
            <a:extLst>
              <a:ext uri="{FF2B5EF4-FFF2-40B4-BE49-F238E27FC236}">
                <a16:creationId xmlns:a16="http://schemas.microsoft.com/office/drawing/2014/main" id="{FF373EB2-9AA8-1942-8B87-A95584B84640}"/>
              </a:ext>
            </a:extLst>
          </p:cNvPr>
          <p:cNvSpPr>
            <a:spLocks noGrp="1"/>
          </p:cNvSpPr>
          <p:nvPr>
            <p:ph idx="1"/>
          </p:nvPr>
        </p:nvSpPr>
        <p:spPr/>
        <p:txBody>
          <a:bodyPr/>
          <a:lstStyle/>
          <a:p>
            <a:r>
              <a:rPr lang="en-US" dirty="0"/>
              <a:t>Condition- and cell-specificity</a:t>
            </a:r>
          </a:p>
          <a:p>
            <a:pPr lvl="1"/>
            <a:r>
              <a:rPr lang="en-US" dirty="0"/>
              <a:t>Databases are built from experiments on certain cell types in certain tissues and may not generalize; this context may be unavailable.</a:t>
            </a:r>
          </a:p>
          <a:p>
            <a:pPr lvl="1"/>
            <a:r>
              <a:rPr lang="en-US" dirty="0"/>
              <a:t>Different “variations” of the “same” pathway from different contexts may erroneously lead to two genes that are actually independent to be grouped together in a gene set; this can inflate the number of genes in a pathway and lead to spurious GSA associations</a:t>
            </a:r>
          </a:p>
          <a:p>
            <a:pPr lvl="1"/>
            <a:r>
              <a:rPr lang="en-US" dirty="0"/>
              <a:t>“Canonical” pathways way differ from disease- or phenotypic-specific pathways</a:t>
            </a:r>
          </a:p>
        </p:txBody>
      </p:sp>
    </p:spTree>
    <p:extLst>
      <p:ext uri="{BB962C8B-B14F-4D97-AF65-F5344CB8AC3E}">
        <p14:creationId xmlns:p14="http://schemas.microsoft.com/office/powerpoint/2010/main" val="25844070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65B3-AF36-B94C-9884-B7B1B44E57A9}"/>
              </a:ext>
            </a:extLst>
          </p:cNvPr>
          <p:cNvSpPr>
            <a:spLocks noGrp="1"/>
          </p:cNvSpPr>
          <p:nvPr>
            <p:ph type="title"/>
          </p:nvPr>
        </p:nvSpPr>
        <p:spPr/>
        <p:txBody>
          <a:bodyPr/>
          <a:lstStyle/>
          <a:p>
            <a:r>
              <a:rPr lang="en-US" dirty="0"/>
              <a:t>Some other challenges (</a:t>
            </a:r>
            <a:r>
              <a:rPr lang="en-US" dirty="0" err="1"/>
              <a:t>con’t</a:t>
            </a:r>
            <a:r>
              <a:rPr lang="en-US" dirty="0"/>
              <a:t>.)</a:t>
            </a:r>
          </a:p>
        </p:txBody>
      </p:sp>
      <p:sp>
        <p:nvSpPr>
          <p:cNvPr id="3" name="Content Placeholder 2">
            <a:extLst>
              <a:ext uri="{FF2B5EF4-FFF2-40B4-BE49-F238E27FC236}">
                <a16:creationId xmlns:a16="http://schemas.microsoft.com/office/drawing/2014/main" id="{66CA4E08-E91C-1844-B46D-C36246921549}"/>
              </a:ext>
            </a:extLst>
          </p:cNvPr>
          <p:cNvSpPr>
            <a:spLocks noGrp="1"/>
          </p:cNvSpPr>
          <p:nvPr>
            <p:ph idx="1"/>
          </p:nvPr>
        </p:nvSpPr>
        <p:spPr/>
        <p:txBody>
          <a:bodyPr/>
          <a:lstStyle/>
          <a:p>
            <a:r>
              <a:rPr lang="en-US" dirty="0"/>
              <a:t>Benchmarks</a:t>
            </a:r>
          </a:p>
          <a:p>
            <a:pPr lvl="1"/>
            <a:r>
              <a:rPr lang="en-US" dirty="0"/>
              <a:t>Lack of a “gold standard” since ”the full biology” is generally not known; simulations can’t answer everything.</a:t>
            </a:r>
          </a:p>
          <a:p>
            <a:pPr lvl="1"/>
            <a:endParaRPr lang="en-US" dirty="0"/>
          </a:p>
        </p:txBody>
      </p:sp>
    </p:spTree>
    <p:extLst>
      <p:ext uri="{BB962C8B-B14F-4D97-AF65-F5344CB8AC3E}">
        <p14:creationId xmlns:p14="http://schemas.microsoft.com/office/powerpoint/2010/main" val="5561922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29AF8C"/>
      </a:accent1>
      <a:accent2>
        <a:srgbClr val="97BE49"/>
      </a:accent2>
      <a:accent3>
        <a:srgbClr val="3D9CCC"/>
      </a:accent3>
      <a:accent4>
        <a:srgbClr val="7C60C6"/>
      </a:accent4>
      <a:accent5>
        <a:srgbClr val="C9492C"/>
      </a:accent5>
      <a:accent6>
        <a:srgbClr val="D58C2E"/>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3E4F19A7-A959-40BB-972C-4880BAF8EB0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19691</TotalTime>
  <Words>829</Words>
  <Application>Microsoft Macintosh PowerPoint</Application>
  <PresentationFormat>Widescreen</PresentationFormat>
  <Paragraphs>51</Paragraphs>
  <Slides>8</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Gene Set Analysis II</vt:lpstr>
      <vt:lpstr>Some limitations</vt:lpstr>
      <vt:lpstr>Some extensions</vt:lpstr>
      <vt:lpstr>Example: GSEA</vt:lpstr>
      <vt:lpstr>Other extensions</vt:lpstr>
      <vt:lpstr>Some other challenges</vt:lpstr>
      <vt:lpstr>Some other challenges (con’t.)</vt:lpstr>
      <vt:lpstr>Some other challenges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Genome Browsers</dc:title>
  <dc:creator>Minster, Ryan L</dc:creator>
  <cp:lastModifiedBy>Chernus, Jonathan M</cp:lastModifiedBy>
  <cp:revision>472</cp:revision>
  <dcterms:created xsi:type="dcterms:W3CDTF">2016-09-16T14:23:11Z</dcterms:created>
  <dcterms:modified xsi:type="dcterms:W3CDTF">2024-04-04T11:19:25Z</dcterms:modified>
</cp:coreProperties>
</file>