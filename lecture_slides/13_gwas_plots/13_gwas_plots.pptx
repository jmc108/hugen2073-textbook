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9"/>
  </p:notesMasterIdLst>
  <p:sldIdLst>
    <p:sldId id="560" r:id="rId2"/>
    <p:sldId id="383" r:id="rId3"/>
    <p:sldId id="382" r:id="rId4"/>
    <p:sldId id="392" r:id="rId5"/>
    <p:sldId id="400" r:id="rId6"/>
    <p:sldId id="418" r:id="rId7"/>
    <p:sldId id="440" r:id="rId8"/>
    <p:sldId id="441" r:id="rId9"/>
    <p:sldId id="442" r:id="rId10"/>
    <p:sldId id="443" r:id="rId11"/>
    <p:sldId id="419" r:id="rId12"/>
    <p:sldId id="444" r:id="rId13"/>
    <p:sldId id="445" r:id="rId14"/>
    <p:sldId id="446" r:id="rId15"/>
    <p:sldId id="420" r:id="rId16"/>
    <p:sldId id="447" r:id="rId17"/>
    <p:sldId id="448" r:id="rId18"/>
    <p:sldId id="421" r:id="rId19"/>
    <p:sldId id="450" r:id="rId20"/>
    <p:sldId id="449" r:id="rId21"/>
    <p:sldId id="452" r:id="rId22"/>
    <p:sldId id="453" r:id="rId23"/>
    <p:sldId id="451" r:id="rId24"/>
    <p:sldId id="401" r:id="rId25"/>
    <p:sldId id="455" r:id="rId26"/>
    <p:sldId id="457" r:id="rId27"/>
    <p:sldId id="456" r:id="rId28"/>
    <p:sldId id="458" r:id="rId29"/>
    <p:sldId id="422" r:id="rId30"/>
    <p:sldId id="423" r:id="rId31"/>
    <p:sldId id="454" r:id="rId32"/>
    <p:sldId id="424" r:id="rId33"/>
    <p:sldId id="406" r:id="rId34"/>
    <p:sldId id="428" r:id="rId35"/>
    <p:sldId id="425" r:id="rId36"/>
    <p:sldId id="460" r:id="rId37"/>
    <p:sldId id="461" r:id="rId38"/>
    <p:sldId id="459" r:id="rId39"/>
    <p:sldId id="462" r:id="rId40"/>
    <p:sldId id="463" r:id="rId41"/>
    <p:sldId id="464" r:id="rId42"/>
    <p:sldId id="393" r:id="rId43"/>
    <p:sldId id="403" r:id="rId44"/>
    <p:sldId id="558" r:id="rId45"/>
    <p:sldId id="544" r:id="rId46"/>
    <p:sldId id="404" r:id="rId47"/>
    <p:sldId id="426" r:id="rId48"/>
    <p:sldId id="396" r:id="rId49"/>
    <p:sldId id="405" r:id="rId50"/>
    <p:sldId id="545" r:id="rId51"/>
    <p:sldId id="407" r:id="rId52"/>
    <p:sldId id="394" r:id="rId53"/>
    <p:sldId id="429" r:id="rId54"/>
    <p:sldId id="557" r:id="rId55"/>
    <p:sldId id="430" r:id="rId56"/>
    <p:sldId id="410" r:id="rId57"/>
    <p:sldId id="431" r:id="rId58"/>
    <p:sldId id="411" r:id="rId59"/>
    <p:sldId id="395" r:id="rId60"/>
    <p:sldId id="414" r:id="rId61"/>
    <p:sldId id="432" r:id="rId62"/>
    <p:sldId id="433" r:id="rId63"/>
    <p:sldId id="434" r:id="rId64"/>
    <p:sldId id="546" r:id="rId65"/>
    <p:sldId id="547" r:id="rId66"/>
    <p:sldId id="435" r:id="rId67"/>
    <p:sldId id="438" r:id="rId68"/>
    <p:sldId id="437" r:id="rId69"/>
    <p:sldId id="556" r:id="rId70"/>
    <p:sldId id="549" r:id="rId71"/>
    <p:sldId id="550" r:id="rId72"/>
    <p:sldId id="551" r:id="rId73"/>
    <p:sldId id="552" r:id="rId74"/>
    <p:sldId id="553" r:id="rId75"/>
    <p:sldId id="554" r:id="rId76"/>
    <p:sldId id="555" r:id="rId77"/>
    <p:sldId id="559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D348B-9918-4140-A907-965B5B44A95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4785A-F1BB-5446-9A7B-8EF953A8C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80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1678D-5DA9-7A4D-9463-9EFE2A8865D0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62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1B73-4152-6DCA-8224-4BA745249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8A05F-FA8D-8470-E22E-5FFF84ACE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4792F-229C-9C84-6C2B-CB99E2CA9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0FE2E-84FA-85B6-B953-029C30FF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DB847-FB6F-D2D1-1161-EE509F29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9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A2685-81FF-860C-76B2-6E3B8CEA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88DF7-2415-4934-ACC8-96BFDFDF1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65BF6-B8B1-8629-693B-FCD1987C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C42F3-E1A0-867D-CFC9-8E8A7EEC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09B47-DEFE-A506-A771-986707C6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59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C790-823E-CBFF-8E0D-E2E257081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2ABC9-CDBB-95AA-A490-987EEBE28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AC9DE-9626-5867-E066-CC4C3E07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4D76E-7B5E-036D-54A0-744BBCB6B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10440-971A-AAB5-F0A9-4BCE057D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5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8F79-077E-02A4-896C-7ED0120A2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E16D3-D9B8-4340-83FC-EB1808BB7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CCBD1-34D9-0B55-2A58-B259B720C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4201D-1B8B-B4C1-62B5-38820FC08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869AB-2121-9D52-ED45-AD62BDB62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B8B29-2161-78CA-47FC-5E03C657E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2070-E61C-E675-C5A5-C58DCDE6A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27C07-1C07-DC08-AF24-D3BAF50BF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F2B54-45EB-F4A2-51D0-37D5AFB68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0249B-AAA2-DCF7-885F-C01D0EC79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3E92B2-B83F-5265-94B8-648D8E7CF6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280F5-E825-4C0D-C54B-3A9E5708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60B65-28F3-4CA2-7B03-84A61E702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65FA4B-3F42-C033-6BB0-B99C5D25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1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016E-4119-54E6-5A85-07E630D7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9AE98-1648-26E9-8125-52D9F7FA6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0AC01-1E29-2523-E007-786605E1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F821B-C7F8-BCE1-A12F-E24CC1CC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57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A4033-64E8-12E7-4ADD-2E250F801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D2D157-A5EE-9182-861F-E3BCF1B55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1D39D-774D-4430-E369-41DB2A8C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94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F887-44BA-C69F-B138-DA0DEF2C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BE518-40A2-ECA3-6182-580471129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8E0BB-F1B2-94C3-3B9E-59C461736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33C0F-3A90-BB69-3394-189373F8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027DC-AEF0-9EF5-3BC4-EDF68FB9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73FB4-6B90-5522-6F04-954901FE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1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7350-BA4C-1D98-5361-433E536C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36ED9-D71B-62B0-43E1-D553014FA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CD2FC-7225-E323-1DE1-BA4EC0DBB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AD5E5-67DF-7B96-FD54-0DB92765C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7B7C7-6B4A-FBB7-EBA7-7643A557B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306C6-2104-A57E-E03E-09BA792B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25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C2881-01E3-55EC-5A6C-F43651C37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160AD-A662-0460-B9A6-3CD9F03FF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BCC26-E2A7-039D-1B54-AFAB8F16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7206-B580-55D4-7D97-7882B1436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C3A1E-4472-38B7-F388-FBF88541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0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5E26-8B7A-B824-A060-6A9CC09F0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67CEA-8FE2-AC0F-3304-CF8FC8F1C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A1D83-1692-B585-7224-15A57F1F4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27FF7-C067-9E46-5BAE-A620BEDD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1842C-B157-C504-70AE-897E21DE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93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03B466-4D71-9634-E70A-F02DBB5C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81537-1FE4-EB9A-BA5D-DC420C6B9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FD85-0F55-2163-DB85-80E180188D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45DFD-661A-E747-B482-16E9E3DB328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E9068-289D-284A-CF0D-F467A8E72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37121-12A5-0FFD-C7A6-23732E39E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F003E-BCB2-CF4C-A81C-594C07482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37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://locuszoom.org/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bi.ac.uk/gwas/downloads/summary-statistics" TargetMode="External"/><Relationship Id="rId7" Type="http://schemas.openxmlformats.org/officeDocument/2006/relationships/hyperlink" Target="https://rdrr.io/bioc/GWASTools/man/manhattanPlot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drr.io/github/smgogarten/GWASTools/man/qqPlot.html" TargetMode="External"/><Relationship Id="rId5" Type="http://schemas.openxmlformats.org/officeDocument/2006/relationships/hyperlink" Target="https://www.bioconductor.org/packages/release/bioc/html/GWASTools.html" TargetMode="External"/><Relationship Id="rId4" Type="http://schemas.openxmlformats.org/officeDocument/2006/relationships/hyperlink" Target="https://cran.r-project.org/web/packages/qqman/vignettes/qqma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04D2F-DC62-18F6-8BA9-9812D6029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213F-4AA0-0371-2148-3DCE467A76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Genomic Visualization</a:t>
            </a:r>
            <a:br>
              <a:rPr lang="en-US" b="1" dirty="0"/>
            </a:br>
            <a:r>
              <a:rPr lang="en-US" b="1" dirty="0"/>
              <a:t>Part 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443E61D-94C5-E884-0386-DBC957C05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33233"/>
          </a:xfrm>
        </p:spPr>
        <p:txBody>
          <a:bodyPr>
            <a:normAutofit/>
          </a:bodyPr>
          <a:lstStyle/>
          <a:p>
            <a:r>
              <a:rPr lang="en-US" dirty="0"/>
              <a:t>HUGEN 2073</a:t>
            </a:r>
          </a:p>
          <a:p>
            <a:r>
              <a:rPr lang="en-US" dirty="0"/>
              <a:t>Genomic Data Visualization &amp; Integration</a:t>
            </a:r>
          </a:p>
          <a:p>
            <a:endParaRPr lang="en-US" dirty="0"/>
          </a:p>
          <a:p>
            <a:r>
              <a:rPr lang="en-US" dirty="0"/>
              <a:t>Slides adapted from Ryan Minster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3474991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1E6FDA8E-0BEE-A244-83C5-0D1E4F464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14" y="403919"/>
            <a:ext cx="10113371" cy="6050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647723-8E59-ED45-A350-098378069AB9}"/>
              </a:ext>
            </a:extLst>
          </p:cNvPr>
          <p:cNvSpPr txBox="1"/>
          <p:nvPr/>
        </p:nvSpPr>
        <p:spPr>
          <a:xfrm>
            <a:off x="7219950" y="6488668"/>
            <a:ext cx="497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SF Pro Display" pitchFamily="2" charset="0"/>
                <a:ea typeface="SF Pro Display" pitchFamily="2" charset="0"/>
              </a:rPr>
              <a:t>Cuellar-</a:t>
            </a:r>
            <a:r>
              <a:rPr lang="en-US" dirty="0" err="1">
                <a:latin typeface="SF Pro Display" pitchFamily="2" charset="0"/>
                <a:ea typeface="SF Pro Display" pitchFamily="2" charset="0"/>
              </a:rPr>
              <a:t>Partida</a:t>
            </a:r>
            <a:r>
              <a:rPr lang="en-US" dirty="0">
                <a:latin typeface="SF Pro Display" pitchFamily="2" charset="0"/>
                <a:ea typeface="SF Pro Display" pitchFamily="2" charset="0"/>
              </a:rPr>
              <a:t> </a:t>
            </a:r>
            <a:r>
              <a:rPr lang="en-US" i="1" dirty="0">
                <a:latin typeface="SF Pro Display" pitchFamily="2" charset="0"/>
                <a:ea typeface="SF Pro Display" pitchFamily="2" charset="0"/>
              </a:rPr>
              <a:t>et al. Nat Hum </a:t>
            </a:r>
            <a:r>
              <a:rPr lang="en-US" i="1" dirty="0" err="1">
                <a:latin typeface="SF Pro Display" pitchFamily="2" charset="0"/>
                <a:ea typeface="SF Pro Display" pitchFamily="2" charset="0"/>
              </a:rPr>
              <a:t>Behav</a:t>
            </a:r>
            <a:r>
              <a:rPr lang="en-US" dirty="0">
                <a:latin typeface="SF Pro Display" pitchFamily="2" charset="0"/>
                <a:ea typeface="SF Pro Display" pitchFamily="2" charset="0"/>
              </a:rPr>
              <a:t> 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93559-EEE6-764B-A63F-48421363570C}"/>
              </a:ext>
            </a:extLst>
          </p:cNvPr>
          <p:cNvSpPr txBox="1"/>
          <p:nvPr/>
        </p:nvSpPr>
        <p:spPr>
          <a:xfrm>
            <a:off x="4032884" y="640318"/>
            <a:ext cx="4972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SF Pro Display Light" pitchFamily="2" charset="0"/>
                <a:ea typeface="SF Pro Display Light" pitchFamily="2" charset="0"/>
              </a:rPr>
              <a:t>13,346,399 SNPs (MAF &gt; 0.005)</a:t>
            </a:r>
          </a:p>
        </p:txBody>
      </p:sp>
    </p:spTree>
    <p:extLst>
      <p:ext uri="{BB962C8B-B14F-4D97-AF65-F5344CB8AC3E}">
        <p14:creationId xmlns:p14="http://schemas.microsoft.com/office/powerpoint/2010/main" val="149801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888E-DAF1-334B-86B8-B88D1F14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4D833-DBD8-414A-9FF5-F56FD1BFC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the end of the session, students will be able to: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Describe taxonomies for genomic map visualization</a:t>
            </a:r>
          </a:p>
          <a:p>
            <a:r>
              <a:rPr lang="en-US" dirty="0"/>
              <a:t>Describe the difference between vector and raster graphics, use each in appropriate circumstances</a:t>
            </a:r>
          </a:p>
        </p:txBody>
      </p:sp>
    </p:spTree>
    <p:extLst>
      <p:ext uri="{BB962C8B-B14F-4D97-AF65-F5344CB8AC3E}">
        <p14:creationId xmlns:p14="http://schemas.microsoft.com/office/powerpoint/2010/main" val="139909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0CAB-CC5D-8C43-9BDC-B91B1E47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Taxonomies for Genomic Map Visualizations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CD02E-9620-BC4A-A774-4684464A0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50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C596-8A49-3B41-A87E-64FA2DE0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Visualization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E55A0-AE7B-494B-ADD8-7927B08D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Layout</a:t>
            </a:r>
          </a:p>
          <a:p>
            <a:r>
              <a:rPr lang="en-US"/>
              <a:t>Partition</a:t>
            </a:r>
          </a:p>
          <a:p>
            <a:r>
              <a:rPr lang="en-US"/>
              <a:t>Abstraction</a:t>
            </a:r>
          </a:p>
          <a:p>
            <a:r>
              <a:rPr lang="en-US"/>
              <a:t>Arrangement</a:t>
            </a:r>
          </a:p>
        </p:txBody>
      </p:sp>
    </p:spTree>
    <p:extLst>
      <p:ext uri="{BB962C8B-B14F-4D97-AF65-F5344CB8AC3E}">
        <p14:creationId xmlns:p14="http://schemas.microsoft.com/office/powerpoint/2010/main" val="409813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C596-8A49-3B41-A87E-64FA2DE0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E55A0-AE7B-494B-ADD8-7927B08D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Linear</a:t>
            </a:r>
          </a:p>
          <a:p>
            <a:r>
              <a:rPr lang="en-US"/>
              <a:t>Circular</a:t>
            </a:r>
          </a:p>
          <a:p>
            <a:r>
              <a:rPr lang="en-US"/>
              <a:t>Space-filling</a:t>
            </a:r>
          </a:p>
          <a:p>
            <a:r>
              <a:rPr lang="en-US"/>
              <a:t>Spatial</a:t>
            </a:r>
          </a:p>
        </p:txBody>
      </p:sp>
    </p:spTree>
    <p:extLst>
      <p:ext uri="{BB962C8B-B14F-4D97-AF65-F5344CB8AC3E}">
        <p14:creationId xmlns:p14="http://schemas.microsoft.com/office/powerpoint/2010/main" val="599230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61985-18B4-C44B-AB99-B45D6B87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Layouts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1A804-2573-054B-AB9D-B0B351951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Manhattan plots</a:t>
            </a:r>
          </a:p>
          <a:p>
            <a:r>
              <a:rPr lang="en-US"/>
              <a:t>Most genome browsers (UCSC etc.)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DF6FB-9F6E-DD40-9339-F3386BD8C0B2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Nagy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Genome Med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2017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F255FA46-3A90-0948-96DF-B8E28822C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70" y="3429000"/>
            <a:ext cx="100584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17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83E2-0842-704D-BAB0-A499E0DD4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Circular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75BC7-F8C5-C449-AF6B-4EF2E6913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Circos</a:t>
            </a:r>
            <a:r>
              <a:rPr lang="en-US" dirty="0"/>
              <a:t>” plots</a:t>
            </a:r>
          </a:p>
        </p:txBody>
      </p:sp>
      <p:pic>
        <p:nvPicPr>
          <p:cNvPr id="5" name="Picture 4" descr="Chart, radar chart&#10;&#10;Description automatically generated">
            <a:extLst>
              <a:ext uri="{FF2B5EF4-FFF2-40B4-BE49-F238E27FC236}">
                <a16:creationId xmlns:a16="http://schemas.microsoft.com/office/drawing/2014/main" id="{88DAA0E7-071C-DD44-B67F-3C5BCF69C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978" y="502920"/>
            <a:ext cx="5870592" cy="5852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3E79BF-42D8-AB4F-8DF5-4E0201D0AC5B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Mullin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Genome Biol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2020</a:t>
            </a:r>
          </a:p>
        </p:txBody>
      </p:sp>
    </p:spTree>
    <p:extLst>
      <p:ext uri="{BB962C8B-B14F-4D97-AF65-F5344CB8AC3E}">
        <p14:creationId xmlns:p14="http://schemas.microsoft.com/office/powerpoint/2010/main" val="2779312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83E2-0842-704D-BAB0-A499E0DD4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Space-</a:t>
            </a:r>
            <a:br>
              <a:rPr lang="en-US" dirty="0"/>
            </a:br>
            <a:r>
              <a:rPr lang="en-US" dirty="0"/>
              <a:t>Filling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75BC7-F8C5-C449-AF6B-4EF2E6913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1996"/>
            <a:ext cx="10515600" cy="4351338"/>
          </a:xfrm>
        </p:spPr>
        <p:txBody>
          <a:bodyPr/>
          <a:lstStyle/>
          <a:p>
            <a:r>
              <a:rPr lang="en-US" dirty="0"/>
              <a:t>e.g., Hilbert curves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E79BF-42D8-AB4F-8DF5-4E0201D0AC5B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Kharchenko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Nature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2010</a:t>
            </a:r>
          </a:p>
        </p:txBody>
      </p:sp>
      <p:pic>
        <p:nvPicPr>
          <p:cNvPr id="10" name="Picture 9" descr="A picture containing map&#10;&#10;Description automatically generated">
            <a:extLst>
              <a:ext uri="{FF2B5EF4-FFF2-40B4-BE49-F238E27FC236}">
                <a16:creationId xmlns:a16="http://schemas.microsoft.com/office/drawing/2014/main" id="{F73F7B45-49BC-484E-9FB5-C252EA8B9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105" y="155852"/>
            <a:ext cx="8060895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23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83E2-0842-704D-BAB0-A499E0DD4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Spacial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75BC7-F8C5-C449-AF6B-4EF2E6913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Actual (or hypothetical or abstract)</a:t>
            </a:r>
            <a:br>
              <a:rPr lang="en-US"/>
            </a:br>
            <a:r>
              <a:rPr lang="en-US"/>
              <a:t>3D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E79BF-42D8-AB4F-8DF5-4E0201D0AC5B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tRNA. Wikipedia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4D586-44A6-234A-A52E-D41B05EEE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530" y="598488"/>
            <a:ext cx="5380194" cy="5287962"/>
          </a:xfrm>
          <a:prstGeom prst="rect">
            <a:avLst/>
          </a:prstGeom>
        </p:spPr>
      </p:pic>
      <p:pic>
        <p:nvPicPr>
          <p:cNvPr id="7" name="Picture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9828708D-30BA-1A4E-B470-92A3569BD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13" y="3212307"/>
            <a:ext cx="6243217" cy="2964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0B2366-6B95-6444-8E4C-9E708E51651E}"/>
              </a:ext>
            </a:extLst>
          </p:cNvPr>
          <p:cNvSpPr txBox="1"/>
          <p:nvPr/>
        </p:nvSpPr>
        <p:spPr>
          <a:xfrm>
            <a:off x="1681480" y="6493093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tRNA. NHGRI Talking Glossary of Genetic Terms</a:t>
            </a:r>
          </a:p>
        </p:txBody>
      </p:sp>
    </p:spTree>
    <p:extLst>
      <p:ext uri="{BB962C8B-B14F-4D97-AF65-F5344CB8AC3E}">
        <p14:creationId xmlns:p14="http://schemas.microsoft.com/office/powerpoint/2010/main" val="540074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A10F-B916-2642-810A-502881F7D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6DE07-64F1-0046-B6E7-EB8E73F17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Contiguous</a:t>
            </a:r>
          </a:p>
          <a:p>
            <a:r>
              <a:rPr lang="en-US"/>
              <a:t>Segregated</a:t>
            </a:r>
          </a:p>
        </p:txBody>
      </p:sp>
    </p:spTree>
    <p:extLst>
      <p:ext uri="{BB962C8B-B14F-4D97-AF65-F5344CB8AC3E}">
        <p14:creationId xmlns:p14="http://schemas.microsoft.com/office/powerpoint/2010/main" val="792453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A10F-B916-2642-810A-502881F7D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Contiguous 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6DE07-64F1-0046-B6E7-EB8E73F17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Manhattan plots</a:t>
            </a:r>
          </a:p>
          <a:p>
            <a:r>
              <a:rPr lang="en-US"/>
              <a:t>Genome browsers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BCEE71-E2CB-C648-A9EC-33A406A6EFD6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Nagy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Genome Medicine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2017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E5EEB4BA-357C-AB46-BBA6-F8389DEEB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70" y="3429000"/>
            <a:ext cx="100584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2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A10F-B916-2642-810A-502881F7D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Segregated Partition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6DE07-64F1-0046-B6E7-EB8E73F17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Ideograms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C4036-798F-F742-87DD-290C4749B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1825625"/>
            <a:ext cx="8823960" cy="457847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74F811-8369-DC48-8265-322B5CC97E63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BMI loci. </a:t>
            </a:r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PheGenI</a:t>
            </a:r>
            <a:endParaRPr lang="en-US" sz="1200" b="1" dirty="0">
              <a:latin typeface="SF Pro Display" pitchFamily="2" charset="0"/>
              <a:ea typeface="SF Pro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226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D6F2-6198-DB45-8FB8-AC8AD3F77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E9126-583A-AE40-A418-05C8EDF2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Replace segments of sequence with abstract symbols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2FC4E-2AFE-A943-9F3F-EB553187DAC6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19:45409011–45412650. </a:t>
            </a:r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gnomAD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. 2022 Feb 17</a:t>
            </a:r>
            <a:endParaRPr lang="en-US" sz="1200" b="1" i="1" dirty="0">
              <a:latin typeface="SF Pro Display" pitchFamily="2" charset="0"/>
              <a:ea typeface="SF Pro Display" pitchFamily="2" charset="0"/>
            </a:endParaRPr>
          </a:p>
        </p:txBody>
      </p:sp>
      <p:pic>
        <p:nvPicPr>
          <p:cNvPr id="6" name="Picture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E63CF6E-596E-A441-96A1-F3A2F6FC1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93" y="2703359"/>
            <a:ext cx="11289213" cy="347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209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D6F2-6198-DB45-8FB8-AC8AD3F77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E9126-583A-AE40-A418-05C8EDF2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Replace segments of sequence with abstract symbols</a:t>
            </a:r>
          </a:p>
          <a:p>
            <a:pPr lvl="1"/>
            <a:r>
              <a:rPr lang="en-US"/>
              <a:t>In gnomAD, introns have been abstracted to short segments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D798EA-E2DC-AC43-8720-E8FD3DCCC544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APOE.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</a:t>
            </a:r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gnomAD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. 2022 Feb 17</a:t>
            </a:r>
            <a:endParaRPr lang="en-US" sz="1200" b="1" i="1" dirty="0">
              <a:latin typeface="SF Pro Display" pitchFamily="2" charset="0"/>
              <a:ea typeface="SF Pro Display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2951CF-2396-2344-9117-12E2138A92CA}"/>
              </a:ext>
            </a:extLst>
          </p:cNvPr>
          <p:cNvGrpSpPr/>
          <p:nvPr/>
        </p:nvGrpSpPr>
        <p:grpSpPr>
          <a:xfrm>
            <a:off x="330074" y="3103539"/>
            <a:ext cx="11531851" cy="3073424"/>
            <a:chOff x="330074" y="2994961"/>
            <a:chExt cx="11531851" cy="3073424"/>
          </a:xfrm>
        </p:grpSpPr>
        <p:pic>
          <p:nvPicPr>
            <p:cNvPr id="8" name="Picture 7" descr="Graphical user interface, website&#10;&#10;Description automatically generated">
              <a:extLst>
                <a:ext uri="{FF2B5EF4-FFF2-40B4-BE49-F238E27FC236}">
                  <a16:creationId xmlns:a16="http://schemas.microsoft.com/office/drawing/2014/main" id="{E898C681-B1A9-7641-8DE5-6265918A73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89905"/>
            <a:stretch/>
          </p:blipFill>
          <p:spPr>
            <a:xfrm>
              <a:off x="330074" y="2994961"/>
              <a:ext cx="11531851" cy="528862"/>
            </a:xfrm>
            <a:prstGeom prst="rect">
              <a:avLst/>
            </a:prstGeom>
          </p:spPr>
        </p:pic>
        <p:pic>
          <p:nvPicPr>
            <p:cNvPr id="9" name="Picture 8" descr="Graphical user interface, website&#10;&#10;Description automatically generated">
              <a:extLst>
                <a:ext uri="{FF2B5EF4-FFF2-40B4-BE49-F238E27FC236}">
                  <a16:creationId xmlns:a16="http://schemas.microsoft.com/office/drawing/2014/main" id="{B247EF05-38AD-944F-8206-8033765677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1430"/>
            <a:stretch/>
          </p:blipFill>
          <p:spPr>
            <a:xfrm>
              <a:off x="330074" y="3523823"/>
              <a:ext cx="11531851" cy="2544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1210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D6F2-6198-DB45-8FB8-AC8AD3F77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E9126-583A-AE40-A418-05C8EDF2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Replace segments of sequence with abstract symbols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D42BE7-A637-B34B-A595-BA93284B4B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82"/>
          <a:stretch/>
        </p:blipFill>
        <p:spPr>
          <a:xfrm>
            <a:off x="2308860" y="2461797"/>
            <a:ext cx="7296150" cy="4174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F2FF9E-FEE1-FA41-BFFE-67B3E87EFDE7}"/>
              </a:ext>
            </a:extLst>
          </p:cNvPr>
          <p:cNvSpPr txBox="1"/>
          <p:nvPr/>
        </p:nvSpPr>
        <p:spPr>
          <a:xfrm>
            <a:off x="7118985" y="6492875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Russell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. </a:t>
            </a:r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unpub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3303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D6F2-6198-DB45-8FB8-AC8AD3F77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427"/>
            <a:ext cx="10515600" cy="1325563"/>
          </a:xfrm>
        </p:spPr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E9126-583A-AE40-A418-05C8EDF2C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990"/>
            <a:ext cx="10515600" cy="4351338"/>
          </a:xfrm>
        </p:spPr>
        <p:txBody>
          <a:bodyPr/>
          <a:lstStyle/>
          <a:p>
            <a:r>
              <a:rPr lang="en-US" dirty="0"/>
              <a:t>With increasing levels of abstraction, the </a:t>
            </a:r>
            <a:r>
              <a:rPr lang="en-US" b="1" dirty="0"/>
              <a:t>order and position </a:t>
            </a:r>
            <a:r>
              <a:rPr lang="en-US" dirty="0"/>
              <a:t>of features becomes </a:t>
            </a:r>
            <a:r>
              <a:rPr lang="en-US" b="1" dirty="0"/>
              <a:t>more salient </a:t>
            </a:r>
            <a:r>
              <a:rPr lang="en-US" dirty="0"/>
              <a:t>than the </a:t>
            </a:r>
            <a:r>
              <a:rPr lang="en-US" b="1" dirty="0"/>
              <a:t>relative lengths </a:t>
            </a:r>
            <a:r>
              <a:rPr lang="en-US" dirty="0"/>
              <a:t>of features.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89429D15-80D5-534E-B571-94305E229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50" y="2731534"/>
            <a:ext cx="7073900" cy="1714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4A727-BE4B-E943-925E-7A21287A793A}"/>
              </a:ext>
            </a:extLst>
          </p:cNvPr>
          <p:cNvSpPr txBox="1"/>
          <p:nvPr/>
        </p:nvSpPr>
        <p:spPr>
          <a:xfrm>
            <a:off x="4660900" y="4446034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Kotler &amp; Haig. </a:t>
            </a:r>
            <a:r>
              <a:rPr lang="en-US" sz="1200" b="1" i="1" dirty="0" err="1">
                <a:latin typeface="SF Pro Display" pitchFamily="2" charset="0"/>
                <a:ea typeface="SF Pro Display" pitchFamily="2" charset="0"/>
              </a:rPr>
              <a:t>Evol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 </a:t>
            </a:r>
            <a:r>
              <a:rPr lang="en-US" sz="1200" b="1" i="1" dirty="0" err="1">
                <a:latin typeface="SF Pro Display" pitchFamily="2" charset="0"/>
                <a:ea typeface="SF Pro Display" pitchFamily="2" charset="0"/>
              </a:rPr>
              <a:t>Anthropol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.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2018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221395-BC0C-F14A-B27F-1F3CBC7C5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81" y="4880563"/>
            <a:ext cx="11429038" cy="13562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0443B9-A2B5-4D47-8FE9-4C28727868E7}"/>
              </a:ext>
            </a:extLst>
          </p:cNvPr>
          <p:cNvSpPr txBox="1"/>
          <p:nvPr/>
        </p:nvSpPr>
        <p:spPr>
          <a:xfrm>
            <a:off x="6838469" y="6299033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15:23565674–25630075. </a:t>
            </a:r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gnomAD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. 2022 Feb 17</a:t>
            </a:r>
          </a:p>
        </p:txBody>
      </p:sp>
    </p:spTree>
    <p:extLst>
      <p:ext uri="{BB962C8B-B14F-4D97-AF65-F5344CB8AC3E}">
        <p14:creationId xmlns:p14="http://schemas.microsoft.com/office/powerpoint/2010/main" val="1007435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2951-FB1E-F049-B10A-CD43C92B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Arrangement (Comparing or Linking)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ADAF4-0256-F048-ABDD-2DE879AF5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Serial</a:t>
            </a:r>
          </a:p>
          <a:p>
            <a:r>
              <a:rPr lang="en-US"/>
              <a:t>Parallel</a:t>
            </a:r>
          </a:p>
          <a:p>
            <a:r>
              <a:rPr lang="en-US"/>
              <a:t>Orthogonal</a:t>
            </a:r>
          </a:p>
        </p:txBody>
      </p:sp>
    </p:spTree>
    <p:extLst>
      <p:ext uri="{BB962C8B-B14F-4D97-AF65-F5344CB8AC3E}">
        <p14:creationId xmlns:p14="http://schemas.microsoft.com/office/powerpoint/2010/main" val="1694874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2951-FB1E-F049-B10A-CD43C92B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Arrangement (Comparing or Linking)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ADAF4-0256-F048-ABDD-2DE879AF5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Serial Arrangement</a:t>
            </a:r>
          </a:p>
          <a:p>
            <a:pPr lvl="1"/>
            <a:r>
              <a:rPr lang="en-US" sz="2800"/>
              <a:t>End-to-end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493AEC-1EDA-5C47-BA2B-5CE374365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754" y="1479834"/>
            <a:ext cx="4830930" cy="4855085"/>
          </a:xfrm>
          <a:prstGeom prst="rect">
            <a:avLst/>
          </a:prstGeo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94F5BB5C-D29E-2D44-9E54-2A3C69C89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52" y="3216275"/>
            <a:ext cx="2844800" cy="3276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2E3F60-1D1D-934A-918A-DB1AF6C90CB9}"/>
              </a:ext>
            </a:extLst>
          </p:cNvPr>
          <p:cNvSpPr/>
          <p:nvPr/>
        </p:nvSpPr>
        <p:spPr>
          <a:xfrm rot="1715219">
            <a:off x="2733628" y="2986284"/>
            <a:ext cx="897048" cy="1768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03DCE-3F4E-9047-BB6E-4BE526EB10E9}"/>
              </a:ext>
            </a:extLst>
          </p:cNvPr>
          <p:cNvSpPr txBox="1"/>
          <p:nvPr/>
        </p:nvSpPr>
        <p:spPr>
          <a:xfrm>
            <a:off x="6356412" y="6492875"/>
            <a:ext cx="5720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Krzywinski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. </a:t>
            </a:r>
            <a:r>
              <a:rPr lang="en-US" sz="1200" b="1" dirty="0">
                <a:latin typeface="Inconsolatazi4varl_qu" panose="02000503000000000000" pitchFamily="2" charset="0"/>
                <a:ea typeface="SF Pro Display" pitchFamily="2" charset="0"/>
              </a:rPr>
              <a:t>http://</a:t>
            </a:r>
            <a:r>
              <a:rPr lang="en-US" sz="1200" b="1" dirty="0" err="1">
                <a:latin typeface="Inconsolatazi4varl_qu" panose="02000503000000000000" pitchFamily="2" charset="0"/>
                <a:ea typeface="SF Pro Display" pitchFamily="2" charset="0"/>
              </a:rPr>
              <a:t>circos.ca</a:t>
            </a:r>
            <a:r>
              <a:rPr lang="en-US" sz="1200" b="1" dirty="0">
                <a:latin typeface="Inconsolatazi4varl_qu" panose="02000503000000000000" pitchFamily="2" charset="0"/>
                <a:ea typeface="SF Pro Display" pitchFamily="2" charset="0"/>
              </a:rPr>
              <a:t>/guide/visual/</a:t>
            </a:r>
            <a:r>
              <a:rPr lang="en-US" sz="1200" b="1" dirty="0" err="1">
                <a:latin typeface="Inconsolatazi4varl_qu" panose="02000503000000000000" pitchFamily="2" charset="0"/>
                <a:ea typeface="SF Pro Display" pitchFamily="2" charset="0"/>
              </a:rPr>
              <a:t>img</a:t>
            </a:r>
            <a:r>
              <a:rPr lang="en-US" sz="1200" b="1" dirty="0">
                <a:latin typeface="Inconsolatazi4varl_qu" panose="02000503000000000000" pitchFamily="2" charset="0"/>
                <a:ea typeface="SF Pro Display" pitchFamily="2" charset="0"/>
              </a:rPr>
              <a:t>/</a:t>
            </a:r>
            <a:r>
              <a:rPr lang="en-US" sz="1200" b="1" dirty="0" err="1">
                <a:latin typeface="Inconsolatazi4varl_qu" panose="02000503000000000000" pitchFamily="2" charset="0"/>
                <a:ea typeface="SF Pro Display" pitchFamily="2" charset="0"/>
              </a:rPr>
              <a:t>circos-visualguide-med.png</a:t>
            </a:r>
            <a:endParaRPr lang="en-US" sz="1200" b="1" dirty="0">
              <a:latin typeface="Inconsolatazi4varl_qu" panose="02000503000000000000" pitchFamily="2" charset="0"/>
              <a:ea typeface="SF Pro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281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2951-FB1E-F049-B10A-CD43C92B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Arrangement (Comparing or Linking)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ADAF4-0256-F048-ABDD-2DE879AF5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Parallel Arrangement</a:t>
            </a:r>
          </a:p>
          <a:p>
            <a:pPr lvl="1"/>
            <a:r>
              <a:rPr lang="en-US" sz="2800"/>
              <a:t>Linear or circular</a:t>
            </a:r>
          </a:p>
          <a:p>
            <a:endParaRPr lang="en-US"/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7E41C-B23E-7A41-92D0-3033550FF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189" y="3610260"/>
            <a:ext cx="8785860" cy="182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40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2951-FB1E-F049-B10A-CD43C92B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Arrangement (Comparing or Linking)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ADAF4-0256-F048-ABDD-2DE879AF5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Orthogonal Arrangement</a:t>
            </a:r>
          </a:p>
        </p:txBody>
      </p:sp>
      <p:pic>
        <p:nvPicPr>
          <p:cNvPr id="5" name="Picture 4" descr="Chart, treemap chart&#10;&#10;Description automatically generated">
            <a:extLst>
              <a:ext uri="{FF2B5EF4-FFF2-40B4-BE49-F238E27FC236}">
                <a16:creationId xmlns:a16="http://schemas.microsoft.com/office/drawing/2014/main" id="{31371C57-8248-0B46-BC67-61594826A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970" y="1645444"/>
            <a:ext cx="5981700" cy="4711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BBD045-7DDF-E64B-A94F-28FBDE1A68D2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Lee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BMC Genomics.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2018</a:t>
            </a:r>
          </a:p>
        </p:txBody>
      </p:sp>
    </p:spTree>
    <p:extLst>
      <p:ext uri="{BB962C8B-B14F-4D97-AF65-F5344CB8AC3E}">
        <p14:creationId xmlns:p14="http://schemas.microsoft.com/office/powerpoint/2010/main" val="1506632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2951-FB1E-F049-B10A-CD43C92B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Arrangement (Comparing or Linking)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ADAF4-0256-F048-ABDD-2DE879AF5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Orthogonal Arrangement (can often be rearranged to put the map along the diagonal)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BD045-7DDF-E64B-A94F-28FBDE1A68D2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Luna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Bioinformatics.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2007</a:t>
            </a:r>
          </a:p>
        </p:txBody>
      </p:sp>
      <p:pic>
        <p:nvPicPr>
          <p:cNvPr id="7" name="Picture 6" descr="A picture containing text, businesscard, vector graphics, screenshot&#10;&#10;Description automatically generated">
            <a:extLst>
              <a:ext uri="{FF2B5EF4-FFF2-40B4-BE49-F238E27FC236}">
                <a16:creationId xmlns:a16="http://schemas.microsoft.com/office/drawing/2014/main" id="{C68B3F2E-0A8D-7144-8DF5-2FB818772C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"/>
          <a:stretch/>
        </p:blipFill>
        <p:spPr>
          <a:xfrm>
            <a:off x="2707689" y="2743884"/>
            <a:ext cx="6998285" cy="37341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916015E-000A-D842-B56A-8CAEB23BEAE9}"/>
              </a:ext>
            </a:extLst>
          </p:cNvPr>
          <p:cNvSpPr/>
          <p:nvPr/>
        </p:nvSpPr>
        <p:spPr>
          <a:xfrm>
            <a:off x="8423910" y="5779532"/>
            <a:ext cx="880110" cy="619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811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2D44-23E1-FF4A-90CD-E216945B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or Feature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7BBFC-0758-7549-938D-5D21E82B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215"/>
          </a:xfrm>
        </p:spPr>
        <p:txBody>
          <a:bodyPr>
            <a:noAutofit/>
          </a:bodyPr>
          <a:lstStyle/>
          <a:p>
            <a:r>
              <a:rPr lang="en-US"/>
              <a:t>Segmentation Type</a:t>
            </a:r>
          </a:p>
          <a:p>
            <a:r>
              <a:rPr lang="en-US"/>
              <a:t>Length Type</a:t>
            </a:r>
          </a:p>
          <a:p>
            <a:r>
              <a:rPr lang="en-US"/>
              <a:t>Attributes / Annotation</a:t>
            </a:r>
          </a:p>
        </p:txBody>
      </p:sp>
    </p:spTree>
    <p:extLst>
      <p:ext uri="{BB962C8B-B14F-4D97-AF65-F5344CB8AC3E}">
        <p14:creationId xmlns:p14="http://schemas.microsoft.com/office/powerpoint/2010/main" val="3455283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2D44-23E1-FF4A-90CD-E216945B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or Feature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7BBFC-0758-7549-938D-5D21E82B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215"/>
          </a:xfrm>
        </p:spPr>
        <p:txBody>
          <a:bodyPr>
            <a:noAutofit/>
          </a:bodyPr>
          <a:lstStyle/>
          <a:p>
            <a:r>
              <a:rPr lang="en-US" dirty="0"/>
              <a:t>Segmentation Type</a:t>
            </a:r>
          </a:p>
          <a:p>
            <a:pPr lvl="1"/>
            <a:r>
              <a:rPr lang="en-US" sz="2800" dirty="0"/>
              <a:t>Sparse features</a:t>
            </a:r>
          </a:p>
          <a:p>
            <a:pPr lvl="2"/>
            <a:r>
              <a:rPr lang="en-US" sz="2400" dirty="0"/>
              <a:t>Genes, SNPs, etc.</a:t>
            </a:r>
          </a:p>
          <a:p>
            <a:pPr lvl="1"/>
            <a:r>
              <a:rPr lang="en-US" sz="2800" dirty="0"/>
              <a:t>Contiguous features</a:t>
            </a:r>
          </a:p>
          <a:p>
            <a:pPr lvl="2"/>
            <a:r>
              <a:rPr lang="en-US" sz="2400" dirty="0"/>
              <a:t>Copy number, coding/non-coding,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74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B9B41-81EE-1446-9F0D-FAFF227E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5B9A4-1C8E-2949-A845-5F457807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a start and an end</a:t>
            </a:r>
          </a:p>
          <a:p>
            <a:pPr lvl="1"/>
            <a:r>
              <a:rPr lang="en-US" dirty="0"/>
              <a:t>Genes</a:t>
            </a:r>
          </a:p>
          <a:p>
            <a:pPr lvl="1"/>
            <a:r>
              <a:rPr lang="en-US" dirty="0"/>
              <a:t>Transcripts</a:t>
            </a:r>
          </a:p>
          <a:p>
            <a:pPr lvl="1"/>
            <a:r>
              <a:rPr lang="en-US" dirty="0"/>
              <a:t>Introns and Exons</a:t>
            </a:r>
          </a:p>
          <a:p>
            <a:pPr lvl="1"/>
            <a:r>
              <a:rPr lang="en-US" dirty="0"/>
              <a:t>SNPs</a:t>
            </a:r>
          </a:p>
          <a:p>
            <a:pPr lvl="1"/>
            <a:r>
              <a:rPr lang="en-US" dirty="0"/>
              <a:t>Regulatory Elements</a:t>
            </a:r>
          </a:p>
          <a:p>
            <a:pPr lvl="1"/>
            <a:r>
              <a:rPr lang="en-US" dirty="0"/>
              <a:t>Repeats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35AFE-49FC-4545-8864-4CC89A3AC248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19-45409011-45427650. </a:t>
            </a:r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gnomAD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. 2022 Feb 17</a:t>
            </a:r>
            <a:endParaRPr lang="en-US" sz="1200" b="1" i="1" dirty="0">
              <a:latin typeface="SF Pro Display" pitchFamily="2" charset="0"/>
              <a:ea typeface="SF Pro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647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135AFE-49FC-4545-8864-4CC89A3AC248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19-45408911–45424650. </a:t>
            </a:r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gnomAD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. 2022 Feb 17</a:t>
            </a:r>
            <a:endParaRPr lang="en-US" sz="1200" b="1" i="1" dirty="0">
              <a:latin typeface="SF Pro Display" pitchFamily="2" charset="0"/>
              <a:ea typeface="SF Pro Display" pitchFamily="2" charset="0"/>
            </a:endParaRPr>
          </a:p>
        </p:txBody>
      </p:sp>
      <p:pic>
        <p:nvPicPr>
          <p:cNvPr id="11" name="Picture 10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E8617B48-1BB3-7543-9290-8D4495EB6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6" y="92333"/>
            <a:ext cx="11964111" cy="629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00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B9B41-81EE-1446-9F0D-FAFF227E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Contiguous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5B9A4-1C8E-2949-A845-5F457807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point/segment in the genome has a “value”</a:t>
            </a:r>
          </a:p>
          <a:p>
            <a:pPr lvl="1"/>
            <a:r>
              <a:rPr lang="en-US" dirty="0"/>
              <a:t>Chromosome</a:t>
            </a:r>
          </a:p>
          <a:p>
            <a:pPr lvl="1"/>
            <a:r>
              <a:rPr lang="en-US" dirty="0"/>
              <a:t>Chromosome band</a:t>
            </a:r>
          </a:p>
          <a:p>
            <a:pPr lvl="1"/>
            <a:r>
              <a:rPr lang="en-US" dirty="0"/>
              <a:t>Copy number</a:t>
            </a:r>
          </a:p>
          <a:p>
            <a:pPr lvl="1"/>
            <a:r>
              <a:rPr lang="en-US" dirty="0"/>
              <a:t>Coding vs non-coding</a:t>
            </a:r>
          </a:p>
          <a:p>
            <a:pPr lvl="1"/>
            <a:r>
              <a:rPr lang="en-US" dirty="0"/>
              <a:t>Methylation</a:t>
            </a:r>
          </a:p>
          <a:p>
            <a:pPr lvl="1"/>
            <a:r>
              <a:rPr lang="en-US" dirty="0"/>
              <a:t>Acetylation</a:t>
            </a:r>
          </a:p>
          <a:p>
            <a:pPr lvl="1"/>
            <a:r>
              <a:rPr lang="en-US" dirty="0"/>
              <a:t>GC%</a:t>
            </a:r>
          </a:p>
          <a:p>
            <a:pPr lvl="1"/>
            <a:r>
              <a:rPr lang="en-US" dirty="0"/>
              <a:t>Sequencing coverage</a:t>
            </a:r>
          </a:p>
          <a:p>
            <a:pPr lvl="1"/>
            <a:r>
              <a:rPr lang="en-US" dirty="0"/>
              <a:t>Conservation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35AFE-49FC-4545-8864-4CC89A3AC248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19-45408911–45424650. </a:t>
            </a:r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gnomAD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. 2022 Feb 17</a:t>
            </a:r>
            <a:endParaRPr lang="en-US" sz="1200" b="1" i="1" dirty="0">
              <a:latin typeface="SF Pro Display" pitchFamily="2" charset="0"/>
              <a:ea typeface="SF Pro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151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135AFE-49FC-4545-8864-4CC89A3AC248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19-45408911–45424650. </a:t>
            </a:r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gnomAD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. 2022 Feb 17</a:t>
            </a:r>
            <a:endParaRPr lang="en-US" sz="1200" b="1" i="1" dirty="0">
              <a:latin typeface="SF Pro Display" pitchFamily="2" charset="0"/>
              <a:ea typeface="SF Pro Display" pitchFamily="2" charset="0"/>
            </a:endParaRPr>
          </a:p>
        </p:txBody>
      </p:sp>
      <p:pic>
        <p:nvPicPr>
          <p:cNvPr id="11" name="Picture 10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E8617B48-1BB3-7543-9290-8D4495EB6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6" y="92333"/>
            <a:ext cx="11964111" cy="629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33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2D44-23E1-FF4A-90CD-E216945B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or Feature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7BBFC-0758-7549-938D-5D21E82B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215"/>
          </a:xfrm>
        </p:spPr>
        <p:txBody>
          <a:bodyPr>
            <a:noAutofit/>
          </a:bodyPr>
          <a:lstStyle/>
          <a:p>
            <a:r>
              <a:rPr lang="en-US" dirty="0"/>
              <a:t>Length Type</a:t>
            </a:r>
          </a:p>
          <a:p>
            <a:pPr lvl="1"/>
            <a:r>
              <a:rPr lang="en-US" sz="2800" dirty="0"/>
              <a:t>Point features</a:t>
            </a:r>
          </a:p>
          <a:p>
            <a:pPr lvl="2"/>
            <a:r>
              <a:rPr lang="en-US" sz="2400" dirty="0"/>
              <a:t>1 nucleotide</a:t>
            </a:r>
          </a:p>
          <a:p>
            <a:pPr lvl="1"/>
            <a:r>
              <a:rPr lang="en-US" sz="2800" dirty="0"/>
              <a:t>Segment features</a:t>
            </a:r>
          </a:p>
          <a:p>
            <a:pPr lvl="2"/>
            <a:r>
              <a:rPr lang="en-US" sz="2400" dirty="0"/>
              <a:t>&gt; 1 nucleotide</a:t>
            </a:r>
          </a:p>
          <a:p>
            <a:endParaRPr lang="en-US" dirty="0"/>
          </a:p>
          <a:p>
            <a:r>
              <a:rPr lang="en-US" dirty="0"/>
              <a:t>Both sparse and continuous features have lengths</a:t>
            </a:r>
          </a:p>
          <a:p>
            <a:pPr lvl="1"/>
            <a:r>
              <a:rPr lang="en-US" sz="2800" dirty="0"/>
              <a:t>Sequencing coverage is a point feature</a:t>
            </a:r>
          </a:p>
          <a:p>
            <a:pPr lvl="1"/>
            <a:r>
              <a:rPr lang="en-US" sz="2800" dirty="0"/>
              <a:t>​</a:t>
            </a:r>
            <a:r>
              <a:rPr lang="en-US" sz="2800" dirty="0">
                <a:solidFill>
                  <a:schemeClr val="bg2">
                    <a:lumMod val="90000"/>
                  </a:schemeClr>
                </a:solidFill>
              </a:rPr>
              <a:t>(Useful)</a:t>
            </a:r>
            <a:r>
              <a:rPr lang="en-US" sz="2800" dirty="0"/>
              <a:t> GC% is a segment feature </a:t>
            </a:r>
          </a:p>
        </p:txBody>
      </p:sp>
    </p:spTree>
    <p:extLst>
      <p:ext uri="{BB962C8B-B14F-4D97-AF65-F5344CB8AC3E}">
        <p14:creationId xmlns:p14="http://schemas.microsoft.com/office/powerpoint/2010/main" val="1681793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2D44-23E1-FF4A-90CD-E216945B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or Feature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7BBFC-0758-7549-938D-5D21E82B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215"/>
          </a:xfrm>
        </p:spPr>
        <p:txBody>
          <a:bodyPr>
            <a:noAutofit/>
          </a:bodyPr>
          <a:lstStyle/>
          <a:p>
            <a:r>
              <a:rPr lang="en-US" dirty="0"/>
              <a:t>Attributes</a:t>
            </a:r>
          </a:p>
          <a:p>
            <a:pPr lvl="1"/>
            <a:r>
              <a:rPr lang="en-US" sz="2800" dirty="0"/>
              <a:t>Number of attributes = 0, 1, or &gt; 1</a:t>
            </a:r>
            <a:endParaRPr lang="en-US" sz="2400" dirty="0"/>
          </a:p>
          <a:p>
            <a:pPr lvl="1"/>
            <a:r>
              <a:rPr lang="en-US" sz="2800" dirty="0"/>
              <a:t>Values</a:t>
            </a:r>
          </a:p>
          <a:p>
            <a:pPr lvl="2"/>
            <a:r>
              <a:rPr lang="en-US" sz="2800" dirty="0"/>
              <a:t>Quantitative</a:t>
            </a:r>
          </a:p>
          <a:p>
            <a:pPr lvl="3"/>
            <a:r>
              <a:rPr lang="en-US" sz="2200" dirty="0"/>
              <a:t>Expression, copy number, LD, </a:t>
            </a:r>
            <a:r>
              <a:rPr lang="en-US" sz="2200" i="1" dirty="0"/>
              <a:t>p</a:t>
            </a:r>
            <a:r>
              <a:rPr lang="en-US" sz="2200" dirty="0"/>
              <a:t> values</a:t>
            </a:r>
          </a:p>
          <a:p>
            <a:pPr lvl="2"/>
            <a:r>
              <a:rPr lang="en-US" sz="2800" dirty="0"/>
              <a:t>Ordinal</a:t>
            </a:r>
          </a:p>
          <a:p>
            <a:pPr lvl="3"/>
            <a:r>
              <a:rPr lang="en-US" sz="2200" dirty="0"/>
              <a:t>Copy number</a:t>
            </a:r>
          </a:p>
          <a:p>
            <a:pPr lvl="2"/>
            <a:r>
              <a:rPr lang="en-US" sz="2800" dirty="0"/>
              <a:t>Categorical</a:t>
            </a:r>
          </a:p>
          <a:p>
            <a:pPr lvl="3"/>
            <a:r>
              <a:rPr lang="en-US" sz="2200" dirty="0" err="1"/>
              <a:t>Samesense</a:t>
            </a:r>
            <a:r>
              <a:rPr lang="en-US" sz="2200" dirty="0"/>
              <a:t>, missense, nonsense</a:t>
            </a:r>
          </a:p>
          <a:p>
            <a:pPr lvl="2"/>
            <a:endParaRPr lang="en-US" sz="2400" dirty="0"/>
          </a:p>
          <a:p>
            <a:pPr lvl="1"/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664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2D44-23E1-FF4A-90CD-E216945B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or Feature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7BBFC-0758-7549-938D-5D21E82B2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215"/>
          </a:xfrm>
        </p:spPr>
        <p:txBody>
          <a:bodyPr>
            <a:noAutofit/>
          </a:bodyPr>
          <a:lstStyle/>
          <a:p>
            <a:r>
              <a:rPr lang="en-US" dirty="0"/>
              <a:t>Interconnection</a:t>
            </a:r>
          </a:p>
          <a:p>
            <a:pPr lvl="1"/>
            <a:r>
              <a:rPr lang="en-US" sz="2800" dirty="0"/>
              <a:t>Links between features</a:t>
            </a:r>
          </a:p>
          <a:p>
            <a:pPr lvl="2"/>
            <a:r>
              <a:rPr lang="en-US" sz="2800" dirty="0" err="1"/>
              <a:t>eQTLs</a:t>
            </a:r>
            <a:r>
              <a:rPr lang="en-US" sz="2800" dirty="0"/>
              <a:t> or other Regulatory Elements</a:t>
            </a:r>
          </a:p>
          <a:p>
            <a:pPr lvl="2"/>
            <a:r>
              <a:rPr lang="en-US" sz="2800" dirty="0"/>
              <a:t>Translocation</a:t>
            </a:r>
          </a:p>
          <a:p>
            <a:pPr lvl="2"/>
            <a:r>
              <a:rPr lang="en-US" sz="2800" dirty="0"/>
              <a:t>Co-location</a:t>
            </a:r>
          </a:p>
          <a:p>
            <a:pPr lvl="2"/>
            <a:r>
              <a:rPr lang="en-US" sz="2800" dirty="0"/>
              <a:t>Co-expression</a:t>
            </a:r>
          </a:p>
          <a:p>
            <a:pPr lvl="2"/>
            <a:r>
              <a:rPr lang="en-US" sz="2800" dirty="0"/>
              <a:t>Linkage disequilibrium</a:t>
            </a:r>
          </a:p>
          <a:p>
            <a:pPr lvl="2"/>
            <a:r>
              <a:rPr lang="en-US" sz="2800" dirty="0"/>
              <a:t>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943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diagram&#10;&#10;Description automatically generated">
            <a:extLst>
              <a:ext uri="{FF2B5EF4-FFF2-40B4-BE49-F238E27FC236}">
                <a16:creationId xmlns:a16="http://schemas.microsoft.com/office/drawing/2014/main" id="{88C794B8-428F-494E-9610-5B285F583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337" y="375081"/>
            <a:ext cx="6031106" cy="610783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C431E83-7A2E-F74E-A90D-9BE6A3AB4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Links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AF0C21-80A1-8F45-85FF-05E5A4A9A9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These figures illustrate connections between </a:t>
            </a:r>
            <a:r>
              <a:rPr lang="en-US" dirty="0" err="1"/>
              <a:t>eQTLs</a:t>
            </a:r>
            <a:r>
              <a:rPr lang="en-US" dirty="0"/>
              <a:t> and the genes they are associated with</a:t>
            </a:r>
          </a:p>
          <a:p>
            <a:r>
              <a:rPr lang="en-US" dirty="0"/>
              <a:t>The </a:t>
            </a:r>
            <a:r>
              <a:rPr lang="en-US" dirty="0" err="1"/>
              <a:t>circos</a:t>
            </a:r>
            <a:r>
              <a:rPr lang="en-US" dirty="0"/>
              <a:t> plot, (a), shows </a:t>
            </a:r>
            <a:r>
              <a:rPr lang="en-US" i="1" dirty="0"/>
              <a:t>trans</a:t>
            </a:r>
            <a:r>
              <a:rPr lang="en-US" dirty="0"/>
              <a:t>-regulatory links</a:t>
            </a:r>
          </a:p>
          <a:p>
            <a:r>
              <a:rPr lang="en-US" dirty="0"/>
              <a:t>The linear plots, (b) and (c), show </a:t>
            </a:r>
            <a:r>
              <a:rPr lang="en-US" i="1" dirty="0"/>
              <a:t>cis</a:t>
            </a:r>
            <a:r>
              <a:rPr lang="en-US" dirty="0"/>
              <a:t>-regulatory links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222926-969E-3347-8F45-D18107DDFCB5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Fung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Sci Rep.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2018</a:t>
            </a:r>
            <a:endParaRPr lang="en-US" sz="1200" b="1" i="1" dirty="0">
              <a:latin typeface="SF Pro Display" pitchFamily="2" charset="0"/>
              <a:ea typeface="SF Pro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284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648F7E-EFC9-2D4F-BB87-3F6A2A04F156}"/>
              </a:ext>
            </a:extLst>
          </p:cNvPr>
          <p:cNvSpPr/>
          <p:nvPr/>
        </p:nvSpPr>
        <p:spPr>
          <a:xfrm>
            <a:off x="5435600" y="233958"/>
            <a:ext cx="5130800" cy="6329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08A1F-09ED-0446-9180-9A92501F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vs</a:t>
            </a:r>
            <a:br>
              <a:rPr lang="en-US"/>
            </a:br>
            <a:r>
              <a:rPr lang="en-US"/>
              <a:t>Raster Graphics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FD1316-C1B7-464C-8438-E5AF69154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0" y="365125"/>
            <a:ext cx="4673599" cy="60099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812E00-C8B0-C441-B680-50B86A25E1F0}"/>
              </a:ext>
            </a:extLst>
          </p:cNvPr>
          <p:cNvSpPr txBox="1"/>
          <p:nvPr/>
        </p:nvSpPr>
        <p:spPr>
          <a:xfrm>
            <a:off x="7219950" y="6488668"/>
            <a:ext cx="4972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solidFill>
                  <a:srgbClr val="FFC000"/>
                </a:solidFill>
                <a:latin typeface="SF Pro Display Light" pitchFamily="2" charset="0"/>
                <a:ea typeface="SF Pro Display Light" pitchFamily="2" charset="0"/>
              </a:rPr>
              <a:t>Wikipedia</a:t>
            </a:r>
          </a:p>
        </p:txBody>
      </p:sp>
    </p:spTree>
    <p:extLst>
      <p:ext uri="{BB962C8B-B14F-4D97-AF65-F5344CB8AC3E}">
        <p14:creationId xmlns:p14="http://schemas.microsoft.com/office/powerpoint/2010/main" val="709275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01407A-362F-A549-AEAA-8ABEA720C47B}"/>
              </a:ext>
            </a:extLst>
          </p:cNvPr>
          <p:cNvSpPr/>
          <p:nvPr/>
        </p:nvSpPr>
        <p:spPr>
          <a:xfrm>
            <a:off x="303100" y="396925"/>
            <a:ext cx="616628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>
              <a:latin typeface="SF Pro Display" pitchFamily="2" charset="0"/>
              <a:ea typeface="SF Pro Display" pitchFamily="2" charset="0"/>
            </a:endParaRPr>
          </a:p>
          <a:p>
            <a:r>
              <a:rPr lang="en-US" sz="4400" b="1" dirty="0">
                <a:latin typeface="SF Pro Display" pitchFamily="2" charset="0"/>
                <a:ea typeface="SF Pro Display" pitchFamily="2" charset="0"/>
              </a:rPr>
              <a:t>Vector vs Raster</a:t>
            </a:r>
          </a:p>
          <a:p>
            <a:endParaRPr lang="en-US" sz="2800" dirty="0">
              <a:latin typeface="SF Pro Display" pitchFamily="2" charset="0"/>
              <a:ea typeface="SF Pro Display" pitchFamily="2" charset="0"/>
            </a:endParaRPr>
          </a:p>
          <a:p>
            <a:r>
              <a:rPr lang="en-US" sz="2800" dirty="0">
                <a:latin typeface="Inconsolatazi4varl_qu" panose="02000503000000000000" pitchFamily="2" charset="0"/>
                <a:ea typeface="SF Pro Display" pitchFamily="2" charset="0"/>
              </a:rPr>
              <a:t>https://</a:t>
            </a:r>
            <a:r>
              <a:rPr lang="en-US" sz="2800" dirty="0" err="1">
                <a:latin typeface="Inconsolatazi4varl_qu" panose="02000503000000000000" pitchFamily="2" charset="0"/>
                <a:ea typeface="SF Pro Display" pitchFamily="2" charset="0"/>
              </a:rPr>
              <a:t>upload.wikimedia.org</a:t>
            </a:r>
            <a:r>
              <a:rPr lang="en-US" sz="2800" dirty="0">
                <a:latin typeface="Inconsolatazi4varl_qu" panose="02000503000000000000" pitchFamily="2" charset="0"/>
                <a:ea typeface="SF Pro Display" pitchFamily="2" charset="0"/>
              </a:rPr>
              <a:t>/</a:t>
            </a:r>
            <a:r>
              <a:rPr lang="en-US" sz="2800" dirty="0" err="1">
                <a:latin typeface="Inconsolatazi4varl_qu" panose="02000503000000000000" pitchFamily="2" charset="0"/>
                <a:ea typeface="SF Pro Display" pitchFamily="2" charset="0"/>
              </a:rPr>
              <a:t>wikipedia</a:t>
            </a:r>
            <a:r>
              <a:rPr lang="en-US" sz="2800" dirty="0">
                <a:latin typeface="Inconsolatazi4varl_qu" panose="02000503000000000000" pitchFamily="2" charset="0"/>
                <a:ea typeface="SF Pro Display" pitchFamily="2" charset="0"/>
              </a:rPr>
              <a:t>/commons/3/30/Vector-</a:t>
            </a:r>
            <a:r>
              <a:rPr lang="en-US" sz="2800" dirty="0" err="1">
                <a:latin typeface="Inconsolatazi4varl_qu" panose="02000503000000000000" pitchFamily="2" charset="0"/>
                <a:ea typeface="SF Pro Display" pitchFamily="2" charset="0"/>
              </a:rPr>
              <a:t>based_example.svg</a:t>
            </a:r>
            <a:endParaRPr lang="en-US" sz="2800" dirty="0">
              <a:latin typeface="Inconsolatazi4varl_qu" panose="02000503000000000000" pitchFamily="2" charset="0"/>
              <a:ea typeface="SF Pro Display" pitchFamily="2" charset="0"/>
            </a:endParaRPr>
          </a:p>
          <a:p>
            <a:endParaRPr lang="en-US" sz="2800" dirty="0">
              <a:latin typeface="SF Pro Display" pitchFamily="2" charset="0"/>
              <a:ea typeface="SF Pro Display" pitchFamily="2" charset="0"/>
            </a:endParaRPr>
          </a:p>
          <a:p>
            <a:r>
              <a:rPr lang="en-US" sz="2800" dirty="0">
                <a:latin typeface="SF Pro Display" pitchFamily="2" charset="0"/>
                <a:ea typeface="SF Pro Display" pitchFamily="2" charset="0"/>
              </a:rPr>
              <a:t>If you go to the link and zoom in and in and in and in and in, it always remains sharp.</a:t>
            </a:r>
          </a:p>
          <a:p>
            <a:endParaRPr lang="en-US" sz="2800" dirty="0">
              <a:latin typeface="SF Pro Display" pitchFamily="2" charset="0"/>
              <a:ea typeface="SF Pro Display" pitchFamily="2" charset="0"/>
            </a:endParaRPr>
          </a:p>
          <a:p>
            <a:r>
              <a:rPr lang="en-US" sz="2800" dirty="0">
                <a:latin typeface="SF Pro Display" pitchFamily="2" charset="0"/>
                <a:ea typeface="SF Pro Display" pitchFamily="2" charset="0"/>
              </a:rPr>
              <a:t>However, if you take a screenshot and zoom in and in and in, you see</a:t>
            </a:r>
          </a:p>
        </p:txBody>
      </p:sp>
      <p:pic>
        <p:nvPicPr>
          <p:cNvPr id="4" name="Picture 3" descr="Logo, icon&#10;&#10;Description automatically generated with medium confidence">
            <a:extLst>
              <a:ext uri="{FF2B5EF4-FFF2-40B4-BE49-F238E27FC236}">
                <a16:creationId xmlns:a16="http://schemas.microsoft.com/office/drawing/2014/main" id="{0DF007FA-7606-CA4D-AF40-2BE93A189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99" y="1507361"/>
            <a:ext cx="4825061" cy="4583430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472B2F60-5AF1-E9B2-2436-19F9A031798B}"/>
              </a:ext>
            </a:extLst>
          </p:cNvPr>
          <p:cNvSpPr/>
          <p:nvPr/>
        </p:nvSpPr>
        <p:spPr>
          <a:xfrm>
            <a:off x="5056094" y="5029200"/>
            <a:ext cx="3738282" cy="1110069"/>
          </a:xfrm>
          <a:custGeom>
            <a:avLst/>
            <a:gdLst>
              <a:gd name="connsiteX0" fmla="*/ 0 w 3738282"/>
              <a:gd name="connsiteY0" fmla="*/ 1021976 h 1110069"/>
              <a:gd name="connsiteX1" fmla="*/ 2554941 w 3738282"/>
              <a:gd name="connsiteY1" fmla="*/ 1008529 h 1110069"/>
              <a:gd name="connsiteX2" fmla="*/ 3738282 w 3738282"/>
              <a:gd name="connsiteY2" fmla="*/ 0 h 111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8282" h="1110069">
                <a:moveTo>
                  <a:pt x="0" y="1021976"/>
                </a:moveTo>
                <a:cubicBezTo>
                  <a:pt x="965947" y="1100417"/>
                  <a:pt x="1931894" y="1178858"/>
                  <a:pt x="2554941" y="1008529"/>
                </a:cubicBezTo>
                <a:cubicBezTo>
                  <a:pt x="3177988" y="838200"/>
                  <a:pt x="3458135" y="419100"/>
                  <a:pt x="3738282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895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8A1F-09ED-0446-9180-9A92501F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vs Raster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08AA-9F33-054B-8BB7-D2D8BBC33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6175"/>
          </a:xfrm>
        </p:spPr>
        <p:txBody>
          <a:bodyPr>
            <a:normAutofit/>
          </a:bodyPr>
          <a:lstStyle/>
          <a:p>
            <a:r>
              <a:rPr lang="en-US" b="1" dirty="0">
                <a:latin typeface="SF Pro Display Semibold" pitchFamily="2" charset="0"/>
                <a:ea typeface="SF Pro Display Semibold" pitchFamily="2" charset="0"/>
              </a:rPr>
              <a:t>Vector graphics </a:t>
            </a:r>
            <a:r>
              <a:rPr lang="en-US" dirty="0"/>
              <a:t>are </a:t>
            </a:r>
            <a:r>
              <a:rPr lang="en-US" b="1" dirty="0">
                <a:latin typeface="SF Pro Display Semibold" pitchFamily="2" charset="0"/>
                <a:ea typeface="SF Pro Display Semibold" pitchFamily="2" charset="0"/>
              </a:rPr>
              <a:t>usually far preferable </a:t>
            </a:r>
            <a:r>
              <a:rPr lang="en-US" dirty="0"/>
              <a:t>for visualizations</a:t>
            </a:r>
          </a:p>
          <a:p>
            <a:r>
              <a:rPr lang="en-US" dirty="0"/>
              <a:t>However, do not use vector graphics solutions for plots that have a ton of points</a:t>
            </a:r>
          </a:p>
          <a:p>
            <a:pPr lvl="1"/>
            <a:r>
              <a:rPr lang="en-US" sz="2800" dirty="0"/>
              <a:t>What are ”a ton of points”?</a:t>
            </a:r>
          </a:p>
          <a:p>
            <a:pPr lvl="1"/>
            <a:r>
              <a:rPr lang="en-US" sz="2800" dirty="0"/>
              <a:t>It depends on the processing capacity of the computer generating </a:t>
            </a:r>
            <a:r>
              <a:rPr lang="en-US" sz="2800" i="1" dirty="0"/>
              <a:t>or</a:t>
            </a:r>
            <a:r>
              <a:rPr lang="en-US" sz="2800" dirty="0"/>
              <a:t> (!!) displaying the image</a:t>
            </a:r>
          </a:p>
          <a:p>
            <a:pPr lvl="1"/>
            <a:r>
              <a:rPr lang="en-US" sz="2800" dirty="0"/>
              <a:t>Even if you have a high-powered machine that can create a vector graphics plot with 10,000,000 data points in it, no one on a low-power machine will ever be able to open it</a:t>
            </a:r>
          </a:p>
        </p:txBody>
      </p:sp>
    </p:spTree>
    <p:extLst>
      <p:ext uri="{BB962C8B-B14F-4D97-AF65-F5344CB8AC3E}">
        <p14:creationId xmlns:p14="http://schemas.microsoft.com/office/powerpoint/2010/main" val="22676909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8A1F-09ED-0446-9180-9A92501F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vs Raster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08AA-9F33-054B-8BB7-D2D8BBC33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6175"/>
          </a:xfrm>
        </p:spPr>
        <p:txBody>
          <a:bodyPr>
            <a:normAutofit/>
          </a:bodyPr>
          <a:lstStyle/>
          <a:p>
            <a:r>
              <a:rPr lang="en-US" dirty="0"/>
              <a:t>If using raster graphics because of this limitation, turn up the resolution to at least 300 dpi</a:t>
            </a:r>
          </a:p>
          <a:p>
            <a:r>
              <a:rPr lang="en-US" dirty="0"/>
              <a:t>But remember if the image gets enlarged the resolution drops</a:t>
            </a:r>
          </a:p>
          <a:p>
            <a:r>
              <a:rPr lang="en-US" dirty="0"/>
              <a:t>So, an image at 300 dpi, if zoomed in 3× becomes 100 dpi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D095A-81F1-DD4D-AC1A-CC4505104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318" y="3833097"/>
            <a:ext cx="5799364" cy="2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413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8A1F-09ED-0446-9180-9A92501F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vs Raster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08AA-9F33-054B-8BB7-D2D8BBC33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6175"/>
          </a:xfrm>
        </p:spPr>
        <p:txBody>
          <a:bodyPr>
            <a:normAutofit/>
          </a:bodyPr>
          <a:lstStyle/>
          <a:p>
            <a:r>
              <a:rPr lang="en-US" dirty="0"/>
              <a:t>Journals will usual have standards for minimum dpi for raster images</a:t>
            </a:r>
          </a:p>
        </p:txBody>
      </p:sp>
    </p:spTree>
    <p:extLst>
      <p:ext uri="{BB962C8B-B14F-4D97-AF65-F5344CB8AC3E}">
        <p14:creationId xmlns:p14="http://schemas.microsoft.com/office/powerpoint/2010/main" val="2489901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F3E6-F689-A641-9238-717FFB09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Formats and Suffixes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C59CD-7EF0-2D4A-95FF-DE062B1BC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Vector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EEA18-583D-6944-8009-AAE278A6BB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​</a:t>
            </a:r>
            <a:r>
              <a:rPr lang="en-US" b="1" dirty="0">
                <a:latin typeface="Inconsolatazi4varl_qu" panose="02000503000000000000" pitchFamily="2" charset="0"/>
              </a:rPr>
              <a:t>SVG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(scalable vector graphics)</a:t>
            </a:r>
          </a:p>
          <a:p>
            <a:r>
              <a:rPr lang="en-US" dirty="0"/>
              <a:t>​</a:t>
            </a:r>
            <a:r>
              <a:rPr lang="en-US" b="1" dirty="0">
                <a:latin typeface="Inconsolatazi4varl_qu" panose="02000503000000000000" pitchFamily="2" charset="0"/>
              </a:rPr>
              <a:t>EPS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(encapsulated postscript)</a:t>
            </a:r>
            <a:endParaRPr lang="en-US" b="1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latin typeface="Inconsolatazi4varl_qu" panose="02000503000000000000" pitchFamily="2" charset="0"/>
              </a:rPr>
              <a:t>PDF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(portable document format)</a:t>
            </a:r>
            <a:endParaRPr lang="en-US" b="1" dirty="0">
              <a:latin typeface="Inconsolatazi4varl_qu" panose="02000503000000000000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CA187-3CF1-F347-AF83-D2BAC2619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Raster Graphics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CC0CD7-3897-CF48-AE86-E500F4BF5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6019801" cy="3684588"/>
          </a:xfrm>
        </p:spPr>
        <p:txBody>
          <a:bodyPr>
            <a:normAutofit/>
          </a:bodyPr>
          <a:lstStyle/>
          <a:p>
            <a:r>
              <a:rPr lang="en-US" dirty="0"/>
              <a:t>​</a:t>
            </a:r>
            <a:r>
              <a:rPr lang="en-US" b="1" dirty="0">
                <a:latin typeface="Inconsolatazi4varl_qu" panose="02000503000000000000" pitchFamily="2" charset="0"/>
              </a:rPr>
              <a:t>PNG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(portable network graphics)</a:t>
            </a:r>
            <a:endParaRPr lang="en-US" b="1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latin typeface="Inconsolatazi4varl_qu" panose="02000503000000000000" pitchFamily="2" charset="0"/>
              </a:rPr>
              <a:t>JPG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(joint photographic experts group)</a:t>
            </a:r>
            <a:endParaRPr lang="en-US" b="1" dirty="0">
              <a:latin typeface="Inconsolatazi4varl_qu" panose="02000503000000000000" pitchFamily="2" charset="0"/>
            </a:endParaRPr>
          </a:p>
          <a:p>
            <a:pPr lvl="1"/>
            <a:r>
              <a:rPr lang="en-US" b="1" dirty="0">
                <a:latin typeface="Inconsolatazi4varl_qu" panose="02000503000000000000" pitchFamily="2" charset="0"/>
              </a:rPr>
              <a:t>JPG</a:t>
            </a:r>
            <a:r>
              <a:rPr lang="en-US" dirty="0"/>
              <a:t> format often uses additional compression that further reduces</a:t>
            </a:r>
            <a:br>
              <a:rPr lang="en-US" dirty="0"/>
            </a:br>
            <a:r>
              <a:rPr lang="en-US" dirty="0"/>
              <a:t>quality</a:t>
            </a:r>
          </a:p>
          <a:p>
            <a:r>
              <a:rPr lang="en-US" dirty="0"/>
              <a:t>​</a:t>
            </a:r>
            <a:r>
              <a:rPr lang="en-US" b="1" dirty="0">
                <a:latin typeface="Inconsolatazi4varl_qu" panose="02000503000000000000" pitchFamily="2" charset="0"/>
              </a:rPr>
              <a:t>GIF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(graphics interchange format)</a:t>
            </a:r>
            <a:endParaRPr lang="en-US" b="1" dirty="0">
              <a:latin typeface="Inconsolatazi4varl_qu" panose="02000503000000000000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latin typeface="Inconsolatazi4varl_qu" panose="02000503000000000000" pitchFamily="2" charset="0"/>
              </a:rPr>
              <a:t>BMP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 (bitmap)</a:t>
            </a:r>
            <a:endParaRPr lang="en-US" b="1" dirty="0"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7899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F3E6-F689-A641-9238-717FFB09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R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EEA18-583D-6944-8009-AAE278A6B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>
            <a:normAutofit/>
          </a:bodyPr>
          <a:lstStyle/>
          <a:p>
            <a:r>
              <a:rPr lang="en-US" dirty="0"/>
              <a:t>To save images from R, you can use these commands:</a:t>
            </a:r>
            <a:endParaRPr lang="en-US" b="1" dirty="0">
              <a:latin typeface="Inconsolatazi4varl_qu" panose="02000503000000000000" pitchFamily="2" charset="0"/>
            </a:endParaRPr>
          </a:p>
          <a:p>
            <a:pPr lvl="1"/>
            <a:r>
              <a:rPr lang="en-US" sz="2800" dirty="0">
                <a:latin typeface="Inconsolatazi4varl_qu" panose="02000503000000000000" pitchFamily="2" charset="0"/>
              </a:rPr>
              <a:t>ggsave()</a:t>
            </a:r>
          </a:p>
          <a:p>
            <a:pPr lvl="2"/>
            <a:r>
              <a:rPr lang="en-US" sz="2400" dirty="0"/>
              <a:t>Saves the last plot and guesses the format from the filename suffix</a:t>
            </a:r>
          </a:p>
          <a:p>
            <a:pPr lvl="2"/>
            <a:r>
              <a:rPr lang="en-US" sz="2400" dirty="0">
                <a:latin typeface="Inconsolatazi4varl_qu" panose="02000503000000000000" pitchFamily="2" charset="0"/>
              </a:rPr>
              <a:t>ggsave("myplot.pdf", width = 8, height = 8, units = "cm",</a:t>
            </a:r>
            <a:br>
              <a:rPr lang="en-US" sz="2400" dirty="0">
                <a:latin typeface="Inconsolatazi4varl_qu" panose="02000503000000000000" pitchFamily="2" charset="0"/>
              </a:rPr>
            </a:br>
            <a:r>
              <a:rPr lang="en-US" sz="2400" dirty="0">
                <a:latin typeface="Inconsolatazi4varl_qu" panose="02000503000000000000" pitchFamily="2" charset="0"/>
              </a:rPr>
              <a:t>       dpi = 300)</a:t>
            </a:r>
          </a:p>
          <a:p>
            <a:pPr lvl="2"/>
            <a:endParaRPr lang="en-US" sz="2400" dirty="0">
              <a:latin typeface="Inconsolatazi4varl_qu" panose="02000503000000000000" pitchFamily="2" charset="0"/>
            </a:endParaRPr>
          </a:p>
          <a:p>
            <a:pPr lvl="1"/>
            <a:r>
              <a:rPr lang="en-US" sz="2800" dirty="0">
                <a:latin typeface="Inconsolatazi4varl_qu" panose="02000503000000000000" pitchFamily="2" charset="0"/>
              </a:rPr>
              <a:t>pdf()</a:t>
            </a:r>
            <a:r>
              <a:rPr lang="en-US" sz="2800" dirty="0"/>
              <a:t>, </a:t>
            </a:r>
            <a:r>
              <a:rPr lang="en-US" sz="2800" dirty="0">
                <a:latin typeface="Inconsolatazi4varl_qu" panose="02000503000000000000" pitchFamily="2" charset="0"/>
              </a:rPr>
              <a:t>png()</a:t>
            </a:r>
            <a:r>
              <a:rPr lang="en-US" sz="2800" dirty="0"/>
              <a:t>, </a:t>
            </a:r>
            <a:r>
              <a:rPr lang="en-US" sz="2800" dirty="0">
                <a:latin typeface="Inconsolatazi4varl_qu" panose="02000503000000000000" pitchFamily="2" charset="0"/>
              </a:rPr>
              <a:t>svglite()</a:t>
            </a:r>
            <a:r>
              <a:rPr lang="en-US" sz="2800" dirty="0"/>
              <a:t>, </a:t>
            </a:r>
            <a:r>
              <a:rPr lang="en-US" sz="2800" dirty="0">
                <a:latin typeface="Inconsolatazi4varl_qu" panose="02000503000000000000" pitchFamily="2" charset="0"/>
              </a:rPr>
              <a:t>jpeg()</a:t>
            </a:r>
            <a:r>
              <a:rPr lang="en-US" sz="2800" dirty="0"/>
              <a:t>, etc.</a:t>
            </a:r>
          </a:p>
          <a:p>
            <a:pPr lvl="2"/>
            <a:r>
              <a:rPr lang="en-US" sz="2400" dirty="0"/>
              <a:t>Opens a stream, saves plotted code to it.</a:t>
            </a:r>
          </a:p>
          <a:p>
            <a:pPr lvl="2"/>
            <a:r>
              <a:rPr lang="en-US" sz="2400" dirty="0"/>
              <a:t>It is necessary to close the “device” when </a:t>
            </a:r>
            <a:r>
              <a:rPr lang="en-US" sz="2400"/>
              <a:t>done plotting.</a:t>
            </a:r>
            <a:endParaRPr lang="en-US" sz="2400" dirty="0"/>
          </a:p>
          <a:p>
            <a:pPr lvl="2"/>
            <a:r>
              <a:rPr lang="en-US" sz="2400" dirty="0">
                <a:latin typeface="Inconsolatazi4varl_qu" panose="02000503000000000000" pitchFamily="2" charset="0"/>
              </a:rPr>
              <a:t>png("myplot.png", w = 8, h = 8, u = "cm", r = 300)</a:t>
            </a:r>
            <a:br>
              <a:rPr lang="en-US" sz="2400" dirty="0">
                <a:latin typeface="Inconsolatazi4varl_qu" panose="02000503000000000000" pitchFamily="2" charset="0"/>
              </a:rPr>
            </a:br>
            <a:r>
              <a:rPr lang="en-US" sz="2400" dirty="0">
                <a:latin typeface="Inconsolatazi4varl_qu" panose="02000503000000000000" pitchFamily="2" charset="0"/>
              </a:rPr>
              <a:t>plot(…)</a:t>
            </a:r>
            <a:br>
              <a:rPr lang="en-US" sz="2400" dirty="0">
                <a:latin typeface="Inconsolatazi4varl_qu" panose="02000503000000000000" pitchFamily="2" charset="0"/>
              </a:rPr>
            </a:br>
            <a:r>
              <a:rPr lang="en-US" sz="2400" dirty="0">
                <a:latin typeface="Inconsolatazi4varl_qu" panose="02000503000000000000" pitchFamily="2" charset="0"/>
              </a:rPr>
              <a:t>dev.off()</a:t>
            </a:r>
          </a:p>
        </p:txBody>
      </p:sp>
    </p:spTree>
    <p:extLst>
      <p:ext uri="{BB962C8B-B14F-4D97-AF65-F5344CB8AC3E}">
        <p14:creationId xmlns:p14="http://schemas.microsoft.com/office/powerpoint/2010/main" val="7040040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9ACB-4DB3-9F4D-9D27-EDA041F10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Genomic Visualization</a:t>
            </a:r>
            <a:br>
              <a:rPr lang="en-US" b="1"/>
            </a:br>
            <a:r>
              <a:rPr lang="en-US" b="1"/>
              <a:t>Part 2</a:t>
            </a:r>
            <a:endParaRPr lang="en-US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23E6197-2421-734C-9C2A-12CE1150C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33233"/>
          </a:xfrm>
        </p:spPr>
        <p:txBody>
          <a:bodyPr>
            <a:normAutofit/>
          </a:bodyPr>
          <a:lstStyle/>
          <a:p>
            <a:r>
              <a:rPr lang="en-US" dirty="0"/>
              <a:t>HUGEN 2073</a:t>
            </a:r>
          </a:p>
          <a:p>
            <a:r>
              <a:rPr lang="en-US" dirty="0"/>
              <a:t>Genomic Data Visualization &amp; Integration</a:t>
            </a:r>
          </a:p>
          <a:p>
            <a:endParaRPr lang="en-US" dirty="0"/>
          </a:p>
          <a:p>
            <a:r>
              <a:rPr lang="en-US" dirty="0"/>
              <a:t>Slides adapted from Ryan Minster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41666082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888E-DAF1-334B-86B8-B88D1F14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4D833-DBD8-414A-9FF5-F56FD1BFC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the end of the session, students will be able to:</a:t>
            </a:r>
            <a:br>
              <a:rPr lang="en-US" dirty="0"/>
            </a:br>
            <a:endParaRPr lang="en-US" dirty="0"/>
          </a:p>
          <a:p>
            <a:r>
              <a:rPr lang="en-US" dirty="0"/>
              <a:t>Create Manhattan and QQ plots for genome-wide statistics</a:t>
            </a:r>
          </a:p>
          <a:p>
            <a:r>
              <a:rPr lang="en-US" dirty="0"/>
              <a:t>Create regional Manhattan plots (</a:t>
            </a:r>
            <a:r>
              <a:rPr lang="en-US" dirty="0" err="1"/>
              <a:t>LocusZoom</a:t>
            </a:r>
            <a:r>
              <a:rPr lang="en-US" dirty="0"/>
              <a:t> plots)</a:t>
            </a:r>
          </a:p>
          <a:p>
            <a:r>
              <a:rPr lang="en-US" dirty="0"/>
              <a:t>Use basic </a:t>
            </a:r>
            <a:r>
              <a:rPr lang="en-US" dirty="0" err="1"/>
              <a:t>ggbio</a:t>
            </a:r>
            <a:r>
              <a:rPr lang="en-US" dirty="0"/>
              <a:t> commands to create </a:t>
            </a:r>
            <a:r>
              <a:rPr lang="en-US"/>
              <a:t>chromosome ideograms and plots of genes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4393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9DA4-F34D-C74F-9DDB-D3C1A19E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Manhattan Plots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A6A0B-2FC8-1948-AD5C-C05BF7D21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874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01C-7B26-B24B-BB2D-0EB1A19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77F6-9AA0-8B41-9912-5ADE3147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>
            <a:noAutofit/>
          </a:bodyPr>
          <a:lstStyle/>
          <a:p>
            <a:r>
              <a:rPr lang="en-US" i="1" dirty="0"/>
              <a:t>x</a:t>
            </a:r>
            <a:r>
              <a:rPr lang="en-US" dirty="0"/>
              <a:t> axis: genomic position (</a:t>
            </a:r>
            <a:r>
              <a:rPr lang="en-US" dirty="0" err="1"/>
              <a:t>chr:bp</a:t>
            </a:r>
            <a:r>
              <a:rPr lang="en-US" dirty="0"/>
              <a:t>)</a:t>
            </a:r>
          </a:p>
          <a:p>
            <a:r>
              <a:rPr lang="en-US" i="1" dirty="0"/>
              <a:t>y</a:t>
            </a:r>
            <a:r>
              <a:rPr lang="en-US" dirty="0"/>
              <a:t> axis: −log₁₀ </a:t>
            </a:r>
            <a:r>
              <a:rPr lang="en-US" i="1" dirty="0"/>
              <a:t>p</a:t>
            </a:r>
          </a:p>
          <a:p>
            <a:r>
              <a:rPr lang="en-US" dirty="0"/>
              <a:t>Point colors</a:t>
            </a:r>
          </a:p>
          <a:p>
            <a:pPr lvl="1"/>
            <a:r>
              <a:rPr lang="en-US" sz="2800" dirty="0"/>
              <a:t>Distinguish chromosomes</a:t>
            </a:r>
          </a:p>
          <a:p>
            <a:pPr lvl="1"/>
            <a:r>
              <a:rPr lang="en-US" sz="2800" dirty="0"/>
              <a:t>Distinguish important features</a:t>
            </a:r>
          </a:p>
          <a:p>
            <a:pPr lvl="2"/>
            <a:r>
              <a:rPr lang="en-US" sz="2800" dirty="0"/>
              <a:t>statistical significant “loci” (sometimes also point size)</a:t>
            </a:r>
          </a:p>
          <a:p>
            <a:pPr lvl="2"/>
            <a:r>
              <a:rPr lang="en-US" sz="2800" dirty="0"/>
              <a:t>known vs novel “loci”</a:t>
            </a:r>
          </a:p>
          <a:p>
            <a:r>
              <a:rPr lang="en-US" dirty="0"/>
              <a:t>Reference lines</a:t>
            </a:r>
          </a:p>
          <a:p>
            <a:pPr lvl="1"/>
            <a:r>
              <a:rPr lang="en-US" sz="2800" dirty="0"/>
              <a:t>Genome-wide statistical significance (5 × 10⁻⁸)</a:t>
            </a:r>
          </a:p>
          <a:p>
            <a:pPr lvl="1"/>
            <a:r>
              <a:rPr lang="en-US" sz="2800" dirty="0"/>
              <a:t>Suggestive significance (often 10⁻⁵ or 10⁻⁶)</a:t>
            </a:r>
          </a:p>
        </p:txBody>
      </p:sp>
    </p:spTree>
    <p:extLst>
      <p:ext uri="{BB962C8B-B14F-4D97-AF65-F5344CB8AC3E}">
        <p14:creationId xmlns:p14="http://schemas.microsoft.com/office/powerpoint/2010/main" val="29776295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01C-7B26-B24B-BB2D-0EB1A19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77F6-9AA0-8B41-9912-5ADE3147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353801" cy="5032376"/>
          </a:xfrm>
        </p:spPr>
        <p:txBody>
          <a:bodyPr>
            <a:noAutofit/>
          </a:bodyPr>
          <a:lstStyle/>
          <a:p>
            <a:r>
              <a:rPr lang="en-US" dirty="0"/>
              <a:t>Examples: </a:t>
            </a:r>
            <a:r>
              <a:rPr lang="en-US" sz="2000" b="1" dirty="0" err="1">
                <a:latin typeface="Inconsolatazi4varl_qu" panose="02000503000000000000" pitchFamily="2" charset="0"/>
              </a:rPr>
              <a:t>genome.sph.umich.edu/wiki/Code_Sample:_Generating_Manhattan_Plots_in_R</a:t>
            </a:r>
          </a:p>
          <a:p>
            <a:r>
              <a:rPr lang="en-US" dirty="0"/>
              <a:t>Examples</a:t>
            </a:r>
            <a:r>
              <a:rPr lang="en-US" dirty="0" err="1"/>
              <a:t>:</a:t>
            </a:r>
            <a:r>
              <a:rPr lang="en-US" sz="2000" b="1" dirty="0" err="1">
                <a:latin typeface="Inconsolatazi4varl_qu" panose="02000503000000000000" pitchFamily="2" charset="0"/>
              </a:rPr>
              <a:t> https://r-graph-gallery.com/101_Manhattan_plot.html</a:t>
            </a:r>
          </a:p>
          <a:p>
            <a:endParaRPr lang="en-US" dirty="0" err="1"/>
          </a:p>
          <a:p>
            <a:r>
              <a:rPr lang="en-US" dirty="0" err="1"/>
              <a:t>Data: chromosome and position, </a:t>
            </a:r>
            <a:r>
              <a:rPr lang="en-US" i="1" dirty="0" err="1"/>
              <a:t>p</a:t>
            </a:r>
            <a:r>
              <a:rPr lang="en-US" dirty="0" err="1"/>
              <a:t> values from GWAS, SNP ID</a:t>
            </a:r>
          </a:p>
          <a:p>
            <a:pPr marL="0" indent="0">
              <a:buNone/>
            </a:pPr>
            <a:endParaRPr lang="en-US" dirty="0" err="1">
              <a:solidFill>
                <a:srgbClr val="C00000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  <a:t>library(qqman)</a:t>
            </a:r>
            <a:b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  <a:t>manhattan(results, chr = "CHR", bp = "BP",</a:t>
            </a:r>
            <a:b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  <a:t>                   snp = "SNP", p = "P" )</a:t>
            </a:r>
            <a:b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</a:br>
            <a:endParaRPr lang="en-US" dirty="0">
              <a:solidFill>
                <a:srgbClr val="C00000"/>
              </a:solidFill>
              <a:latin typeface="Inconsolatazi4varl_qu" panose="02000503000000000000" pitchFamily="2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4514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EA70-FE86-1741-B999-8C8ADBACD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−log₁₀ </a:t>
            </a:r>
            <a:r>
              <a:rPr lang="en-US" i="1" dirty="0"/>
              <a:t>p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6DA63-5445-474E-BBBA-EAAEF8196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79079" cy="4975226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p</a:t>
            </a:r>
            <a:r>
              <a:rPr lang="en-US" dirty="0"/>
              <a:t> values are usually transformed</a:t>
            </a:r>
            <a:endParaRPr lang="en-US" i="1" dirty="0"/>
          </a:p>
          <a:p>
            <a:r>
              <a:rPr lang="en-US" dirty="0"/>
              <a:t>Interesting </a:t>
            </a:r>
            <a:r>
              <a:rPr lang="en-US" i="1" dirty="0"/>
              <a:t>p </a:t>
            </a:r>
            <a:r>
              <a:rPr lang="en-US" dirty="0"/>
              <a:t>values (&lt; 0.05) are compressed, and visually their differences are miniscule—whereas differences we don’t care about like between </a:t>
            </a:r>
            <a:r>
              <a:rPr lang="en-US" i="1" dirty="0"/>
              <a:t>p</a:t>
            </a:r>
            <a:r>
              <a:rPr lang="en-US" dirty="0"/>
              <a:t> = 0.5 and </a:t>
            </a:r>
            <a:r>
              <a:rPr lang="en-US" i="1" dirty="0"/>
              <a:t>p</a:t>
            </a:r>
            <a:r>
              <a:rPr lang="en-US" dirty="0"/>
              <a:t> = 0.7 are large and visible</a:t>
            </a:r>
          </a:p>
          <a:p>
            <a:r>
              <a:rPr lang="en-US" dirty="0"/>
              <a:t>−log₁₀ </a:t>
            </a:r>
            <a:r>
              <a:rPr lang="en-US" i="1" dirty="0"/>
              <a:t>p</a:t>
            </a:r>
            <a:r>
              <a:rPr lang="en-US" dirty="0"/>
              <a:t> rescales </a:t>
            </a:r>
            <a:r>
              <a:rPr lang="en-US" i="1" dirty="0"/>
              <a:t>p</a:t>
            </a:r>
            <a:r>
              <a:rPr lang="en-US" dirty="0"/>
              <a:t> so that the interesting differences are visible</a:t>
            </a:r>
          </a:p>
          <a:p>
            <a:r>
              <a:rPr lang="en-US" dirty="0"/>
              <a:t>The difference between 0.00000005 and 0.00001 is invisible but the difference between 7.3 and 5.0 is visible.</a:t>
            </a:r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D2AC9AC3-5C89-184B-915B-91A9FA811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146" y="367392"/>
            <a:ext cx="3580818" cy="2904311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57619FC1-CC8F-1146-AB0B-5AA8985CC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778" y="3586297"/>
            <a:ext cx="3554186" cy="29043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BA34CD-E4C9-EA42-8CE9-344041CEDB30}"/>
              </a:ext>
            </a:extLst>
          </p:cNvPr>
          <p:cNvSpPr/>
          <p:nvPr/>
        </p:nvSpPr>
        <p:spPr>
          <a:xfrm>
            <a:off x="8548007" y="3061607"/>
            <a:ext cx="2996293" cy="21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Chr</a:t>
            </a:r>
            <a:r>
              <a:rPr lang="en-US" sz="1200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 11 Position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2AF648-3A5C-7C4C-8C15-E8AEC53EA7D8}"/>
              </a:ext>
            </a:extLst>
          </p:cNvPr>
          <p:cNvSpPr/>
          <p:nvPr/>
        </p:nvSpPr>
        <p:spPr>
          <a:xfrm>
            <a:off x="8548006" y="6280512"/>
            <a:ext cx="2996293" cy="21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Chr</a:t>
            </a:r>
            <a:r>
              <a:rPr lang="en-US" sz="1200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 11 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BE7B26-4694-8C49-A7C1-3CE842C27356}"/>
              </a:ext>
            </a:extLst>
          </p:cNvPr>
          <p:cNvSpPr/>
          <p:nvPr/>
        </p:nvSpPr>
        <p:spPr>
          <a:xfrm rot="16200000">
            <a:off x="6668680" y="4822098"/>
            <a:ext cx="2996293" cy="21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−log₁₀ </a:t>
            </a:r>
            <a:r>
              <a:rPr lang="en-US" sz="1200" i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p</a:t>
            </a:r>
            <a:endParaRPr lang="en-US" sz="1200" dirty="0">
              <a:solidFill>
                <a:schemeClr val="tx1"/>
              </a:solidFill>
              <a:latin typeface="SF Pro Display" pitchFamily="2" charset="0"/>
              <a:ea typeface="SF Pro Display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402B43-A10F-A74D-92B6-A6EC92D93BD4}"/>
              </a:ext>
            </a:extLst>
          </p:cNvPr>
          <p:cNvSpPr/>
          <p:nvPr/>
        </p:nvSpPr>
        <p:spPr>
          <a:xfrm rot="16200000">
            <a:off x="6631994" y="1760489"/>
            <a:ext cx="2996293" cy="21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p</a:t>
            </a:r>
            <a:endParaRPr lang="en-US" sz="1200" dirty="0">
              <a:solidFill>
                <a:schemeClr val="tx1"/>
              </a:solidFill>
              <a:latin typeface="SF Pro Display" pitchFamily="2" charset="0"/>
              <a:ea typeface="SF Pro Display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A4A18-06FE-E54D-BA0F-09259B707E12}"/>
              </a:ext>
            </a:extLst>
          </p:cNvPr>
          <p:cNvSpPr/>
          <p:nvPr/>
        </p:nvSpPr>
        <p:spPr>
          <a:xfrm>
            <a:off x="8882743" y="6590754"/>
            <a:ext cx="3309257" cy="210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Data for plots from </a:t>
            </a:r>
            <a:r>
              <a:rPr lang="en-US" sz="1200" b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Willer </a:t>
            </a:r>
            <a:r>
              <a:rPr lang="en-US" sz="1200" b="1" i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et al.</a:t>
            </a:r>
            <a:r>
              <a:rPr lang="en-US" sz="1200" b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 </a:t>
            </a:r>
            <a:r>
              <a:rPr lang="en-US" sz="1200" b="1" i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Nat Genet</a:t>
            </a:r>
            <a:r>
              <a:rPr lang="en-US" sz="1200" b="1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 2013</a:t>
            </a:r>
          </a:p>
        </p:txBody>
      </p:sp>
    </p:spTree>
    <p:extLst>
      <p:ext uri="{BB962C8B-B14F-4D97-AF65-F5344CB8AC3E}">
        <p14:creationId xmlns:p14="http://schemas.microsoft.com/office/powerpoint/2010/main" val="17513203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C4F7-D6C1-5A4A-BF80-D020E740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B134-3E26-5C4B-9902-FBF8A0DB1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3D413-BF40-1F4B-87B7-9082833BF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38" y="1585280"/>
            <a:ext cx="11794323" cy="45916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AB423C-C588-CC47-9900-81B8B227F9E1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Ikram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</a:t>
            </a:r>
            <a:r>
              <a:rPr lang="en-US" sz="1200" b="1" i="1" dirty="0" err="1">
                <a:latin typeface="SF Pro Display" pitchFamily="2" charset="0"/>
                <a:ea typeface="SF Pro Display" pitchFamily="2" charset="0"/>
              </a:rPr>
              <a:t>PLoS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 Genet.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2010</a:t>
            </a:r>
          </a:p>
        </p:txBody>
      </p:sp>
    </p:spTree>
    <p:extLst>
      <p:ext uri="{BB962C8B-B14F-4D97-AF65-F5344CB8AC3E}">
        <p14:creationId xmlns:p14="http://schemas.microsoft.com/office/powerpoint/2010/main" val="32045715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640D1C-BC1E-4B41-8FF7-5CFF1A86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Variations</a:t>
            </a:r>
          </a:p>
        </p:txBody>
      </p:sp>
      <p:pic>
        <p:nvPicPr>
          <p:cNvPr id="9" name="Content Placeholder 8" descr="Chart&#10;&#10;Description automatically generated">
            <a:extLst>
              <a:ext uri="{FF2B5EF4-FFF2-40B4-BE49-F238E27FC236}">
                <a16:creationId xmlns:a16="http://schemas.microsoft.com/office/drawing/2014/main" id="{2D0CBACB-AA69-8644-AA9B-908B7005B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1132"/>
            <a:ext cx="10180320" cy="487961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AB423C-C588-CC47-9900-81B8B227F9E1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Kunkle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Nat. Genet.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2019</a:t>
            </a:r>
          </a:p>
        </p:txBody>
      </p:sp>
      <p:pic>
        <p:nvPicPr>
          <p:cNvPr id="10" name="Picture 9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CD8BBF81-9628-1C45-AAC3-5772ED823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219" y="638184"/>
            <a:ext cx="7715561" cy="5581631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064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3DCA-3235-C940-B53C-D6677101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Miami Plots</a:t>
            </a:r>
          </a:p>
        </p:txBody>
      </p:sp>
      <p:pic>
        <p:nvPicPr>
          <p:cNvPr id="5" name="Content Placeholder 4" descr="Timeline&#10;&#10;Description automatically generated">
            <a:extLst>
              <a:ext uri="{FF2B5EF4-FFF2-40B4-BE49-F238E27FC236}">
                <a16:creationId xmlns:a16="http://schemas.microsoft.com/office/drawing/2014/main" id="{A6F48E2B-48A5-3A48-B802-6998519D0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447" y="1825625"/>
            <a:ext cx="9635105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960536-6F36-5042-BE8B-457A900F68C5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Nagy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Genome Medicine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25639237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26FE-A368-604D-B137-333F8C987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Association Test </a:t>
            </a:r>
            <a:r>
              <a:rPr lang="en-US" i="1" dirty="0"/>
              <a:t>p</a:t>
            </a:r>
            <a:r>
              <a:rPr lang="en-US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CC4DD-40AA-7F4B-9CCA-20B61CB3E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point statistic can be used in a Manhattan-style plot</a:t>
            </a:r>
          </a:p>
          <a:p>
            <a:r>
              <a:rPr lang="en-US" dirty="0"/>
              <a:t>Most common is </a:t>
            </a:r>
            <a:r>
              <a:rPr lang="en-US" i="1" dirty="0"/>
              <a:t>p</a:t>
            </a:r>
            <a:r>
              <a:rPr lang="en-US" dirty="0"/>
              <a:t> value (−log₁₀ </a:t>
            </a:r>
            <a:r>
              <a:rPr lang="en-US" i="1" dirty="0"/>
              <a:t>p</a:t>
            </a:r>
            <a:r>
              <a:rPr lang="en-US" dirty="0"/>
              <a:t>)</a:t>
            </a:r>
          </a:p>
          <a:p>
            <a:r>
              <a:rPr lang="en-US" dirty="0"/>
              <a:t>You </a:t>
            </a:r>
            <a:r>
              <a:rPr lang="en-US" i="1" dirty="0"/>
              <a:t>could</a:t>
            </a:r>
            <a:r>
              <a:rPr lang="en-US" dirty="0"/>
              <a:t> plot </a:t>
            </a:r>
            <a:r>
              <a:rPr lang="en-US" i="1" dirty="0"/>
              <a:t>t</a:t>
            </a:r>
            <a:r>
              <a:rPr lang="en-US" dirty="0"/>
              <a:t> or </a:t>
            </a:r>
            <a:r>
              <a:rPr lang="en-US" i="1" dirty="0"/>
              <a:t>F</a:t>
            </a:r>
            <a:r>
              <a:rPr lang="en-US" dirty="0"/>
              <a:t> or χ² statistics — why not?</a:t>
            </a:r>
          </a:p>
          <a:p>
            <a:r>
              <a:rPr lang="en-US" dirty="0"/>
              <a:t>Population genetics statistics (</a:t>
            </a:r>
            <a:r>
              <a:rPr lang="en-US" i="1" dirty="0"/>
              <a:t>F</a:t>
            </a:r>
            <a:r>
              <a:rPr lang="en-US" baseline="-25000" dirty="0">
                <a:latin typeface="SF Pro Display" pitchFamily="2" charset="0"/>
                <a:ea typeface="SF Pro Display" pitchFamily="2" charset="0"/>
              </a:rPr>
              <a:t>ST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sz="1200" i="1" dirty="0"/>
              <a:t> </a:t>
            </a:r>
            <a:r>
              <a:rPr lang="en-US" dirty="0"/>
              <a:t>², </a:t>
            </a:r>
            <a:r>
              <a:rPr lang="en-US" i="1" dirty="0"/>
              <a:t>D</a:t>
            </a:r>
            <a:r>
              <a:rPr lang="en-US" dirty="0"/>
              <a:t>′, PBS, </a:t>
            </a:r>
            <a:r>
              <a:rPr lang="en-US" dirty="0" err="1"/>
              <a:t>n</a:t>
            </a:r>
            <a:r>
              <a:rPr lang="en-US" i="1" dirty="0" err="1"/>
              <a:t>S</a:t>
            </a:r>
            <a:r>
              <a:rPr lang="en-US" baseline="-25000" dirty="0" err="1">
                <a:latin typeface="SF Pro Display" pitchFamily="2" charset="0"/>
                <a:ea typeface="SF Pro Display" pitchFamily="2" charset="0"/>
              </a:rPr>
              <a:t>L</a:t>
            </a:r>
            <a:r>
              <a:rPr lang="en-US" dirty="0">
                <a:latin typeface="SF Pro Display Light" pitchFamily="2" charset="0"/>
                <a:ea typeface="SF Pro Display Light" pitchFamily="2" charset="0"/>
              </a:rPr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899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5B4F7-DCD2-AD48-B020-50C3AF5E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Selection</a:t>
            </a:r>
          </a:p>
        </p:txBody>
      </p:sp>
      <p:pic>
        <p:nvPicPr>
          <p:cNvPr id="4" name="Main graphic">
            <a:extLst>
              <a:ext uri="{FF2B5EF4-FFF2-40B4-BE49-F238E27FC236}">
                <a16:creationId xmlns:a16="http://schemas.microsoft.com/office/drawing/2014/main" id="{CB17EB72-D23D-784B-8C86-09D5ABCE939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38200" y="1690688"/>
            <a:ext cx="7785034" cy="49935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C6CE95-9599-704A-9ECC-A96E567B0AD9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Giska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</a:t>
            </a:r>
            <a:r>
              <a:rPr lang="en-US" sz="1200" b="1" i="1" dirty="0" err="1">
                <a:latin typeface="SF Pro Display" pitchFamily="2" charset="0"/>
                <a:ea typeface="SF Pro Display" pitchFamily="2" charset="0"/>
              </a:rPr>
              <a:t>Molec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 Ecol.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2911089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B3E0-E1B0-B945-9E55-32E3CD19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Shortcuts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F5635-5E55-AC42-AA6F-4D9DABBB6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Reduce quantity of points to be plotted</a:t>
            </a:r>
          </a:p>
          <a:p>
            <a:pPr lvl="1"/>
            <a:r>
              <a:rPr lang="en-US" sz="2800"/>
              <a:t>Plot only points −log₁₀ </a:t>
            </a:r>
            <a:r>
              <a:rPr lang="en-US" sz="2800" i="1"/>
              <a:t>p</a:t>
            </a:r>
            <a:r>
              <a:rPr lang="en-US" sz="2800"/>
              <a:t> &gt; 2</a:t>
            </a:r>
          </a:p>
          <a:p>
            <a:pPr lvl="2"/>
            <a:r>
              <a:rPr lang="en-US" sz="2400"/>
              <a:t>98.998% of points in a GWAS will be below this threshold</a:t>
            </a:r>
          </a:p>
          <a:p>
            <a:pPr lvl="2"/>
            <a:r>
              <a:rPr lang="en-US" sz="2400"/>
              <a:t>Takes 1.5 million points down to 15,028</a:t>
            </a:r>
          </a:p>
          <a:p>
            <a:pPr lvl="1"/>
            <a:r>
              <a:rPr lang="en-US" sz="2800"/>
              <a:t>Plot only random subset of points −log₁₀ </a:t>
            </a:r>
            <a:r>
              <a:rPr lang="en-US" sz="2800" i="1"/>
              <a:t>p</a:t>
            </a:r>
            <a:r>
              <a:rPr lang="en-US" sz="2800"/>
              <a:t> &lt; 5</a:t>
            </a:r>
          </a:p>
          <a:p>
            <a:pPr lvl="1"/>
            <a:r>
              <a:rPr lang="en-US" sz="2800"/>
              <a:t>Plot subset of chromosomes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584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988F-1E44-5645-8FF3-FE2B8C30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QQ Plots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9FBAC-E9DE-A342-BE04-22C2CAA54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575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01C-7B26-B24B-BB2D-0EB1A19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77F6-9AA0-8B41-9912-5ADE3147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Autofit/>
          </a:bodyPr>
          <a:lstStyle/>
          <a:p>
            <a:r>
              <a:rPr lang="en-US" i="1" dirty="0"/>
              <a:t>x</a:t>
            </a:r>
            <a:r>
              <a:rPr lang="en-US" dirty="0"/>
              <a:t> axis: expected −log₁₀ </a:t>
            </a:r>
            <a:r>
              <a:rPr lang="en-US" i="1" dirty="0"/>
              <a:t>p</a:t>
            </a:r>
            <a:endParaRPr lang="en-US" dirty="0"/>
          </a:p>
          <a:p>
            <a:r>
              <a:rPr lang="en-US" i="1" dirty="0"/>
              <a:t>y</a:t>
            </a:r>
            <a:r>
              <a:rPr lang="en-US" dirty="0"/>
              <a:t> axis: observed −log₁₀ </a:t>
            </a:r>
            <a:r>
              <a:rPr lang="en-US" i="1" dirty="0"/>
              <a:t>p</a:t>
            </a:r>
            <a:endParaRPr lang="en-US" dirty="0"/>
          </a:p>
          <a:p>
            <a:r>
              <a:rPr lang="en-US" dirty="0"/>
              <a:t>Reference lines</a:t>
            </a:r>
          </a:p>
          <a:p>
            <a:pPr lvl="1"/>
            <a:r>
              <a:rPr lang="en-US" sz="2800" i="1" dirty="0"/>
              <a:t>y</a:t>
            </a:r>
            <a:r>
              <a:rPr lang="en-US" sz="2800" dirty="0"/>
              <a:t> = </a:t>
            </a:r>
            <a:r>
              <a:rPr lang="en-US" sz="2800" i="1" dirty="0"/>
              <a:t>x</a:t>
            </a:r>
            <a:r>
              <a:rPr lang="en-US" sz="2800" dirty="0"/>
              <a:t> (identity line)</a:t>
            </a:r>
          </a:p>
          <a:p>
            <a:r>
              <a:rPr lang="en-US" dirty="0"/>
              <a:t>Confidence interval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1914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01C-7B26-B24B-BB2D-0EB1A19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77F6-9AA0-8B41-9912-5ADE3147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Autofit/>
          </a:bodyPr>
          <a:lstStyle/>
          <a:p>
            <a:r>
              <a:rPr lang="en-US" dirty="0"/>
              <a:t>Examples: </a:t>
            </a:r>
            <a:r>
              <a:rPr lang="en-US" sz="2000" b="1" dirty="0" err="1">
                <a:latin typeface="Inconsolatazi4varl_qu" panose="02000503000000000000" pitchFamily="2" charset="0"/>
              </a:rPr>
              <a:t>genome.sph.umich.edu</a:t>
            </a:r>
            <a:r>
              <a:rPr lang="en-US" sz="2000" b="1" dirty="0">
                <a:latin typeface="Inconsolatazi4varl_qu" panose="02000503000000000000" pitchFamily="2" charset="0"/>
              </a:rPr>
              <a:t>/wiki/Code_Sample:_</a:t>
            </a:r>
            <a:r>
              <a:rPr lang="en-US" sz="2000" b="1" dirty="0" err="1">
                <a:latin typeface="Inconsolatazi4varl_qu" panose="02000503000000000000" pitchFamily="2" charset="0"/>
              </a:rPr>
              <a:t>Generating_QQ_Plots_in_R</a:t>
            </a:r>
          </a:p>
          <a:p>
            <a:r>
              <a:rPr lang="en-US" dirty="0"/>
              <a:t>Examples</a:t>
            </a:r>
            <a:r>
              <a:rPr lang="en-US" dirty="0" err="1"/>
              <a:t>:</a:t>
            </a:r>
            <a:r>
              <a:rPr lang="en-US" sz="2000" b="1" dirty="0" err="1">
                <a:latin typeface="Inconsolatazi4varl_qu" panose="02000503000000000000" pitchFamily="2" charset="0"/>
              </a:rPr>
              <a:t> https://r-graph-gallery.com/101_Manhattan_plot.html</a:t>
            </a:r>
          </a:p>
          <a:p>
            <a:endParaRPr lang="en-US" dirty="0" err="1"/>
          </a:p>
          <a:p>
            <a:r>
              <a:rPr lang="en-US" dirty="0" err="1"/>
              <a:t>Data: </a:t>
            </a:r>
            <a:r>
              <a:rPr lang="en-US" i="1" dirty="0" err="1"/>
              <a:t>p</a:t>
            </a:r>
            <a:r>
              <a:rPr lang="en-US" dirty="0" err="1"/>
              <a:t> values from GWAS</a:t>
            </a:r>
          </a:p>
          <a:p>
            <a:pPr marL="0" indent="0">
              <a:buNone/>
            </a:pPr>
            <a:endParaRPr lang="en-US" dirty="0" err="1">
              <a:solidFill>
                <a:srgbClr val="C00000"/>
              </a:solidFill>
              <a:latin typeface="Inconsolatazi4varl_qu" panose="02000503000000000000" pitchFamily="2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  <a:t>library(qqman)</a:t>
            </a:r>
            <a:b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</a:br>
            <a:r>
              <a:rPr lang="en-US" dirty="0" err="1">
                <a:solidFill>
                  <a:srgbClr val="C00000"/>
                </a:solidFill>
                <a:latin typeface="Inconsolatazi4varl_qu" panose="02000503000000000000" pitchFamily="2" charset="0"/>
              </a:rPr>
              <a:t>qq(results$p)</a:t>
            </a:r>
            <a:endParaRPr lang="en-US" dirty="0">
              <a:solidFill>
                <a:srgbClr val="C00000"/>
              </a:solidFill>
              <a:latin typeface="Inconsolatazi4varl_qu" panose="02000503000000000000" pitchFamily="2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1145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533BF-31F4-6243-8C1B-98A918FB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Variations</a:t>
            </a: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D661F91A-EDFA-4245-BC0C-39180A99D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111" y="152379"/>
            <a:ext cx="6096000" cy="6106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48B855-9B9D-BC43-925B-085CCB5D69DC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Kunkle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Nat. Genet.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4763638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C4F7-D6C1-5A4A-BF80-D020E740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Variations</a:t>
            </a:r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49048D23-1CED-BF4E-A0E8-385F8A4AF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3762" y="365125"/>
            <a:ext cx="6873408" cy="589685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025AC9-2C26-194B-A76F-86868F561FE5}"/>
              </a:ext>
            </a:extLst>
          </p:cNvPr>
          <p:cNvSpPr txBox="1"/>
          <p:nvPr/>
        </p:nvSpPr>
        <p:spPr>
          <a:xfrm>
            <a:off x="7219950" y="6488668"/>
            <a:ext cx="4972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>
                <a:latin typeface="SF Pro Display" pitchFamily="2" charset="0"/>
                <a:ea typeface="SF Pro Display" pitchFamily="2" charset="0"/>
              </a:rPr>
              <a:t>Bonàs-Guarch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Nat. </a:t>
            </a:r>
            <a:r>
              <a:rPr lang="en-US" sz="1200" b="1" i="1" dirty="0" err="1">
                <a:latin typeface="SF Pro Display" pitchFamily="2" charset="0"/>
                <a:ea typeface="SF Pro Display" pitchFamily="2" charset="0"/>
              </a:rPr>
              <a:t>Commun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.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2018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62DDD97-59F1-6F49-8A28-76B2FC80CDD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accent4"/>
                </a:solidFill>
                <a:latin typeface="SF Pro Display Light" pitchFamily="2" charset="0"/>
                <a:ea typeface="SF Pro Display Light" pitchFamily="2" charset="0"/>
                <a:cs typeface="Helvetica Neue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Highlighting with</a:t>
            </a:r>
            <a:br>
              <a:rPr lang="en-US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</a:br>
            <a:r>
              <a:rPr lang="en-US" dirty="0">
                <a:solidFill>
                  <a:schemeClr val="tx1"/>
                </a:solidFill>
                <a:latin typeface="SF Pro Display" pitchFamily="2" charset="0"/>
                <a:ea typeface="SF Pro Display" pitchFamily="2" charset="0"/>
              </a:rPr>
              <a:t>size and color</a:t>
            </a:r>
          </a:p>
        </p:txBody>
      </p:sp>
    </p:spTree>
    <p:extLst>
      <p:ext uri="{BB962C8B-B14F-4D97-AF65-F5344CB8AC3E}">
        <p14:creationId xmlns:p14="http://schemas.microsoft.com/office/powerpoint/2010/main" val="33678970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C4F7-D6C1-5A4A-BF80-D020E740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A1030B-8F19-7447-85F0-3F403A032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Subsetting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25AC9-2C26-194B-A76F-86868F561FE5}"/>
              </a:ext>
            </a:extLst>
          </p:cNvPr>
          <p:cNvSpPr txBox="1"/>
          <p:nvPr/>
        </p:nvSpPr>
        <p:spPr>
          <a:xfrm>
            <a:off x="3989070" y="6488668"/>
            <a:ext cx="820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International HIV Controllers Study; Pereyra </a:t>
            </a:r>
            <a:r>
              <a:rPr lang="en-US" sz="1200" b="1" i="1" dirty="0">
                <a:latin typeface="SF Pro Display" pitchFamily="2" charset="0"/>
                <a:ea typeface="SF Pro Display" pitchFamily="2" charset="0"/>
              </a:rPr>
              <a:t>et al. Science </a:t>
            </a:r>
            <a:r>
              <a:rPr lang="en-US" sz="1200" b="1" dirty="0">
                <a:latin typeface="SF Pro Display" pitchFamily="2" charset="0"/>
                <a:ea typeface="SF Pro Display" pitchFamily="2" charset="0"/>
              </a:rPr>
              <a:t>2010</a:t>
            </a:r>
          </a:p>
        </p:txBody>
      </p:sp>
      <p:pic>
        <p:nvPicPr>
          <p:cNvPr id="7" name="Picture 6" descr="Chart, line chart, histogram&#10;&#10;Description automatically generated">
            <a:extLst>
              <a:ext uri="{FF2B5EF4-FFF2-40B4-BE49-F238E27FC236}">
                <a16:creationId xmlns:a16="http://schemas.microsoft.com/office/drawing/2014/main" id="{4D4E8644-B5EC-AF4F-B30B-5BA74858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290" y="365125"/>
            <a:ext cx="5969000" cy="5930900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13F4098E-08D2-2042-83F3-3F264044B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3444875"/>
            <a:ext cx="8823960" cy="2953863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330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8A1F-09ED-0446-9180-9A92501F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Vector vs Raster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08AA-9F33-054B-8BB7-D2D8BBC33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 graphics are usually preferable for visualizations</a:t>
            </a:r>
          </a:p>
          <a:p>
            <a:r>
              <a:rPr lang="en-US" dirty="0"/>
              <a:t>Generally, do not use vector graphics solutions for QQ plots.</a:t>
            </a:r>
          </a:p>
          <a:p>
            <a:pPr lvl="1"/>
            <a:r>
              <a:rPr lang="en-US" sz="2800" dirty="0"/>
              <a:t>(PDF, SVG, EPS)</a:t>
            </a:r>
          </a:p>
          <a:p>
            <a:r>
              <a:rPr lang="en-US" dirty="0"/>
              <a:t>Use raster graphics</a:t>
            </a:r>
          </a:p>
          <a:p>
            <a:pPr lvl="1"/>
            <a:r>
              <a:rPr lang="en-US" sz="2800" dirty="0"/>
              <a:t>(PNG, JPG, GIF)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978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2645-426B-D14B-BB9D-CE17D42D8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Regional Manhattan Plots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921C2-3EDD-6647-9564-CEC4B8B2F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368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346F-A154-B14B-A565-4865349B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Regional Manhattan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5E954-65B7-E947-A780-A6922F009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Visualize small segment of genome</a:t>
            </a:r>
          </a:p>
        </p:txBody>
      </p:sp>
    </p:spTree>
    <p:extLst>
      <p:ext uri="{BB962C8B-B14F-4D97-AF65-F5344CB8AC3E}">
        <p14:creationId xmlns:p14="http://schemas.microsoft.com/office/powerpoint/2010/main" val="25171103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30A251-BEFF-0A40-8E15-FBE95653E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C0B211-36A6-974C-BD0D-134B018F3245}"/>
              </a:ext>
            </a:extLst>
          </p:cNvPr>
          <p:cNvSpPr/>
          <p:nvPr/>
        </p:nvSpPr>
        <p:spPr>
          <a:xfrm>
            <a:off x="4961932" y="838986"/>
            <a:ext cx="308344" cy="5024486"/>
          </a:xfrm>
          <a:prstGeom prst="rect">
            <a:avLst/>
          </a:prstGeom>
          <a:solidFill>
            <a:schemeClr val="accent2">
              <a:alpha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48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49BB1D-6F91-9B47-B7D5-1EBAD88F9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28600"/>
            <a:ext cx="110236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637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6412D-DB7F-0D4F-9205-B240567D1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228600"/>
            <a:ext cx="110236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274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301C-7B26-B24B-BB2D-0EB1A19F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77F6-9AA0-8B41-9912-5ADE3147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>
            <a:noAutofit/>
          </a:bodyPr>
          <a:lstStyle/>
          <a:p>
            <a:r>
              <a:rPr lang="en-US" i="1" dirty="0"/>
              <a:t>x</a:t>
            </a:r>
            <a:r>
              <a:rPr lang="en-US" dirty="0"/>
              <a:t> axis: genomic position (</a:t>
            </a:r>
            <a:r>
              <a:rPr lang="en-US" dirty="0" err="1"/>
              <a:t>chr:bp</a:t>
            </a:r>
            <a:r>
              <a:rPr lang="en-US" dirty="0"/>
              <a:t>)</a:t>
            </a:r>
          </a:p>
          <a:p>
            <a:r>
              <a:rPr lang="en-US" i="1" dirty="0"/>
              <a:t>y</a:t>
            </a:r>
            <a:r>
              <a:rPr lang="en-US" dirty="0"/>
              <a:t> axis: −log₁₀ </a:t>
            </a:r>
            <a:r>
              <a:rPr lang="en-US" i="1" dirty="0"/>
              <a:t>p</a:t>
            </a:r>
          </a:p>
          <a:p>
            <a:r>
              <a:rPr lang="en-US" dirty="0"/>
              <a:t>Point colors</a:t>
            </a:r>
          </a:p>
          <a:p>
            <a:pPr lvl="1"/>
            <a:r>
              <a:rPr lang="en-US" sz="2800" dirty="0"/>
              <a:t>LD (usually </a:t>
            </a:r>
            <a:r>
              <a:rPr lang="en-US" sz="2800" i="1" dirty="0"/>
              <a:t>r </a:t>
            </a:r>
            <a:r>
              <a:rPr lang="en-US" sz="2800" dirty="0"/>
              <a:t>²) between a “peak” SNP and the others</a:t>
            </a:r>
          </a:p>
          <a:p>
            <a:r>
              <a:rPr lang="en-US" dirty="0"/>
              <a:t>Reference lines</a:t>
            </a:r>
          </a:p>
          <a:p>
            <a:pPr lvl="1"/>
            <a:r>
              <a:rPr lang="en-US" sz="2800" dirty="0"/>
              <a:t>Genome-wide statistical significance (5 × 10⁻⁸)</a:t>
            </a:r>
          </a:p>
          <a:p>
            <a:pPr lvl="1"/>
            <a:r>
              <a:rPr lang="en-US" sz="2800" dirty="0"/>
              <a:t>Suggestive significance (often 10⁻⁵ or 10⁻⁶)</a:t>
            </a:r>
          </a:p>
          <a:p>
            <a:r>
              <a:rPr lang="en-US" dirty="0"/>
              <a:t>Often an overlay of recombination rate</a:t>
            </a:r>
            <a:br>
              <a:rPr lang="en-US" dirty="0"/>
            </a:br>
            <a:r>
              <a:rPr lang="en-US" dirty="0"/>
              <a:t>      (to highlight recombination hotspots)</a:t>
            </a:r>
          </a:p>
          <a:p>
            <a:r>
              <a:rPr lang="en-US" dirty="0"/>
              <a:t>Often underlaid with genome map include gene diagrams</a:t>
            </a:r>
          </a:p>
        </p:txBody>
      </p:sp>
    </p:spTree>
    <p:extLst>
      <p:ext uri="{BB962C8B-B14F-4D97-AF65-F5344CB8AC3E}">
        <p14:creationId xmlns:p14="http://schemas.microsoft.com/office/powerpoint/2010/main" val="6299829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3D96B51E-4C64-474F-B6AF-AEFAB3D017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000"/>
          <a:stretch/>
        </p:blipFill>
        <p:spPr>
          <a:xfrm>
            <a:off x="220877" y="365760"/>
            <a:ext cx="11697633" cy="609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739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AE08-A196-EC4F-A776-BF8C1A88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LocusZoom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4069B-10B0-4842-A7D2-F37F107DA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(So you don’t have to code it yourself)</a:t>
            </a:r>
          </a:p>
          <a:p>
            <a:r>
              <a:rPr lang="en-US" dirty="0" err="1"/>
              <a:t>LocusZoom</a:t>
            </a:r>
            <a:br>
              <a:rPr lang="en-US" dirty="0" err="1"/>
            </a:br>
            <a:br>
              <a:rPr lang="en-US" dirty="0"/>
            </a:br>
            <a:r>
              <a:rPr lang="en-US" b="1" dirty="0" err="1">
                <a:latin typeface="Inconsolatazi4varl_qu" panose="02000503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locuszoom.org</a:t>
            </a:r>
            <a:br>
              <a:rPr lang="en-US" dirty="0" err="1">
                <a:latin typeface="Inconsolatazi4varl_qu" panose="02000503000000000000" pitchFamily="2" charset="0"/>
              </a:rPr>
            </a:br>
            <a:br>
              <a:rPr lang="en-US" dirty="0" err="1">
                <a:latin typeface="Inconsolatazi4varl_qu" panose="02000503000000000000" pitchFamily="2" charset="0"/>
              </a:rPr>
            </a:br>
            <a:r>
              <a:rPr lang="en-US" sz="1200" b="1" dirty="0" err="1"/>
              <a:t>Pruim </a:t>
            </a:r>
            <a:r>
              <a:rPr lang="en-US" sz="1200" b="1" i="1" dirty="0" err="1"/>
              <a:t>et al. Bioinformatics </a:t>
            </a:r>
            <a:r>
              <a:rPr lang="en-US" sz="1200" b="1" dirty="0" err="1"/>
              <a:t>2010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2459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2F83DF87-3AE4-D84B-95BB-83C10076A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76" y="0"/>
            <a:ext cx="109964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03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AE08-A196-EC4F-A776-BF8C1A88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LocusZoom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4069B-10B0-4842-A7D2-F37F107DA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Upload tab-delimited files with</a:t>
            </a:r>
          </a:p>
          <a:p>
            <a:pPr lvl="1"/>
            <a:r>
              <a:rPr lang="en-US" dirty="0" err="1"/>
              <a:t>Chromosome</a:t>
            </a:r>
          </a:p>
          <a:p>
            <a:pPr lvl="1"/>
            <a:r>
              <a:rPr lang="en-US" dirty="0" err="1"/>
              <a:t>Position</a:t>
            </a:r>
          </a:p>
          <a:p>
            <a:pPr lvl="1"/>
            <a:r>
              <a:rPr lang="en-US" dirty="0" err="1"/>
              <a:t>Reference allele</a:t>
            </a:r>
          </a:p>
          <a:p>
            <a:pPr lvl="1"/>
            <a:r>
              <a:rPr lang="en-US" dirty="0" err="1"/>
              <a:t>Alternate allele</a:t>
            </a:r>
          </a:p>
          <a:p>
            <a:pPr lvl="1"/>
            <a:r>
              <a:rPr lang="en-US" i="1" dirty="0" err="1"/>
              <a:t>p</a:t>
            </a:r>
            <a:r>
              <a:rPr lang="en-US" dirty="0" err="1"/>
              <a:t> value or −log₁₀ </a:t>
            </a:r>
            <a:r>
              <a:rPr lang="en-US" i="1" dirty="0" err="1"/>
              <a:t>p</a:t>
            </a:r>
          </a:p>
          <a:p>
            <a:r>
              <a:rPr lang="en-US" dirty="0" err="1"/>
              <a:t>Will highlight regions above a threshold for LocusZoom plots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3994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3D96B51E-4C64-474F-B6AF-AEFAB3D017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000"/>
          <a:stretch/>
        </p:blipFill>
        <p:spPr>
          <a:xfrm>
            <a:off x="220877" y="365760"/>
            <a:ext cx="11697633" cy="609904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8852E54-7755-1EC7-6C9D-0C2EC12ED9BC}"/>
              </a:ext>
            </a:extLst>
          </p:cNvPr>
          <p:cNvCxnSpPr>
            <a:cxnSpLocks/>
          </p:cNvCxnSpPr>
          <p:nvPr/>
        </p:nvCxnSpPr>
        <p:spPr>
          <a:xfrm flipH="1">
            <a:off x="6427694" y="645459"/>
            <a:ext cx="1066800" cy="46733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D7A6E1-A60B-8D2C-0F40-74AE4270260C}"/>
              </a:ext>
            </a:extLst>
          </p:cNvPr>
          <p:cNvCxnSpPr>
            <a:cxnSpLocks/>
          </p:cNvCxnSpPr>
          <p:nvPr/>
        </p:nvCxnSpPr>
        <p:spPr>
          <a:xfrm flipH="1" flipV="1">
            <a:off x="6768353" y="1319067"/>
            <a:ext cx="1452283" cy="13934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3EE26E-D569-DFE8-112A-1212BC2587FF}"/>
              </a:ext>
            </a:extLst>
          </p:cNvPr>
          <p:cNvCxnSpPr>
            <a:cxnSpLocks/>
          </p:cNvCxnSpPr>
          <p:nvPr/>
        </p:nvCxnSpPr>
        <p:spPr>
          <a:xfrm flipH="1">
            <a:off x="2321858" y="1909482"/>
            <a:ext cx="663389" cy="39893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E90204B-D354-613A-86A1-6D145A4CE067}"/>
              </a:ext>
            </a:extLst>
          </p:cNvPr>
          <p:cNvCxnSpPr>
            <a:cxnSpLocks/>
          </p:cNvCxnSpPr>
          <p:nvPr/>
        </p:nvCxnSpPr>
        <p:spPr>
          <a:xfrm flipH="1">
            <a:off x="8086165" y="5688106"/>
            <a:ext cx="1905000" cy="14343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9276942-DF9F-4500-70EF-0A4A6CB3791D}"/>
              </a:ext>
            </a:extLst>
          </p:cNvPr>
          <p:cNvSpPr txBox="1"/>
          <p:nvPr/>
        </p:nvSpPr>
        <p:spPr>
          <a:xfrm>
            <a:off x="2985247" y="1533771"/>
            <a:ext cx="1815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F Pro Display Medium" pitchFamily="2" charset="0"/>
                <a:ea typeface="SF Pro Display Medium" pitchFamily="2" charset="0"/>
              </a:rPr>
              <a:t>Recombination</a:t>
            </a:r>
          </a:p>
          <a:p>
            <a:r>
              <a:rPr lang="en-US" dirty="0">
                <a:latin typeface="SF Pro Display Medium" pitchFamily="2" charset="0"/>
                <a:ea typeface="SF Pro Display Medium" pitchFamily="2" charset="0"/>
              </a:rPr>
              <a:t>Hotspots</a:t>
            </a:r>
            <a:endParaRPr lang="en-US">
              <a:latin typeface="SF Pro Display Medium" pitchFamily="2" charset="0"/>
              <a:ea typeface="SF Pro Display Medium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939AC0-E114-DA0D-699D-CA834CA34429}"/>
              </a:ext>
            </a:extLst>
          </p:cNvPr>
          <p:cNvSpPr txBox="1"/>
          <p:nvPr/>
        </p:nvSpPr>
        <p:spPr>
          <a:xfrm>
            <a:off x="7494494" y="188605"/>
            <a:ext cx="4231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F Pro Display Medium" pitchFamily="2" charset="0"/>
                <a:ea typeface="SF Pro Display Medium" pitchFamily="2" charset="0"/>
              </a:rPr>
              <a:t>Reference SNP against which all others are colored for LD (usually peak SNP)</a:t>
            </a:r>
            <a:endParaRPr lang="en-US">
              <a:latin typeface="SF Pro Display Medium" pitchFamily="2" charset="0"/>
              <a:ea typeface="SF Pro Display Medium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729D1F-EA44-8D4E-2E10-8E279D6697AE}"/>
              </a:ext>
            </a:extLst>
          </p:cNvPr>
          <p:cNvSpPr txBox="1"/>
          <p:nvPr/>
        </p:nvSpPr>
        <p:spPr>
          <a:xfrm>
            <a:off x="9991165" y="5421869"/>
            <a:ext cx="1815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SF Pro Display Medium" pitchFamily="2" charset="0"/>
                <a:ea typeface="SF Pro Display Medium" pitchFamily="2" charset="0"/>
              </a:rPr>
              <a:t>Genes nearby</a:t>
            </a:r>
            <a:endParaRPr lang="en-US">
              <a:solidFill>
                <a:srgbClr val="FF0000"/>
              </a:solidFill>
              <a:latin typeface="SF Pro Display Medium" pitchFamily="2" charset="0"/>
              <a:ea typeface="SF Pro Display Medium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CEFF35-D635-0BEA-EE60-2922E78231DE}"/>
              </a:ext>
            </a:extLst>
          </p:cNvPr>
          <p:cNvCxnSpPr>
            <a:cxnSpLocks/>
          </p:cNvCxnSpPr>
          <p:nvPr/>
        </p:nvCxnSpPr>
        <p:spPr>
          <a:xfrm flipH="1">
            <a:off x="2514600" y="5606535"/>
            <a:ext cx="7476565" cy="225007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B9B96D8-0AE3-18A0-D43B-1BF285E4CA39}"/>
              </a:ext>
            </a:extLst>
          </p:cNvPr>
          <p:cNvSpPr txBox="1"/>
          <p:nvPr/>
        </p:nvSpPr>
        <p:spPr>
          <a:xfrm>
            <a:off x="8220636" y="1121795"/>
            <a:ext cx="28978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SF Pro Display Medium" pitchFamily="2" charset="0"/>
                <a:ea typeface="SF Pro Display Medium" pitchFamily="2" charset="0"/>
              </a:rPr>
              <a:t>Other SNPs colored by LD with the reference SNP</a:t>
            </a:r>
            <a:endParaRPr lang="en-US">
              <a:latin typeface="SF Pro Display Medium" pitchFamily="2" charset="0"/>
              <a:ea typeface="SF Pro Display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3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2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57DB-E1D8-0F4E-AC48-30AE06F95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Standalone </a:t>
            </a:r>
            <a:r>
              <a:rPr lang="en-US" dirty="0" err="1"/>
              <a:t>LocusZoom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B9A18-F00D-B448-A0E2-BA1F3B87D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a (no longer maintained) standalone version of </a:t>
            </a:r>
            <a:r>
              <a:rPr lang="en-US" dirty="0" err="1"/>
              <a:t>LocusZoom</a:t>
            </a:r>
            <a:endParaRPr lang="en-US" dirty="0"/>
          </a:p>
          <a:p>
            <a:r>
              <a:rPr lang="en-US" dirty="0"/>
              <a:t>Command line interface via Unix, built with Python and R</a:t>
            </a:r>
          </a:p>
          <a:p>
            <a:endParaRPr lang="en-US" dirty="0"/>
          </a:p>
          <a:p>
            <a:r>
              <a:rPr lang="en-US" b="1" dirty="0">
                <a:latin typeface="Inconsolatazi4varl_qu" panose="02000503000000000000" pitchFamily="2" charset="0"/>
              </a:rPr>
              <a:t>https://</a:t>
            </a:r>
            <a:r>
              <a:rPr lang="en-US" b="1" dirty="0" err="1">
                <a:latin typeface="Inconsolatazi4varl_qu" panose="02000503000000000000" pitchFamily="2" charset="0"/>
              </a:rPr>
              <a:t>genome.sph.umich.edu</a:t>
            </a:r>
            <a:r>
              <a:rPr lang="en-US" b="1" dirty="0">
                <a:latin typeface="Inconsolatazi4varl_qu" panose="02000503000000000000" pitchFamily="2" charset="0"/>
              </a:rPr>
              <a:t>/wiki/</a:t>
            </a:r>
            <a:r>
              <a:rPr lang="en-US" b="1" dirty="0" err="1">
                <a:latin typeface="Inconsolatazi4varl_qu" panose="02000503000000000000" pitchFamily="2" charset="0"/>
              </a:rPr>
              <a:t>LocusZoom_Standalone</a:t>
            </a:r>
            <a:endParaRPr lang="en-US" b="1" dirty="0">
              <a:latin typeface="Inconsolatazi4varl_qu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5440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4953-3991-7C4A-8C6C-5B97B325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ggbio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78543-20F4-9A4D-B4AF-393247017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23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B427-68FA-D44E-8BE3-9AF83B6A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an Ideogram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1C13F-6523-8B43-814E-D84B40E8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Inconsolatazi4varl_qu" panose="02000503000000000000" pitchFamily="2" charset="0"/>
              </a:rPr>
              <a:t>library(</a:t>
            </a:r>
            <a:r>
              <a:rPr lang="en-US" b="1" dirty="0" err="1">
                <a:latin typeface="Inconsolatazi4varl_qu" panose="02000503000000000000" pitchFamily="2" charset="0"/>
              </a:rPr>
              <a:t>ggbio</a:t>
            </a:r>
            <a:r>
              <a:rPr lang="en-US" b="1" dirty="0">
                <a:latin typeface="Inconsolatazi4varl_qu" panose="02000503000000000000" pitchFamily="2" charset="0"/>
              </a:rPr>
              <a:t>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 err="1">
                <a:latin typeface="Inconsolatazi4varl_qu" panose="02000503000000000000" pitchFamily="2" charset="0"/>
              </a:rPr>
              <a:t>plotIdeogram</a:t>
            </a:r>
            <a:r>
              <a:rPr lang="en-US" b="1" dirty="0">
                <a:latin typeface="Inconsolatazi4varl_qu" panose="02000503000000000000" pitchFamily="2" charset="0"/>
              </a:rPr>
              <a:t>(genome = "hg38",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</a:t>
            </a:r>
            <a:r>
              <a:rPr lang="en-US" b="1" dirty="0" err="1">
                <a:latin typeface="Inconsolatazi4varl_qu" panose="02000503000000000000" pitchFamily="2" charset="0"/>
              </a:rPr>
              <a:t>subchr</a:t>
            </a:r>
            <a:r>
              <a:rPr lang="en-US" b="1" dirty="0">
                <a:latin typeface="Inconsolatazi4varl_qu" panose="02000503000000000000" pitchFamily="2" charset="0"/>
              </a:rPr>
              <a:t> = "</a:t>
            </a:r>
            <a:r>
              <a:rPr lang="en-US" b="1" dirty="0" err="1">
                <a:latin typeface="Inconsolatazi4varl_qu" panose="02000503000000000000" pitchFamily="2" charset="0"/>
              </a:rPr>
              <a:t>chrX</a:t>
            </a:r>
            <a:r>
              <a:rPr lang="en-US" b="1" dirty="0">
                <a:latin typeface="Inconsolatazi4varl_qu" panose="02000503000000000000" pitchFamily="2" charset="0"/>
              </a:rPr>
              <a:t>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2CF2F-A777-A549-AC31-EDA1BA1280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14" t="42667" b="45866"/>
          <a:stretch/>
        </p:blipFill>
        <p:spPr>
          <a:xfrm>
            <a:off x="592194" y="3950208"/>
            <a:ext cx="10675842" cy="124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543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B427-68FA-D44E-8BE3-9AF83B6A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an Ideogram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1C13F-6523-8B43-814E-D84B40E8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Inconsolatazi4varl_qu" panose="02000503000000000000" pitchFamily="2" charset="0"/>
              </a:rPr>
              <a:t>library(</a:t>
            </a:r>
            <a:r>
              <a:rPr lang="en-US" b="1" dirty="0" err="1">
                <a:latin typeface="Inconsolatazi4varl_qu" panose="02000503000000000000" pitchFamily="2" charset="0"/>
              </a:rPr>
              <a:t>ggbio</a:t>
            </a:r>
            <a:r>
              <a:rPr lang="en-US" b="1" dirty="0">
                <a:latin typeface="Inconsolatazi4varl_qu" panose="02000503000000000000" pitchFamily="2" charset="0"/>
              </a:rPr>
              <a:t>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 err="1">
                <a:latin typeface="Inconsolatazi4varl_qu" panose="02000503000000000000" pitchFamily="2" charset="0"/>
              </a:rPr>
              <a:t>plotIdeogram</a:t>
            </a:r>
            <a:r>
              <a:rPr lang="en-US" b="1" dirty="0">
                <a:latin typeface="Inconsolatazi4varl_qu" panose="02000503000000000000" pitchFamily="2" charset="0"/>
              </a:rPr>
              <a:t>(genome = "hg38",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</a:t>
            </a:r>
            <a:r>
              <a:rPr lang="en-US" b="1" dirty="0" err="1">
                <a:latin typeface="Inconsolatazi4varl_qu" panose="02000503000000000000" pitchFamily="2" charset="0"/>
              </a:rPr>
              <a:t>subchr</a:t>
            </a:r>
            <a:r>
              <a:rPr lang="en-US" b="1" dirty="0">
                <a:latin typeface="Inconsolatazi4varl_qu" panose="02000503000000000000" pitchFamily="2" charset="0"/>
              </a:rPr>
              <a:t> = "chr19",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which = </a:t>
            </a:r>
            <a:r>
              <a:rPr lang="en-US" b="1" dirty="0" err="1">
                <a:latin typeface="Inconsolatazi4varl_qu" panose="02000503000000000000" pitchFamily="2" charset="0"/>
              </a:rPr>
              <a:t>GRanges</a:t>
            </a:r>
            <a:r>
              <a:rPr lang="en-US" b="1" dirty="0">
                <a:latin typeface="Inconsolatazi4varl_qu" panose="02000503000000000000" pitchFamily="2" charset="0"/>
              </a:rPr>
              <a:t>(</a:t>
            </a:r>
            <a:r>
              <a:rPr lang="en-US" b="1" dirty="0" err="1">
                <a:latin typeface="Inconsolatazi4varl_qu" panose="02000503000000000000" pitchFamily="2" charset="0"/>
              </a:rPr>
              <a:t>seqnames</a:t>
            </a:r>
            <a:r>
              <a:rPr lang="en-US" b="1" dirty="0">
                <a:latin typeface="Inconsolatazi4varl_qu" panose="02000503000000000000" pitchFamily="2" charset="0"/>
              </a:rPr>
              <a:t> = "chr19",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                </a:t>
            </a:r>
            <a:r>
              <a:rPr lang="en-US" b="1" dirty="0" err="1">
                <a:latin typeface="Inconsolatazi4varl_qu" panose="02000503000000000000" pitchFamily="2" charset="0"/>
              </a:rPr>
              <a:t>IRanges</a:t>
            </a:r>
            <a:r>
              <a:rPr lang="en-US" b="1" dirty="0">
                <a:latin typeface="Inconsolatazi4varl_qu" panose="02000503000000000000" pitchFamily="2" charset="0"/>
              </a:rPr>
              <a:t>(44905791, 44909393))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964045-76FE-9A43-8645-7991649390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455" t="44344" r="1671" b="45389"/>
          <a:stretch/>
        </p:blipFill>
        <p:spPr>
          <a:xfrm>
            <a:off x="429293" y="4498848"/>
            <a:ext cx="10735531" cy="111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935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B427-68FA-D44E-8BE3-9AF83B6A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an Ideogram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1C13F-6523-8B43-814E-D84B40E8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Inconsolatazi4varl_qu" panose="02000503000000000000" pitchFamily="2" charset="0"/>
              </a:rPr>
              <a:t>library(</a:t>
            </a:r>
            <a:r>
              <a:rPr lang="en-US" b="1" dirty="0" err="1">
                <a:latin typeface="Inconsolatazi4varl_qu" panose="02000503000000000000" pitchFamily="2" charset="0"/>
              </a:rPr>
              <a:t>ggbio</a:t>
            </a:r>
            <a:r>
              <a:rPr lang="en-US" b="1" dirty="0">
                <a:latin typeface="Inconsolatazi4varl_qu" panose="02000503000000000000" pitchFamily="2" charset="0"/>
              </a:rPr>
              <a:t>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 err="1">
                <a:latin typeface="Inconsolatazi4varl_qu" panose="02000503000000000000" pitchFamily="2" charset="0"/>
              </a:rPr>
              <a:t>plotIdeogram</a:t>
            </a:r>
            <a:r>
              <a:rPr lang="en-US" b="1" dirty="0">
                <a:latin typeface="Inconsolatazi4varl_qu" panose="02000503000000000000" pitchFamily="2" charset="0"/>
              </a:rPr>
              <a:t>(genome = "hg38",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</a:t>
            </a:r>
            <a:r>
              <a:rPr lang="en-US" b="1" dirty="0" err="1">
                <a:latin typeface="Inconsolatazi4varl_qu" panose="02000503000000000000" pitchFamily="2" charset="0"/>
              </a:rPr>
              <a:t>subchr</a:t>
            </a:r>
            <a:r>
              <a:rPr lang="en-US" b="1" dirty="0">
                <a:latin typeface="Inconsolatazi4varl_qu" panose="02000503000000000000" pitchFamily="2" charset="0"/>
              </a:rPr>
              <a:t> = "chr19",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color = "blue", fill = "blue",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which = </a:t>
            </a:r>
            <a:r>
              <a:rPr lang="en-US" b="1" dirty="0" err="1">
                <a:latin typeface="Inconsolatazi4varl_qu" panose="02000503000000000000" pitchFamily="2" charset="0"/>
              </a:rPr>
              <a:t>GRanges</a:t>
            </a:r>
            <a:r>
              <a:rPr lang="en-US" b="1" dirty="0">
                <a:latin typeface="Inconsolatazi4varl_qu" panose="02000503000000000000" pitchFamily="2" charset="0"/>
              </a:rPr>
              <a:t>(</a:t>
            </a:r>
            <a:r>
              <a:rPr lang="en-US" b="1" dirty="0" err="1">
                <a:latin typeface="Inconsolatazi4varl_qu" panose="02000503000000000000" pitchFamily="2" charset="0"/>
              </a:rPr>
              <a:t>seqnames</a:t>
            </a:r>
            <a:r>
              <a:rPr lang="en-US" b="1" dirty="0">
                <a:latin typeface="Inconsolatazi4varl_qu" panose="02000503000000000000" pitchFamily="2" charset="0"/>
              </a:rPr>
              <a:t> = "chr19",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                </a:t>
            </a:r>
            <a:r>
              <a:rPr lang="en-US" b="1" dirty="0" err="1">
                <a:latin typeface="Inconsolatazi4varl_qu" panose="02000503000000000000" pitchFamily="2" charset="0"/>
              </a:rPr>
              <a:t>IRanges</a:t>
            </a:r>
            <a:r>
              <a:rPr lang="en-US" b="1" dirty="0">
                <a:latin typeface="Inconsolatazi4varl_qu" panose="02000503000000000000" pitchFamily="2" charset="0"/>
              </a:rPr>
              <a:t>(43905791, 45909393))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62CF6-19DC-8244-91D1-D63F4874DC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066" b="46801"/>
          <a:stretch/>
        </p:blipFill>
        <p:spPr>
          <a:xfrm>
            <a:off x="375323" y="4736592"/>
            <a:ext cx="11903101" cy="98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509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EFE0-A745-284C-91DD-86DFEF8F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Genes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2FFB-1785-7F4A-A1AF-6CAB24E2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Inconsolatazi4varl_qu" panose="02000503000000000000" pitchFamily="2" charset="0"/>
              </a:rPr>
              <a:t>library(EnsDb.Hsapiens.v86)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 err="1">
                <a:latin typeface="Inconsolatazi4varl_qu" panose="02000503000000000000" pitchFamily="2" charset="0"/>
              </a:rPr>
              <a:t>autoplot</a:t>
            </a:r>
            <a:r>
              <a:rPr lang="en-US" b="1" dirty="0">
                <a:latin typeface="Inconsolatazi4varl_qu" panose="02000503000000000000" pitchFamily="2" charset="0"/>
              </a:rPr>
              <a:t>(EnsDb.Hsapiens.v86,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~ symbol = "BRCA1",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</a:t>
            </a:r>
            <a:r>
              <a:rPr lang="en-US" b="1" dirty="0" err="1">
                <a:latin typeface="Inconsolatazi4varl_qu" panose="02000503000000000000" pitchFamily="2" charset="0"/>
              </a:rPr>
              <a:t>names.expr</a:t>
            </a:r>
            <a:r>
              <a:rPr lang="en-US" b="1" dirty="0">
                <a:latin typeface="Inconsolatazi4varl_qu" panose="02000503000000000000" pitchFamily="2" charset="0"/>
              </a:rPr>
              <a:t> = "</a:t>
            </a:r>
            <a:r>
              <a:rPr lang="en-US" b="1" dirty="0" err="1">
                <a:latin typeface="Inconsolatazi4varl_qu" panose="02000503000000000000" pitchFamily="2" charset="0"/>
              </a:rPr>
              <a:t>gene_name</a:t>
            </a:r>
            <a:r>
              <a:rPr lang="en-US" b="1" dirty="0">
                <a:latin typeface="Inconsolatazi4varl_qu" panose="02000503000000000000" pitchFamily="2" charset="0"/>
              </a:rPr>
              <a:t>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2107C-1378-7A41-A2F8-5230366DE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420" y="1336258"/>
            <a:ext cx="4434250" cy="452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0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EFE0-A745-284C-91DD-86DFEF8F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2FFB-1785-7F4A-A1AF-6CAB24E2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Inconsolatazi4varl_qu" panose="02000503000000000000" pitchFamily="2" charset="0"/>
              </a:rPr>
              <a:t>library(EnsDb.Hsapiens.v86)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gr &lt;- </a:t>
            </a:r>
            <a:r>
              <a:rPr lang="en-US" b="1" dirty="0" err="1">
                <a:latin typeface="Inconsolatazi4varl_qu" panose="02000503000000000000" pitchFamily="2" charset="0"/>
              </a:rPr>
              <a:t>GRanges</a:t>
            </a:r>
            <a:r>
              <a:rPr lang="en-US" b="1" dirty="0">
                <a:latin typeface="Inconsolatazi4varl_qu" panose="02000503000000000000" pitchFamily="2" charset="0"/>
              </a:rPr>
              <a:t>(</a:t>
            </a:r>
            <a:r>
              <a:rPr lang="en-US" b="1" dirty="0" err="1">
                <a:latin typeface="Inconsolatazi4varl_qu" panose="02000503000000000000" pitchFamily="2" charset="0"/>
              </a:rPr>
              <a:t>seqnames</a:t>
            </a:r>
            <a:r>
              <a:rPr lang="en-US" b="1" dirty="0">
                <a:latin typeface="Inconsolatazi4varl_qu" panose="02000503000000000000" pitchFamily="2" charset="0"/>
              </a:rPr>
              <a:t> = 19, </a:t>
            </a:r>
            <a:r>
              <a:rPr lang="en-US" b="1" dirty="0" err="1">
                <a:latin typeface="Inconsolatazi4varl_qu" panose="02000503000000000000" pitchFamily="2" charset="0"/>
              </a:rPr>
              <a:t>IRanges</a:t>
            </a:r>
            <a:r>
              <a:rPr lang="en-US" b="1" dirty="0">
                <a:latin typeface="Inconsolatazi4varl_qu" panose="02000503000000000000" pitchFamily="2" charset="0"/>
              </a:rPr>
              <a:t>(44895791, 44919393),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     strand = "*")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 err="1">
                <a:latin typeface="Inconsolatazi4varl_qu" panose="02000503000000000000" pitchFamily="2" charset="0"/>
              </a:rPr>
              <a:t>autoplot</a:t>
            </a:r>
            <a:r>
              <a:rPr lang="en-US" b="1" dirty="0">
                <a:latin typeface="Inconsolatazi4varl_qu" panose="02000503000000000000" pitchFamily="2" charset="0"/>
              </a:rPr>
              <a:t>(EnsDb.Hsapiens.v86,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</a:t>
            </a:r>
            <a:r>
              <a:rPr lang="en-US" b="1" dirty="0" err="1">
                <a:latin typeface="Inconsolatazi4varl_qu" panose="02000503000000000000" pitchFamily="2" charset="0"/>
              </a:rPr>
              <a:t>GRangesFilter</a:t>
            </a:r>
            <a:r>
              <a:rPr lang="en-US" b="1" dirty="0">
                <a:latin typeface="Inconsolatazi4varl_qu" panose="02000503000000000000" pitchFamily="2" charset="0"/>
              </a:rPr>
              <a:t>(gr),</a:t>
            </a:r>
            <a:br>
              <a:rPr lang="en-US" b="1" dirty="0">
                <a:latin typeface="Inconsolatazi4varl_qu" panose="02000503000000000000" pitchFamily="2" charset="0"/>
              </a:rPr>
            </a:br>
            <a:r>
              <a:rPr lang="en-US" b="1" dirty="0">
                <a:latin typeface="Inconsolatazi4varl_qu" panose="02000503000000000000" pitchFamily="2" charset="0"/>
              </a:rPr>
              <a:t>         </a:t>
            </a:r>
            <a:r>
              <a:rPr lang="en-US" b="1" dirty="0" err="1">
                <a:latin typeface="Inconsolatazi4varl_qu" panose="02000503000000000000" pitchFamily="2" charset="0"/>
              </a:rPr>
              <a:t>names.expr</a:t>
            </a:r>
            <a:r>
              <a:rPr lang="en-US" b="1" dirty="0">
                <a:latin typeface="Inconsolatazi4varl_qu" panose="02000503000000000000" pitchFamily="2" charset="0"/>
              </a:rPr>
              <a:t> = "</a:t>
            </a:r>
            <a:r>
              <a:rPr lang="en-US" b="1" dirty="0" err="1">
                <a:latin typeface="Inconsolatazi4varl_qu" panose="02000503000000000000" pitchFamily="2" charset="0"/>
              </a:rPr>
              <a:t>gene_name</a:t>
            </a:r>
            <a:r>
              <a:rPr lang="en-US" b="1" dirty="0">
                <a:latin typeface="Inconsolatazi4varl_qu" panose="02000503000000000000" pitchFamily="2" charset="0"/>
              </a:rPr>
              <a:t>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66880-1B89-8049-84A3-CA1B62A57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676" y="2681231"/>
            <a:ext cx="3919727" cy="399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2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8862-D51B-F0F8-7011-1B6AB2BDA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8B48-B59F-9153-D4EA-3F7A29E6E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Download summary statistics for a GWAS of your choice from </a:t>
            </a:r>
            <a:r>
              <a:rPr lang="en-US" dirty="0">
                <a:hlinkClick r:id="rId3"/>
              </a:rPr>
              <a:t>https://www.ebi.ac.uk/gwas/downloads/summary-statistics</a:t>
            </a:r>
            <a:endParaRPr lang="en-US" dirty="0"/>
          </a:p>
          <a:p>
            <a:r>
              <a:rPr lang="en-US" dirty="0"/>
              <a:t>Read the data into R</a:t>
            </a:r>
          </a:p>
          <a:p>
            <a:r>
              <a:rPr lang="en-US" dirty="0"/>
              <a:t>Create Manhattan and Q-Q plots</a:t>
            </a:r>
          </a:p>
          <a:p>
            <a:pPr lvl="1"/>
            <a:r>
              <a:rPr lang="en-US" dirty="0"/>
              <a:t>Try two packages</a:t>
            </a:r>
          </a:p>
          <a:p>
            <a:pPr lvl="2"/>
            <a:r>
              <a:rPr lang="en-US" dirty="0" err="1"/>
              <a:t>qqman</a:t>
            </a:r>
            <a:r>
              <a:rPr lang="en-US" dirty="0"/>
              <a:t> (</a:t>
            </a:r>
            <a:r>
              <a:rPr lang="en-US" dirty="0">
                <a:hlinkClick r:id="rId4"/>
              </a:rPr>
              <a:t>https://cran.r-project.org/web/packages/qqman/vignettes/qqman.html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GWASTools</a:t>
            </a:r>
            <a:endParaRPr lang="en-US" dirty="0"/>
          </a:p>
          <a:p>
            <a:pPr lvl="3"/>
            <a:r>
              <a:rPr lang="en-US" dirty="0"/>
              <a:t>Installation instructions: </a:t>
            </a:r>
            <a:r>
              <a:rPr lang="en-US" dirty="0">
                <a:hlinkClick r:id="rId5"/>
              </a:rPr>
              <a:t>https://www.bioconductor.org/packages/release/bioc/html/GWASTools.html</a:t>
            </a:r>
            <a:endParaRPr lang="en-US" dirty="0"/>
          </a:p>
          <a:p>
            <a:pPr lvl="3"/>
            <a:r>
              <a:rPr lang="en-US" dirty="0"/>
              <a:t>Plotting functions:</a:t>
            </a:r>
          </a:p>
          <a:p>
            <a:pPr lvl="3"/>
            <a:r>
              <a:rPr lang="en-US" dirty="0">
                <a:hlinkClick r:id="rId6"/>
              </a:rPr>
              <a:t>https://rdrr.io/github/smgogarten/GWASTools/man/qqPlot.html</a:t>
            </a:r>
            <a:endParaRPr lang="en-US" dirty="0"/>
          </a:p>
          <a:p>
            <a:pPr lvl="3"/>
            <a:r>
              <a:rPr lang="en-US" dirty="0">
                <a:hlinkClick r:id="rId7"/>
              </a:rPr>
              <a:t>https://rdrr.io/bioc/GWASTools/man/manhattanPlot.html</a:t>
            </a:r>
            <a:endParaRPr lang="en-US" dirty="0"/>
          </a:p>
          <a:p>
            <a:pPr lvl="1"/>
            <a:r>
              <a:rPr lang="en-US" dirty="0"/>
              <a:t>Save them as appropriate file types</a:t>
            </a:r>
          </a:p>
          <a:p>
            <a:pPr lvl="1"/>
            <a:r>
              <a:rPr lang="en-US" dirty="0"/>
              <a:t>Can you speed up the plotting?</a:t>
            </a:r>
          </a:p>
          <a:p>
            <a:pPr lvl="1"/>
            <a:r>
              <a:rPr lang="en-US" dirty="0"/>
              <a:t>Can you customize the plots at all?</a:t>
            </a:r>
          </a:p>
        </p:txBody>
      </p:sp>
    </p:spTree>
    <p:extLst>
      <p:ext uri="{BB962C8B-B14F-4D97-AF65-F5344CB8AC3E}">
        <p14:creationId xmlns:p14="http://schemas.microsoft.com/office/powerpoint/2010/main" val="263042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2199</Words>
  <Application>Microsoft Macintosh PowerPoint</Application>
  <PresentationFormat>Widescreen</PresentationFormat>
  <Paragraphs>335</Paragraphs>
  <Slides>77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7" baseType="lpstr">
      <vt:lpstr>Aptos</vt:lpstr>
      <vt:lpstr>Aptos Display</vt:lpstr>
      <vt:lpstr>Arial</vt:lpstr>
      <vt:lpstr>Inconsolatazi4varl_qu</vt:lpstr>
      <vt:lpstr>Myriad Pro</vt:lpstr>
      <vt:lpstr>SF Pro Display</vt:lpstr>
      <vt:lpstr>SF Pro Display Light</vt:lpstr>
      <vt:lpstr>SF Pro Display Medium</vt:lpstr>
      <vt:lpstr>SF Pro Display Semibold</vt:lpstr>
      <vt:lpstr>Office Theme</vt:lpstr>
      <vt:lpstr>Genomic Visualization Part 1</vt:lpstr>
      <vt:lpstr>PowerPoint Presentation</vt:lpstr>
      <vt:lpstr>Learning Objectives</vt:lpstr>
      <vt:lpstr>Taxonomies for Genomic Map Visualizations</vt:lpstr>
      <vt:lpstr>Visualization Taxonomy</vt:lpstr>
      <vt:lpstr>Layout</vt:lpstr>
      <vt:lpstr>Linear Layouts</vt:lpstr>
      <vt:lpstr>Circular Layout</vt:lpstr>
      <vt:lpstr>Space- Filling Layout</vt:lpstr>
      <vt:lpstr>Spacial Layout</vt:lpstr>
      <vt:lpstr>Partition</vt:lpstr>
      <vt:lpstr>Contiguous Partition</vt:lpstr>
      <vt:lpstr>Segregated Partition</vt:lpstr>
      <vt:lpstr>Abstraction</vt:lpstr>
      <vt:lpstr>Abstraction</vt:lpstr>
      <vt:lpstr>Abstraction</vt:lpstr>
      <vt:lpstr>Abstraction</vt:lpstr>
      <vt:lpstr>Arrangement (Comparing or Linking)</vt:lpstr>
      <vt:lpstr>Arrangement (Comparing or Linking)</vt:lpstr>
      <vt:lpstr>Arrangement (Comparing or Linking)</vt:lpstr>
      <vt:lpstr>Arrangement (Comparing or Linking)</vt:lpstr>
      <vt:lpstr>Arrangement (Comparing or Linking)</vt:lpstr>
      <vt:lpstr>Data or Feature Taxonomy</vt:lpstr>
      <vt:lpstr>Data or Feature Taxonomy</vt:lpstr>
      <vt:lpstr>Sparse Features</vt:lpstr>
      <vt:lpstr>PowerPoint Presentation</vt:lpstr>
      <vt:lpstr>Contiguous Features</vt:lpstr>
      <vt:lpstr>PowerPoint Presentation</vt:lpstr>
      <vt:lpstr>Data or Feature Taxonomy</vt:lpstr>
      <vt:lpstr>Data or Feature Taxonomy</vt:lpstr>
      <vt:lpstr>Data or Feature Taxonomy</vt:lpstr>
      <vt:lpstr>Visualizing Links</vt:lpstr>
      <vt:lpstr>Vector vs Raster Graphics</vt:lpstr>
      <vt:lpstr>PowerPoint Presentation</vt:lpstr>
      <vt:lpstr>Vector vs Raster Graphics</vt:lpstr>
      <vt:lpstr>Vector vs Raster Graphics</vt:lpstr>
      <vt:lpstr>Vector vs Raster Graphics</vt:lpstr>
      <vt:lpstr>File Formats and Suffixes</vt:lpstr>
      <vt:lpstr>Saving R Images</vt:lpstr>
      <vt:lpstr>Genomic Visualization Part 2</vt:lpstr>
      <vt:lpstr>Learning Objectives</vt:lpstr>
      <vt:lpstr>Manhattan Plots</vt:lpstr>
      <vt:lpstr>Principles</vt:lpstr>
      <vt:lpstr>Code</vt:lpstr>
      <vt:lpstr>Why −log₁₀ p?</vt:lpstr>
      <vt:lpstr>Variations</vt:lpstr>
      <vt:lpstr>Variations</vt:lpstr>
      <vt:lpstr>Miami Plots</vt:lpstr>
      <vt:lpstr>Beyond Association Test p Values</vt:lpstr>
      <vt:lpstr>Natural Selection</vt:lpstr>
      <vt:lpstr>Shortcuts</vt:lpstr>
      <vt:lpstr>QQ Plots</vt:lpstr>
      <vt:lpstr>Principles</vt:lpstr>
      <vt:lpstr>Code</vt:lpstr>
      <vt:lpstr>Variations</vt:lpstr>
      <vt:lpstr>Variations</vt:lpstr>
      <vt:lpstr>Variations</vt:lpstr>
      <vt:lpstr>Vector vs Raster Graphics</vt:lpstr>
      <vt:lpstr>Regional Manhattan Plots</vt:lpstr>
      <vt:lpstr>Regional Manhattan Plots</vt:lpstr>
      <vt:lpstr>PowerPoint Presentation</vt:lpstr>
      <vt:lpstr>PowerPoint Presentation</vt:lpstr>
      <vt:lpstr>PowerPoint Presentation</vt:lpstr>
      <vt:lpstr>Principles</vt:lpstr>
      <vt:lpstr>PowerPoint Presentation</vt:lpstr>
      <vt:lpstr>LocusZoom</vt:lpstr>
      <vt:lpstr>PowerPoint Presentation</vt:lpstr>
      <vt:lpstr>LocusZoom</vt:lpstr>
      <vt:lpstr>PowerPoint Presentation</vt:lpstr>
      <vt:lpstr>Standalone LocusZoom</vt:lpstr>
      <vt:lpstr>ggbio</vt:lpstr>
      <vt:lpstr>Plotting an Ideogram</vt:lpstr>
      <vt:lpstr>Plotting an Ideogram</vt:lpstr>
      <vt:lpstr>Plotting an Ideogram</vt:lpstr>
      <vt:lpstr>Plotting Genes</vt:lpstr>
      <vt:lpstr>Plotting Regions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Chernus, Jonathan M</dc:creator>
  <cp:lastModifiedBy>Chernus, Jonathan M</cp:lastModifiedBy>
  <cp:revision>1</cp:revision>
  <dcterms:created xsi:type="dcterms:W3CDTF">2026-02-24T00:26:33Z</dcterms:created>
  <dcterms:modified xsi:type="dcterms:W3CDTF">2026-02-24T00:28:42Z</dcterms:modified>
</cp:coreProperties>
</file>