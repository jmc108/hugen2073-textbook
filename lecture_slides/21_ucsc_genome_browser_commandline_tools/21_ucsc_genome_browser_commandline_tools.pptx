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511" r:id="rId3"/>
    <p:sldId id="518" r:id="rId4"/>
    <p:sldId id="525" r:id="rId5"/>
    <p:sldId id="428" r:id="rId6"/>
    <p:sldId id="438" r:id="rId7"/>
    <p:sldId id="434" r:id="rId8"/>
    <p:sldId id="417" r:id="rId9"/>
    <p:sldId id="520" r:id="rId10"/>
    <p:sldId id="522" r:id="rId11"/>
    <p:sldId id="521" r:id="rId12"/>
    <p:sldId id="524" r:id="rId13"/>
    <p:sldId id="512" r:id="rId14"/>
    <p:sldId id="513" r:id="rId15"/>
    <p:sldId id="517" r:id="rId16"/>
    <p:sldId id="523" r:id="rId17"/>
    <p:sldId id="515" r:id="rId18"/>
    <p:sldId id="519" r:id="rId19"/>
    <p:sldId id="516" r:id="rId20"/>
    <p:sldId id="336" r:id="rId21"/>
    <p:sldId id="338" r:id="rId22"/>
    <p:sldId id="339" r:id="rId23"/>
    <p:sldId id="34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/>
    <p:restoredTop sz="94665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8A7C-4528-B6A4-2C95-8AE9D732F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E428B-0B7C-5A6D-4C60-EB1493ADA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FCA6B-D505-C498-599F-D8E094D2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AA3B-89E9-7F2F-E9C5-AE41328A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F876B-7FD2-7240-02C9-4002CB17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2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3142-FAAB-80BB-112A-319CF5F1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9960-7A7A-3DEA-39C2-A24DD196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B301-F9CB-1FBE-31EE-50748E11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A334-2FD7-CE41-049D-2E45C917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E4DCA-B486-767E-6BA3-4F03D72F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C756-3A53-7504-8CE5-B1C166A3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56708-F808-1AF1-FBB8-AC3266AE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14B79-14E8-9151-CB66-CC2C543A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B180A-3B27-BC20-611B-4EF00EEA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B249-18A2-63E7-CE37-65CC1EE5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6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098C-681F-8CB8-7547-E49FED1D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40779-13A1-50BA-BF12-6711D7745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FC1D7-BFE2-A528-1DC1-7411C1991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678A2-85EB-FE78-31A5-491D8192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65A87-0CD3-486E-211A-402AB0F8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9C91-5472-F6AE-82D9-79F56715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8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77F4-743D-4583-70B8-C05090CCC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AFBF4-4E81-F253-5861-342F5E66E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B8594-9F63-1393-C667-23ECA451D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4F124-372B-1E3A-1BBE-FF431768A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4F74E-B1BC-194B-21B1-BBB33A7B2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920D2-53C0-A941-E60A-148353DC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989E1-3A5F-8474-A383-6DE80230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0FC2F-F3F4-DADF-FD8C-B2794C77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991A-3690-14FC-6689-FE70C569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E6059-4F76-D131-9FFA-2B783B0F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07547-05F4-9574-C7A2-7C3E668F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7412-4A59-38C8-6ACF-02BD856F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EC920-316E-9D32-5440-BE37A4B0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9AE1E-04DF-0450-DF3F-B0392B47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76851-2D2F-4B84-3F20-36A0626D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0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162D-081E-C5CA-535E-7F14BCBA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33C0-335D-A5B6-7A3A-50D129C29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ED410-BD54-0A1A-5647-CD91F70A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04384-F3C5-57E7-22CA-50397225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DBBC4-F283-9651-1E90-D58B1976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57B3A-61D8-45CD-A6FC-B5B8C354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3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957C-871C-C049-A9CD-3355E29C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D6699-C5D7-125A-EC7D-F80098C67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85CBA-DCB3-D675-7288-3DA15B673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E37C6-9966-2DDC-7D5B-1713FB49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682CC-E70A-6CE7-8647-BC281103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E87F8-CD55-BAAA-2F47-E4BD452B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4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1DA03-34FC-0160-370B-B171DE07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1DFD6-2F16-7E17-321E-9F4C05078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27DB-668D-0F06-441F-D645114A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30683-E82C-CE4C-5703-A92D6521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E859-9F8E-E5F4-267D-5CAD84F8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4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B4FFC-BC73-8A73-2553-C013D985D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A3ADB-C1EB-AD60-167A-3D083045B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8E421-623F-8BD9-DD66-440F7194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8934-B37C-354F-B138-319366F2344C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A745-0207-CC8C-E085-4A2B386E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E4A1D-8B0B-2189-E123-8F9D277E3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0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8A14F-8029-22B6-F5B1-81C31C4E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F40CA-2F17-63D7-60B0-CD338E9CF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1DF68-446B-9BE8-B02B-AEBF38808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B8934-B37C-354F-B138-319366F2344C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2423A-217B-FD98-2AC2-02AA3F8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F233-CAB3-7CE9-D378-73E0A9731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AF5DB-C2B5-F946-A251-9467AF095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95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FF93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FF93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rgbClr val="FF93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FF93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FF93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FF93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file.vcf.gz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file.vcf.g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3298-5BF3-DAB3-DA60-01AFC75A1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21 UCSC Genome Browser Command-line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709ED-5457-3077-5B13-342B42CF7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52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DA28-D571-5346-B23E-67839F53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5C63-B067-8841-9BA3-012D7F1D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39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Understand data formats used for storing large genomic datasets</a:t>
            </a:r>
            <a:endParaRPr lang="en-US" dirty="0">
              <a:latin typeface="Inconsolatazi4varl_qu" panose="02000503000000000000" pitchFamily="2" charset="0"/>
            </a:endParaRPr>
          </a:p>
          <a:p>
            <a:r>
              <a:rPr lang="en-US" dirty="0"/>
              <a:t>Extract data from these, especially via the UCSC Genome Browser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05B4-D2D7-B7C4-DA40-8091D5C1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data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9F3A-737D-7F78-929C-2BAF20E40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already know:</a:t>
            </a:r>
          </a:p>
          <a:p>
            <a:r>
              <a:rPr lang="en-US" dirty="0"/>
              <a:t>VCF (and BCF, the binary version)</a:t>
            </a:r>
          </a:p>
          <a:p>
            <a:pPr lvl="1"/>
            <a:r>
              <a:rPr lang="en-US" dirty="0"/>
              <a:t>Stores variant-level info, including genotypes</a:t>
            </a:r>
          </a:p>
          <a:p>
            <a:r>
              <a:rPr lang="en-US" dirty="0"/>
              <a:t>BED</a:t>
            </a:r>
          </a:p>
          <a:p>
            <a:pPr lvl="1"/>
            <a:r>
              <a:rPr lang="en-US" dirty="0"/>
              <a:t>Not the PLINK bed</a:t>
            </a:r>
          </a:p>
          <a:p>
            <a:pPr lvl="1"/>
            <a:r>
              <a:rPr lang="en-US" dirty="0"/>
              <a:t>Describes regions of the genome</a:t>
            </a:r>
          </a:p>
          <a:p>
            <a:pPr lvl="1"/>
            <a:r>
              <a:rPr lang="en-US" dirty="0"/>
              <a:t>Flexible (3-12 columns)</a:t>
            </a:r>
          </a:p>
          <a:p>
            <a:pPr marL="0" indent="0">
              <a:buNone/>
            </a:pPr>
            <a:r>
              <a:rPr lang="en-US" dirty="0"/>
              <a:t>Perhaps new to you:</a:t>
            </a:r>
          </a:p>
          <a:p>
            <a:r>
              <a:rPr lang="en-US" dirty="0"/>
              <a:t>GFF/GTF</a:t>
            </a:r>
          </a:p>
          <a:p>
            <a:r>
              <a:rPr lang="en-US" dirty="0" err="1"/>
              <a:t>bigBed</a:t>
            </a:r>
            <a:endParaRPr lang="en-US" dirty="0"/>
          </a:p>
          <a:p>
            <a:r>
              <a:rPr lang="en-US" dirty="0" err="1"/>
              <a:t>bigWig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6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AA0F-D2DB-0F22-4622-D9556666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42B7C-444A-A64F-649C-4EAEC588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few slides on VCF were stolen from Ryan Minster!</a:t>
            </a:r>
          </a:p>
        </p:txBody>
      </p:sp>
    </p:spTree>
    <p:extLst>
      <p:ext uri="{BB962C8B-B14F-4D97-AF65-F5344CB8AC3E}">
        <p14:creationId xmlns:p14="http://schemas.microsoft.com/office/powerpoint/2010/main" val="14029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F014-4BEE-0D4E-9C27-644D3859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33" y="-185290"/>
            <a:ext cx="10515600" cy="1325563"/>
          </a:xfrm>
        </p:spPr>
        <p:txBody>
          <a:bodyPr/>
          <a:lstStyle/>
          <a:p>
            <a:r>
              <a:rPr lang="en-US" dirty="0"/>
              <a:t>A VCF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F473-DBCF-CB4F-B032-DECB0FBC2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33" y="878888"/>
            <a:ext cx="12020364" cy="61611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</a:t>
            </a:r>
            <a:r>
              <a:rPr lang="en-US" sz="1800" dirty="0" err="1">
                <a:latin typeface="Inconsolatazi4varl_qu" panose="02000503000000000000" pitchFamily="2" charset="0"/>
              </a:rPr>
              <a:t>fileformat</a:t>
            </a:r>
            <a:r>
              <a:rPr lang="en-US" sz="1800" dirty="0">
                <a:latin typeface="Inconsolatazi4varl_qu" panose="02000503000000000000" pitchFamily="2" charset="0"/>
              </a:rPr>
              <a:t>=VCFv4.2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</a:t>
            </a:r>
            <a:r>
              <a:rPr lang="en-US" sz="1800" dirty="0" err="1">
                <a:latin typeface="Inconsolatazi4varl_qu" panose="02000503000000000000" pitchFamily="2" charset="0"/>
              </a:rPr>
              <a:t>fileDate</a:t>
            </a:r>
            <a:r>
              <a:rPr lang="en-US" sz="1800" dirty="0">
                <a:latin typeface="Inconsolatazi4varl_qu" panose="02000503000000000000" pitchFamily="2" charset="0"/>
              </a:rPr>
              <a:t>=20090805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##contig=&lt;ID=chr1&gt;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##contig=&lt;ID=chr2&gt;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##contig=&lt;ID=chr3&gt;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NS,Number</a:t>
            </a:r>
            <a:r>
              <a:rPr lang="en-US" sz="1800" dirty="0">
                <a:latin typeface="Inconsolatazi4varl_qu" panose="02000503000000000000" pitchFamily="2" charset="0"/>
              </a:rPr>
              <a:t>=1,Type=</a:t>
            </a:r>
            <a:r>
              <a:rPr lang="en-US" sz="1800" dirty="0" err="1">
                <a:latin typeface="Inconsolatazi4varl_qu" panose="02000503000000000000" pitchFamily="2" charset="0"/>
              </a:rPr>
              <a:t>Integer,Description</a:t>
            </a:r>
            <a:r>
              <a:rPr lang="en-US" sz="1800" dirty="0">
                <a:latin typeface="Inconsolatazi4varl_qu" panose="02000503000000000000" pitchFamily="2" charset="0"/>
              </a:rPr>
              <a:t>="Number of Samples With Data"&gt;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AC,Number</a:t>
            </a:r>
            <a:r>
              <a:rPr lang="en-US" sz="1800" dirty="0">
                <a:latin typeface="Inconsolatazi4varl_qu" panose="02000503000000000000" pitchFamily="2" charset="0"/>
              </a:rPr>
              <a:t>=</a:t>
            </a:r>
            <a:r>
              <a:rPr lang="en-US" sz="1800" dirty="0" err="1">
                <a:latin typeface="Inconsolatazi4varl_qu" panose="02000503000000000000" pitchFamily="2" charset="0"/>
              </a:rPr>
              <a:t>A,Type</a:t>
            </a:r>
            <a:r>
              <a:rPr lang="en-US" sz="1800" dirty="0">
                <a:latin typeface="Inconsolatazi4varl_qu" panose="02000503000000000000" pitchFamily="2" charset="0"/>
              </a:rPr>
              <a:t>=</a:t>
            </a:r>
            <a:r>
              <a:rPr lang="en-US" sz="1800" dirty="0" err="1">
                <a:latin typeface="Inconsolatazi4varl_qu" panose="02000503000000000000" pitchFamily="2" charset="0"/>
              </a:rPr>
              <a:t>Integer,Description</a:t>
            </a:r>
            <a:r>
              <a:rPr lang="en-US" sz="1800" dirty="0">
                <a:latin typeface="Inconsolatazi4varl_qu" panose="02000503000000000000" pitchFamily="2" charset="0"/>
              </a:rPr>
              <a:t>="Alternate Allele Counts"&gt;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AN,Number</a:t>
            </a:r>
            <a:r>
              <a:rPr lang="en-US" sz="1800" dirty="0">
                <a:latin typeface="Inconsolatazi4varl_qu" panose="02000503000000000000" pitchFamily="2" charset="0"/>
              </a:rPr>
              <a:t>=1,Type=</a:t>
            </a:r>
            <a:r>
              <a:rPr lang="en-US" sz="1800" dirty="0" err="1">
                <a:latin typeface="Inconsolatazi4varl_qu" panose="02000503000000000000" pitchFamily="2" charset="0"/>
              </a:rPr>
              <a:t>Integer,Description</a:t>
            </a:r>
            <a:r>
              <a:rPr lang="en-US" sz="1800" dirty="0">
                <a:latin typeface="Inconsolatazi4varl_qu" panose="02000503000000000000" pitchFamily="2" charset="0"/>
              </a:rPr>
              <a:t>="Total Number Allele Counts"&gt;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GC,Number</a:t>
            </a:r>
            <a:r>
              <a:rPr lang="en-US" sz="1800" dirty="0">
                <a:latin typeface="Inconsolatazi4varl_qu" panose="02000503000000000000" pitchFamily="2" charset="0"/>
              </a:rPr>
              <a:t>=</a:t>
            </a:r>
            <a:r>
              <a:rPr lang="en-US" sz="1800" dirty="0" err="1">
                <a:latin typeface="Inconsolatazi4varl_qu" panose="02000503000000000000" pitchFamily="2" charset="0"/>
              </a:rPr>
              <a:t>G,Type</a:t>
            </a:r>
            <a:r>
              <a:rPr lang="en-US" sz="1800" dirty="0">
                <a:latin typeface="Inconsolatazi4varl_qu" panose="02000503000000000000" pitchFamily="2" charset="0"/>
              </a:rPr>
              <a:t>=</a:t>
            </a:r>
            <a:r>
              <a:rPr lang="en-US" sz="1800" dirty="0" err="1">
                <a:latin typeface="Inconsolatazi4varl_qu" panose="02000503000000000000" pitchFamily="2" charset="0"/>
              </a:rPr>
              <a:t>Integer,Description</a:t>
            </a:r>
            <a:r>
              <a:rPr lang="en-US" sz="1800" dirty="0">
                <a:latin typeface="Inconsolatazi4varl_qu" panose="02000503000000000000" pitchFamily="2" charset="0"/>
              </a:rPr>
              <a:t>="Genotype Counts"&gt;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GN,Number</a:t>
            </a:r>
            <a:r>
              <a:rPr lang="en-US" sz="1800" dirty="0">
                <a:latin typeface="Inconsolatazi4varl_qu" panose="02000503000000000000" pitchFamily="2" charset="0"/>
              </a:rPr>
              <a:t>=1,Type=</a:t>
            </a:r>
            <a:r>
              <a:rPr lang="en-US" sz="1800" dirty="0" err="1">
                <a:latin typeface="Inconsolatazi4varl_qu" panose="02000503000000000000" pitchFamily="2" charset="0"/>
              </a:rPr>
              <a:t>Integer,Description</a:t>
            </a:r>
            <a:r>
              <a:rPr lang="en-US" sz="1800" dirty="0">
                <a:latin typeface="Inconsolatazi4varl_qu" panose="02000503000000000000" pitchFamily="2" charset="0"/>
              </a:rPr>
              <a:t>="Total Number of Genotypes"&gt;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##INFO=&lt;ID=</a:t>
            </a:r>
            <a:r>
              <a:rPr lang="en-US" sz="1800" dirty="0" err="1">
                <a:latin typeface="Inconsolatazi4varl_qu" panose="02000503000000000000" pitchFamily="2" charset="0"/>
              </a:rPr>
              <a:t>DB,Number</a:t>
            </a:r>
            <a:r>
              <a:rPr lang="en-US" sz="1800" dirty="0">
                <a:latin typeface="Inconsolatazi4varl_qu" panose="02000503000000000000" pitchFamily="2" charset="0"/>
              </a:rPr>
              <a:t>=0,Type=</a:t>
            </a:r>
            <a:r>
              <a:rPr lang="en-US" sz="1800" dirty="0" err="1">
                <a:latin typeface="Inconsolatazi4varl_qu" panose="02000503000000000000" pitchFamily="2" charset="0"/>
              </a:rPr>
              <a:t>Flag,Description</a:t>
            </a:r>
            <a:r>
              <a:rPr lang="en-US" sz="1800" dirty="0">
                <a:latin typeface="Inconsolatazi4varl_qu" panose="02000503000000000000" pitchFamily="2" charset="0"/>
              </a:rPr>
              <a:t>="</a:t>
            </a:r>
            <a:r>
              <a:rPr lang="en-US" sz="1800" dirty="0" err="1">
                <a:latin typeface="Inconsolatazi4varl_qu" panose="02000503000000000000" pitchFamily="2" charset="0"/>
              </a:rPr>
              <a:t>dbSNP</a:t>
            </a:r>
            <a:r>
              <a:rPr lang="en-US" sz="1800" dirty="0">
                <a:latin typeface="Inconsolatazi4varl_qu" panose="02000503000000000000" pitchFamily="2" charset="0"/>
              </a:rPr>
              <a:t> membership, build 151"&gt;</a:t>
            </a:r>
          </a:p>
          <a:p>
            <a:pPr marL="0" indent="0">
              <a:buNone/>
            </a:pPr>
            <a:r>
              <a:rPr lang="en-US" sz="1800" dirty="0">
                <a:latin typeface="Inconsolatazi4varl_qu" panose="02000503000000000000" pitchFamily="2" charset="0"/>
              </a:rPr>
              <a:t>##FORMAT=&lt;ID=</a:t>
            </a:r>
            <a:r>
              <a:rPr lang="en-US" sz="1800" dirty="0" err="1">
                <a:latin typeface="Inconsolatazi4varl_qu" panose="02000503000000000000" pitchFamily="2" charset="0"/>
              </a:rPr>
              <a:t>GT,Number</a:t>
            </a:r>
            <a:r>
              <a:rPr lang="en-US" sz="1800" dirty="0">
                <a:latin typeface="Inconsolatazi4varl_qu" panose="02000503000000000000" pitchFamily="2" charset="0"/>
              </a:rPr>
              <a:t>=1,Type=</a:t>
            </a:r>
            <a:r>
              <a:rPr lang="en-US" sz="1800" dirty="0" err="1">
                <a:latin typeface="Inconsolatazi4varl_qu" panose="02000503000000000000" pitchFamily="2" charset="0"/>
              </a:rPr>
              <a:t>String,Description</a:t>
            </a:r>
            <a:r>
              <a:rPr lang="en-US" sz="1800" dirty="0">
                <a:latin typeface="Inconsolatazi4varl_qu" panose="02000503000000000000" pitchFamily="2" charset="0"/>
              </a:rPr>
              <a:t>="Genotype"&gt;</a:t>
            </a:r>
          </a:p>
          <a:p>
            <a:pPr marL="0" indent="0">
              <a:buNone/>
            </a:pPr>
            <a:r>
              <a:rPr lang="en-US" sz="1800" b="1" dirty="0">
                <a:latin typeface="Inconsolatazi4varl_qu" panose="02000503000000000000" pitchFamily="2" charset="0"/>
              </a:rPr>
              <a:t>#CHROM POS       ID  REF ALT QUAL FILTER INFO                             FORMAT S1  S2  S3</a:t>
            </a:r>
          </a:p>
          <a:p>
            <a:pPr marL="0" indent="0">
              <a:buNone/>
            </a:pPr>
            <a:r>
              <a:rPr lang="en-US" sz="1800" b="1" dirty="0">
                <a:latin typeface="Inconsolatazi4varl_qu" panose="02000503000000000000" pitchFamily="2" charset="0"/>
              </a:rPr>
              <a:t>chr1   46634552  .   G   A   .    .      NS=3;AC=3;AN=6;GC=1,1,1;GN=3     GT     0/0 0/1 1/1</a:t>
            </a:r>
          </a:p>
          <a:p>
            <a:pPr marL="0" indent="0">
              <a:buNone/>
            </a:pPr>
            <a:r>
              <a:rPr lang="en-US" sz="1800" b="1" dirty="0">
                <a:latin typeface="Inconsolatazi4varl_qu" panose="02000503000000000000" pitchFamily="2" charset="0"/>
              </a:rPr>
              <a:t>chr1   47832477  .   T   A   .    .      NS=3;AC=5;AN=6;GC=0,1,2;GN=3     GT     1/1 1/1 0/1</a:t>
            </a:r>
          </a:p>
          <a:p>
            <a:pPr marL="0" indent="0">
              <a:buNone/>
            </a:pPr>
            <a:r>
              <a:rPr lang="en-US" sz="1800" b="1" dirty="0">
                <a:latin typeface="Inconsolatazi4varl_qu" panose="02000503000000000000" pitchFamily="2" charset="0"/>
              </a:rPr>
              <a:t>chr2   132488276 .   A   .   .    .      NS=2;AC=0;AN=4;GC=2,0,0;GN=2     GT     ./. 0/0 0/0</a:t>
            </a:r>
          </a:p>
          <a:p>
            <a:pPr marL="0" indent="0">
              <a:buNone/>
            </a:pPr>
            <a:r>
              <a:rPr lang="en-US" sz="1800" b="1" dirty="0">
                <a:latin typeface="Inconsolatazi4varl_qu" panose="02000503000000000000" pitchFamily="2" charset="0"/>
              </a:rPr>
              <a:t>chr3   4387773   rs1 G   GT  .    .      NS=3;AC=1;AN=6;GC=2,1,0;GN=3;DB  GT     0/0 0/1 0/0</a:t>
            </a:r>
            <a:endParaRPr lang="en-US" b="1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11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2960-2781-CF03-07F9-1EE6632A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0CA5-BD3D-FA7B-84EB-01727A09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Lines   </a:t>
            </a:r>
            <a:r>
              <a:rPr lang="en-US" sz="3600" b="0" dirty="0">
                <a:latin typeface="Aptos Light" panose="020B0004020202020204" pitchFamily="34" charset="0"/>
                <a:ea typeface="SF Pro Display Thin" pitchFamily="2" charset="0"/>
              </a:rPr>
              <a:t>Fields 1–8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C7D0-BA32-446D-D636-3442D3B8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23812" cy="435133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1	2	3	4	5	6	7	8</a:t>
            </a:r>
          </a:p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latin typeface="Inconsolatazi4varl_qu" panose="02000503000000000000" pitchFamily="2" charset="0"/>
              </a:rPr>
              <a:t>#CHROM	POS	ID	REF	ALT	QUAL	FILTER	INFO</a:t>
            </a:r>
          </a:p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latin typeface="Inconsolatazi4varl_qu" panose="02000503000000000000" pitchFamily="2" charset="0"/>
              </a:rPr>
              <a:t>chr1	695744	.	C	T	.	PASS	AA=.;DP=115</a:t>
            </a:r>
          </a:p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latin typeface="Inconsolatazi4varl_qu" panose="02000503000000000000" pitchFamily="2" charset="0"/>
              </a:rPr>
              <a:t>chr1	713682	rs11804171	T	A	.	PASS	AA=.;DP=137;HM2</a:t>
            </a:r>
          </a:p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latin typeface="Inconsolatazi4varl_qu" panose="02000503000000000000" pitchFamily="2" charset="0"/>
              </a:rPr>
              <a:t>chr1	726158	.	A	T	.	PASS	AA=.;DP=73</a:t>
            </a:r>
          </a:p>
          <a:p>
            <a:pPr marL="0" indent="0">
              <a:buNone/>
              <a:tabLst>
                <a:tab pos="1189038" algn="l"/>
                <a:tab pos="2338388" algn="l"/>
                <a:tab pos="3995738" algn="l"/>
                <a:tab pos="4572000" algn="l"/>
                <a:tab pos="5253038" algn="l"/>
                <a:tab pos="6054725" algn="l"/>
                <a:tab pos="7191375" algn="l"/>
              </a:tabLst>
            </a:pPr>
            <a:r>
              <a:rPr lang="en-US" sz="2400" dirty="0">
                <a:latin typeface="Inconsolatazi4varl_qu" panose="02000503000000000000" pitchFamily="2" charset="0"/>
              </a:rPr>
              <a:t>chr1	742429	rs3094315	G	A	.	PASS	AA=</a:t>
            </a:r>
            <a:r>
              <a:rPr lang="en-US" sz="2400" dirty="0" err="1">
                <a:latin typeface="Inconsolatazi4varl_qu" panose="02000503000000000000" pitchFamily="2" charset="0"/>
              </a:rPr>
              <a:t>g;DP</a:t>
            </a:r>
            <a:r>
              <a:rPr lang="en-US" sz="2400" dirty="0">
                <a:latin typeface="Inconsolatazi4varl_qu" panose="02000503000000000000" pitchFamily="2" charset="0"/>
              </a:rPr>
              <a:t>=96;HM2</a:t>
            </a:r>
          </a:p>
        </p:txBody>
      </p:sp>
    </p:spTree>
    <p:extLst>
      <p:ext uri="{BB962C8B-B14F-4D97-AF65-F5344CB8AC3E}">
        <p14:creationId xmlns:p14="http://schemas.microsoft.com/office/powerpoint/2010/main" val="161892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F014-4BEE-0D4E-9C27-644D3859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nconsolatazi4varl_qu" panose="02000503000000000000" pitchFamily="2" charset="0"/>
              </a:rPr>
              <a:t>INFO</a:t>
            </a:r>
            <a:r>
              <a:rPr lang="en-US" dirty="0"/>
              <a:t>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F473-DBCF-CB4F-B032-DECB0FBC2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898086" cy="5219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</a:t>
            </a:r>
            <a:r>
              <a:rPr lang="en-US" sz="3000" b="1" dirty="0">
                <a:latin typeface="Inconsolatazi4varl_qu" panose="02000503000000000000" pitchFamily="2" charset="0"/>
              </a:rPr>
              <a:t>INFO</a:t>
            </a:r>
            <a:r>
              <a:rPr lang="en-US" sz="3000" dirty="0"/>
              <a:t> field contains a semicolon (</a:t>
            </a:r>
            <a:r>
              <a:rPr lang="en-US" sz="3000" b="1" dirty="0">
                <a:latin typeface="Inconsolatazi4varl_qu" panose="02000503000000000000" pitchFamily="2" charset="0"/>
              </a:rPr>
              <a:t>;</a:t>
            </a:r>
            <a:r>
              <a:rPr lang="en-US" sz="3000" dirty="0"/>
              <a:t>)-delimited list of information</a:t>
            </a:r>
            <a:br>
              <a:rPr lang="en-US" sz="3000" dirty="0"/>
            </a:br>
            <a:r>
              <a:rPr lang="en-US" sz="3000" dirty="0"/>
              <a:t>about the variant.</a:t>
            </a:r>
            <a:br>
              <a:rPr lang="en-US" sz="3000" dirty="0"/>
            </a:br>
            <a:br>
              <a:rPr lang="en-US" dirty="0"/>
            </a:b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#CHROM POS     ID  REF ALT QUAL FILTER</a:t>
            </a:r>
            <a:r>
              <a:rPr lang="en-US" sz="2400" b="1" dirty="0">
                <a:latin typeface="Inconsolatazi4varl_qu" panose="02000503000000000000" pitchFamily="2" charset="0"/>
              </a:rPr>
              <a:t> INFO</a:t>
            </a:r>
            <a:br>
              <a:rPr lang="en-US" sz="2400" b="1" dirty="0">
                <a:latin typeface="Inconsolatazi4varl_qu" panose="02000503000000000000" pitchFamily="2" charset="0"/>
              </a:rPr>
            </a:br>
            <a:br>
              <a:rPr lang="en-US" sz="2400" b="1" dirty="0">
                <a:latin typeface="Inconsolatazi4varl_qu" panose="02000503000000000000" pitchFamily="2" charset="0"/>
              </a:rPr>
            </a:b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chr3   4387773 rs1 G   T   .    .      </a:t>
            </a:r>
            <a:r>
              <a:rPr lang="en-US" sz="2400" b="1" dirty="0">
                <a:latin typeface="Inconsolatazi4varl_qu" panose="02000503000000000000" pitchFamily="2" charset="0"/>
              </a:rPr>
              <a:t>NS=3;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AC=1</a:t>
            </a:r>
            <a:r>
              <a:rPr lang="en-US" sz="2400" b="1" dirty="0">
                <a:latin typeface="Inconsolatazi4varl_qu" panose="02000503000000000000" pitchFamily="2" charset="0"/>
              </a:rPr>
              <a:t>;</a:t>
            </a:r>
            <a:r>
              <a:rPr lang="en-US" sz="2400" b="1" dirty="0">
                <a:solidFill>
                  <a:schemeClr val="accent2"/>
                </a:solidFill>
                <a:latin typeface="Inconsolatazi4varl_qu" panose="02000503000000000000" pitchFamily="2" charset="0"/>
              </a:rPr>
              <a:t>AN=6</a:t>
            </a:r>
            <a:r>
              <a:rPr lang="en-US" sz="2400" b="1" dirty="0">
                <a:latin typeface="Inconsolatazi4varl_qu" panose="02000503000000000000" pitchFamily="2" charset="0"/>
              </a:rPr>
              <a:t>;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GC=2,1,0</a:t>
            </a:r>
            <a:r>
              <a:rPr lang="en-US" sz="2400" b="1" dirty="0">
                <a:latin typeface="Inconsolatazi4varl_qu" panose="02000503000000000000" pitchFamily="2" charset="0"/>
              </a:rPr>
              <a:t>;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GN=3</a:t>
            </a:r>
            <a:r>
              <a:rPr lang="en-US" sz="2400" b="1" dirty="0">
                <a:latin typeface="Inconsolatazi4varl_qu" panose="02000503000000000000" pitchFamily="2" charset="0"/>
              </a:rPr>
              <a:t>;</a:t>
            </a:r>
            <a:r>
              <a:rPr lang="en-US" sz="2400" b="1" dirty="0">
                <a:solidFill>
                  <a:schemeClr val="accent5"/>
                </a:solidFill>
                <a:latin typeface="Inconsolatazi4varl_qu" panose="02000503000000000000" pitchFamily="2" charset="0"/>
              </a:rPr>
              <a:t>DB</a:t>
            </a:r>
          </a:p>
          <a:p>
            <a:pPr marL="0" indent="0">
              <a:buNone/>
            </a:pPr>
            <a:br>
              <a:rPr lang="en-US" sz="2200" b="1" dirty="0">
                <a:latin typeface="Inconsolatazi4varl_qu" panose="02000503000000000000" pitchFamily="2" charset="0"/>
              </a:rPr>
            </a:br>
            <a:br>
              <a:rPr lang="en-US" sz="2200" b="1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latin typeface="Inconsolatazi4varl_qu" panose="02000503000000000000" pitchFamily="2" charset="0"/>
              </a:rPr>
              <a:t>NS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>
                <a:latin typeface="Inconsolatazi4varl_qu" panose="02000503000000000000" pitchFamily="2" charset="0"/>
              </a:rPr>
              <a:t>1</a:t>
            </a:r>
            <a:r>
              <a:rPr lang="en-US" sz="2200" dirty="0">
                <a:latin typeface="Inconsolatazi4varl_qu" panose="02000503000000000000" pitchFamily="2" charset="0"/>
              </a:rPr>
              <a:t>,Type=</a:t>
            </a:r>
            <a:r>
              <a:rPr lang="en-US" sz="2200" b="1" dirty="0" err="1">
                <a:latin typeface="Inconsolatazi4varl_qu" panose="02000503000000000000" pitchFamily="2" charset="0"/>
              </a:rPr>
              <a:t>Integer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>
                <a:latin typeface="Inconsolatazi4varl_qu" panose="02000503000000000000" pitchFamily="2" charset="0"/>
              </a:rPr>
              <a:t>Number of Samples With Data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  <a:br>
              <a:rPr lang="en-US" sz="2200" b="1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solidFill>
                  <a:srgbClr val="FF0000"/>
                </a:solidFill>
                <a:latin typeface="Inconsolatazi4varl_qu" panose="02000503000000000000" pitchFamily="2" charset="0"/>
              </a:rPr>
              <a:t>AC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 err="1">
                <a:solidFill>
                  <a:srgbClr val="FF0000"/>
                </a:solidFill>
                <a:latin typeface="Inconsolatazi4varl_qu" panose="02000503000000000000" pitchFamily="2" charset="0"/>
              </a:rPr>
              <a:t>A</a:t>
            </a:r>
            <a:r>
              <a:rPr lang="en-US" sz="2200" dirty="0" err="1">
                <a:latin typeface="Inconsolatazi4varl_qu" panose="02000503000000000000" pitchFamily="2" charset="0"/>
              </a:rPr>
              <a:t>,Type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 err="1">
                <a:solidFill>
                  <a:srgbClr val="FF0000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Alternate Allele Counts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  <a:br>
              <a:rPr lang="en-US" sz="2200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solidFill>
                  <a:schemeClr val="accent2"/>
                </a:solidFill>
                <a:latin typeface="Inconsolatazi4varl_qu" panose="02000503000000000000" pitchFamily="2" charset="0"/>
              </a:rPr>
              <a:t>AN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>
                <a:solidFill>
                  <a:schemeClr val="accent2"/>
                </a:solidFill>
                <a:latin typeface="Inconsolatazi4varl_qu" panose="02000503000000000000" pitchFamily="2" charset="0"/>
              </a:rPr>
              <a:t>1</a:t>
            </a:r>
            <a:r>
              <a:rPr lang="en-US" sz="2200" dirty="0">
                <a:latin typeface="Inconsolatazi4varl_qu" panose="02000503000000000000" pitchFamily="2" charset="0"/>
              </a:rPr>
              <a:t>,Type=</a:t>
            </a:r>
            <a:r>
              <a:rPr lang="en-US" sz="2200" b="1" dirty="0" err="1">
                <a:solidFill>
                  <a:schemeClr val="accent2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>
                <a:solidFill>
                  <a:schemeClr val="accent2"/>
                </a:solidFill>
                <a:latin typeface="Inconsolatazi4varl_qu" panose="02000503000000000000" pitchFamily="2" charset="0"/>
              </a:rPr>
              <a:t>Total Number Allele Counts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  <a:br>
              <a:rPr lang="en-US" sz="2200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solidFill>
                  <a:srgbClr val="00B050"/>
                </a:solidFill>
                <a:latin typeface="Inconsolatazi4varl_qu" panose="02000503000000000000" pitchFamily="2" charset="0"/>
              </a:rPr>
              <a:t>GC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 err="1">
                <a:solidFill>
                  <a:srgbClr val="00B050"/>
                </a:solidFill>
                <a:latin typeface="Inconsolatazi4varl_qu" panose="02000503000000000000" pitchFamily="2" charset="0"/>
              </a:rPr>
              <a:t>G</a:t>
            </a:r>
            <a:r>
              <a:rPr lang="en-US" sz="2200" dirty="0" err="1">
                <a:latin typeface="Inconsolatazi4varl_qu" panose="02000503000000000000" pitchFamily="2" charset="0"/>
              </a:rPr>
              <a:t>,Type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 err="1">
                <a:solidFill>
                  <a:srgbClr val="00B050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Genotype Counts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  <a:br>
              <a:rPr lang="en-US" sz="2200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solidFill>
                  <a:srgbClr val="0070C0"/>
                </a:solidFill>
                <a:latin typeface="Inconsolatazi4varl_qu" panose="02000503000000000000" pitchFamily="2" charset="0"/>
              </a:rPr>
              <a:t>GN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1</a:t>
            </a:r>
            <a:r>
              <a:rPr lang="en-US" sz="2200" dirty="0">
                <a:latin typeface="Inconsolatazi4varl_qu" panose="02000503000000000000" pitchFamily="2" charset="0"/>
              </a:rPr>
              <a:t>,Type=</a:t>
            </a:r>
            <a:r>
              <a:rPr lang="en-US" sz="2200" b="1" dirty="0" err="1">
                <a:solidFill>
                  <a:srgbClr val="0070C0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Total Number of Genotypes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  <a:br>
              <a:rPr lang="en-US" sz="2200" dirty="0">
                <a:latin typeface="Inconsolatazi4varl_qu" panose="02000503000000000000" pitchFamily="2" charset="0"/>
              </a:rPr>
            </a:br>
            <a:r>
              <a:rPr lang="en-US" sz="2200" dirty="0">
                <a:latin typeface="Inconsolatazi4varl_qu" panose="02000503000000000000" pitchFamily="2" charset="0"/>
              </a:rPr>
              <a:t>##INFO=&lt;ID=</a:t>
            </a:r>
            <a:r>
              <a:rPr lang="en-US" sz="2200" b="1" dirty="0" err="1">
                <a:solidFill>
                  <a:schemeClr val="accent5"/>
                </a:solidFill>
                <a:latin typeface="Inconsolatazi4varl_qu" panose="02000503000000000000" pitchFamily="2" charset="0"/>
              </a:rPr>
              <a:t>DB</a:t>
            </a:r>
            <a:r>
              <a:rPr lang="en-US" sz="2200" dirty="0" err="1">
                <a:latin typeface="Inconsolatazi4varl_qu" panose="02000503000000000000" pitchFamily="2" charset="0"/>
              </a:rPr>
              <a:t>,Number</a:t>
            </a:r>
            <a:r>
              <a:rPr lang="en-US" sz="2200" dirty="0">
                <a:latin typeface="Inconsolatazi4varl_qu" panose="02000503000000000000" pitchFamily="2" charset="0"/>
              </a:rPr>
              <a:t>=</a:t>
            </a:r>
            <a:r>
              <a:rPr lang="en-US" sz="2200" b="1" dirty="0">
                <a:solidFill>
                  <a:schemeClr val="accent5"/>
                </a:solidFill>
                <a:latin typeface="Inconsolatazi4varl_qu" panose="02000503000000000000" pitchFamily="2" charset="0"/>
              </a:rPr>
              <a:t>0</a:t>
            </a:r>
            <a:r>
              <a:rPr lang="en-US" sz="2200" dirty="0">
                <a:latin typeface="Inconsolatazi4varl_qu" panose="02000503000000000000" pitchFamily="2" charset="0"/>
              </a:rPr>
              <a:t>,Type=</a:t>
            </a:r>
            <a:r>
              <a:rPr lang="en-US" sz="2200" b="1" dirty="0" err="1">
                <a:solidFill>
                  <a:schemeClr val="accent5"/>
                </a:solidFill>
                <a:latin typeface="Inconsolatazi4varl_qu" panose="02000503000000000000" pitchFamily="2" charset="0"/>
              </a:rPr>
              <a:t>Flag</a:t>
            </a:r>
            <a:r>
              <a:rPr lang="en-US" sz="2200" dirty="0" err="1">
                <a:latin typeface="Inconsolatazi4varl_qu" panose="02000503000000000000" pitchFamily="2" charset="0"/>
              </a:rPr>
              <a:t>,Description</a:t>
            </a:r>
            <a:r>
              <a:rPr lang="en-US" sz="2200" dirty="0">
                <a:latin typeface="Inconsolatazi4varl_qu" panose="02000503000000000000" pitchFamily="2" charset="0"/>
              </a:rPr>
              <a:t>="</a:t>
            </a:r>
            <a:r>
              <a:rPr lang="en-US" sz="2200" b="1" dirty="0" err="1">
                <a:solidFill>
                  <a:schemeClr val="accent5"/>
                </a:solidFill>
                <a:latin typeface="Inconsolatazi4varl_qu" panose="02000503000000000000" pitchFamily="2" charset="0"/>
              </a:rPr>
              <a:t>dbSNP</a:t>
            </a:r>
            <a:r>
              <a:rPr lang="en-US" sz="2200" b="1" dirty="0">
                <a:solidFill>
                  <a:schemeClr val="accent5"/>
                </a:solidFill>
                <a:latin typeface="Inconsolatazi4varl_qu" panose="02000503000000000000" pitchFamily="2" charset="0"/>
              </a:rPr>
              <a:t> membership, build 151</a:t>
            </a:r>
            <a:r>
              <a:rPr lang="en-US" sz="2200" dirty="0">
                <a:latin typeface="Inconsolatazi4varl_qu" panose="02000503000000000000" pitchFamily="2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273361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F014-4BEE-0D4E-9C27-644D3859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Lines   </a:t>
            </a:r>
            <a:r>
              <a:rPr lang="en-US" sz="4000" dirty="0">
                <a:latin typeface="Aptos Light" panose="020B0004020202020204" pitchFamily="34" charset="0"/>
                <a:ea typeface="SF Pro Display Thin" pitchFamily="2" charset="0"/>
              </a:rPr>
              <a:t>Fields 9, 10,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F473-DBCF-CB4F-B032-DECB0FBC2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86110" cy="435133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3	4	5	9	10		11		12</a:t>
            </a:r>
          </a:p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ID	REF	ALT</a:t>
            </a:r>
            <a:r>
              <a:rPr lang="en-US" sz="2400" b="1" dirty="0">
                <a:latin typeface="Inconsolatazi4varl_qu" panose="02000503000000000000" pitchFamily="2" charset="0"/>
              </a:rPr>
              <a:t>	FORMAT	001		002		003</a:t>
            </a:r>
          </a:p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.	C	T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GT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GQ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DP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0/1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20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16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13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82</a:t>
            </a:r>
          </a:p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rs11804171	T	A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GT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GQ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DP</a:t>
            </a:r>
            <a:r>
              <a:rPr lang="en-US" sz="2400" b="1" dirty="0">
                <a:latin typeface="Inconsolatazi4varl_qu" panose="02000503000000000000" pitchFamily="2" charset="0"/>
              </a:rPr>
              <a:t> 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0/1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33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30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54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14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43</a:t>
            </a:r>
          </a:p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.	A	T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GT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GQ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DP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0/1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26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20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0|0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72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25</a:t>
            </a:r>
          </a:p>
          <a:p>
            <a:pPr marL="0" indent="0">
              <a:buNone/>
              <a:tabLst>
                <a:tab pos="1755775" algn="l"/>
                <a:tab pos="2451100" algn="l"/>
                <a:tab pos="3189288" algn="l"/>
                <a:tab pos="4621213" algn="l"/>
              </a:tabLst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Inconsolatazi4varl_qu" panose="02000503000000000000" pitchFamily="2" charset="0"/>
              </a:rPr>
              <a:t>rs3094315	G	A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GT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GQ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DP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1/1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69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23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1|0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98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22</a:t>
            </a:r>
            <a:r>
              <a:rPr lang="en-US" sz="2400" b="1" dirty="0">
                <a:latin typeface="Inconsolatazi4varl_qu" panose="02000503000000000000" pitchFamily="2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1|1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100</a:t>
            </a:r>
            <a:r>
              <a:rPr lang="en-US" sz="2400" b="1" dirty="0">
                <a:latin typeface="Inconsolatazi4varl_qu" panose="02000503000000000000" pitchFamily="2" charset="0"/>
              </a:rPr>
              <a:t>: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47</a:t>
            </a:r>
            <a:br>
              <a:rPr lang="en-US" sz="2400" b="1" dirty="0">
                <a:latin typeface="Inconsolatazi4varl_qu" panose="02000503000000000000" pitchFamily="2" charset="0"/>
              </a:rPr>
            </a:br>
            <a:br>
              <a:rPr lang="en-US" sz="2400" b="1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##FORMAT=&lt;ID=</a:t>
            </a:r>
            <a:r>
              <a:rPr lang="en-US" sz="2400" b="1" dirty="0" err="1">
                <a:solidFill>
                  <a:srgbClr val="FF0000"/>
                </a:solidFill>
                <a:latin typeface="Inconsolatazi4varl_qu" panose="02000503000000000000" pitchFamily="2" charset="0"/>
              </a:rPr>
              <a:t>GT</a:t>
            </a:r>
            <a:r>
              <a:rPr lang="en-US" sz="2400" dirty="0" err="1">
                <a:latin typeface="Inconsolatazi4varl_qu" panose="02000503000000000000" pitchFamily="2" charset="0"/>
              </a:rPr>
              <a:t>,Number</a:t>
            </a:r>
            <a:r>
              <a:rPr lang="en-US" sz="2400" dirty="0">
                <a:latin typeface="Inconsolatazi4varl_qu" panose="02000503000000000000" pitchFamily="2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1</a:t>
            </a:r>
            <a:r>
              <a:rPr lang="en-US" sz="2400" dirty="0">
                <a:latin typeface="Inconsolatazi4varl_qu" panose="02000503000000000000" pitchFamily="2" charset="0"/>
              </a:rPr>
              <a:t>,Type=</a:t>
            </a:r>
            <a:r>
              <a:rPr lang="en-US" sz="2400" b="1" dirty="0" err="1">
                <a:solidFill>
                  <a:srgbClr val="FF0000"/>
                </a:solidFill>
                <a:latin typeface="Inconsolatazi4varl_qu" panose="02000503000000000000" pitchFamily="2" charset="0"/>
              </a:rPr>
              <a:t>String</a:t>
            </a:r>
            <a:r>
              <a:rPr lang="en-US" sz="2400" dirty="0" err="1">
                <a:latin typeface="Inconsolatazi4varl_qu" panose="02000503000000000000" pitchFamily="2" charset="0"/>
              </a:rPr>
              <a:t>,Description</a:t>
            </a:r>
            <a:r>
              <a:rPr lang="en-US" sz="2400" dirty="0">
                <a:latin typeface="Inconsolatazi4varl_qu" panose="02000503000000000000" pitchFamily="2" charset="0"/>
              </a:rPr>
              <a:t>="</a:t>
            </a:r>
            <a:r>
              <a:rPr lang="en-US" sz="2400" b="1" dirty="0">
                <a:solidFill>
                  <a:srgbClr val="FF0000"/>
                </a:solidFill>
                <a:latin typeface="Inconsolatazi4varl_qu" panose="02000503000000000000" pitchFamily="2" charset="0"/>
              </a:rPr>
              <a:t>Genotype</a:t>
            </a:r>
            <a:r>
              <a:rPr lang="en-US" sz="2400" dirty="0">
                <a:latin typeface="Inconsolatazi4varl_qu" panose="02000503000000000000" pitchFamily="2" charset="0"/>
              </a:rPr>
              <a:t>"&gt;</a:t>
            </a:r>
            <a:br>
              <a:rPr lang="en-US" sz="2400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##FORMAT=&lt;ID=</a:t>
            </a:r>
            <a:r>
              <a:rPr lang="en-US" sz="2400" b="1" dirty="0" err="1">
                <a:solidFill>
                  <a:srgbClr val="00B050"/>
                </a:solidFill>
                <a:latin typeface="Inconsolatazi4varl_qu" panose="02000503000000000000" pitchFamily="2" charset="0"/>
              </a:rPr>
              <a:t>GQ</a:t>
            </a:r>
            <a:r>
              <a:rPr lang="en-US" sz="2400" dirty="0" err="1">
                <a:latin typeface="Inconsolatazi4varl_qu" panose="02000503000000000000" pitchFamily="2" charset="0"/>
              </a:rPr>
              <a:t>,Number</a:t>
            </a:r>
            <a:r>
              <a:rPr lang="en-US" sz="2400" dirty="0">
                <a:latin typeface="Inconsolatazi4varl_qu" panose="02000503000000000000" pitchFamily="2" charset="0"/>
              </a:rPr>
              <a:t>=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1</a:t>
            </a:r>
            <a:r>
              <a:rPr lang="en-US" sz="2400" dirty="0">
                <a:latin typeface="Inconsolatazi4varl_qu" panose="02000503000000000000" pitchFamily="2" charset="0"/>
              </a:rPr>
              <a:t>,Type=</a:t>
            </a:r>
            <a:r>
              <a:rPr lang="en-US" sz="2400" b="1" dirty="0" err="1">
                <a:solidFill>
                  <a:srgbClr val="00B050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400" dirty="0" err="1">
                <a:latin typeface="Inconsolatazi4varl_qu" panose="02000503000000000000" pitchFamily="2" charset="0"/>
              </a:rPr>
              <a:t>,Description</a:t>
            </a:r>
            <a:r>
              <a:rPr lang="en-US" sz="2400" dirty="0">
                <a:latin typeface="Inconsolatazi4varl_qu" panose="02000503000000000000" pitchFamily="2" charset="0"/>
              </a:rPr>
              <a:t>="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Genotype</a:t>
            </a:r>
            <a:r>
              <a:rPr lang="en-US" sz="2400" dirty="0">
                <a:solidFill>
                  <a:srgbClr val="00B050"/>
                </a:solidFill>
                <a:latin typeface="Inconsolatazi4varl_qu" panose="02000503000000000000" pitchFamily="2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Inconsolatazi4varl_qu" panose="02000503000000000000" pitchFamily="2" charset="0"/>
              </a:rPr>
              <a:t>Quality</a:t>
            </a:r>
            <a:r>
              <a:rPr lang="en-US" sz="2400" dirty="0">
                <a:latin typeface="Inconsolatazi4varl_qu" panose="02000503000000000000" pitchFamily="2" charset="0"/>
              </a:rPr>
              <a:t>"&gt;</a:t>
            </a:r>
            <a:br>
              <a:rPr lang="en-US" sz="2400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##FORMAT=&lt;ID=</a:t>
            </a:r>
            <a:r>
              <a:rPr lang="en-US" sz="2400" b="1" dirty="0" err="1">
                <a:solidFill>
                  <a:srgbClr val="0070C0"/>
                </a:solidFill>
                <a:latin typeface="Inconsolatazi4varl_qu" panose="02000503000000000000" pitchFamily="2" charset="0"/>
              </a:rPr>
              <a:t>DP</a:t>
            </a:r>
            <a:r>
              <a:rPr lang="en-US" sz="2400" dirty="0" err="1">
                <a:latin typeface="Inconsolatazi4varl_qu" panose="02000503000000000000" pitchFamily="2" charset="0"/>
              </a:rPr>
              <a:t>,Number</a:t>
            </a:r>
            <a:r>
              <a:rPr lang="en-US" sz="2400" dirty="0">
                <a:latin typeface="Inconsolatazi4varl_qu" panose="02000503000000000000" pitchFamily="2" charset="0"/>
              </a:rPr>
              <a:t>=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1</a:t>
            </a:r>
            <a:r>
              <a:rPr lang="en-US" sz="2400" dirty="0">
                <a:latin typeface="Inconsolatazi4varl_qu" panose="02000503000000000000" pitchFamily="2" charset="0"/>
              </a:rPr>
              <a:t>,Type=</a:t>
            </a:r>
            <a:r>
              <a:rPr lang="en-US" sz="2400" b="1" dirty="0" err="1">
                <a:solidFill>
                  <a:srgbClr val="0070C0"/>
                </a:solidFill>
                <a:latin typeface="Inconsolatazi4varl_qu" panose="02000503000000000000" pitchFamily="2" charset="0"/>
              </a:rPr>
              <a:t>Integer</a:t>
            </a:r>
            <a:r>
              <a:rPr lang="en-US" sz="2400" dirty="0" err="1">
                <a:latin typeface="Inconsolatazi4varl_qu" panose="02000503000000000000" pitchFamily="2" charset="0"/>
              </a:rPr>
              <a:t>,Description</a:t>
            </a:r>
            <a:r>
              <a:rPr lang="en-US" sz="2400" dirty="0">
                <a:latin typeface="Inconsolatazi4varl_qu" panose="02000503000000000000" pitchFamily="2" charset="0"/>
              </a:rPr>
              <a:t>="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Read</a:t>
            </a:r>
            <a:r>
              <a:rPr lang="en-US" sz="2400" dirty="0">
                <a:solidFill>
                  <a:srgbClr val="0070C0"/>
                </a:solidFill>
                <a:latin typeface="Inconsolatazi4varl_qu" panose="02000503000000000000" pitchFamily="2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Inconsolatazi4varl_qu" panose="02000503000000000000" pitchFamily="2" charset="0"/>
              </a:rPr>
              <a:t>Depth</a:t>
            </a:r>
            <a:r>
              <a:rPr lang="en-US" sz="2400" dirty="0">
                <a:latin typeface="Inconsolatazi4varl_qu" panose="02000503000000000000" pitchFamily="2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99649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6730-DE79-E060-D7E7-9595F34E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GTF/GFF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F659-55B4-3D29-04BC-06B367B2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storing genome annotations (not variants)</a:t>
            </a:r>
          </a:p>
          <a:p>
            <a:pPr lvl="1"/>
            <a:r>
              <a:rPr lang="en-US" dirty="0"/>
              <a:t>Genes</a:t>
            </a:r>
          </a:p>
          <a:p>
            <a:pPr lvl="1"/>
            <a:r>
              <a:rPr lang="en-US" dirty="0"/>
              <a:t>Transcripts</a:t>
            </a:r>
          </a:p>
          <a:p>
            <a:pPr lvl="1"/>
            <a:r>
              <a:rPr lang="en-US" dirty="0"/>
              <a:t>Exons</a:t>
            </a:r>
          </a:p>
          <a:p>
            <a:pPr lvl="1"/>
            <a:r>
              <a:rPr lang="en-US" dirty="0"/>
              <a:t>Regulatory elements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Think “BED + more structure about biological features + relationships”</a:t>
            </a:r>
          </a:p>
          <a:p>
            <a:r>
              <a:rPr lang="en-US" dirty="0"/>
              <a:t>Ultimate source of data for many Genome Browser gene annotation tracks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43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782A-FBBC-CE7D-19CC-E0CA58DF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GTF/GFF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7D6D-E835-827D-B068-E283014FA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Columns (1-8 are the same)</a:t>
            </a:r>
          </a:p>
          <a:p>
            <a:r>
              <a:rPr lang="en-US" dirty="0" err="1"/>
              <a:t>chrom</a:t>
            </a:r>
            <a:r>
              <a:rPr lang="en-US" dirty="0"/>
              <a:t> (chromosome)</a:t>
            </a:r>
          </a:p>
          <a:p>
            <a:r>
              <a:rPr lang="en-US" dirty="0"/>
              <a:t>source (annotation source; e.g., HAVANA, </a:t>
            </a:r>
            <a:r>
              <a:rPr lang="en-US" dirty="0" err="1"/>
              <a:t>Ensembl</a:t>
            </a:r>
            <a:r>
              <a:rPr lang="en-US" dirty="0"/>
              <a:t>)</a:t>
            </a:r>
          </a:p>
          <a:p>
            <a:r>
              <a:rPr lang="en-US" dirty="0"/>
              <a:t>feature (gene, transcript, exon, CDS, etc.)</a:t>
            </a:r>
          </a:p>
          <a:p>
            <a:r>
              <a:rPr lang="en-US" dirty="0"/>
              <a:t>start/end (coordinates)</a:t>
            </a:r>
          </a:p>
          <a:p>
            <a:r>
              <a:rPr lang="en-US" dirty="0"/>
              <a:t>score (often .)</a:t>
            </a:r>
          </a:p>
          <a:p>
            <a:r>
              <a:rPr lang="en-US" dirty="0"/>
              <a:t>strand (+ or -)</a:t>
            </a:r>
          </a:p>
          <a:p>
            <a:r>
              <a:rPr lang="en-US" dirty="0"/>
              <a:t>frame (reading frame [0/1/2 or .])</a:t>
            </a:r>
          </a:p>
          <a:p>
            <a:pPr marL="0" indent="0">
              <a:buNone/>
            </a:pPr>
            <a:r>
              <a:rPr lang="en-US" dirty="0"/>
              <a:t>Column 9 (details)</a:t>
            </a:r>
          </a:p>
          <a:p>
            <a:r>
              <a:rPr lang="en-US" dirty="0"/>
              <a:t>Can encode hierarchical relationships between rows of the dataset</a:t>
            </a:r>
          </a:p>
          <a:p>
            <a:pPr lvl="1"/>
            <a:r>
              <a:rPr lang="en-US" dirty="0"/>
              <a:t>Which exon belongs to which transcript</a:t>
            </a:r>
          </a:p>
          <a:p>
            <a:pPr lvl="1"/>
            <a:r>
              <a:rPr lang="en-US" dirty="0"/>
              <a:t>Which transcript belongs to which gene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Key-value pairs (like INFO in a VCF), e.g.:</a:t>
            </a:r>
          </a:p>
          <a:p>
            <a:pPr lvl="1"/>
            <a:r>
              <a:rPr lang="en-US" dirty="0"/>
              <a:t>GTF: </a:t>
            </a:r>
            <a:r>
              <a:rPr lang="en-US" dirty="0" err="1"/>
              <a:t>gene_id</a:t>
            </a:r>
            <a:r>
              <a:rPr lang="en-US" dirty="0"/>
              <a:t> "ENSG..."; </a:t>
            </a:r>
            <a:r>
              <a:rPr lang="en-US" dirty="0" err="1"/>
              <a:t>transcript_id</a:t>
            </a:r>
            <a:r>
              <a:rPr lang="en-US" dirty="0"/>
              <a:t> "ENST...";</a:t>
            </a:r>
          </a:p>
          <a:p>
            <a:pPr lvl="1"/>
            <a:r>
              <a:rPr lang="en-US" dirty="0"/>
              <a:t>GFF: ID=</a:t>
            </a:r>
            <a:r>
              <a:rPr lang="en-US" dirty="0" err="1"/>
              <a:t>gene:ENSG</a:t>
            </a:r>
            <a:r>
              <a:rPr lang="en-US" dirty="0"/>
              <a:t>...;Name=DDX11L2;biotype=lncRNA;</a:t>
            </a:r>
          </a:p>
        </p:txBody>
      </p:sp>
    </p:spTree>
    <p:extLst>
      <p:ext uri="{BB962C8B-B14F-4D97-AF65-F5344CB8AC3E}">
        <p14:creationId xmlns:p14="http://schemas.microsoft.com/office/powerpoint/2010/main" val="362982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752A-D2E8-3746-A8FC-AB61DE9D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GTF/GFF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360F6-324E-1DAC-936A-0019E461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13" y="4520322"/>
            <a:ext cx="11331974" cy="2135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84F93-BF93-F803-20C4-E7AEA84D1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7670"/>
            <a:ext cx="12192000" cy="108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55F8-F029-0FB6-8761-55FB908E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bigBed</a:t>
            </a:r>
            <a:r>
              <a:rPr lang="en-US" dirty="0"/>
              <a:t>, etc.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9FDB8-CB92-695C-8D12-F27DA483B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bigBed</a:t>
            </a:r>
            <a:r>
              <a:rPr lang="en-US" dirty="0"/>
              <a:t> = compressed, indexed version of BED for large datasets</a:t>
            </a:r>
          </a:p>
          <a:p>
            <a:pPr lvl="1"/>
            <a:r>
              <a:rPr lang="en-US" dirty="0"/>
              <a:t>Binary format</a:t>
            </a:r>
          </a:p>
          <a:p>
            <a:pPr lvl="1"/>
            <a:r>
              <a:rPr lang="en-US" dirty="0"/>
              <a:t>Internally indexed</a:t>
            </a:r>
          </a:p>
          <a:p>
            <a:pPr lvl="1"/>
            <a:r>
              <a:rPr lang="en-US" dirty="0"/>
              <a:t>Fast, remote queries</a:t>
            </a:r>
          </a:p>
          <a:p>
            <a:pPr lvl="1"/>
            <a:r>
              <a:rPr lang="en-US" dirty="0"/>
              <a:t>Used by UCSC genome browser to underlie tracks</a:t>
            </a:r>
          </a:p>
          <a:p>
            <a:r>
              <a:rPr lang="en-US" dirty="0"/>
              <a:t>Use UCSC utilities to access</a:t>
            </a:r>
          </a:p>
          <a:p>
            <a:pPr lvl="1"/>
            <a:r>
              <a:rPr lang="en-US" dirty="0" err="1"/>
              <a:t>bigBedToBed</a:t>
            </a:r>
            <a:r>
              <a:rPr lang="en-US" dirty="0"/>
              <a:t> (most important: query a region and convert to BED)</a:t>
            </a:r>
          </a:p>
          <a:p>
            <a:pPr lvl="1"/>
            <a:r>
              <a:rPr lang="en-US" dirty="0" err="1"/>
              <a:t>bigBedSummary</a:t>
            </a:r>
            <a:r>
              <a:rPr lang="en-US" dirty="0"/>
              <a:t> (summary over a region)</a:t>
            </a:r>
          </a:p>
          <a:p>
            <a:pPr lvl="1"/>
            <a:r>
              <a:rPr lang="en-US" dirty="0" err="1"/>
              <a:t>bigBedInfo</a:t>
            </a:r>
            <a:r>
              <a:rPr lang="en-US" dirty="0"/>
              <a:t> (inspect file at high level)</a:t>
            </a:r>
          </a:p>
          <a:p>
            <a:pPr lvl="1"/>
            <a:r>
              <a:rPr lang="en-US" dirty="0" err="1"/>
              <a:t>bedToBigBed</a:t>
            </a:r>
            <a:r>
              <a:rPr lang="en-US" dirty="0"/>
              <a:t> (convert in the other direction)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866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A6EE-8384-8C46-175F-F483B502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files with </a:t>
            </a:r>
            <a:r>
              <a:rPr lang="en-US" dirty="0" err="1"/>
              <a:t>wget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1A1C-FB15-57E1-4627-4B18FC6B1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wget</a:t>
            </a:r>
            <a:endParaRPr lang="en-US" dirty="0"/>
          </a:p>
          <a:p>
            <a:r>
              <a:rPr lang="en-US" dirty="0"/>
              <a:t>Command-line tool to </a:t>
            </a:r>
            <a:r>
              <a:rPr lang="en-US" u="sng" dirty="0"/>
              <a:t>download files</a:t>
            </a:r>
            <a:r>
              <a:rPr lang="en-US" dirty="0"/>
              <a:t> from the web</a:t>
            </a:r>
          </a:p>
          <a:p>
            <a:r>
              <a:rPr lang="en-US" dirty="0"/>
              <a:t>Non-interactive (so good for scripts/pipelines)</a:t>
            </a:r>
          </a:p>
          <a:p>
            <a:r>
              <a:rPr lang="en-US" dirty="0"/>
              <a:t>Example: </a:t>
            </a:r>
            <a:r>
              <a:rPr lang="en-US" dirty="0" err="1"/>
              <a:t>wget</a:t>
            </a:r>
            <a:r>
              <a:rPr lang="en-US" dirty="0"/>
              <a:t> -O </a:t>
            </a:r>
            <a:r>
              <a:rPr lang="en-US" dirty="0" err="1"/>
              <a:t>myfile.vcf.gz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https://example.com/file.vcf.gz</a:t>
            </a:r>
            <a:endParaRPr lang="en-US" dirty="0"/>
          </a:p>
          <a:p>
            <a:r>
              <a:rPr lang="en-US" dirty="0"/>
              <a:t>Can resume interrupted downloads </a:t>
            </a:r>
          </a:p>
          <a:p>
            <a:pPr lvl="1"/>
            <a:r>
              <a:rPr lang="en-US" dirty="0"/>
              <a:t>use the -c option</a:t>
            </a:r>
          </a:p>
          <a:p>
            <a:pPr lvl="1"/>
            <a:r>
              <a:rPr lang="en-US" dirty="0"/>
              <a:t>very helpful for large files</a:t>
            </a:r>
          </a:p>
          <a:p>
            <a:r>
              <a:rPr lang="en-US" dirty="0"/>
              <a:t>Often installed by default in Linux (often not for Mac)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76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9CA3-9A53-4952-12B4-9AB27256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Transferring data with curl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7F0E6-4F5A-E700-3D20-23CDFD1E0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curl</a:t>
            </a:r>
          </a:p>
          <a:p>
            <a:r>
              <a:rPr lang="en-US" dirty="0"/>
              <a:t>Command-line tool to </a:t>
            </a:r>
            <a:r>
              <a:rPr lang="en-US" u="sng" dirty="0"/>
              <a:t>transfer data</a:t>
            </a:r>
            <a:r>
              <a:rPr lang="en-US" dirty="0"/>
              <a:t> from URLs</a:t>
            </a:r>
          </a:p>
          <a:p>
            <a:r>
              <a:rPr lang="en-US" dirty="0"/>
              <a:t>More flexible than </a:t>
            </a:r>
            <a:r>
              <a:rPr lang="en-US" dirty="0" err="1"/>
              <a:t>wget</a:t>
            </a:r>
            <a:endParaRPr lang="en-US" dirty="0"/>
          </a:p>
          <a:p>
            <a:r>
              <a:rPr lang="en-US" dirty="0"/>
              <a:t>Can stream/pipe output instead of saving to file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curl -o </a:t>
            </a:r>
            <a:r>
              <a:rPr lang="en-US" dirty="0" err="1"/>
              <a:t>myfile.vcf.gz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https://example.com/file.vcf.gz</a:t>
            </a:r>
            <a:endParaRPr lang="en-US" dirty="0"/>
          </a:p>
          <a:p>
            <a:pPr lvl="1"/>
            <a:r>
              <a:rPr lang="en-US" dirty="0"/>
              <a:t>curl https://</a:t>
            </a:r>
            <a:r>
              <a:rPr lang="en-US" dirty="0" err="1"/>
              <a:t>example.com</a:t>
            </a:r>
            <a:r>
              <a:rPr lang="en-US" dirty="0"/>
              <a:t>/</a:t>
            </a:r>
            <a:r>
              <a:rPr lang="en-US" dirty="0" err="1"/>
              <a:t>file.vcf.gz</a:t>
            </a:r>
            <a:r>
              <a:rPr lang="en-US" dirty="0"/>
              <a:t> | </a:t>
            </a:r>
            <a:r>
              <a:rPr lang="en-US" dirty="0" err="1"/>
              <a:t>gunzip</a:t>
            </a:r>
            <a:r>
              <a:rPr lang="en-US" dirty="0"/>
              <a:t> | head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4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295D-06C7-D062-08D0-4EBCB17E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genomic regions with </a:t>
            </a:r>
            <a:r>
              <a:rPr lang="en-US" dirty="0" err="1"/>
              <a:t>tabix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9F6D-F545-828C-20A6-43353FCC0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tabix</a:t>
            </a:r>
            <a:endParaRPr lang="en-US" dirty="0"/>
          </a:p>
          <a:p>
            <a:r>
              <a:rPr lang="en-US" dirty="0"/>
              <a:t>Command-line tool to query genomic regions from large, indexed files</a:t>
            </a:r>
          </a:p>
          <a:p>
            <a:r>
              <a:rPr lang="en-US" dirty="0"/>
              <a:t>Works locally or remotely</a:t>
            </a:r>
          </a:p>
          <a:p>
            <a:r>
              <a:rPr lang="en-US" dirty="0"/>
              <a:t>Avoid downloading or scanning whole files</a:t>
            </a:r>
          </a:p>
          <a:p>
            <a:r>
              <a:rPr lang="en-US" dirty="0"/>
              <a:t>Works on: VCF, BED, GFF</a:t>
            </a:r>
          </a:p>
          <a:p>
            <a:r>
              <a:rPr lang="en-US" dirty="0"/>
              <a:t>Requires</a:t>
            </a:r>
          </a:p>
          <a:p>
            <a:pPr lvl="1"/>
            <a:r>
              <a:rPr lang="en-US" dirty="0" err="1"/>
              <a:t>bgzip</a:t>
            </a:r>
            <a:r>
              <a:rPr lang="en-US" dirty="0"/>
              <a:t> compression (.</a:t>
            </a:r>
            <a:r>
              <a:rPr lang="en-US" dirty="0" err="1"/>
              <a:t>gz</a:t>
            </a:r>
            <a:r>
              <a:rPr lang="en-US" dirty="0"/>
              <a:t>, not regular </a:t>
            </a:r>
            <a:r>
              <a:rPr lang="en-US" dirty="0" err="1"/>
              <a:t>gzip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index file (.</a:t>
            </a:r>
            <a:r>
              <a:rPr lang="en-US" dirty="0" err="1"/>
              <a:t>tbi</a:t>
            </a:r>
            <a:r>
              <a:rPr lang="en-US" dirty="0"/>
              <a:t>) </a:t>
            </a:r>
          </a:p>
          <a:p>
            <a:r>
              <a:rPr lang="en-US" dirty="0"/>
              <a:t>Very fast because of the index: jumps directly to region (doesn’t scan the whole file)</a:t>
            </a:r>
          </a:p>
          <a:p>
            <a:r>
              <a:rPr lang="en-US" dirty="0"/>
              <a:t>Example: </a:t>
            </a:r>
            <a:r>
              <a:rPr lang="en-US" dirty="0" err="1"/>
              <a:t>tabix</a:t>
            </a:r>
            <a:r>
              <a:rPr lang="en-US" dirty="0"/>
              <a:t> </a:t>
            </a:r>
            <a:r>
              <a:rPr lang="en-US" dirty="0" err="1"/>
              <a:t>file.vcf.gz</a:t>
            </a:r>
            <a:r>
              <a:rPr lang="en-US" dirty="0"/>
              <a:t> chr1:1000000-2000000</a:t>
            </a:r>
          </a:p>
          <a:p>
            <a:r>
              <a:rPr lang="en-US" dirty="0"/>
              <a:t>You can create an index, e.g.:</a:t>
            </a:r>
          </a:p>
          <a:p>
            <a:pPr lvl="1"/>
            <a:r>
              <a:rPr lang="en-US" dirty="0" err="1"/>
              <a:t>bgzip</a:t>
            </a:r>
            <a:r>
              <a:rPr lang="en-US" dirty="0"/>
              <a:t> </a:t>
            </a:r>
            <a:r>
              <a:rPr lang="en-US" dirty="0" err="1"/>
              <a:t>file.vcf</a:t>
            </a:r>
            <a:endParaRPr lang="en-US" dirty="0"/>
          </a:p>
          <a:p>
            <a:pPr lvl="1"/>
            <a:r>
              <a:rPr lang="en-US" dirty="0" err="1"/>
              <a:t>tabix</a:t>
            </a:r>
            <a:r>
              <a:rPr lang="en-US" dirty="0"/>
              <a:t> -p </a:t>
            </a:r>
            <a:r>
              <a:rPr lang="en-US" dirty="0" err="1"/>
              <a:t>vcf</a:t>
            </a:r>
            <a:r>
              <a:rPr lang="en-US" dirty="0"/>
              <a:t> </a:t>
            </a:r>
            <a:r>
              <a:rPr lang="en-US" dirty="0" err="1"/>
              <a:t>file.vcf.gz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82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E4D3-5B22-C5F6-83A3-9A3E181C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VCF/BCF with </a:t>
            </a:r>
            <a:r>
              <a:rPr lang="en-US" dirty="0" err="1"/>
              <a:t>bcftools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83812-CA48-F7B8-F4E8-28C611C5D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bcftools</a:t>
            </a:r>
            <a:endParaRPr lang="en-US" dirty="0"/>
          </a:p>
          <a:p>
            <a:r>
              <a:rPr lang="en-US" dirty="0"/>
              <a:t>Toolkit just for VCF/BCF</a:t>
            </a:r>
          </a:p>
          <a:p>
            <a:r>
              <a:rPr lang="en-US" dirty="0"/>
              <a:t>Like </a:t>
            </a:r>
            <a:r>
              <a:rPr lang="en-US" dirty="0" err="1"/>
              <a:t>tabix</a:t>
            </a:r>
            <a:endParaRPr lang="en-US" dirty="0"/>
          </a:p>
          <a:p>
            <a:pPr lvl="1"/>
            <a:r>
              <a:rPr lang="en-US" dirty="0"/>
              <a:t>Region queries</a:t>
            </a:r>
          </a:p>
          <a:p>
            <a:pPr lvl="1"/>
            <a:r>
              <a:rPr lang="en-US" dirty="0"/>
              <a:t>Remote or local</a:t>
            </a:r>
          </a:p>
          <a:p>
            <a:pPr lvl="1"/>
            <a:r>
              <a:rPr lang="en-US" dirty="0"/>
              <a:t>Uses indexing</a:t>
            </a:r>
          </a:p>
          <a:p>
            <a:r>
              <a:rPr lang="en-US" dirty="0"/>
              <a:t>Unlike </a:t>
            </a:r>
            <a:r>
              <a:rPr lang="en-US" dirty="0" err="1"/>
              <a:t>tabix</a:t>
            </a:r>
            <a:endParaRPr lang="en-US" dirty="0"/>
          </a:p>
          <a:p>
            <a:pPr lvl="1"/>
            <a:r>
              <a:rPr lang="en-US" dirty="0"/>
              <a:t>Understands full VCF structure</a:t>
            </a:r>
          </a:p>
          <a:p>
            <a:pPr lvl="1"/>
            <a:r>
              <a:rPr lang="en-US" dirty="0"/>
              <a:t>Filter variants</a:t>
            </a:r>
          </a:p>
          <a:p>
            <a:pPr lvl="1"/>
            <a:r>
              <a:rPr lang="en-US" dirty="0"/>
              <a:t>Filtering genotypes</a:t>
            </a:r>
          </a:p>
          <a:p>
            <a:pPr lvl="1"/>
            <a:r>
              <a:rPr lang="en-US" dirty="0"/>
              <a:t>Extracting specific fields</a:t>
            </a:r>
          </a:p>
        </p:txBody>
      </p:sp>
    </p:spTree>
    <p:extLst>
      <p:ext uri="{BB962C8B-B14F-4D97-AF65-F5344CB8AC3E}">
        <p14:creationId xmlns:p14="http://schemas.microsoft.com/office/powerpoint/2010/main" val="318491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31BC-03BC-1B1C-5545-14A16D9E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Swiss-Army knife for genomic intervals: </a:t>
            </a:r>
            <a:r>
              <a:rPr lang="en-US" dirty="0" err="1"/>
              <a:t>bedtools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8532-149A-D644-D6BF-1185CBF4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Perform set operations on genomic intervals in multiple files</a:t>
            </a:r>
          </a:p>
          <a:p>
            <a:pPr lvl="1"/>
            <a:r>
              <a:rPr lang="en-US" dirty="0"/>
              <a:t>BED</a:t>
            </a:r>
          </a:p>
          <a:p>
            <a:pPr lvl="1"/>
            <a:r>
              <a:rPr lang="en-US" dirty="0"/>
              <a:t>GFF/GTF</a:t>
            </a:r>
          </a:p>
          <a:p>
            <a:pPr lvl="1"/>
            <a:r>
              <a:rPr lang="en-US" dirty="0"/>
              <a:t>VCF</a:t>
            </a:r>
          </a:p>
          <a:p>
            <a:r>
              <a:rPr lang="en-US" dirty="0"/>
              <a:t>Common operations:</a:t>
            </a:r>
          </a:p>
          <a:p>
            <a:pPr lvl="1"/>
            <a:r>
              <a:rPr lang="en-US" dirty="0"/>
              <a:t>Intersect (overlap between datasets)</a:t>
            </a:r>
          </a:p>
          <a:p>
            <a:pPr lvl="1"/>
            <a:r>
              <a:rPr lang="en-US" dirty="0"/>
              <a:t>Merge (combine overlapping regions)</a:t>
            </a:r>
          </a:p>
          <a:p>
            <a:pPr lvl="1"/>
            <a:r>
              <a:rPr lang="en-US" dirty="0"/>
              <a:t>Closest (nearest feature)</a:t>
            </a:r>
          </a:p>
          <a:p>
            <a:pPr lvl="1"/>
            <a:r>
              <a:rPr lang="en-US" dirty="0"/>
              <a:t>Coverage (how much overlap/depth)</a:t>
            </a:r>
          </a:p>
          <a:p>
            <a:r>
              <a:rPr lang="en-US" dirty="0"/>
              <a:t>Doesn’t use indices like </a:t>
            </a:r>
            <a:r>
              <a:rPr lang="en-US" dirty="0" err="1"/>
              <a:t>tabix</a:t>
            </a:r>
            <a:endParaRPr lang="en-US" dirty="0"/>
          </a:p>
          <a:p>
            <a:r>
              <a:rPr lang="en-US" dirty="0"/>
              <a:t>Scans through files</a:t>
            </a:r>
          </a:p>
        </p:txBody>
      </p:sp>
    </p:spTree>
    <p:extLst>
      <p:ext uri="{BB962C8B-B14F-4D97-AF65-F5344CB8AC3E}">
        <p14:creationId xmlns:p14="http://schemas.microsoft.com/office/powerpoint/2010/main" val="222167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0386-5783-166E-A43B-CA8B9FD7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UCSC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C60B-D081-8B3C-DA96-B330CFCF6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UCSC provides many command-line tools</a:t>
            </a:r>
          </a:p>
          <a:p>
            <a:r>
              <a:rPr lang="en-US" dirty="0"/>
              <a:t>Access UCSC-specific file formats</a:t>
            </a:r>
          </a:p>
          <a:p>
            <a:r>
              <a:rPr lang="en-US" dirty="0"/>
              <a:t>Extract data from large datasets, remotely</a:t>
            </a:r>
          </a:p>
          <a:p>
            <a:r>
              <a:rPr lang="en-US" dirty="0"/>
              <a:t>Convert between formats</a:t>
            </a:r>
          </a:p>
          <a:p>
            <a:r>
              <a:rPr lang="en-US" dirty="0"/>
              <a:t>Often use internal indices (no index file required)</a:t>
            </a:r>
          </a:p>
        </p:txBody>
      </p:sp>
    </p:spTree>
    <p:extLst>
      <p:ext uri="{BB962C8B-B14F-4D97-AF65-F5344CB8AC3E}">
        <p14:creationId xmlns:p14="http://schemas.microsoft.com/office/powerpoint/2010/main" val="3404413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F408-BFA6-90B8-78DC-E16D99A8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B28C74-52F8-9D87-7647-D72E789AB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680653"/>
              </p:ext>
            </p:extLst>
          </p:nvPr>
        </p:nvGraphicFramePr>
        <p:xfrm>
          <a:off x="1662715" y="2131060"/>
          <a:ext cx="886656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248">
                  <a:extLst>
                    <a:ext uri="{9D8B030D-6E8A-4147-A177-3AD203B41FA5}">
                      <a16:colId xmlns:a16="http://schemas.microsoft.com/office/drawing/2014/main" val="4216811422"/>
                    </a:ext>
                  </a:extLst>
                </a:gridCol>
                <a:gridCol w="6886321">
                  <a:extLst>
                    <a:ext uri="{9D8B030D-6E8A-4147-A177-3AD203B41FA5}">
                      <a16:colId xmlns:a16="http://schemas.microsoft.com/office/drawing/2014/main" val="3735100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66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want to download a file from the web”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7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want to pipe web data directly into other commands”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4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tabix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want info on some regions from a huge file”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5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bcftools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want to query/filter VCF/BCF data”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680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bedtools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already have genomic data; now I want to compare/manipulate it”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15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bigBedtoBed</a:t>
                      </a:r>
                      <a:r>
                        <a:rPr lang="en-US" dirty="0"/>
                        <a:t>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 want to extract data from UCSC-hosted tracks or binary formats”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97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794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-start=44905795 -end=44909393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/hg38/mane/mane.1.0.bb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output.bed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This extracts rows from MANE select v1.0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mane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  <a:latin typeface="SF Pro Display Light" pitchFamily="2" charset="0"/>
                <a:ea typeface="SF Pro Display Light" pitchFamily="2" charset="0"/>
              </a:rPr>
              <a:t> within 10 kb of the peak SNP</a:t>
            </a:r>
          </a:p>
          <a:p>
            <a:pPr marL="0" indent="0">
              <a:buNone/>
            </a:pPr>
            <a:r>
              <a:rPr lang="en-US" dirty="0">
                <a:latin typeface="SF Pro Display Light" pitchFamily="2" charset="0"/>
                <a:ea typeface="SF Pro Display Light" pitchFamily="2" charset="0"/>
              </a:rPr>
              <a:t>Then use Unix tools or import the file into </a:t>
            </a:r>
            <a:r>
              <a:rPr lang="en-US" dirty="0">
                <a:latin typeface="Inconsolatazi4varl_qu" panose="02000503000000000000" pitchFamily="2" charset="0"/>
              </a:rPr>
              <a:t>R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to manipulate.</a:t>
            </a:r>
          </a:p>
          <a:p>
            <a:pPr marL="0" indent="0">
              <a:buNone/>
            </a:pPr>
            <a:r>
              <a:rPr lang="en-US" dirty="0">
                <a:latin typeface="SF Pro Display Light" pitchFamily="2" charset="0"/>
                <a:ea typeface="SF Pro Display Light" pitchFamily="2" charset="0"/>
              </a:rPr>
              <a:t>It is not as versatile as SQL for pulling down data, but it suffices.</a:t>
            </a:r>
          </a:p>
        </p:txBody>
      </p:sp>
    </p:spTree>
    <p:extLst>
      <p:ext uri="{BB962C8B-B14F-4D97-AF65-F5344CB8AC3E}">
        <p14:creationId xmlns:p14="http://schemas.microsoft.com/office/powerpoint/2010/main" val="237774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-start=44898822 -end=44918822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/hg38/mane/mane.1.0.bb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-f1-3,6,19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This extracts rows from MANE select v1.0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mane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within 10 kb of the peak SNP, then processes the output so that you see just columns 1–3, 6, and 19</a:t>
            </a:r>
          </a:p>
          <a:p>
            <a:pPr marL="0" indent="0">
              <a:buNone/>
            </a:pPr>
            <a:r>
              <a:rPr lang="en-US" dirty="0">
                <a:latin typeface="Inconsolatazi4varl_qu" panose="02000503000000000000" pitchFamily="2" charset="0"/>
              </a:rPr>
              <a:t>#</a:t>
            </a:r>
            <a:r>
              <a:rPr lang="en-US" dirty="0" err="1">
                <a:latin typeface="Inconsolatazi4varl_qu" panose="02000503000000000000" pitchFamily="2" charset="0"/>
              </a:rPr>
              <a:t>chrom</a:t>
            </a:r>
            <a:r>
              <a:rPr lang="en-US" dirty="0"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latin typeface="Inconsolatazi4varl_qu" panose="02000503000000000000" pitchFamily="2" charset="0"/>
              </a:rPr>
              <a:t>chromStart</a:t>
            </a:r>
            <a:r>
              <a:rPr lang="en-US" dirty="0"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latin typeface="Inconsolatazi4varl_qu" panose="02000503000000000000" pitchFamily="2" charset="0"/>
              </a:rPr>
              <a:t>chromEnd</a:t>
            </a:r>
            <a:r>
              <a:rPr lang="en-US" dirty="0">
                <a:latin typeface="Inconsolatazi4varl_qu" panose="02000503000000000000" pitchFamily="2" charset="0"/>
              </a:rPr>
              <a:t>  strand  geneName2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44891253    44903689  +       TOMM40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44905795    44909393  +       APOE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chr19   44914607    44919346  +       APOC1</a:t>
            </a:r>
          </a:p>
        </p:txBody>
      </p:sp>
    </p:spTree>
    <p:extLst>
      <p:ext uri="{BB962C8B-B14F-4D97-AF65-F5344CB8AC3E}">
        <p14:creationId xmlns:p14="http://schemas.microsoft.com/office/powerpoint/2010/main" val="3392652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-start=44908797 -end=44908847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http://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bbi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clinvar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clinvarMain.bb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\</a:t>
            </a:r>
            <a:b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-f13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These are all the </a:t>
            </a:r>
            <a:r>
              <a:rPr lang="en-US" i="1" dirty="0" err="1">
                <a:solidFill>
                  <a:schemeClr val="accent4">
                    <a:lumMod val="50000"/>
                  </a:schemeClr>
                </a:solidFill>
              </a:rPr>
              <a:t>ClinVar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variants from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clinvarMain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within 50 bp of the peak SNP</a:t>
            </a:r>
          </a:p>
          <a:p>
            <a:pPr marL="0" indent="0">
              <a:buNone/>
            </a:pPr>
            <a:r>
              <a:rPr lang="en-US" dirty="0" err="1">
                <a:latin typeface="Inconsolatazi4varl_qu" panose="02000503000000000000" pitchFamily="2" charset="0"/>
              </a:rPr>
              <a:t>origName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478850|NM_000041.4(APOE):c.508G&gt;C (p.Ala170Pro)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694741|NM_000041.4(APOE):c.526= (p.Arg176=)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17848|NM_000041.2(APOE):c.526C&gt;T (p.Arg176Cys)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1341575|NM_000041.4(APOE):c.548G&gt;C (p.Gly183Ala)</a:t>
            </a:r>
          </a:p>
          <a:p>
            <a:pPr marL="0" indent="0">
              <a:buNone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923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88E1-B1C4-244D-AE5E-479C0547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b="1" dirty="0" err="1">
                <a:latin typeface="Inconsolatazi4varl_qu" panose="02000503000000000000" pitchFamily="2" charset="0"/>
              </a:rPr>
              <a:t>bigBedToBed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8FE3-DB82-8045-9E07-283FA618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2543" cy="4912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bigBedToBed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-header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maxItems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=4 -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chrom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=chr19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-start=44908797 -end=44908847 \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http://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hgdownload.soe.ucsc.edu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gbdb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/hg38/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snp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/dbSnp153.bb \</a:t>
            </a:r>
            <a:b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 </a:t>
            </a:r>
            <a:r>
              <a:rPr lang="en-US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stdout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 | cut -f4,5,7 | column -s $'\t' -t</a:t>
            </a:r>
          </a:p>
          <a:p>
            <a:pPr marL="922338" indent="0">
              <a:buNone/>
            </a:pP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First four SNPs in the MANE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APOE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transcript from </a:t>
            </a:r>
            <a:r>
              <a:rPr lang="en-US" i="1" dirty="0" err="1">
                <a:solidFill>
                  <a:schemeClr val="accent4">
                    <a:lumMod val="50000"/>
                  </a:schemeClr>
                </a:solidFill>
              </a:rPr>
              <a:t>dbSNP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 153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en-US" i="1" dirty="0">
                <a:solidFill>
                  <a:schemeClr val="accent4">
                    <a:lumMod val="50000"/>
                  </a:schemeClr>
                </a:solidFill>
              </a:rPr>
              <a:t>table: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Inconsolatazi4varl_qu" panose="02000503000000000000" pitchFamily="2" charset="0"/>
              </a:rPr>
              <a:t>dbSnp153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Inconsolatazi4varl_qu" panose="02000503000000000000" pitchFamily="2" charset="0"/>
              </a:rPr>
              <a:t>name          ref      alts</a:t>
            </a:r>
            <a:br>
              <a:rPr lang="en-US" dirty="0"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rs515726148   CTCCTCC  CTCC,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rs867594573   C        A,T,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rs376170967   G        A,</a:t>
            </a:r>
            <a:b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</a:b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Inconsolatazi4varl_qu" panose="02000503000000000000" pitchFamily="2" charset="0"/>
              </a:rPr>
              <a:t>rs1300930146  G        T,</a:t>
            </a:r>
          </a:p>
        </p:txBody>
      </p:sp>
    </p:spTree>
    <p:extLst>
      <p:ext uri="{BB962C8B-B14F-4D97-AF65-F5344CB8AC3E}">
        <p14:creationId xmlns:p14="http://schemas.microsoft.com/office/powerpoint/2010/main" val="369109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2076</Words>
  <Application>Microsoft Macintosh PowerPoint</Application>
  <PresentationFormat>Widescreen</PresentationFormat>
  <Paragraphs>186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Aptos Light</vt:lpstr>
      <vt:lpstr>Arial</vt:lpstr>
      <vt:lpstr>Inconsolatazi4varl_qu</vt:lpstr>
      <vt:lpstr>SF Pro Display Light</vt:lpstr>
      <vt:lpstr>Office Theme</vt:lpstr>
      <vt:lpstr>21 UCSC Genome Browser Command-line Tools</vt:lpstr>
      <vt:lpstr>Learning Objectives</vt:lpstr>
      <vt:lpstr>Some data formats</vt:lpstr>
      <vt:lpstr>VCF refresher</vt:lpstr>
      <vt:lpstr>A VCF Example</vt:lpstr>
      <vt:lpstr>Data Lines   Fields 1–8</vt:lpstr>
      <vt:lpstr>INFO Field</vt:lpstr>
      <vt:lpstr>Data Lines   Fields 9, 10, …</vt:lpstr>
      <vt:lpstr>GTF/GFF</vt:lpstr>
      <vt:lpstr>GTF/GFF columns</vt:lpstr>
      <vt:lpstr>GTF/GFF</vt:lpstr>
      <vt:lpstr>bigBed, etc.</vt:lpstr>
      <vt:lpstr>Downloading files with wget</vt:lpstr>
      <vt:lpstr>Transferring data with curl</vt:lpstr>
      <vt:lpstr>Querying genomic regions with tabix </vt:lpstr>
      <vt:lpstr>Querying VCF/BCF with bcftools</vt:lpstr>
      <vt:lpstr>Swiss-Army knife for genomic intervals: bedtools</vt:lpstr>
      <vt:lpstr>UCSC utilities</vt:lpstr>
      <vt:lpstr>Summary</vt:lpstr>
      <vt:lpstr>Example bigBedToBed Code</vt:lpstr>
      <vt:lpstr>Example bigBedToBed Code</vt:lpstr>
      <vt:lpstr>Example bigBedToBed Code</vt:lpstr>
      <vt:lpstr>Example bigBedToBed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Chernus, Jonathan M</dc:creator>
  <cp:lastModifiedBy>Chernus, Jonathan M</cp:lastModifiedBy>
  <cp:revision>112</cp:revision>
  <dcterms:created xsi:type="dcterms:W3CDTF">2026-03-30T00:04:42Z</dcterms:created>
  <dcterms:modified xsi:type="dcterms:W3CDTF">2026-04-02T13:09:57Z</dcterms:modified>
</cp:coreProperties>
</file>