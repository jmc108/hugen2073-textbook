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511" r:id="rId3"/>
    <p:sldId id="336" r:id="rId4"/>
    <p:sldId id="338" r:id="rId5"/>
    <p:sldId id="339" r:id="rId6"/>
    <p:sldId id="34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8A7C-4528-B6A4-2C95-8AE9D732F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E428B-0B7C-5A6D-4C60-EB1493ADA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FCA6B-D505-C498-599F-D8E094D2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2AA3B-89E9-7F2F-E9C5-AE41328A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F876B-7FD2-7240-02C9-4002CB17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29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3142-FAAB-80BB-112A-319CF5F1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29960-7A7A-3DEA-39C2-A24DD1967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AB301-F9CB-1FBE-31EE-50748E11F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CA334-2FD7-CE41-049D-2E45C917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E4DCA-B486-767E-6BA3-4F03D72F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7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FC756-3A53-7504-8CE5-B1C166A3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56708-F808-1AF1-FBB8-AC3266AE9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14B79-14E8-9151-CB66-CC2C543A4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B180A-3B27-BC20-611B-4EF00EEA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B249-18A2-63E7-CE37-65CC1EE5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62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1098C-681F-8CB8-7547-E49FED1D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40779-13A1-50BA-BF12-6711D7745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FC1D7-BFE2-A528-1DC1-7411C1991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678A2-85EB-FE78-31A5-491D8192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65A87-0CD3-486E-211A-402AB0F8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79C91-5472-F6AE-82D9-79F567153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85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877F4-743D-4583-70B8-C05090CCC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AFBF4-4E81-F253-5861-342F5E66E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B8594-9F63-1393-C667-23ECA451D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4F124-372B-1E3A-1BBE-FF431768A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4F74E-B1BC-194B-21B1-BBB33A7B21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0920D2-53C0-A941-E60A-148353DC1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9989E1-3A5F-8474-A383-6DE802300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0FC2F-F3F4-DADF-FD8C-B2794C77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1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991A-3690-14FC-6689-FE70C5690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E6059-4F76-D131-9FFA-2B783B0FD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07547-05F4-9574-C7A2-7C3E668F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7412-4A59-38C8-6ACF-02BD856F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7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EC920-316E-9D32-5440-BE37A4B0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9AE1E-04DF-0450-DF3F-B0392B47D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76851-2D2F-4B84-3F20-36A0626D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0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162D-081E-C5CA-535E-7F14BCBA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F33C0-335D-A5B6-7A3A-50D129C29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ED410-BD54-0A1A-5647-CD91F70A4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04384-F3C5-57E7-22CA-50397225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DBBC4-F283-9651-1E90-D58B1976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57B3A-61D8-45CD-A6FC-B5B8C354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31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957C-871C-C049-A9CD-3355E29C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D6699-C5D7-125A-EC7D-F80098C67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85CBA-DCB3-D675-7288-3DA15B673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E37C6-9966-2DDC-7D5B-1713FB49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682CC-E70A-6CE7-8647-BC281103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E87F8-CD55-BAAA-2F47-E4BD452B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4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1DA03-34FC-0160-370B-B171DE07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1DFD6-2F16-7E17-321E-9F4C05078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27DB-668D-0F06-441F-D645114A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30683-E82C-CE4C-5703-A92D65216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E859-9F8E-E5F4-267D-5CAD84F8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4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BB4FFC-BC73-8A73-2553-C013D985D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A3ADB-C1EB-AD60-167A-3D083045B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8E421-623F-8BD9-DD66-440F7194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DA745-0207-CC8C-E085-4A2B386E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E4A1D-8B0B-2189-E123-8F9D277E3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50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18A14F-8029-22B6-F5B1-81C31C4E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F40CA-2F17-63D7-60B0-CD338E9CF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1DF68-446B-9BE8-B02B-AEBF38808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B8934-B37C-354F-B138-319366F2344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2423A-217B-FD98-2AC2-02AA3F814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6F233-CAB3-7CE9-D378-73E0A9731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9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E3298-5BF3-DAB3-DA60-01AFC75A18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709ED-5457-3077-5B13-342B42CF74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2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DA28-D571-5346-B23E-67839F532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D5C63-B067-8841-9BA3-012D7F1D2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6394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By the end of the session, students will be able to:</a:t>
            </a:r>
            <a:br>
              <a:rPr lang="en-US" dirty="0"/>
            </a:br>
            <a:endParaRPr lang="en-US" dirty="0"/>
          </a:p>
          <a:p>
            <a:r>
              <a:rPr lang="en-US" dirty="0"/>
              <a:t>Query tables in a relational database using SQL </a:t>
            </a:r>
            <a:r>
              <a:rPr lang="en-US" dirty="0">
                <a:latin typeface="Inconsolatazi4varl_qu" panose="02000503000000000000" pitchFamily="2" charset="0"/>
              </a:rPr>
              <a:t>SELECT</a:t>
            </a:r>
            <a:r>
              <a:rPr lang="en-US" dirty="0"/>
              <a:t> statements</a:t>
            </a:r>
          </a:p>
          <a:p>
            <a:r>
              <a:rPr lang="en-US" dirty="0"/>
              <a:t>Query tables in the UCSC Genome Browser using SQL statements in </a:t>
            </a:r>
            <a:r>
              <a:rPr lang="en-US" dirty="0">
                <a:latin typeface="Inconsolatazi4varl_qu" panose="02000503000000000000" pitchFamily="2" charset="0"/>
              </a:rPr>
              <a:t>R</a:t>
            </a:r>
          </a:p>
          <a:p>
            <a:r>
              <a:rPr lang="en-US" strike="sngStrike" dirty="0"/>
              <a:t>Extract data from </a:t>
            </a:r>
            <a:r>
              <a:rPr lang="en-US" strike="sngStrike" dirty="0" err="1"/>
              <a:t>BigBed</a:t>
            </a:r>
            <a:r>
              <a:rPr lang="en-US" strike="sngStrike" dirty="0"/>
              <a:t> files in the UCSC Genome Browser</a:t>
            </a:r>
          </a:p>
          <a:p>
            <a:pPr lvl="1"/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30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88E1-B1C4-244D-AE5E-479C0547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b="1" dirty="0" err="1">
                <a:latin typeface="Inconsolatazi4varl_qu" panose="02000503000000000000" pitchFamily="2" charset="0"/>
              </a:rPr>
              <a:t>bigBedToBed</a:t>
            </a:r>
            <a:r>
              <a:rPr lang="en-US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8FE3-DB82-8045-9E07-283FA618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2543" cy="4912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bigBedToBed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-header -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=chr19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-start=44905795 -end=44909393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http://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hgdownload.soe.ucsc.edu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gbdb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/hg38/mane/mane.1.0.bb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output.bed</a:t>
            </a: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  <a:p>
            <a:pPr marL="922338" indent="0">
              <a:buNone/>
            </a:pPr>
            <a:r>
              <a:rPr lang="en-US" i="1" dirty="0">
                <a:solidFill>
                  <a:schemeClr val="accent4">
                    <a:lumMod val="50000"/>
                  </a:schemeClr>
                </a:solidFill>
                <a:latin typeface="SF Pro Display Light" pitchFamily="2" charset="0"/>
                <a:ea typeface="SF Pro Display Light" pitchFamily="2" charset="0"/>
              </a:rPr>
              <a:t>This extracts rows from MANE select v1.0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SF Pro Display Light" pitchFamily="2" charset="0"/>
                <a:ea typeface="SF Pro Display Light" pitchFamily="2" charset="0"/>
              </a:rPr>
              <a:t>(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  <a:latin typeface="SF Pro Display Light" pitchFamily="2" charset="0"/>
                <a:ea typeface="SF Pro Display Light" pitchFamily="2" charset="0"/>
              </a:rPr>
              <a:t>table: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mane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SF Pro Display Light" pitchFamily="2" charset="0"/>
                <a:ea typeface="SF Pro Display Light" pitchFamily="2" charset="0"/>
              </a:rPr>
              <a:t>)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  <a:latin typeface="SF Pro Display Light" pitchFamily="2" charset="0"/>
                <a:ea typeface="SF Pro Display Light" pitchFamily="2" charset="0"/>
              </a:rPr>
              <a:t> within 10 kb of the peak SNP</a:t>
            </a:r>
          </a:p>
          <a:p>
            <a:pPr marL="0" indent="0">
              <a:buNone/>
            </a:pPr>
            <a:r>
              <a:rPr lang="en-US" dirty="0">
                <a:latin typeface="SF Pro Display Light" pitchFamily="2" charset="0"/>
                <a:ea typeface="SF Pro Display Light" pitchFamily="2" charset="0"/>
              </a:rPr>
              <a:t>Then use Unix tools or import the file into </a:t>
            </a:r>
            <a:r>
              <a:rPr lang="en-US" dirty="0">
                <a:latin typeface="Inconsolatazi4varl_qu" panose="02000503000000000000" pitchFamily="2" charset="0"/>
              </a:rPr>
              <a:t>R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to manipulate.</a:t>
            </a:r>
          </a:p>
          <a:p>
            <a:pPr marL="0" indent="0">
              <a:buNone/>
            </a:pPr>
            <a:r>
              <a:rPr lang="en-US" dirty="0">
                <a:latin typeface="SF Pro Display Light" pitchFamily="2" charset="0"/>
                <a:ea typeface="SF Pro Display Light" pitchFamily="2" charset="0"/>
              </a:rPr>
              <a:t>It is not as versatile as SQL for pulling down data, but it suffices.</a:t>
            </a:r>
          </a:p>
        </p:txBody>
      </p:sp>
    </p:spTree>
    <p:extLst>
      <p:ext uri="{BB962C8B-B14F-4D97-AF65-F5344CB8AC3E}">
        <p14:creationId xmlns:p14="http://schemas.microsoft.com/office/powerpoint/2010/main" val="237774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88E1-B1C4-244D-AE5E-479C0547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b="1" dirty="0" err="1">
                <a:latin typeface="Inconsolatazi4varl_qu" panose="02000503000000000000" pitchFamily="2" charset="0"/>
              </a:rPr>
              <a:t>bigBedToBed</a:t>
            </a:r>
            <a:r>
              <a:rPr lang="en-US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8FE3-DB82-8045-9E07-283FA618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2543" cy="4912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bigBedToBed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-header -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=chr19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-start=44898822 -end=44918822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http://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hgdownload.soe.ucsc.edu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gbdb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/hg38/mane/mane.1.0.bb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stdout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| cut -f1-3,6,19 | column -s $'\t' -t</a:t>
            </a:r>
          </a:p>
          <a:p>
            <a:pPr marL="922338" indent="0">
              <a:buNone/>
            </a:pP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This extracts rows from MANE select v1.0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table: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mane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 within 10 kb of the peak SNP, then processes the output so that you see just columns 1–3, 6, and 19</a:t>
            </a:r>
          </a:p>
          <a:p>
            <a:pPr marL="0" indent="0">
              <a:buNone/>
            </a:pPr>
            <a:r>
              <a:rPr lang="en-US" dirty="0">
                <a:latin typeface="Inconsolatazi4varl_qu" panose="02000503000000000000" pitchFamily="2" charset="0"/>
              </a:rPr>
              <a:t>#</a:t>
            </a:r>
            <a:r>
              <a:rPr lang="en-US" dirty="0" err="1">
                <a:latin typeface="Inconsolatazi4varl_qu" panose="02000503000000000000" pitchFamily="2" charset="0"/>
              </a:rPr>
              <a:t>chrom</a:t>
            </a:r>
            <a:r>
              <a:rPr lang="en-US" dirty="0"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latin typeface="Inconsolatazi4varl_qu" panose="02000503000000000000" pitchFamily="2" charset="0"/>
              </a:rPr>
              <a:t>chromEnd</a:t>
            </a:r>
            <a:r>
              <a:rPr lang="en-US" dirty="0">
                <a:latin typeface="Inconsolatazi4varl_qu" panose="02000503000000000000" pitchFamily="2" charset="0"/>
              </a:rPr>
              <a:t>  strand  geneName2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chr19   44891253    44903689  +       TOMM40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chr19   44905795    44909393  +       APOE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chr19   44914607    44919346  +       APOC1</a:t>
            </a:r>
          </a:p>
        </p:txBody>
      </p:sp>
    </p:spTree>
    <p:extLst>
      <p:ext uri="{BB962C8B-B14F-4D97-AF65-F5344CB8AC3E}">
        <p14:creationId xmlns:p14="http://schemas.microsoft.com/office/powerpoint/2010/main" val="3392652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88E1-B1C4-244D-AE5E-479C0547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b="1" dirty="0" err="1">
                <a:latin typeface="Inconsolatazi4varl_qu" panose="02000503000000000000" pitchFamily="2" charset="0"/>
              </a:rPr>
              <a:t>bigBedToBed</a:t>
            </a:r>
            <a:r>
              <a:rPr lang="en-US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8FE3-DB82-8045-9E07-283FA618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2543" cy="4912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bigBedToBed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-header -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=chr19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-start=44908797 -end=44908847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http://</a:t>
            </a:r>
            <a:r>
              <a:rPr 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hgdownload.soe.ucsc.edu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gbdb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/hg38/</a:t>
            </a:r>
            <a:r>
              <a:rPr 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bbi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clinvar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clinvarMain.bb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\</a:t>
            </a:r>
            <a:b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stdout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| cut -f13 | column -s $'\t' -t</a:t>
            </a:r>
          </a:p>
          <a:p>
            <a:pPr marL="922338" indent="0">
              <a:buNone/>
            </a:pP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These are all the </a:t>
            </a:r>
            <a:r>
              <a:rPr lang="en-US" i="1" dirty="0" err="1">
                <a:solidFill>
                  <a:schemeClr val="accent4">
                    <a:lumMod val="50000"/>
                  </a:schemeClr>
                </a:solidFill>
              </a:rPr>
              <a:t>ClinVar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 variants from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clinvarMain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 within 50 bp of the peak SNP</a:t>
            </a:r>
          </a:p>
          <a:p>
            <a:pPr marL="0" indent="0">
              <a:buNone/>
            </a:pPr>
            <a:r>
              <a:rPr lang="en-US" dirty="0" err="1">
                <a:latin typeface="Inconsolatazi4varl_qu" panose="02000503000000000000" pitchFamily="2" charset="0"/>
              </a:rPr>
              <a:t>origName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478850|NM_000041.4(APOE):c.508G&gt;C (p.Ala170Pro)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694741|NM_000041.4(APOE):c.526= (p.Arg176=)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17848|NM_000041.2(APOE):c.526C&gt;T (p.Arg176Cys)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1341575|NM_000041.4(APOE):c.548G&gt;C (p.Gly183Ala)</a:t>
            </a:r>
          </a:p>
          <a:p>
            <a:pPr marL="0" indent="0">
              <a:buNone/>
            </a:pP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92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88E1-B1C4-244D-AE5E-479C0547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b="1" dirty="0" err="1">
                <a:latin typeface="Inconsolatazi4varl_qu" panose="02000503000000000000" pitchFamily="2" charset="0"/>
              </a:rPr>
              <a:t>bigBedToBed</a:t>
            </a:r>
            <a:r>
              <a:rPr lang="en-US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8FE3-DB82-8045-9E07-283FA618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2543" cy="4912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bigBedToBed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-header -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maxItems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=4 -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=chr19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-start=44908797 -end=44908847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http://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hgdownload.soe.ucsc.edu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gbdb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/hg38/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snp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/dbSnp153.bb \</a:t>
            </a:r>
            <a:b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stdout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| cut -f4,5,7 | column -s $'\t' -t</a:t>
            </a:r>
          </a:p>
          <a:p>
            <a:pPr marL="922338" indent="0">
              <a:buNone/>
            </a:pP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First four SNPs in the MANE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APOE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 transcript from </a:t>
            </a:r>
            <a:r>
              <a:rPr lang="en-US" i="1" dirty="0" err="1">
                <a:solidFill>
                  <a:schemeClr val="accent4">
                    <a:lumMod val="50000"/>
                  </a:schemeClr>
                </a:solidFill>
              </a:rPr>
              <a:t>dbSNP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 153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table: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dbSnp153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Inconsolatazi4varl_qu" panose="02000503000000000000" pitchFamily="2" charset="0"/>
              </a:rPr>
              <a:t>name          ref      alts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rs515726148   CTCCTCC  CTCC,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rs867594573   C        A,T,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rs376170967   G        A,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rs1300930146  G        T,</a:t>
            </a:r>
          </a:p>
        </p:txBody>
      </p:sp>
    </p:spTree>
    <p:extLst>
      <p:ext uri="{BB962C8B-B14F-4D97-AF65-F5344CB8AC3E}">
        <p14:creationId xmlns:p14="http://schemas.microsoft.com/office/powerpoint/2010/main" val="369109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Macintosh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Inconsolatazi4varl_qu</vt:lpstr>
      <vt:lpstr>SF Pro Display Light</vt:lpstr>
      <vt:lpstr>Office Theme</vt:lpstr>
      <vt:lpstr>PowerPoint Presentation</vt:lpstr>
      <vt:lpstr>Learning Objectives</vt:lpstr>
      <vt:lpstr>Example bigBedToBed Code</vt:lpstr>
      <vt:lpstr>Example bigBedToBed Code</vt:lpstr>
      <vt:lpstr>Example bigBedToBed Code</vt:lpstr>
      <vt:lpstr>Example bigBedToBed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Chernus, Jonathan M</dc:creator>
  <cp:lastModifiedBy>Chernus, Jonathan M</cp:lastModifiedBy>
  <cp:revision>3</cp:revision>
  <dcterms:created xsi:type="dcterms:W3CDTF">2026-03-30T00:04:42Z</dcterms:created>
  <dcterms:modified xsi:type="dcterms:W3CDTF">2026-03-30T20:30:00Z</dcterms:modified>
</cp:coreProperties>
</file>