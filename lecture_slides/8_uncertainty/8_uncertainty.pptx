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523" r:id="rId2"/>
    <p:sldId id="402" r:id="rId3"/>
    <p:sldId id="347" r:id="rId4"/>
    <p:sldId id="344" r:id="rId5"/>
    <p:sldId id="345" r:id="rId6"/>
    <p:sldId id="495" r:id="rId7"/>
    <p:sldId id="407" r:id="rId8"/>
    <p:sldId id="385" r:id="rId9"/>
    <p:sldId id="386" r:id="rId10"/>
    <p:sldId id="387" r:id="rId11"/>
    <p:sldId id="354" r:id="rId12"/>
    <p:sldId id="358" r:id="rId13"/>
    <p:sldId id="359" r:id="rId14"/>
    <p:sldId id="360" r:id="rId15"/>
    <p:sldId id="361" r:id="rId16"/>
    <p:sldId id="362" r:id="rId17"/>
    <p:sldId id="390" r:id="rId18"/>
    <p:sldId id="403" r:id="rId19"/>
    <p:sldId id="513" r:id="rId20"/>
    <p:sldId id="514" r:id="rId21"/>
    <p:sldId id="490" r:id="rId22"/>
    <p:sldId id="522" r:id="rId23"/>
    <p:sldId id="404" r:id="rId24"/>
    <p:sldId id="516" r:id="rId25"/>
    <p:sldId id="396" r:id="rId26"/>
    <p:sldId id="517" r:id="rId27"/>
    <p:sldId id="518" r:id="rId28"/>
    <p:sldId id="399" r:id="rId29"/>
    <p:sldId id="369" r:id="rId30"/>
    <p:sldId id="370" r:id="rId31"/>
    <p:sldId id="371" r:id="rId32"/>
    <p:sldId id="372" r:id="rId33"/>
    <p:sldId id="375" r:id="rId34"/>
    <p:sldId id="38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96327"/>
  </p:normalViewPr>
  <p:slideViewPr>
    <p:cSldViewPr snapToGrid="0">
      <p:cViewPr varScale="1">
        <p:scale>
          <a:sx n="104" d="100"/>
          <a:sy n="104" d="100"/>
        </p:scale>
        <p:origin x="208"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0D9B4-952E-EB4E-9FA0-C7E56B651067}" type="datetimeFigureOut">
              <a:rPr lang="en-US" smtClean="0"/>
              <a:t>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76E7E-4142-9F45-870D-68B8612A849E}" type="slidenum">
              <a:rPr lang="en-US" smtClean="0"/>
              <a:t>‹#›</a:t>
            </a:fld>
            <a:endParaRPr lang="en-US"/>
          </a:p>
        </p:txBody>
      </p:sp>
    </p:spTree>
    <p:extLst>
      <p:ext uri="{BB962C8B-B14F-4D97-AF65-F5344CB8AC3E}">
        <p14:creationId xmlns:p14="http://schemas.microsoft.com/office/powerpoint/2010/main" val="1484128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erialmentor.com/dataviz/visualizing-uncertainty.html#fig:probability-waffl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erialmentor.com/dataviz/visualizing-uncertainty.html#fig:election-prediction"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erialmentor.com/dataviz/visualizing-uncertainty.html#fig:probability-waffle"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serialmentor.com/dataviz/visualizing-uncertainty.html#fig:election-quantile-dot" TargetMode="External"/><Relationship Id="rId5" Type="http://schemas.openxmlformats.org/officeDocument/2006/relationships/hyperlink" Target="https://serialmentor.com/dataviz/visualizing-uncertainty.html#ref-Kay_et_al_2016" TargetMode="External"/><Relationship Id="rId4" Type="http://schemas.openxmlformats.org/officeDocument/2006/relationships/hyperlink" Target="https://serialmentor.com/dataviz/visualizing-uncertainty.html#fig:election-prediction"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erialmentor.com/dataviz/boxplots-violins.html#boxplots-violin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serialmentor.com/dataviz/boxplots-violins.html#fig:lincoln-temp-points-errorbars"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erialmentor.com/dataviz/visualizing-uncertainty.html#fig:cocoa-data-vs-CI"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erialmentor.com/dataviz/visualizing-uncertainty.html#fig:confidence-visualization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erialmentor.com/dataviz/visualizing-uncertainty.html#fig:confidence-visualizations"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serialmentor.com/dataviz/visualizing-uncertainty.html#fig:election-quantile-dot"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erialmentor.com/dataviz/visualizing-uncertainty.html#fig:blue-jays-male-conf-band"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erialmentor.com/dataviz/visualizing-uncertainty.html#fig:blue-jays-male-fitted-draw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erialmentor.com/dataviz/visualizing-uncertainty.html#fig:blue-jays-male-graded-conf-band"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we are only interested in two discrete outcomes, success or failure, then a visualization such as Figure </a:t>
            </a:r>
            <a:r>
              <a:rPr lang="en-US" sz="1200" b="0" i="0" u="none" strike="noStrike" kern="1200" dirty="0">
                <a:solidFill>
                  <a:schemeClr val="tx1"/>
                </a:solidFill>
                <a:effectLst/>
                <a:latin typeface="+mn-lt"/>
                <a:ea typeface="+mn-ea"/>
                <a:cs typeface="+mn-cs"/>
                <a:hlinkClick r:id="rId3"/>
              </a:rPr>
              <a:t>16.1</a:t>
            </a:r>
            <a:r>
              <a:rPr lang="en-US" sz="1200" b="0" i="0" kern="1200" dirty="0">
                <a:solidFill>
                  <a:schemeClr val="tx1"/>
                </a:solidFill>
                <a:effectLst/>
                <a:latin typeface="+mn-lt"/>
                <a:ea typeface="+mn-ea"/>
                <a:cs typeface="+mn-cs"/>
              </a:rPr>
              <a:t> works fine. </a:t>
            </a:r>
            <a:endParaRPr lang="en-US" dirty="0"/>
          </a:p>
        </p:txBody>
      </p:sp>
      <p:sp>
        <p:nvSpPr>
          <p:cNvPr id="4" name="Slide Number Placeholder 3"/>
          <p:cNvSpPr>
            <a:spLocks noGrp="1"/>
          </p:cNvSpPr>
          <p:nvPr>
            <p:ph type="sldNum" sz="quarter" idx="5"/>
          </p:nvPr>
        </p:nvSpPr>
        <p:spPr/>
        <p:txBody>
          <a:bodyPr/>
          <a:lstStyle/>
          <a:p>
            <a:fld id="{4BAF0735-F145-4B9C-9BE5-23AA3F3DE317}" type="slidenum">
              <a:rPr lang="en-US" smtClean="0"/>
              <a:t>2</a:t>
            </a:fld>
            <a:endParaRPr lang="en-US"/>
          </a:p>
        </p:txBody>
      </p:sp>
    </p:spTree>
    <p:extLst>
      <p:ext uri="{BB962C8B-B14F-4D97-AF65-F5344CB8AC3E}">
        <p14:creationId xmlns:p14="http://schemas.microsoft.com/office/powerpoint/2010/main" val="608024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To make a prediction before the election, we cannot poll each individual citizen in each district about how they are going to vote. Instead, we have to poll a subset of citizens in a subset of districts and use that data to arrive at a best guess. In statistical language, the total set of possible votes of all citizens in all districts is called the </a:t>
            </a:r>
            <a:r>
              <a:rPr lang="en-US" sz="1200" b="0" i="1" kern="1200">
                <a:solidFill>
                  <a:schemeClr val="tx1"/>
                </a:solidFill>
                <a:effectLst/>
                <a:latin typeface="+mn-lt"/>
                <a:ea typeface="+mn-ea"/>
                <a:cs typeface="+mn-cs"/>
              </a:rPr>
              <a:t>population,</a:t>
            </a:r>
            <a:r>
              <a:rPr lang="en-US" sz="1200" b="0" i="0" kern="1200">
                <a:solidFill>
                  <a:schemeClr val="tx1"/>
                </a:solidFill>
                <a:effectLst/>
                <a:latin typeface="+mn-lt"/>
                <a:ea typeface="+mn-ea"/>
                <a:cs typeface="+mn-cs"/>
              </a:rPr>
              <a:t> and the subset of citizens and/or districts we poll is the </a:t>
            </a:r>
            <a:r>
              <a:rPr lang="en-US" sz="1200" b="0" i="1" kern="1200">
                <a:solidFill>
                  <a:schemeClr val="tx1"/>
                </a:solidFill>
                <a:effectLst/>
                <a:latin typeface="+mn-lt"/>
                <a:ea typeface="+mn-ea"/>
                <a:cs typeface="+mn-cs"/>
              </a:rPr>
              <a:t>sample.</a:t>
            </a:r>
            <a:r>
              <a:rPr lang="en-US" sz="1200" b="0" i="0" kern="1200">
                <a:solidFill>
                  <a:schemeClr val="tx1"/>
                </a:solidFill>
                <a:effectLst/>
                <a:latin typeface="+mn-lt"/>
                <a:ea typeface="+mn-ea"/>
                <a:cs typeface="+mn-cs"/>
              </a:rPr>
              <a:t> The population represents the underlying, true state of the world and the sample is our window into that world.</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a:t>
            </a:fld>
            <a:endParaRPr lang="en-US"/>
          </a:p>
        </p:txBody>
      </p:sp>
    </p:spTree>
    <p:extLst>
      <p:ext uri="{BB962C8B-B14F-4D97-AF65-F5344CB8AC3E}">
        <p14:creationId xmlns:p14="http://schemas.microsoft.com/office/powerpoint/2010/main" val="3857542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However, often we are dealing with more complex scenarios where the outcome of a random trial is a numeric variable. One common scenario is that of election predictions, where we are interested not only in who will win but also by how much. Let’s consider a hypothetical example of an upcoming election with two parties, the yellow party and the blue party. Assume you hear on the radio that the blue party is predicted to have a one percentage point advantage over the yellow party, with a margin of error of 1.76 percentage points. What does this information tell you about the likely outcome of the election? It is human nature to hear “the blue party will win,” but reality is more complicated. First, and most importantly, there is a range of different possible outcomes. The blue party could end up winning with a lead of two percentage points or the yellow party could end up winning with a lead of half a percentage point. The range of possible outcomes with their associated likelihoods is called a probability distribution, and we can draw it as a smooth curve that rises and then falls over the range of possible outcomes (Figure </a:t>
            </a:r>
            <a:r>
              <a:rPr lang="en-US" sz="1200" b="0" i="0" u="none" strike="noStrike" kern="1200" dirty="0">
                <a:solidFill>
                  <a:schemeClr val="tx1"/>
                </a:solidFill>
                <a:effectLst/>
                <a:latin typeface="+mn-lt"/>
                <a:ea typeface="+mn-ea"/>
                <a:cs typeface="+mn-cs"/>
                <a:hlinkClick r:id="rId3"/>
              </a:rPr>
              <a:t>16.2</a:t>
            </a:r>
            <a:r>
              <a:rPr lang="en-US" sz="1200" b="0" i="0" kern="1200" dirty="0">
                <a:solidFill>
                  <a:schemeClr val="tx1"/>
                </a:solidFill>
                <a:effectLst/>
                <a:latin typeface="+mn-lt"/>
                <a:ea typeface="+mn-ea"/>
                <a:cs typeface="+mn-cs"/>
              </a:rPr>
              <a:t>). The higher the curve for a specific outcome, the more likely that outcome is.</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BAF0735-F145-4B9C-9BE5-23AA3F3DE317}" type="slidenum">
              <a:rPr lang="en-US" smtClean="0"/>
              <a:t>4</a:t>
            </a:fld>
            <a:endParaRPr lang="en-US"/>
          </a:p>
        </p:txBody>
      </p:sp>
    </p:spTree>
    <p:extLst>
      <p:ext uri="{BB962C8B-B14F-4D97-AF65-F5344CB8AC3E}">
        <p14:creationId xmlns:p14="http://schemas.microsoft.com/office/powerpoint/2010/main" val="1625458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By doing some math, we can calculate that for our made-up example, the chance of the yellow party winning is 12.9%. So the chance of yellow winning is a tad better than the 10% chance scenario shown in Figure </a:t>
            </a:r>
            <a:r>
              <a:rPr lang="en-US" sz="1200" b="0" i="0" u="none" strike="noStrike" kern="1200" dirty="0">
                <a:solidFill>
                  <a:schemeClr val="tx1"/>
                </a:solidFill>
                <a:effectLst/>
                <a:latin typeface="+mn-lt"/>
                <a:ea typeface="+mn-ea"/>
                <a:cs typeface="+mn-cs"/>
                <a:hlinkClick r:id="rId3"/>
              </a:rPr>
              <a:t>16.1</a:t>
            </a:r>
            <a:r>
              <a:rPr lang="en-US" sz="1200" b="0" i="0" kern="1200" dirty="0">
                <a:solidFill>
                  <a:schemeClr val="tx1"/>
                </a:solidFill>
                <a:effectLst/>
                <a:latin typeface="+mn-lt"/>
                <a:ea typeface="+mn-ea"/>
                <a:cs typeface="+mn-cs"/>
              </a:rPr>
              <a:t>. If you favor the blue party, you may not be overly worried, but the yellow party has enough of a chance of winning that they might just be successful. If you compare Figure </a:t>
            </a:r>
            <a:r>
              <a:rPr lang="en-US" sz="1200" b="0" i="0" u="none" strike="noStrike" kern="1200" dirty="0">
                <a:solidFill>
                  <a:schemeClr val="tx1"/>
                </a:solidFill>
                <a:effectLst/>
                <a:latin typeface="+mn-lt"/>
                <a:ea typeface="+mn-ea"/>
                <a:cs typeface="+mn-cs"/>
                <a:hlinkClick r:id="rId4"/>
              </a:rPr>
              <a:t>16.2</a:t>
            </a:r>
            <a:r>
              <a:rPr lang="en-US" sz="1200" b="0" i="0" kern="1200" dirty="0">
                <a:solidFill>
                  <a:schemeClr val="tx1"/>
                </a:solidFill>
                <a:effectLst/>
                <a:latin typeface="+mn-lt"/>
                <a:ea typeface="+mn-ea"/>
                <a:cs typeface="+mn-cs"/>
              </a:rPr>
              <a:t> to Figure </a:t>
            </a:r>
            <a:r>
              <a:rPr lang="en-US" sz="1200" b="0" i="0" u="none" strike="noStrike" kern="1200" dirty="0">
                <a:solidFill>
                  <a:schemeClr val="tx1"/>
                </a:solidFill>
                <a:effectLst/>
                <a:latin typeface="+mn-lt"/>
                <a:ea typeface="+mn-ea"/>
                <a:cs typeface="+mn-cs"/>
                <a:hlinkClick r:id="rId3"/>
              </a:rPr>
              <a:t>16.1</a:t>
            </a:r>
            <a:r>
              <a:rPr lang="en-US" sz="1200" b="0" i="0" kern="1200" dirty="0">
                <a:solidFill>
                  <a:schemeClr val="tx1"/>
                </a:solidFill>
                <a:effectLst/>
                <a:latin typeface="+mn-lt"/>
                <a:ea typeface="+mn-ea"/>
                <a:cs typeface="+mn-cs"/>
              </a:rPr>
              <a:t>, you may find that Figure </a:t>
            </a:r>
            <a:r>
              <a:rPr lang="en-US" sz="1200" b="0" i="0" u="none" strike="noStrike" kern="1200" dirty="0">
                <a:solidFill>
                  <a:schemeClr val="tx1"/>
                </a:solidFill>
                <a:effectLst/>
                <a:latin typeface="+mn-lt"/>
                <a:ea typeface="+mn-ea"/>
                <a:cs typeface="+mn-cs"/>
                <a:hlinkClick r:id="rId3"/>
              </a:rPr>
              <a:t>16.1</a:t>
            </a:r>
            <a:r>
              <a:rPr lang="en-US" sz="1200" b="0" i="0" kern="1200" dirty="0">
                <a:solidFill>
                  <a:schemeClr val="tx1"/>
                </a:solidFill>
                <a:effectLst/>
                <a:latin typeface="+mn-lt"/>
                <a:ea typeface="+mn-ea"/>
                <a:cs typeface="+mn-cs"/>
              </a:rPr>
              <a:t> creates a much better sense of the uncertainty in outcome, even though the shaded areas in Figure </a:t>
            </a:r>
            <a:r>
              <a:rPr lang="en-US" sz="1200" b="0" i="0" u="none" strike="noStrike" kern="1200" dirty="0">
                <a:solidFill>
                  <a:schemeClr val="tx1"/>
                </a:solidFill>
                <a:effectLst/>
                <a:latin typeface="+mn-lt"/>
                <a:ea typeface="+mn-ea"/>
                <a:cs typeface="+mn-cs"/>
                <a:hlinkClick r:id="rId4"/>
              </a:rPr>
              <a:t>16.2</a:t>
            </a:r>
            <a:r>
              <a:rPr lang="en-US" sz="1200" b="0" i="0" kern="1200" dirty="0">
                <a:solidFill>
                  <a:schemeClr val="tx1"/>
                </a:solidFill>
                <a:effectLst/>
                <a:latin typeface="+mn-lt"/>
                <a:ea typeface="+mn-ea"/>
                <a:cs typeface="+mn-cs"/>
              </a:rPr>
              <a:t> accurately represent the probabilities of blue or yellow winning. This is the power of a discrete outcome visualization. Research in human perception shows that we are much better at perceiving, counting, and judging the relative frequencies of discrete objects—as long as their total number is not too large—than we are at judging the relative sizes of different areas.</a:t>
            </a:r>
            <a:endParaRPr lang="en-US"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can combine the discrete outcome nature of Figure </a:t>
            </a:r>
            <a:r>
              <a:rPr lang="en-US" sz="1200" b="0" i="0" u="none" strike="noStrike" kern="1200" dirty="0">
                <a:solidFill>
                  <a:schemeClr val="tx1"/>
                </a:solidFill>
                <a:effectLst/>
                <a:latin typeface="+mn-lt"/>
                <a:ea typeface="+mn-ea"/>
                <a:cs typeface="+mn-cs"/>
                <a:hlinkClick r:id="rId3"/>
              </a:rPr>
              <a:t>16.1</a:t>
            </a:r>
            <a:r>
              <a:rPr lang="en-US" sz="1200" b="0" i="0" kern="1200" dirty="0">
                <a:solidFill>
                  <a:schemeClr val="tx1"/>
                </a:solidFill>
                <a:effectLst/>
                <a:latin typeface="+mn-lt"/>
                <a:ea typeface="+mn-ea"/>
                <a:cs typeface="+mn-cs"/>
              </a:rPr>
              <a:t> with a continuous distribution as in Figure </a:t>
            </a:r>
            <a:r>
              <a:rPr lang="en-US" sz="1200" b="0" i="0" u="none" strike="noStrike" kern="1200" dirty="0">
                <a:solidFill>
                  <a:schemeClr val="tx1"/>
                </a:solidFill>
                <a:effectLst/>
                <a:latin typeface="+mn-lt"/>
                <a:ea typeface="+mn-ea"/>
                <a:cs typeface="+mn-cs"/>
                <a:hlinkClick r:id="rId4"/>
              </a:rPr>
              <a:t>16.2</a:t>
            </a:r>
            <a:r>
              <a:rPr lang="en-US" sz="1200" b="0" i="0" kern="1200" dirty="0">
                <a:solidFill>
                  <a:schemeClr val="tx1"/>
                </a:solidFill>
                <a:effectLst/>
                <a:latin typeface="+mn-lt"/>
                <a:ea typeface="+mn-ea"/>
                <a:cs typeface="+mn-cs"/>
              </a:rPr>
              <a:t> by drawing a quantile </a:t>
            </a:r>
            <a:r>
              <a:rPr lang="en-US" sz="1200" b="0" i="0" kern="1200" dirty="0" err="1">
                <a:solidFill>
                  <a:schemeClr val="tx1"/>
                </a:solidFill>
                <a:effectLst/>
                <a:latin typeface="+mn-lt"/>
                <a:ea typeface="+mn-ea"/>
                <a:cs typeface="+mn-cs"/>
              </a:rPr>
              <a:t>dotplot</a:t>
            </a:r>
            <a:r>
              <a:rPr lang="en-US" sz="1200" b="0" i="0" kern="1200" dirty="0">
                <a:solidFill>
                  <a:schemeClr val="tx1"/>
                </a:solidFill>
                <a:effectLst/>
                <a:latin typeface="+mn-lt"/>
                <a:ea typeface="+mn-ea"/>
                <a:cs typeface="+mn-cs"/>
              </a:rPr>
              <a:t> (Kay et al. </a:t>
            </a:r>
            <a:r>
              <a:rPr lang="en-US" sz="1200" b="0" i="0" u="none" strike="noStrike" kern="1200" dirty="0">
                <a:solidFill>
                  <a:schemeClr val="tx1"/>
                </a:solidFill>
                <a:effectLst/>
                <a:latin typeface="+mn-lt"/>
                <a:ea typeface="+mn-ea"/>
                <a:cs typeface="+mn-cs"/>
                <a:hlinkClick r:id="rId5"/>
              </a:rPr>
              <a:t>2016</a:t>
            </a:r>
            <a:r>
              <a:rPr lang="en-US" sz="1200" b="0" i="0" kern="1200" dirty="0">
                <a:solidFill>
                  <a:schemeClr val="tx1"/>
                </a:solidFill>
                <a:effectLst/>
                <a:latin typeface="+mn-lt"/>
                <a:ea typeface="+mn-ea"/>
                <a:cs typeface="+mn-cs"/>
              </a:rPr>
              <a:t>). In the quantile </a:t>
            </a:r>
            <a:r>
              <a:rPr lang="en-US" sz="1200" b="0" i="0" kern="1200" dirty="0" err="1">
                <a:solidFill>
                  <a:schemeClr val="tx1"/>
                </a:solidFill>
                <a:effectLst/>
                <a:latin typeface="+mn-lt"/>
                <a:ea typeface="+mn-ea"/>
                <a:cs typeface="+mn-cs"/>
              </a:rPr>
              <a:t>dotplot</a:t>
            </a:r>
            <a:r>
              <a:rPr lang="en-US" sz="1200" b="0" i="0" kern="1200" dirty="0">
                <a:solidFill>
                  <a:schemeClr val="tx1"/>
                </a:solidFill>
                <a:effectLst/>
                <a:latin typeface="+mn-lt"/>
                <a:ea typeface="+mn-ea"/>
                <a:cs typeface="+mn-cs"/>
              </a:rPr>
              <a:t>, we subdivide the total area under the curve into evenly sized units and draw each unit as a circle. We then stack the circles such that their arrangement approximately represents the original distribution curve (Figure </a:t>
            </a:r>
            <a:r>
              <a:rPr lang="en-US" sz="1200" b="0" i="0" u="none" strike="noStrike" kern="1200" dirty="0">
                <a:solidFill>
                  <a:schemeClr val="tx1"/>
                </a:solidFill>
                <a:effectLst/>
                <a:latin typeface="+mn-lt"/>
                <a:ea typeface="+mn-ea"/>
                <a:cs typeface="+mn-cs"/>
                <a:hlinkClick r:id="rId6"/>
              </a:rPr>
              <a:t>16.3</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 a general principle, quantile </a:t>
            </a:r>
            <a:r>
              <a:rPr lang="en-US" sz="1200" b="0" i="0" kern="1200" dirty="0" err="1">
                <a:solidFill>
                  <a:schemeClr val="tx1"/>
                </a:solidFill>
                <a:effectLst/>
                <a:latin typeface="+mn-lt"/>
                <a:ea typeface="+mn-ea"/>
                <a:cs typeface="+mn-cs"/>
              </a:rPr>
              <a:t>dotplots</a:t>
            </a:r>
            <a:r>
              <a:rPr lang="en-US" sz="1200" b="0" i="0" kern="1200" dirty="0">
                <a:solidFill>
                  <a:schemeClr val="tx1"/>
                </a:solidFill>
                <a:effectLst/>
                <a:latin typeface="+mn-lt"/>
                <a:ea typeface="+mn-ea"/>
                <a:cs typeface="+mn-cs"/>
              </a:rPr>
              <a:t> should use a small to moderate number of dots. If there are too many dots, then we tend to perceive them as a continuum rather than as individual, discrete units. This negates the advantages of the discrete plots. Figure </a:t>
            </a:r>
            <a:r>
              <a:rPr lang="en-US" sz="1200" b="0" i="0" u="none" strike="noStrike" kern="1200" dirty="0">
                <a:solidFill>
                  <a:schemeClr val="tx1"/>
                </a:solidFill>
                <a:effectLst/>
                <a:latin typeface="+mn-lt"/>
                <a:ea typeface="+mn-ea"/>
                <a:cs typeface="+mn-cs"/>
                <a:hlinkClick r:id="rId6"/>
              </a:rPr>
              <a:t>16.3</a:t>
            </a:r>
            <a:r>
              <a:rPr lang="en-US" sz="1200" b="0" i="0" kern="1200" dirty="0">
                <a:solidFill>
                  <a:schemeClr val="tx1"/>
                </a:solidFill>
                <a:effectLst/>
                <a:latin typeface="+mn-lt"/>
                <a:ea typeface="+mn-ea"/>
                <a:cs typeface="+mn-cs"/>
              </a:rPr>
              <a:t> shows variants with 50 dots (Figure </a:t>
            </a:r>
            <a:r>
              <a:rPr lang="en-US" sz="1200" b="0" i="0" u="none" strike="noStrike" kern="1200" dirty="0">
                <a:solidFill>
                  <a:schemeClr val="tx1"/>
                </a:solidFill>
                <a:effectLst/>
                <a:latin typeface="+mn-lt"/>
                <a:ea typeface="+mn-ea"/>
                <a:cs typeface="+mn-cs"/>
                <a:hlinkClick r:id="rId6"/>
              </a:rPr>
              <a:t>16.3</a:t>
            </a:r>
            <a:r>
              <a:rPr lang="en-US" sz="1200" b="0" i="0" kern="1200" dirty="0">
                <a:solidFill>
                  <a:schemeClr val="tx1"/>
                </a:solidFill>
                <a:effectLst/>
                <a:latin typeface="+mn-lt"/>
                <a:ea typeface="+mn-ea"/>
                <a:cs typeface="+mn-cs"/>
              </a:rPr>
              <a:t>a) and with ten dots (Figure </a:t>
            </a:r>
            <a:r>
              <a:rPr lang="en-US" sz="1200" b="0" i="0" u="none" strike="noStrike" kern="1200" dirty="0">
                <a:solidFill>
                  <a:schemeClr val="tx1"/>
                </a:solidFill>
                <a:effectLst/>
                <a:latin typeface="+mn-lt"/>
                <a:ea typeface="+mn-ea"/>
                <a:cs typeface="+mn-cs"/>
                <a:hlinkClick r:id="rId6"/>
              </a:rPr>
              <a:t>16.3</a:t>
            </a:r>
            <a:r>
              <a:rPr lang="en-US" sz="1200" b="0" i="0" kern="1200" dirty="0">
                <a:solidFill>
                  <a:schemeClr val="tx1"/>
                </a:solidFill>
                <a:effectLst/>
                <a:latin typeface="+mn-lt"/>
                <a:ea typeface="+mn-ea"/>
                <a:cs typeface="+mn-cs"/>
              </a:rPr>
              <a:t>b). While the version with 50 dots more accurately captures the true probability distribution, the number of dots is too large to easily discriminate individual ones. The version with ten dots more immediately conveys the relative chances of blue or yellow winning. One objection to the ten-dot version might be that it is not very precise. We are underrepresenting the chance of yellow winning by 2.9 percentage points. However, it is often worthwhile to trade some mathematical precision for more accurate human perception of the resulting visualization, in particular when communicating to a lay audience. A visualization that is mathematically correct but not properly perceived is not that useful in practice.</a:t>
            </a:r>
            <a:endParaRPr lang="en-US" dirty="0"/>
          </a:p>
        </p:txBody>
      </p:sp>
      <p:sp>
        <p:nvSpPr>
          <p:cNvPr id="4" name="Slide Number Placeholder 3"/>
          <p:cNvSpPr>
            <a:spLocks noGrp="1"/>
          </p:cNvSpPr>
          <p:nvPr>
            <p:ph type="sldNum" sz="quarter" idx="5"/>
          </p:nvPr>
        </p:nvSpPr>
        <p:spPr/>
        <p:txBody>
          <a:bodyPr/>
          <a:lstStyle/>
          <a:p>
            <a:fld id="{4BAF0735-F145-4B9C-9BE5-23AA3F3DE317}" type="slidenum">
              <a:rPr lang="en-US" smtClean="0"/>
              <a:t>5</a:t>
            </a:fld>
            <a:endParaRPr lang="en-US"/>
          </a:p>
        </p:txBody>
      </p:sp>
    </p:spTree>
    <p:extLst>
      <p:ext uri="{BB962C8B-B14F-4D97-AF65-F5344CB8AC3E}">
        <p14:creationId xmlns:p14="http://schemas.microsoft.com/office/powerpoint/2010/main" val="3738379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Error bars give a general idea of how precise a measurement is, or conversely, how far from the reported value the true (error free) value might be. If the value displayed on your barplot is the result of an aggregation (like the mean value of several data points), you may want to display error bars.</a:t>
            </a:r>
          </a:p>
          <a:p>
            <a:r>
              <a:rPr lang="en-US" sz="1200" b="0" i="0" kern="1200">
                <a:solidFill>
                  <a:schemeClr val="tx1"/>
                </a:solidFill>
                <a:effectLst/>
                <a:latin typeface="+mn-lt"/>
                <a:ea typeface="+mn-ea"/>
                <a:cs typeface="+mn-cs"/>
              </a:rPr>
              <a:t>In the graphic above 5 groups are reported. The bar heights represent their mean value. The black error bar gives information on how the individual observations are dispersed around the average. For instance, it appears that measurements in group </a:t>
            </a:r>
            <a:r>
              <a:rPr lang="en-US"/>
              <a:t>B</a:t>
            </a:r>
            <a:r>
              <a:rPr lang="en-US" sz="1200" b="0" i="0" kern="1200">
                <a:solidFill>
                  <a:schemeClr val="tx1"/>
                </a:solidFill>
                <a:effectLst/>
                <a:latin typeface="+mn-lt"/>
                <a:ea typeface="+mn-ea"/>
                <a:cs typeface="+mn-cs"/>
              </a:rPr>
              <a:t> are more precise than in group </a:t>
            </a:r>
            <a:r>
              <a:rPr lang="en-US"/>
              <a:t>E</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6</a:t>
            </a:fld>
            <a:endParaRPr lang="en-US"/>
          </a:p>
        </p:txBody>
      </p:sp>
    </p:spTree>
    <p:extLst>
      <p:ext uri="{BB962C8B-B14F-4D97-AF65-F5344CB8AC3E}">
        <p14:creationId xmlns:p14="http://schemas.microsoft.com/office/powerpoint/2010/main" val="694531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Error bars give a general idea of how precise a measurement is, or conversely, how far from the reported value the true (error free) value might be. If the value displayed on your barplot is the result of an aggregation (like the mean value of several data points), you may want to display error bars.</a:t>
            </a:r>
          </a:p>
          <a:p>
            <a:r>
              <a:rPr lang="en-US" sz="1200" b="0" i="0" kern="1200">
                <a:solidFill>
                  <a:schemeClr val="tx1"/>
                </a:solidFill>
                <a:effectLst/>
                <a:latin typeface="+mn-lt"/>
                <a:ea typeface="+mn-ea"/>
                <a:cs typeface="+mn-cs"/>
              </a:rPr>
              <a:t>In the graphic above 5 groups are reported. The bar heights represent their mean value. The black error bar gives information on how the individual observations are dispersed around the average. For instance, it appears that measurements in group </a:t>
            </a:r>
            <a:r>
              <a:rPr lang="en-US"/>
              <a:t>B</a:t>
            </a:r>
            <a:r>
              <a:rPr lang="en-US" sz="1200" b="0" i="0" kern="1200">
                <a:solidFill>
                  <a:schemeClr val="tx1"/>
                </a:solidFill>
                <a:effectLst/>
                <a:latin typeface="+mn-lt"/>
                <a:ea typeface="+mn-ea"/>
                <a:cs typeface="+mn-cs"/>
              </a:rPr>
              <a:t> are more precise than in group </a:t>
            </a:r>
            <a:r>
              <a:rPr lang="en-US"/>
              <a:t>E</a:t>
            </a:r>
            <a:r>
              <a:rPr lang="en-US" sz="1200" b="0" i="0" kern="1200">
                <a:solidFill>
                  <a:schemeClr val="tx1"/>
                </a:solidFill>
                <a:effectLst/>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7</a:t>
            </a:fld>
            <a:endParaRPr lang="en-US"/>
          </a:p>
        </p:txBody>
      </p:sp>
    </p:spTree>
    <p:extLst>
      <p:ext uri="{BB962C8B-B14F-4D97-AF65-F5344CB8AC3E}">
        <p14:creationId xmlns:p14="http://schemas.microsoft.com/office/powerpoint/2010/main" val="106897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There’s an error bar. </a:t>
            </a:r>
          </a:p>
          <a:p>
            <a:r>
              <a:rPr lang="en-US" sz="1200" b="0" i="0" kern="1200">
                <a:solidFill>
                  <a:schemeClr val="tx1"/>
                </a:solidFill>
                <a:effectLst/>
                <a:latin typeface="+mn-lt"/>
                <a:ea typeface="+mn-ea"/>
                <a:cs typeface="+mn-cs"/>
              </a:rPr>
              <a:t>There’re stars. </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8</a:t>
            </a:fld>
            <a:endParaRPr lang="en-US"/>
          </a:p>
        </p:txBody>
      </p:sp>
    </p:spTree>
    <p:extLst>
      <p:ext uri="{BB962C8B-B14F-4D97-AF65-F5344CB8AC3E}">
        <p14:creationId xmlns:p14="http://schemas.microsoft.com/office/powerpoint/2010/main" val="1116132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With dots</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9</a:t>
            </a:fld>
            <a:endParaRPr lang="en-US"/>
          </a:p>
        </p:txBody>
      </p:sp>
    </p:spTree>
    <p:extLst>
      <p:ext uri="{BB962C8B-B14F-4D97-AF65-F5344CB8AC3E}">
        <p14:creationId xmlns:p14="http://schemas.microsoft.com/office/powerpoint/2010/main" val="1737330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Frequentists most commonly visualize uncertainty with error bars. While error bars can be useful as a visualization of uncertainty, they are not without problems, as I already alluded to in Chapter </a:t>
            </a:r>
            <a:r>
              <a:rPr lang="en-US" sz="1200" b="0" i="0" u="none" strike="noStrike" kern="1200" dirty="0">
                <a:solidFill>
                  <a:schemeClr val="tx1"/>
                </a:solidFill>
                <a:effectLst/>
                <a:latin typeface="+mn-lt"/>
                <a:ea typeface="+mn-ea"/>
                <a:cs typeface="+mn-cs"/>
                <a:hlinkClick r:id="rId3"/>
              </a:rPr>
              <a:t>9</a:t>
            </a:r>
            <a:r>
              <a:rPr lang="en-US" sz="1200" b="0" i="0" kern="1200" dirty="0">
                <a:solidFill>
                  <a:schemeClr val="tx1"/>
                </a:solidFill>
                <a:effectLst/>
                <a:latin typeface="+mn-lt"/>
                <a:ea typeface="+mn-ea"/>
                <a:cs typeface="+mn-cs"/>
              </a:rPr>
              <a:t> (see Figure </a:t>
            </a:r>
            <a:r>
              <a:rPr lang="en-US" sz="1200" b="0" i="0" u="none" strike="noStrike" kern="1200" dirty="0">
                <a:solidFill>
                  <a:schemeClr val="tx1"/>
                </a:solidFill>
                <a:effectLst/>
                <a:latin typeface="+mn-lt"/>
                <a:ea typeface="+mn-ea"/>
                <a:cs typeface="+mn-cs"/>
                <a:hlinkClick r:id="rId4"/>
              </a:rPr>
              <a:t>9.1</a:t>
            </a:r>
            <a:r>
              <a:rPr lang="en-US" sz="1200" b="0" i="0" kern="1200" dirty="0">
                <a:solidFill>
                  <a:schemeClr val="tx1"/>
                </a:solidFill>
                <a:effectLst/>
                <a:latin typeface="+mn-lt"/>
                <a:ea typeface="+mn-ea"/>
                <a:cs typeface="+mn-cs"/>
              </a:rPr>
              <a:t>). It is easy for readers to be confused about what an error bar represents.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10</a:t>
            </a:fld>
            <a:endParaRPr lang="en-US"/>
          </a:p>
        </p:txBody>
      </p:sp>
    </p:spTree>
    <p:extLst>
      <p:ext uri="{BB962C8B-B14F-4D97-AF65-F5344CB8AC3E}">
        <p14:creationId xmlns:p14="http://schemas.microsoft.com/office/powerpoint/2010/main" val="196475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highlight this problem, in Figure </a:t>
            </a:r>
            <a:r>
              <a:rPr lang="en-US" sz="1200" b="0" i="0" u="none" strike="noStrike" kern="1200" dirty="0">
                <a:solidFill>
                  <a:schemeClr val="tx1"/>
                </a:solidFill>
                <a:effectLst/>
                <a:latin typeface="+mn-lt"/>
                <a:ea typeface="+mn-ea"/>
                <a:cs typeface="+mn-cs"/>
                <a:hlinkClick r:id="rId3"/>
              </a:rPr>
              <a:t>16.5</a:t>
            </a:r>
            <a:r>
              <a:rPr lang="en-US" sz="1200" b="0" i="0" kern="1200" dirty="0">
                <a:solidFill>
                  <a:schemeClr val="tx1"/>
                </a:solidFill>
                <a:effectLst/>
                <a:latin typeface="+mn-lt"/>
                <a:ea typeface="+mn-ea"/>
                <a:cs typeface="+mn-cs"/>
              </a:rPr>
              <a:t> I show five different uses of error bars for the same dataset. The dataset contains expert ratings of chocolate bars, rated on a scale from 1 to 5, for chocolate bars manufactured in a number of different countries. For Figure </a:t>
            </a:r>
            <a:r>
              <a:rPr lang="en-US" sz="1200" b="0" i="0" u="none" strike="noStrike" kern="1200" dirty="0">
                <a:solidFill>
                  <a:schemeClr val="tx1"/>
                </a:solidFill>
                <a:effectLst/>
                <a:latin typeface="+mn-lt"/>
                <a:ea typeface="+mn-ea"/>
                <a:cs typeface="+mn-cs"/>
                <a:hlinkClick r:id="rId3"/>
              </a:rPr>
              <a:t>16.5</a:t>
            </a:r>
            <a:r>
              <a:rPr lang="en-US" sz="1200" b="0" i="0" kern="1200" dirty="0">
                <a:solidFill>
                  <a:schemeClr val="tx1"/>
                </a:solidFill>
                <a:effectLst/>
                <a:latin typeface="+mn-lt"/>
                <a:ea typeface="+mn-ea"/>
                <a:cs typeface="+mn-cs"/>
              </a:rPr>
              <a:t> I have extracted all ratings for chocolate bars manufactured in Canada. Underneath the sample, which is shown as a strip chart of jittered dots, we see the sample mean plus/minus the standard deviation of the sample, the sample mean plus/minus the standard error, and 80%, 95%, and 99% confidence intervals. All five error bars are derived from the variation in the sample, and they are all mathematically related, but they have different meanings. And they are also visually quite distinct.</a:t>
            </a:r>
          </a:p>
        </p:txBody>
      </p:sp>
      <p:sp>
        <p:nvSpPr>
          <p:cNvPr id="4" name="Slide Number Placeholder 3"/>
          <p:cNvSpPr>
            <a:spLocks noGrp="1"/>
          </p:cNvSpPr>
          <p:nvPr>
            <p:ph type="sldNum" sz="quarter" idx="10"/>
          </p:nvPr>
        </p:nvSpPr>
        <p:spPr/>
        <p:txBody>
          <a:bodyPr/>
          <a:lstStyle/>
          <a:p>
            <a:fld id="{4BAF0735-F145-4B9C-9BE5-23AA3F3DE317}" type="slidenum">
              <a:rPr lang="en-US" smtClean="0"/>
              <a:t>11</a:t>
            </a:fld>
            <a:endParaRPr lang="en-US"/>
          </a:p>
        </p:txBody>
      </p:sp>
    </p:spTree>
    <p:extLst>
      <p:ext uri="{BB962C8B-B14F-4D97-AF65-F5344CB8AC3E}">
        <p14:creationId xmlns:p14="http://schemas.microsoft.com/office/powerpoint/2010/main" val="1295809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In the preceding figures, I have used two different types of error bars, graded and simple. More variations are possible. For example, we can draw error bars with or without a cap at the end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a, c versus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b, d). There are advantages and disadvantages to all these choices. Graded error bars highlight the existence of different ranges corresponding to different confidence levels. However, the flip side of this additional information is added visual noise. Depending on how complex and information-dense a figure is otherwise, simple error bars may be preferable to graded ones. Whether to draw error bars with or without cap is primarily a question of personal taste. A cap highlights where exactly an error bar ends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a, c), whereas an error bar without cap puts equal emphasis on the entire range of the interval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b, d). Also, again, caps add visual noise, so in a figure with many error bars omitting caps may be preferable.</a:t>
            </a:r>
          </a:p>
        </p:txBody>
      </p:sp>
      <p:sp>
        <p:nvSpPr>
          <p:cNvPr id="4" name="Slide Number Placeholder 3"/>
          <p:cNvSpPr>
            <a:spLocks noGrp="1"/>
          </p:cNvSpPr>
          <p:nvPr>
            <p:ph type="sldNum" sz="quarter" idx="10"/>
          </p:nvPr>
        </p:nvSpPr>
        <p:spPr/>
        <p:txBody>
          <a:bodyPr/>
          <a:lstStyle/>
          <a:p>
            <a:fld id="{4BAF0735-F145-4B9C-9BE5-23AA3F3DE317}" type="slidenum">
              <a:rPr lang="en-US" smtClean="0"/>
              <a:t>12</a:t>
            </a:fld>
            <a:endParaRPr lang="en-US"/>
          </a:p>
        </p:txBody>
      </p:sp>
    </p:spTree>
    <p:extLst>
      <p:ext uri="{BB962C8B-B14F-4D97-AF65-F5344CB8AC3E}">
        <p14:creationId xmlns:p14="http://schemas.microsoft.com/office/powerpoint/2010/main" val="3555858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As an alternative to error bars we could draw confidence strips that gradually fade into nothing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e). Confidence strips better convey how probable different values are, but they are difficult to read. We would have to visually integrate the different shadings of color to determine where a specific confidence level ends. From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e we might conclude that the mean rating for Peruvian chocolate bars is significantly lower than that of U.S. chocolate bars, and yet this is not the case. Similar problems arise when we show explicit confidence distributions (Figure </a:t>
            </a:r>
            <a:r>
              <a:rPr lang="en-US" sz="1200" b="0" i="0" u="none" strike="noStrike" kern="1200">
                <a:solidFill>
                  <a:schemeClr val="tx1"/>
                </a:solidFill>
                <a:effectLst/>
                <a:latin typeface="+mn-lt"/>
                <a:ea typeface="+mn-ea"/>
                <a:cs typeface="+mn-cs"/>
                <a:hlinkClick r:id="rId3"/>
              </a:rPr>
              <a:t>16.9</a:t>
            </a:r>
            <a:r>
              <a:rPr lang="en-US" sz="1200" b="0" i="0" kern="1200">
                <a:solidFill>
                  <a:schemeClr val="tx1"/>
                </a:solidFill>
                <a:effectLst/>
                <a:latin typeface="+mn-lt"/>
                <a:ea typeface="+mn-ea"/>
                <a:cs typeface="+mn-cs"/>
              </a:rPr>
              <a:t>f). It is difficult to visually integrate the area under the curve and to determine where exactly a given confidence level is reached. This issue can be somewhat alleviated, however, by drawing quantile dotplots as in Figure </a:t>
            </a:r>
            <a:r>
              <a:rPr lang="en-US" sz="1200" b="0" i="0" u="none" strike="noStrike" kern="1200">
                <a:solidFill>
                  <a:schemeClr val="tx1"/>
                </a:solidFill>
                <a:effectLst/>
                <a:latin typeface="+mn-lt"/>
                <a:ea typeface="+mn-ea"/>
                <a:cs typeface="+mn-cs"/>
                <a:hlinkClick r:id="rId4"/>
              </a:rPr>
              <a:t>16.3</a:t>
            </a:r>
            <a:r>
              <a:rPr lang="en-US" sz="1200" b="0" i="0" kern="120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4BAF0735-F145-4B9C-9BE5-23AA3F3DE317}" type="slidenum">
              <a:rPr lang="en-US" smtClean="0"/>
              <a:t>13</a:t>
            </a:fld>
            <a:endParaRPr lang="en-US"/>
          </a:p>
        </p:txBody>
      </p:sp>
    </p:spTree>
    <p:extLst>
      <p:ext uri="{BB962C8B-B14F-4D97-AF65-F5344CB8AC3E}">
        <p14:creationId xmlns:p14="http://schemas.microsoft.com/office/powerpoint/2010/main" val="819894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we discussed how to show a trend in a dataset by fitting a straight line or curve to the data. These trend estimates also have uncertainty, and it is customary to show the uncertainty in a trend line with a confidence band (Figure </a:t>
            </a:r>
            <a:r>
              <a:rPr lang="en-US" sz="1200" b="0" i="0" u="none" strike="noStrike" kern="1200">
                <a:solidFill>
                  <a:schemeClr val="tx1"/>
                </a:solidFill>
                <a:effectLst/>
                <a:latin typeface="+mn-lt"/>
                <a:ea typeface="+mn-ea"/>
                <a:cs typeface="+mn-cs"/>
                <a:hlinkClick r:id="rId3"/>
              </a:rPr>
              <a:t>16.15</a:t>
            </a:r>
            <a:r>
              <a:rPr lang="en-US" sz="1200" b="0" i="0" kern="1200">
                <a:solidFill>
                  <a:schemeClr val="tx1"/>
                </a:solidFill>
                <a:effectLst/>
                <a:latin typeface="+mn-lt"/>
                <a:ea typeface="+mn-ea"/>
                <a:cs typeface="+mn-cs"/>
              </a:rPr>
              <a:t>). The confidence band provides us with a range of different fit lines that would be compatible with the data. </a:t>
            </a:r>
          </a:p>
        </p:txBody>
      </p:sp>
      <p:sp>
        <p:nvSpPr>
          <p:cNvPr id="4" name="Slide Number Placeholder 3"/>
          <p:cNvSpPr>
            <a:spLocks noGrp="1"/>
          </p:cNvSpPr>
          <p:nvPr>
            <p:ph type="sldNum" sz="quarter" idx="10"/>
          </p:nvPr>
        </p:nvSpPr>
        <p:spPr/>
        <p:txBody>
          <a:bodyPr/>
          <a:lstStyle/>
          <a:p>
            <a:fld id="{4BAF0735-F145-4B9C-9BE5-23AA3F3DE317}" type="slidenum">
              <a:rPr lang="en-US" smtClean="0"/>
              <a:t>14</a:t>
            </a:fld>
            <a:endParaRPr lang="en-US"/>
          </a:p>
        </p:txBody>
      </p:sp>
    </p:spTree>
    <p:extLst>
      <p:ext uri="{BB962C8B-B14F-4D97-AF65-F5344CB8AC3E}">
        <p14:creationId xmlns:p14="http://schemas.microsoft.com/office/powerpoint/2010/main" val="4265339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reason for the curvature is that the straight line fit can move in two distinct directions: it can move up and down (i.e., have different interepts), and it can rotate (i.e., have different slopes). We can visually show how the confidence band arises by drawing a set of alternative fit lines randomly generated from the posterior distribution of the fit parameters. This is done in Figure </a:t>
            </a:r>
            <a:r>
              <a:rPr lang="en-US" sz="1200" b="0" i="0" u="none" strike="noStrike" kern="1200">
                <a:solidFill>
                  <a:schemeClr val="tx1"/>
                </a:solidFill>
                <a:effectLst/>
                <a:latin typeface="+mn-lt"/>
                <a:ea typeface="+mn-ea"/>
                <a:cs typeface="+mn-cs"/>
                <a:hlinkClick r:id="rId3"/>
              </a:rPr>
              <a:t>16.16</a:t>
            </a:r>
            <a:r>
              <a:rPr lang="en-US" sz="1200" b="0" i="0" kern="1200">
                <a:solidFill>
                  <a:schemeClr val="tx1"/>
                </a:solidFill>
                <a:effectLst/>
                <a:latin typeface="+mn-lt"/>
                <a:ea typeface="+mn-ea"/>
                <a:cs typeface="+mn-cs"/>
              </a:rPr>
              <a:t>, which shows 15 randomly chosen alternative fits. We see that even though each line is perfectly straight, the combination of different slopes and intercepts of each line generates an overall shape that looks just like the confidence band.</a:t>
            </a:r>
          </a:p>
        </p:txBody>
      </p:sp>
      <p:sp>
        <p:nvSpPr>
          <p:cNvPr id="4" name="Slide Number Placeholder 3"/>
          <p:cNvSpPr>
            <a:spLocks noGrp="1"/>
          </p:cNvSpPr>
          <p:nvPr>
            <p:ph type="sldNum" sz="quarter" idx="10"/>
          </p:nvPr>
        </p:nvSpPr>
        <p:spPr/>
        <p:txBody>
          <a:bodyPr/>
          <a:lstStyle/>
          <a:p>
            <a:fld id="{4BAF0735-F145-4B9C-9BE5-23AA3F3DE317}" type="slidenum">
              <a:rPr lang="en-US" smtClean="0"/>
              <a:t>15</a:t>
            </a:fld>
            <a:endParaRPr lang="en-US"/>
          </a:p>
        </p:txBody>
      </p:sp>
    </p:spTree>
    <p:extLst>
      <p:ext uri="{BB962C8B-B14F-4D97-AF65-F5344CB8AC3E}">
        <p14:creationId xmlns:p14="http://schemas.microsoft.com/office/powerpoint/2010/main" val="1086653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draw a confidence band, we need to specify a confidence level, and just as we saw for error bars and posterior probabilities, it can be useful to highlight different levels of confidence. This leads us to the graded confidence band, which shows several confidence levels at once (Figure </a:t>
            </a:r>
            <a:r>
              <a:rPr lang="en-US" sz="1200" b="0" i="0" u="none" strike="noStrike" kern="1200" dirty="0">
                <a:solidFill>
                  <a:schemeClr val="tx1"/>
                </a:solidFill>
                <a:effectLst/>
                <a:latin typeface="+mn-lt"/>
                <a:ea typeface="+mn-ea"/>
                <a:cs typeface="+mn-cs"/>
                <a:hlinkClick r:id="rId3"/>
              </a:rPr>
              <a:t>16.17</a:t>
            </a:r>
            <a:r>
              <a:rPr lang="en-US" sz="1200" b="0" i="0" kern="1200" dirty="0">
                <a:solidFill>
                  <a:schemeClr val="tx1"/>
                </a:solidFill>
                <a:effectLst/>
                <a:latin typeface="+mn-lt"/>
                <a:ea typeface="+mn-ea"/>
                <a:cs typeface="+mn-cs"/>
              </a:rPr>
              <a:t>). A graded confidence band enhances the sense of uncertainty in the reader, and it forces the reader to confront the possibility that the data might support different alternative trend lines.</a:t>
            </a:r>
          </a:p>
          <a:p>
            <a:br>
              <a:rPr lang="en-US" dirty="0"/>
            </a:b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16</a:t>
            </a:fld>
            <a:endParaRPr lang="en-US"/>
          </a:p>
        </p:txBody>
      </p:sp>
    </p:spTree>
    <p:extLst>
      <p:ext uri="{BB962C8B-B14F-4D97-AF65-F5344CB8AC3E}">
        <p14:creationId xmlns:p14="http://schemas.microsoft.com/office/powerpoint/2010/main" val="2398529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
            </a:r>
            <a:r>
              <a:rPr lang="en-US" sz="1200" b="0" i="0" kern="1200" dirty="0">
                <a:solidFill>
                  <a:schemeClr val="tx1"/>
                </a:solidFill>
                <a:effectLst/>
                <a:latin typeface="+mn-lt"/>
                <a:ea typeface="+mn-ea"/>
                <a:cs typeface="+mn-cs"/>
              </a:rPr>
              <a:t>ere are six approximate versions of what your histogram might look like. </a:t>
            </a:r>
          </a:p>
          <a:p>
            <a:r>
              <a:rPr lang="en-US" sz="1200" b="0" i="0" kern="1200" dirty="0">
                <a:solidFill>
                  <a:schemeClr val="tx1"/>
                </a:solidFill>
                <a:effectLst/>
                <a:latin typeface="+mn-lt"/>
                <a:ea typeface="+mn-ea"/>
                <a:cs typeface="+mn-cs"/>
              </a:rPr>
              <a:t>The</a:t>
            </a:r>
            <a:r>
              <a:rPr lang="en-US" sz="1200" b="0" i="0" kern="1200" baseline="0" dirty="0">
                <a:solidFill>
                  <a:schemeClr val="tx1"/>
                </a:solidFill>
                <a:effectLst/>
                <a:latin typeface="+mn-lt"/>
                <a:ea typeface="+mn-ea"/>
                <a:cs typeface="+mn-cs"/>
              </a:rPr>
              <a:t> first one has a many number of hypotheses estimated to be significant.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We’ll explore what each one means in turn.</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19</a:t>
            </a:fld>
            <a:endParaRPr lang="en-US"/>
          </a:p>
        </p:txBody>
      </p:sp>
    </p:spTree>
    <p:extLst>
      <p:ext uri="{BB962C8B-B14F-4D97-AF65-F5344CB8AC3E}">
        <p14:creationId xmlns:p14="http://schemas.microsoft.com/office/powerpoint/2010/main" val="940385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If your p-values look something like this:then it’s your lucky day! You have (on the surface) a set of well-behaved p-values.</a:t>
            </a:r>
          </a:p>
          <a:p>
            <a:r>
              <a:rPr lang="en-US" sz="1200" b="0" i="0" kern="1200">
                <a:solidFill>
                  <a:schemeClr val="tx1"/>
                </a:solidFill>
                <a:effectLst/>
                <a:latin typeface="+mn-lt"/>
                <a:ea typeface="+mn-ea"/>
                <a:cs typeface="+mn-cs"/>
              </a:rPr>
              <a:t>That flat distribution along the bottom is all your null p-values, which are uniformly distributed between 0 and 1. Why are null p-values uniformly distributed? Because that’s </a:t>
            </a:r>
            <a:r>
              <a:rPr lang="en-US" sz="1200" b="1" i="0" kern="1200">
                <a:solidFill>
                  <a:schemeClr val="tx1"/>
                </a:solidFill>
                <a:effectLst/>
                <a:latin typeface="+mn-lt"/>
                <a:ea typeface="+mn-ea"/>
                <a:cs typeface="+mn-cs"/>
              </a:rPr>
              <a:t>part of a definition of a p-value</a:t>
            </a:r>
            <a:r>
              <a:rPr lang="en-US" sz="1200" b="0" i="0" kern="1200">
                <a:solidFill>
                  <a:schemeClr val="tx1"/>
                </a:solidFill>
                <a:effectLst/>
                <a:latin typeface="+mn-lt"/>
                <a:ea typeface="+mn-ea"/>
                <a:cs typeface="+mn-cs"/>
              </a:rPr>
              <a:t>: under the null, it has a 5% chance of being less than .05, a 10% chance of being less than .1, etc. This describes a uniform distribution.</a:t>
            </a:r>
          </a:p>
          <a:p>
            <a:r>
              <a:rPr lang="en-US" sz="1200" b="0" i="0" kern="1200">
                <a:solidFill>
                  <a:schemeClr val="tx1"/>
                </a:solidFill>
                <a:effectLst/>
                <a:latin typeface="+mn-lt"/>
                <a:ea typeface="+mn-ea"/>
                <a:cs typeface="+mn-cs"/>
              </a:rPr>
              <a:t>That peak close to 0 is where your alternative hypotheses live- along with some potential false positives. If we split this up into nulls and alternatives, it might look like this:</a:t>
            </a:r>
          </a:p>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20</a:t>
            </a:fld>
            <a:endParaRPr lang="en-US"/>
          </a:p>
        </p:txBody>
      </p:sp>
    </p:spTree>
    <p:extLst>
      <p:ext uri="{BB962C8B-B14F-4D97-AF65-F5344CB8AC3E}">
        <p14:creationId xmlns:p14="http://schemas.microsoft.com/office/powerpoint/2010/main" val="3920342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Notice that there are plenty of null hypotheses that appear at low p-values, so you can’t just say “call all p-values less than .05 significant” without thinking, or you’ll get lots of false discoveries. Notice also that some alternative hypotheses end up with high p-values: those are the hypotheses you won’t be able to detect with your test (false negatives). The job of any multiple hypothesis test correction is to figure out where best to place the cutoff for significance.</a:t>
            </a:r>
          </a:p>
        </p:txBody>
      </p:sp>
      <p:sp>
        <p:nvSpPr>
          <p:cNvPr id="4" name="Slide Number Placeholder 3"/>
          <p:cNvSpPr>
            <a:spLocks noGrp="1"/>
          </p:cNvSpPr>
          <p:nvPr>
            <p:ph type="sldNum" sz="quarter" idx="10"/>
          </p:nvPr>
        </p:nvSpPr>
        <p:spPr/>
        <p:txBody>
          <a:bodyPr/>
          <a:lstStyle/>
          <a:p>
            <a:fld id="{4BAF0735-F145-4B9C-9BE5-23AA3F3DE317}" type="slidenum">
              <a:rPr lang="en-US" smtClean="0"/>
              <a:t>21</a:t>
            </a:fld>
            <a:endParaRPr lang="en-US"/>
          </a:p>
        </p:txBody>
      </p:sp>
    </p:spTree>
    <p:extLst>
      <p:ext uri="{BB962C8B-B14F-4D97-AF65-F5344CB8AC3E}">
        <p14:creationId xmlns:p14="http://schemas.microsoft.com/office/powerpoint/2010/main" val="4201279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Notice that there are plenty of null hypotheses that appear at low p-values, so you can’t just say “call all p-values less than .05 significant” without thinking, or you’ll get lots of false discoveries. Notice also that some alternative hypotheses end up with high p-values: those are the hypotheses you won’t be able to detect with your test (false negatives). The job of any multiple hypothesis test correction is to figure out where best to place the cutoff for significance.</a:t>
            </a:r>
          </a:p>
        </p:txBody>
      </p:sp>
      <p:sp>
        <p:nvSpPr>
          <p:cNvPr id="4" name="Slide Number Placeholder 3"/>
          <p:cNvSpPr>
            <a:spLocks noGrp="1"/>
          </p:cNvSpPr>
          <p:nvPr>
            <p:ph type="sldNum" sz="quarter" idx="10"/>
          </p:nvPr>
        </p:nvSpPr>
        <p:spPr/>
        <p:txBody>
          <a:bodyPr/>
          <a:lstStyle/>
          <a:p>
            <a:fld id="{4BAF0735-F145-4B9C-9BE5-23AA3F3DE317}" type="slidenum">
              <a:rPr lang="en-US" smtClean="0"/>
              <a:t>22</a:t>
            </a:fld>
            <a:endParaRPr lang="en-US"/>
          </a:p>
        </p:txBody>
      </p:sp>
    </p:spTree>
    <p:extLst>
      <p:ext uri="{BB962C8B-B14F-4D97-AF65-F5344CB8AC3E}">
        <p14:creationId xmlns:p14="http://schemas.microsoft.com/office/powerpoint/2010/main" val="2420741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Notice that there are plenty of null hypotheses that appear at low p-values, so you can’t just say “call all p-values less than .05 significant” without thinking, or you’ll get lots of false discoveries. Notice also that some alternative hypotheses end up with high p-values: those are the hypotheses you won’t be able to detect with your test (false negatives). The job of any multiple hypothesis test correction is to figure out where best to place the cutoff for significance.</a:t>
            </a:r>
          </a:p>
        </p:txBody>
      </p:sp>
      <p:sp>
        <p:nvSpPr>
          <p:cNvPr id="4" name="Slide Number Placeholder 3"/>
          <p:cNvSpPr>
            <a:spLocks noGrp="1"/>
          </p:cNvSpPr>
          <p:nvPr>
            <p:ph type="sldNum" sz="quarter" idx="10"/>
          </p:nvPr>
        </p:nvSpPr>
        <p:spPr/>
        <p:txBody>
          <a:bodyPr/>
          <a:lstStyle/>
          <a:p>
            <a:fld id="{4BAF0735-F145-4B9C-9BE5-23AA3F3DE317}" type="slidenum">
              <a:rPr lang="en-US" smtClean="0"/>
              <a:t>23</a:t>
            </a:fld>
            <a:endParaRPr lang="en-US"/>
          </a:p>
        </p:txBody>
      </p:sp>
    </p:spTree>
    <p:extLst>
      <p:ext uri="{BB962C8B-B14F-4D97-AF65-F5344CB8AC3E}">
        <p14:creationId xmlns:p14="http://schemas.microsoft.com/office/powerpoint/2010/main" val="4230612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Alternatively, you might see a flat distribution (what statisticians call a “uniform” distribution):</a:t>
            </a:r>
          </a:p>
          <a:p>
            <a:r>
              <a:rPr lang="en-US" sz="1200" b="0" i="0" kern="1200" dirty="0">
                <a:solidFill>
                  <a:schemeClr val="tx1"/>
                </a:solidFill>
                <a:effectLst/>
                <a:latin typeface="+mn-lt"/>
                <a:ea typeface="+mn-ea"/>
                <a:cs typeface="+mn-cs"/>
              </a:rPr>
              <a:t>This is what your p-values would look like if all your hypotheses were null. Now, seeing this does not mean they actually are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null! It does mean that</a:t>
            </a:r>
          </a:p>
          <a:p>
            <a:r>
              <a:rPr lang="en-US" sz="1200" b="0" i="0" kern="1200" dirty="0">
                <a:solidFill>
                  <a:schemeClr val="tx1"/>
                </a:solidFill>
                <a:effectLst/>
                <a:latin typeface="+mn-lt"/>
                <a:ea typeface="+mn-ea"/>
                <a:cs typeface="+mn-cs"/>
              </a:rPr>
              <a:t>At most a small percentage of hypotheses are non-null. An FDR correction method such as </a:t>
            </a:r>
            <a:r>
              <a:rPr lang="en-US" sz="1200" b="0" i="0" kern="1200" dirty="0" err="1">
                <a:solidFill>
                  <a:schemeClr val="tx1"/>
                </a:solidFill>
                <a:effectLst/>
                <a:latin typeface="+mn-lt"/>
                <a:ea typeface="+mn-ea"/>
                <a:cs typeface="+mn-cs"/>
              </a:rPr>
              <a:t>Benjamini</a:t>
            </a:r>
            <a:r>
              <a:rPr lang="en-US" sz="1200" b="0" i="0" kern="1200" dirty="0">
                <a:solidFill>
                  <a:schemeClr val="tx1"/>
                </a:solidFill>
                <a:effectLst/>
                <a:latin typeface="+mn-lt"/>
                <a:ea typeface="+mn-ea"/>
                <a:cs typeface="+mn-cs"/>
              </a:rPr>
              <a:t>-Hochberg will let you identify those.</a:t>
            </a:r>
          </a:p>
          <a:p>
            <a:r>
              <a:rPr lang="en-US" sz="1200" b="0" i="0" kern="1200" dirty="0">
                <a:solidFill>
                  <a:schemeClr val="tx1"/>
                </a:solidFill>
                <a:effectLst/>
                <a:latin typeface="+mn-lt"/>
                <a:ea typeface="+mn-ea"/>
                <a:cs typeface="+mn-cs"/>
              </a:rPr>
              <a:t>Applying an uncorrected rule like “Accept everything with p-value less than .05” is </a:t>
            </a:r>
            <a:r>
              <a:rPr lang="en-US" sz="1200" b="0" i="1" kern="1200" dirty="0">
                <a:solidFill>
                  <a:schemeClr val="tx1"/>
                </a:solidFill>
                <a:effectLst/>
                <a:latin typeface="+mn-lt"/>
                <a:ea typeface="+mn-ea"/>
                <a:cs typeface="+mn-cs"/>
              </a:rPr>
              <a:t>certain</a:t>
            </a:r>
            <a:r>
              <a:rPr lang="en-US" sz="1200" b="0" i="0" kern="1200" dirty="0">
                <a:solidFill>
                  <a:schemeClr val="tx1"/>
                </a:solidFill>
                <a:effectLst/>
                <a:latin typeface="+mn-lt"/>
                <a:ea typeface="+mn-ea"/>
                <a:cs typeface="+mn-cs"/>
              </a:rPr>
              <a:t> to give you many false discoveries. </a:t>
            </a:r>
            <a:r>
              <a:rPr lang="en-US" sz="1200" b="0" i="1" kern="1200" dirty="0">
                <a:solidFill>
                  <a:schemeClr val="tx1"/>
                </a:solidFill>
                <a:effectLst/>
                <a:latin typeface="+mn-lt"/>
                <a:ea typeface="+mn-ea"/>
                <a:cs typeface="+mn-cs"/>
              </a:rPr>
              <a:t>Don’t do it!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24</a:t>
            </a:fld>
            <a:endParaRPr lang="en-US"/>
          </a:p>
        </p:txBody>
      </p:sp>
    </p:spTree>
    <p:extLst>
      <p:ext uri="{BB962C8B-B14F-4D97-AF65-F5344CB8AC3E}">
        <p14:creationId xmlns:p14="http://schemas.microsoft.com/office/powerpoint/2010/main" val="150815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you have a peak at 0, just like you saw in (A)… but you also have a peak close to 1. What do you do?</a:t>
            </a:r>
          </a:p>
          <a:p>
            <a:r>
              <a:rPr lang="en-US" sz="1200" b="0" i="1" kern="1200" dirty="0">
                <a:solidFill>
                  <a:schemeClr val="tx1"/>
                </a:solidFill>
                <a:effectLst/>
                <a:latin typeface="+mn-lt"/>
                <a:ea typeface="+mn-ea"/>
                <a:cs typeface="+mn-cs"/>
              </a:rPr>
              <a:t>Don’t</a:t>
            </a:r>
            <a:r>
              <a:rPr lang="en-US" sz="1200" b="0" i="0" kern="1200" dirty="0">
                <a:solidFill>
                  <a:schemeClr val="tx1"/>
                </a:solidFill>
                <a:effectLst/>
                <a:latin typeface="+mn-lt"/>
                <a:ea typeface="+mn-ea"/>
                <a:cs typeface="+mn-cs"/>
              </a:rPr>
              <a:t> apply false discovery rate control to these p-values yet. (Why not? Because some kinds of FDR control are based on the assumption that your p-values near 1 are uniform. If you break this assumption, you’ll get </a:t>
            </a:r>
            <a:r>
              <a:rPr lang="en-US" sz="1200" b="0" i="1" kern="1200" dirty="0">
                <a:solidFill>
                  <a:schemeClr val="tx1"/>
                </a:solidFill>
                <a:effectLst/>
                <a:latin typeface="+mn-lt"/>
                <a:ea typeface="+mn-ea"/>
                <a:cs typeface="+mn-cs"/>
              </a:rPr>
              <a:t>way</a:t>
            </a:r>
            <a:r>
              <a:rPr lang="en-US" sz="1200" b="0" i="0" kern="1200" dirty="0">
                <a:solidFill>
                  <a:schemeClr val="tx1"/>
                </a:solidFill>
                <a:effectLst/>
                <a:latin typeface="+mn-lt"/>
                <a:ea typeface="+mn-ea"/>
                <a:cs typeface="+mn-cs"/>
              </a:rPr>
              <a:t> fewer significant hypotheses. Everyone loses).</a:t>
            </a:r>
          </a:p>
          <a:p>
            <a:r>
              <a:rPr lang="en-US" sz="1200" b="0" i="0" kern="1200" dirty="0">
                <a:solidFill>
                  <a:schemeClr val="tx1"/>
                </a:solidFill>
                <a:effectLst/>
                <a:latin typeface="+mn-lt"/>
                <a:ea typeface="+mn-ea"/>
                <a:cs typeface="+mn-cs"/>
              </a:rPr>
              <a:t>Instead, figure out why your p-values show this behavior, and solve it appropriately:</a:t>
            </a:r>
          </a:p>
          <a:p>
            <a:r>
              <a:rPr lang="en-US" sz="1200" b="0" i="0" kern="1200" dirty="0">
                <a:solidFill>
                  <a:schemeClr val="tx1"/>
                </a:solidFill>
                <a:effectLst/>
                <a:latin typeface="+mn-lt"/>
                <a:ea typeface="+mn-ea"/>
                <a:cs typeface="+mn-cs"/>
              </a:rPr>
              <a:t>Are you applying a one-tailed test (for example, testing whether each gene increased its expression in response to a drug)? If so, those p-values close to 1 are cases that are significant in the </a:t>
            </a:r>
            <a:r>
              <a:rPr lang="en-US" sz="1200" b="0" i="1" kern="1200" dirty="0">
                <a:solidFill>
                  <a:schemeClr val="tx1"/>
                </a:solidFill>
                <a:effectLst/>
                <a:latin typeface="+mn-lt"/>
                <a:ea typeface="+mn-ea"/>
                <a:cs typeface="+mn-cs"/>
              </a:rPr>
              <a:t>opposite</a:t>
            </a:r>
            <a:r>
              <a:rPr lang="en-US" sz="1200" b="0" i="0" kern="1200" dirty="0">
                <a:solidFill>
                  <a:schemeClr val="tx1"/>
                </a:solidFill>
                <a:effectLst/>
                <a:latin typeface="+mn-lt"/>
                <a:ea typeface="+mn-ea"/>
                <a:cs typeface="+mn-cs"/>
              </a:rPr>
              <a:t> direction (cases where genes </a:t>
            </a:r>
            <a:r>
              <a:rPr lang="en-US" sz="1200" b="0" i="1" kern="1200" dirty="0">
                <a:solidFill>
                  <a:schemeClr val="tx1"/>
                </a:solidFill>
                <a:effectLst/>
                <a:latin typeface="+mn-lt"/>
                <a:ea typeface="+mn-ea"/>
                <a:cs typeface="+mn-cs"/>
              </a:rPr>
              <a:t>decreased</a:t>
            </a:r>
            <a:r>
              <a:rPr lang="en-US" sz="1200" b="0" i="0" kern="1200" dirty="0">
                <a:solidFill>
                  <a:schemeClr val="tx1"/>
                </a:solidFill>
                <a:effectLst/>
                <a:latin typeface="+mn-lt"/>
                <a:ea typeface="+mn-ea"/>
                <a:cs typeface="+mn-cs"/>
              </a:rPr>
              <a:t> their expression). If you want your test to find these cases, switch to a two-sided test. If you don’t want to include them at all, you can try filtering out all cases where your estimate is in that direction.</a:t>
            </a:r>
          </a:p>
          <a:p>
            <a:r>
              <a:rPr lang="en-US" sz="1200" b="0" i="0" kern="1200" dirty="0">
                <a:solidFill>
                  <a:schemeClr val="tx1"/>
                </a:solidFill>
                <a:effectLst/>
                <a:latin typeface="+mn-lt"/>
                <a:ea typeface="+mn-ea"/>
                <a:cs typeface="+mn-cs"/>
              </a:rPr>
              <a:t>Do all the p-values close to 1 belong to some pathological case? An example from my own field: RNA-Seq data, which consists of read counts per gene in each a variety of conditions, will sometimes include genes for which there are </a:t>
            </a:r>
            <a:r>
              <a:rPr lang="en-US" sz="1200" b="1" i="0" kern="1200" dirty="0">
                <a:solidFill>
                  <a:schemeClr val="tx1"/>
                </a:solidFill>
                <a:effectLst/>
                <a:latin typeface="+mn-lt"/>
                <a:ea typeface="+mn-ea"/>
                <a:cs typeface="+mn-cs"/>
              </a:rPr>
              <a:t>no</a:t>
            </a:r>
            <a:r>
              <a:rPr lang="en-US" sz="1200" b="0" i="0" kern="1200" dirty="0">
                <a:solidFill>
                  <a:schemeClr val="tx1"/>
                </a:solidFill>
                <a:effectLst/>
                <a:latin typeface="+mn-lt"/>
                <a:ea typeface="+mn-ea"/>
                <a:cs typeface="+mn-cs"/>
              </a:rPr>
              <a:t> reads in any condition. Some differential expression software will report a p-value of 1 for these genes. If you can find problematic cases like these, just filter them out beforehand (it’s not like you’re losing any information!)</a:t>
            </a:r>
          </a:p>
        </p:txBody>
      </p:sp>
      <p:sp>
        <p:nvSpPr>
          <p:cNvPr id="4" name="Slide Number Placeholder 3"/>
          <p:cNvSpPr>
            <a:spLocks noGrp="1"/>
          </p:cNvSpPr>
          <p:nvPr>
            <p:ph type="sldNum" sz="quarter" idx="10"/>
          </p:nvPr>
        </p:nvSpPr>
        <p:spPr/>
        <p:txBody>
          <a:bodyPr/>
          <a:lstStyle/>
          <a:p>
            <a:fld id="{4BAF0735-F145-4B9C-9BE5-23AA3F3DE317}" type="slidenum">
              <a:rPr lang="en-US" smtClean="0"/>
              <a:t>25</a:t>
            </a:fld>
            <a:endParaRPr lang="en-US"/>
          </a:p>
        </p:txBody>
      </p:sp>
    </p:spTree>
    <p:extLst>
      <p:ext uri="{BB962C8B-B14F-4D97-AF65-F5344CB8AC3E}">
        <p14:creationId xmlns:p14="http://schemas.microsoft.com/office/powerpoint/2010/main" val="2609675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look at this distribution and say, “Oh, I guess I don’t have any significant hypotheses.” If you had no significant hypotheses, your p-values would look something like (B) above. P-values are specifically designed so that they are uniform under the null hypothesis.</a:t>
            </a:r>
          </a:p>
          <a:p>
            <a:r>
              <a:rPr lang="en-US" sz="1200" b="0" i="0" kern="1200" dirty="0">
                <a:solidFill>
                  <a:schemeClr val="tx1"/>
                </a:solidFill>
                <a:effectLst/>
                <a:latin typeface="+mn-lt"/>
                <a:ea typeface="+mn-ea"/>
                <a:cs typeface="+mn-cs"/>
              </a:rPr>
              <a:t>A graph like this indicates </a:t>
            </a:r>
            <a:r>
              <a:rPr lang="en-US" sz="1200" b="0" i="1" kern="1200" dirty="0">
                <a:solidFill>
                  <a:schemeClr val="tx1"/>
                </a:solidFill>
                <a:effectLst/>
                <a:latin typeface="+mn-lt"/>
                <a:ea typeface="+mn-ea"/>
                <a:cs typeface="+mn-cs"/>
              </a:rPr>
              <a:t>something is wrong with your test.</a:t>
            </a:r>
            <a:r>
              <a:rPr lang="en-US" sz="1200" b="0" i="0" kern="1200" dirty="0">
                <a:solidFill>
                  <a:schemeClr val="tx1"/>
                </a:solidFill>
                <a:effectLst/>
                <a:latin typeface="+mn-lt"/>
                <a:ea typeface="+mn-ea"/>
                <a:cs typeface="+mn-cs"/>
              </a:rPr>
              <a:t> Perhaps your test assumes that the data fits some distribution that it doesn’t fit. Perhaps it’s designed for continuous data while your data is discrete, or perhaps it is designed for normally-distributed data and your data is severely non-normal. In any case, this is a great time to find a friendly statistician to help you.</a:t>
            </a:r>
          </a:p>
          <a:p>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Update 12/17/14</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Rogier</a:t>
            </a:r>
            <a:r>
              <a:rPr lang="en-US" sz="1200" b="0" i="0" kern="1200" dirty="0">
                <a:solidFill>
                  <a:schemeClr val="tx1"/>
                </a:solidFill>
                <a:effectLst/>
                <a:latin typeface="+mn-lt"/>
                <a:ea typeface="+mn-ea"/>
                <a:cs typeface="+mn-cs"/>
              </a:rPr>
              <a:t> in the comments helpfully notes another possible explanation: your p-values may have </a:t>
            </a:r>
            <a:r>
              <a:rPr lang="en-US" sz="1200" b="0" i="1" kern="1200" dirty="0">
                <a:solidFill>
                  <a:schemeClr val="tx1"/>
                </a:solidFill>
                <a:effectLst/>
                <a:latin typeface="+mn-lt"/>
                <a:ea typeface="+mn-ea"/>
                <a:cs typeface="+mn-cs"/>
              </a:rPr>
              <a:t>already</a:t>
            </a:r>
            <a:r>
              <a:rPr lang="en-US" sz="1200" b="0" i="0" kern="1200" dirty="0">
                <a:solidFill>
                  <a:schemeClr val="tx1"/>
                </a:solidFill>
                <a:effectLst/>
                <a:latin typeface="+mn-lt"/>
                <a:ea typeface="+mn-ea"/>
                <a:cs typeface="+mn-cs"/>
              </a:rPr>
              <a:t> been corrected for multiple testing, for example using the Bonferroni correction. If so, you might want to get your hands on the original, uncorrected p-values so you can view the histogram yourself and confirm it’s well behaved!)</a:t>
            </a:r>
          </a:p>
        </p:txBody>
      </p:sp>
      <p:sp>
        <p:nvSpPr>
          <p:cNvPr id="4" name="Slide Number Placeholder 3"/>
          <p:cNvSpPr>
            <a:spLocks noGrp="1"/>
          </p:cNvSpPr>
          <p:nvPr>
            <p:ph type="sldNum" sz="quarter" idx="10"/>
          </p:nvPr>
        </p:nvSpPr>
        <p:spPr/>
        <p:txBody>
          <a:bodyPr/>
          <a:lstStyle/>
          <a:p>
            <a:fld id="{4BAF0735-F145-4B9C-9BE5-23AA3F3DE317}" type="slidenum">
              <a:rPr lang="en-US" smtClean="0"/>
              <a:t>26</a:t>
            </a:fld>
            <a:endParaRPr lang="en-US"/>
          </a:p>
        </p:txBody>
      </p:sp>
    </p:spTree>
    <p:extLst>
      <p:ext uri="{BB962C8B-B14F-4D97-AF65-F5344CB8AC3E}">
        <p14:creationId xmlns:p14="http://schemas.microsoft.com/office/powerpoint/2010/main" val="5128873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Sparse p-values are easy to recognize by those big gaps in the histogram. What this means is that while you may have (say) 10,000 hypotheses, they generated only a small number of distinct p-values. You can find out just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many distinct p-values your test generated with this line of R code:</a:t>
            </a:r>
          </a:p>
          <a:p>
            <a:r>
              <a:rPr lang="en-US" sz="1200" b="0" i="0" kern="1200" dirty="0">
                <a:solidFill>
                  <a:schemeClr val="tx1"/>
                </a:solidFill>
                <a:effectLst/>
                <a:latin typeface="+mn-lt"/>
                <a:ea typeface="+mn-ea"/>
                <a:cs typeface="+mn-cs"/>
              </a:rPr>
              <a:t>length(unique(</a:t>
            </a:r>
            <a:r>
              <a:rPr lang="en-US" sz="1200" b="0" i="0" kern="1200" dirty="0" err="1">
                <a:solidFill>
                  <a:schemeClr val="tx1"/>
                </a:solidFill>
                <a:effectLst/>
                <a:latin typeface="+mn-lt"/>
                <a:ea typeface="+mn-ea"/>
                <a:cs typeface="+mn-cs"/>
              </a:rPr>
              <a:t>mypvalues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Why did you get p-values like this? Did you:</a:t>
            </a:r>
          </a:p>
          <a:p>
            <a:r>
              <a:rPr lang="en-US" sz="1200" b="0" i="0" kern="1200" dirty="0">
                <a:solidFill>
                  <a:schemeClr val="tx1"/>
                </a:solidFill>
                <a:effectLst/>
                <a:latin typeface="+mn-lt"/>
                <a:ea typeface="+mn-ea"/>
                <a:cs typeface="+mn-cs"/>
              </a:rPr>
              <a:t>Run a bootstrap or permutation test with too few iterations? Try increasing the number of iterations.</a:t>
            </a:r>
          </a:p>
          <a:p>
            <a:r>
              <a:rPr lang="en-US" sz="1200" b="0" i="0" kern="1200" dirty="0">
                <a:solidFill>
                  <a:schemeClr val="tx1"/>
                </a:solidFill>
                <a:effectLst/>
                <a:latin typeface="+mn-lt"/>
                <a:ea typeface="+mn-ea"/>
                <a:cs typeface="+mn-cs"/>
              </a:rPr>
              <a:t>Run a nonparametric test (e.g. the Wilcoxon rank-sum test or Spearman correlation) on data with a small sample size? If you can, either get more data or switch to a parametric test.</a:t>
            </a:r>
          </a:p>
          <a:p>
            <a:r>
              <a:rPr lang="en-US" sz="1200" b="0" i="0" kern="1200" dirty="0">
                <a:solidFill>
                  <a:schemeClr val="tx1"/>
                </a:solidFill>
                <a:effectLst/>
                <a:latin typeface="+mn-lt"/>
                <a:ea typeface="+mn-ea"/>
                <a:cs typeface="+mn-cs"/>
              </a:rPr>
              <a:t>Don’t run false discovery rate control, which typically makes the assumption that the p-value distribution is (roughly) continuous. If you absolutely need to use these p-values (and can’t switch to a test that doesn’t give you such sparse p-values), find a statistician!</a:t>
            </a:r>
          </a:p>
        </p:txBody>
      </p:sp>
      <p:sp>
        <p:nvSpPr>
          <p:cNvPr id="4" name="Slide Number Placeholder 3"/>
          <p:cNvSpPr>
            <a:spLocks noGrp="1"/>
          </p:cNvSpPr>
          <p:nvPr>
            <p:ph type="sldNum" sz="quarter" idx="10"/>
          </p:nvPr>
        </p:nvSpPr>
        <p:spPr/>
        <p:txBody>
          <a:bodyPr/>
          <a:lstStyle/>
          <a:p>
            <a:fld id="{4BAF0735-F145-4B9C-9BE5-23AA3F3DE317}" type="slidenum">
              <a:rPr lang="en-US" smtClean="0"/>
              <a:t>27</a:t>
            </a:fld>
            <a:endParaRPr lang="en-US"/>
          </a:p>
        </p:txBody>
      </p:sp>
    </p:spTree>
    <p:extLst>
      <p:ext uri="{BB962C8B-B14F-4D97-AF65-F5344CB8AC3E}">
        <p14:creationId xmlns:p14="http://schemas.microsoft.com/office/powerpoint/2010/main" val="1203525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Big bump in the middle? Bunch of random peaks? Something that looks like nothing from this post?</a:t>
            </a:r>
          </a:p>
          <a:p>
            <a:r>
              <a:rPr lang="en-US" sz="1200" b="1" i="0" kern="1200" dirty="0">
                <a:solidFill>
                  <a:schemeClr val="tx1"/>
                </a:solidFill>
                <a:effectLst/>
                <a:latin typeface="+mn-lt"/>
                <a:ea typeface="+mn-ea"/>
                <a:cs typeface="+mn-cs"/>
              </a:rPr>
              <a:t>Stop whatever you’re doing, and find a statistician</a:t>
            </a:r>
            <a:r>
              <a:rPr lang="en-US" sz="1200" b="0" i="0" kern="1200" dirty="0">
                <a:solidFill>
                  <a:schemeClr val="tx1"/>
                </a:solidFill>
                <a:effectLst/>
                <a:latin typeface="+mn-lt"/>
                <a:ea typeface="+mn-ea"/>
                <a:cs typeface="+mn-cs"/>
              </a:rPr>
              <a:t>. There may be a simple explanation and/or fix, but you want to make sure you’ve found it before you work with these p-values any more.</a:t>
            </a:r>
          </a:p>
          <a:p>
            <a:r>
              <a:rPr lang="en-US" sz="1200" b="0" i="0" kern="1200" dirty="0">
                <a:solidFill>
                  <a:schemeClr val="tx1"/>
                </a:solidFill>
                <a:effectLst/>
                <a:latin typeface="+mn-lt"/>
                <a:ea typeface="+mn-ea"/>
                <a:cs typeface="+mn-cs"/>
              </a:rPr>
              <a:t>In closing: this post isn’t a replacement for having a qualified statistician look over your data. But just by glancing at this simple visualization, you can tell a </a:t>
            </a:r>
            <a:r>
              <a:rPr lang="en-US" sz="1200" b="0" i="1" kern="1200" dirty="0">
                <a:solidFill>
                  <a:schemeClr val="tx1"/>
                </a:solidFill>
                <a:effectLst/>
                <a:latin typeface="+mn-lt"/>
                <a:ea typeface="+mn-ea"/>
                <a:cs typeface="+mn-cs"/>
              </a:rPr>
              <a:t>lot</a:t>
            </a:r>
            <a:r>
              <a:rPr lang="en-US" sz="1200" b="0" i="0" kern="1200" dirty="0">
                <a:solidFill>
                  <a:schemeClr val="tx1"/>
                </a:solidFill>
                <a:effectLst/>
                <a:latin typeface="+mn-lt"/>
                <a:ea typeface="+mn-ea"/>
                <a:cs typeface="+mn-cs"/>
              </a:rPr>
              <a:t> about how your test performed across your hypotheses- and you’ll be a lot closer to knowing what to do with them.</a:t>
            </a:r>
          </a:p>
        </p:txBody>
      </p:sp>
      <p:sp>
        <p:nvSpPr>
          <p:cNvPr id="4" name="Slide Number Placeholder 3"/>
          <p:cNvSpPr>
            <a:spLocks noGrp="1"/>
          </p:cNvSpPr>
          <p:nvPr>
            <p:ph type="sldNum" sz="quarter" idx="10"/>
          </p:nvPr>
        </p:nvSpPr>
        <p:spPr/>
        <p:txBody>
          <a:bodyPr/>
          <a:lstStyle/>
          <a:p>
            <a:fld id="{4BAF0735-F145-4B9C-9BE5-23AA3F3DE317}" type="slidenum">
              <a:rPr lang="en-US" smtClean="0"/>
              <a:t>28</a:t>
            </a:fld>
            <a:endParaRPr lang="en-US"/>
          </a:p>
        </p:txBody>
      </p:sp>
    </p:spTree>
    <p:extLst>
      <p:ext uri="{BB962C8B-B14F-4D97-AF65-F5344CB8AC3E}">
        <p14:creationId xmlns:p14="http://schemas.microsoft.com/office/powerpoint/2010/main" val="3208093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Signfiicance</a:t>
            </a:r>
            <a:r>
              <a:rPr lang="en-US" sz="1200" b="0" i="0" kern="1200" dirty="0">
                <a:solidFill>
                  <a:schemeClr val="tx1"/>
                </a:solidFill>
                <a:effectLst/>
                <a:latin typeface="+mn-lt"/>
                <a:ea typeface="+mn-ea"/>
                <a:cs typeface="+mn-cs"/>
              </a:rPr>
              <a:t> testing is one way of estimating their mean difference. This way is represented with jittered dots. </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29</a:t>
            </a:fld>
            <a:endParaRPr lang="en-US"/>
          </a:p>
        </p:txBody>
      </p:sp>
    </p:spTree>
    <p:extLst>
      <p:ext uri="{BB962C8B-B14F-4D97-AF65-F5344CB8AC3E}">
        <p14:creationId xmlns:p14="http://schemas.microsoft.com/office/powerpoint/2010/main" val="34884164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With dots</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30</a:t>
            </a:fld>
            <a:endParaRPr lang="en-US"/>
          </a:p>
        </p:txBody>
      </p:sp>
    </p:spTree>
    <p:extLst>
      <p:ext uri="{BB962C8B-B14F-4D97-AF65-F5344CB8AC3E}">
        <p14:creationId xmlns:p14="http://schemas.microsoft.com/office/powerpoint/2010/main" val="261832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With dots</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31</a:t>
            </a:fld>
            <a:endParaRPr lang="en-US"/>
          </a:p>
        </p:txBody>
      </p:sp>
    </p:spTree>
    <p:extLst>
      <p:ext uri="{BB962C8B-B14F-4D97-AF65-F5344CB8AC3E}">
        <p14:creationId xmlns:p14="http://schemas.microsoft.com/office/powerpoint/2010/main" val="31061386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 dots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Precision of effect size, I think, has something to do with the shape of the bootstrap distribution. </a:t>
            </a:r>
          </a:p>
        </p:txBody>
      </p:sp>
      <p:sp>
        <p:nvSpPr>
          <p:cNvPr id="4" name="Slide Number Placeholder 3"/>
          <p:cNvSpPr>
            <a:spLocks noGrp="1"/>
          </p:cNvSpPr>
          <p:nvPr>
            <p:ph type="sldNum" sz="quarter" idx="10"/>
          </p:nvPr>
        </p:nvSpPr>
        <p:spPr/>
        <p:txBody>
          <a:bodyPr/>
          <a:lstStyle/>
          <a:p>
            <a:fld id="{4BAF0735-F145-4B9C-9BE5-23AA3F3DE317}" type="slidenum">
              <a:rPr lang="en-US" smtClean="0"/>
              <a:t>32</a:t>
            </a:fld>
            <a:endParaRPr lang="en-US"/>
          </a:p>
        </p:txBody>
      </p:sp>
    </p:spTree>
    <p:extLst>
      <p:ext uri="{BB962C8B-B14F-4D97-AF65-F5344CB8AC3E}">
        <p14:creationId xmlns:p14="http://schemas.microsoft.com/office/powerpoint/2010/main" val="1233189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 dots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Precision of effect size, I think, has something to do with the shape of the bootstrap distribution. </a:t>
            </a:r>
          </a:p>
        </p:txBody>
      </p:sp>
      <p:sp>
        <p:nvSpPr>
          <p:cNvPr id="4" name="Slide Number Placeholder 3"/>
          <p:cNvSpPr>
            <a:spLocks noGrp="1"/>
          </p:cNvSpPr>
          <p:nvPr>
            <p:ph type="sldNum" sz="quarter" idx="10"/>
          </p:nvPr>
        </p:nvSpPr>
        <p:spPr/>
        <p:txBody>
          <a:bodyPr/>
          <a:lstStyle/>
          <a:p>
            <a:fld id="{4BAF0735-F145-4B9C-9BE5-23AA3F3DE317}" type="slidenum">
              <a:rPr lang="en-US" smtClean="0"/>
              <a:t>33</a:t>
            </a:fld>
            <a:endParaRPr lang="en-US"/>
          </a:p>
        </p:txBody>
      </p:sp>
    </p:spTree>
    <p:extLst>
      <p:ext uri="{BB962C8B-B14F-4D97-AF65-F5344CB8AC3E}">
        <p14:creationId xmlns:p14="http://schemas.microsoft.com/office/powerpoint/2010/main" val="2854045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Can you read this?</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BAF0735-F145-4B9C-9BE5-23AA3F3DE317}" type="slidenum">
              <a:rPr lang="en-US" smtClean="0"/>
              <a:t>34</a:t>
            </a:fld>
            <a:endParaRPr lang="en-US"/>
          </a:p>
        </p:txBody>
      </p:sp>
    </p:spTree>
    <p:extLst>
      <p:ext uri="{BB962C8B-B14F-4D97-AF65-F5344CB8AC3E}">
        <p14:creationId xmlns:p14="http://schemas.microsoft.com/office/powerpoint/2010/main" val="2262405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976E-A255-4C13-BA1B-817456C4F4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D37690-38C3-3896-43F7-07B9A08119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B5F627-05F0-073B-4B4D-5D3C6E685575}"/>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B01BF936-1D48-45CB-2CD2-F31461BD2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7AC65-C76F-C551-5D74-EB6A1675CCF8}"/>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454165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16FB7-001C-82B3-96E3-1A458C4DF7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ED4753-6722-68E9-F6FE-50028C60FC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6267E-F38F-9800-DAEE-0D8DBB6CFA86}"/>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876849E0-80B7-B9CE-32F0-09EE734F8A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C6A2B3-D57A-E1CD-E298-B7BFD656E5D5}"/>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3331913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6A53-5B5B-D5E6-2790-3B13E8693B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B83E35-9A32-4415-DB63-49AFFCB28E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F38D5C-CAE6-BC86-61E9-152B6EBB0331}"/>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13A33462-45EB-9267-60D9-91E3E00BA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4A011-BADE-7D37-BAD1-1F6790A6E502}"/>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3170956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431FF-7298-B35C-E44D-CF13D2964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7DBC1-1B1F-079E-E026-D0E14BE0E8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48445D-7D4F-85BB-727E-B49CFAF103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56D554-8CA7-7649-F09D-22E5D55FFDEB}"/>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6" name="Footer Placeholder 5">
            <a:extLst>
              <a:ext uri="{FF2B5EF4-FFF2-40B4-BE49-F238E27FC236}">
                <a16:creationId xmlns:a16="http://schemas.microsoft.com/office/drawing/2014/main" id="{F203E6BA-38BF-3B9D-528E-DE7C4DFADC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B284F-5513-2980-2FFC-58AB37503548}"/>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2960466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2D0A-2657-21C9-45D3-1419748D6F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5D74A0-C1F7-47BB-537C-84722AC43D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26C8EC-6FAC-A756-0B36-566243531E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A9636A-3775-F73A-B5E1-92A578DD2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191197-0351-4218-FE4D-F241E09F6F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9222D-9502-6587-FA7A-2AAC029234DA}"/>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8" name="Footer Placeholder 7">
            <a:extLst>
              <a:ext uri="{FF2B5EF4-FFF2-40B4-BE49-F238E27FC236}">
                <a16:creationId xmlns:a16="http://schemas.microsoft.com/office/drawing/2014/main" id="{CF291F41-55E5-1FD2-4C00-265175980B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2F349F-55FE-5F64-6F53-83F5EE97BD71}"/>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1881743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2A26-7DE7-FCEA-A861-4853D11BB9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BFDFED-B176-58C2-AB90-E10F4E20E94C}"/>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4" name="Footer Placeholder 3">
            <a:extLst>
              <a:ext uri="{FF2B5EF4-FFF2-40B4-BE49-F238E27FC236}">
                <a16:creationId xmlns:a16="http://schemas.microsoft.com/office/drawing/2014/main" id="{992CB598-8B5D-4BB5-0DF8-F9C843A056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084F87-2D42-4F77-BACA-AA4FA33DD7F4}"/>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114369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F39302-FE5A-EAE6-0FF2-2A07EBD73B2F}"/>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3" name="Footer Placeholder 2">
            <a:extLst>
              <a:ext uri="{FF2B5EF4-FFF2-40B4-BE49-F238E27FC236}">
                <a16:creationId xmlns:a16="http://schemas.microsoft.com/office/drawing/2014/main" id="{A35656C3-9B7B-1762-4B10-75845035C3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270D31-8655-E38C-5A40-DF760B79CA14}"/>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734422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3D36-63D3-F100-3F80-C38CFEED00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D702EA-2E7E-E25F-155D-37374CC0EB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2323FF-FC6D-5F37-2DAF-7B21BADA0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540E20-B7A7-ACD3-3488-01A78EE4F9F3}"/>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6" name="Footer Placeholder 5">
            <a:extLst>
              <a:ext uri="{FF2B5EF4-FFF2-40B4-BE49-F238E27FC236}">
                <a16:creationId xmlns:a16="http://schemas.microsoft.com/office/drawing/2014/main" id="{AD0B979C-0051-5146-9237-5EB930876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703F45-CB24-989C-608F-4D5798BC6FAD}"/>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1410791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4E5D-06B5-2611-6EB9-993B737E8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A7AB3E-1D3C-356B-533E-EEEDF92A5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8A1FE4-56A4-CF89-5702-ABA941020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D4850-F8C6-70E5-605E-A91CB043947A}"/>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6" name="Footer Placeholder 5">
            <a:extLst>
              <a:ext uri="{FF2B5EF4-FFF2-40B4-BE49-F238E27FC236}">
                <a16:creationId xmlns:a16="http://schemas.microsoft.com/office/drawing/2014/main" id="{41FBC5A6-4561-04BA-A0F3-3F02EFD98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CEA26-D105-4F35-842C-D54791DE2955}"/>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3397348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AB497-4322-F703-6985-CF001B21B9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34DB9E-6C7F-1DFB-0548-656D749F0C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16359F-E629-EC1B-BE6E-C2E8D8329809}"/>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92FF5B8C-1564-90B6-C279-D8031D2D97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EAECBE-076D-1EC4-E098-CCEB9B8F7EE7}"/>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2852620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93368E-893F-58D8-7049-657755C12E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7AF1-9345-B374-7314-22852D1ED4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BA854-421E-700F-0228-58DBA3BFAF8E}"/>
              </a:ext>
            </a:extLst>
          </p:cNvPr>
          <p:cNvSpPr>
            <a:spLocks noGrp="1"/>
          </p:cNvSpPr>
          <p:nvPr>
            <p:ph type="dt" sz="half" idx="10"/>
          </p:nvPr>
        </p:nvSpPr>
        <p:spPr/>
        <p:txBody>
          <a:body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280A1C3C-E01D-A49A-5217-38C573EB0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D908E-BB1F-CC1D-48DF-1FA7FE71678A}"/>
              </a:ext>
            </a:extLst>
          </p:cNvPr>
          <p:cNvSpPr>
            <a:spLocks noGrp="1"/>
          </p:cNvSpPr>
          <p:nvPr>
            <p:ph type="sldNum" sz="quarter" idx="12"/>
          </p:nvPr>
        </p:nvSpPr>
        <p:spPr/>
        <p:txBody>
          <a:bodyPr/>
          <a:lstStyle/>
          <a:p>
            <a:fld id="{8CC16963-D2BE-B449-8E5F-9E0C63284DC4}" type="slidenum">
              <a:rPr lang="en-US" smtClean="0"/>
              <a:t>‹#›</a:t>
            </a:fld>
            <a:endParaRPr lang="en-US"/>
          </a:p>
        </p:txBody>
      </p:sp>
    </p:spTree>
    <p:extLst>
      <p:ext uri="{BB962C8B-B14F-4D97-AF65-F5344CB8AC3E}">
        <p14:creationId xmlns:p14="http://schemas.microsoft.com/office/powerpoint/2010/main" val="2283806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10C87-E4A7-062F-8C4E-77FE4FA62D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1FBFA1-6A59-1961-50F5-AB711836B8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4E01DD-E70A-FDD6-C5C1-8740B88E3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404C6-617C-1B40-9E02-4D887C1EF49A}" type="datetimeFigureOut">
              <a:rPr lang="en-US" smtClean="0"/>
              <a:t>2/4/24</a:t>
            </a:fld>
            <a:endParaRPr lang="en-US"/>
          </a:p>
        </p:txBody>
      </p:sp>
      <p:sp>
        <p:nvSpPr>
          <p:cNvPr id="5" name="Footer Placeholder 4">
            <a:extLst>
              <a:ext uri="{FF2B5EF4-FFF2-40B4-BE49-F238E27FC236}">
                <a16:creationId xmlns:a16="http://schemas.microsoft.com/office/drawing/2014/main" id="{A7DCF357-4173-D7EF-F9D8-8F3274DF34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2EC738-70DB-BD8E-616C-05B7733A8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C16963-D2BE-B449-8E5F-9E0C63284DC4}" type="slidenum">
              <a:rPr lang="en-US" smtClean="0"/>
              <a:t>‹#›</a:t>
            </a:fld>
            <a:endParaRPr lang="en-US"/>
          </a:p>
        </p:txBody>
      </p:sp>
    </p:spTree>
    <p:extLst>
      <p:ext uri="{BB962C8B-B14F-4D97-AF65-F5344CB8AC3E}">
        <p14:creationId xmlns:p14="http://schemas.microsoft.com/office/powerpoint/2010/main" val="2094608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BEB9-5EC6-466B-84E7-DF959140956B}"/>
              </a:ext>
            </a:extLst>
          </p:cNvPr>
          <p:cNvSpPr>
            <a:spLocks noGrp="1"/>
          </p:cNvSpPr>
          <p:nvPr>
            <p:ph type="ctrTitle"/>
          </p:nvPr>
        </p:nvSpPr>
        <p:spPr/>
        <p:txBody>
          <a:bodyPr/>
          <a:lstStyle/>
          <a:p>
            <a:r>
              <a:rPr lang="en-US"/>
              <a:t>Visualizing Uncertainty</a:t>
            </a:r>
            <a:endParaRPr lang="en-US" dirty="0"/>
          </a:p>
        </p:txBody>
      </p:sp>
      <p:sp>
        <p:nvSpPr>
          <p:cNvPr id="3" name="Subtitle 2">
            <a:extLst>
              <a:ext uri="{FF2B5EF4-FFF2-40B4-BE49-F238E27FC236}">
                <a16:creationId xmlns:a16="http://schemas.microsoft.com/office/drawing/2014/main" id="{664516A3-79EC-4194-ABE6-15B9469748C2}"/>
              </a:ext>
            </a:extLst>
          </p:cNvPr>
          <p:cNvSpPr>
            <a:spLocks noGrp="1"/>
          </p:cNvSpPr>
          <p:nvPr>
            <p:ph type="subTitle" idx="1"/>
          </p:nvPr>
        </p:nvSpPr>
        <p:spPr/>
        <p:txBody>
          <a:bodyPr>
            <a:normAutofit fontScale="92500" lnSpcReduction="10000"/>
          </a:bodyPr>
          <a:lstStyle/>
          <a:p>
            <a:r>
              <a:rPr lang="en-US" dirty="0"/>
              <a:t>HUGEN 2073</a:t>
            </a:r>
          </a:p>
          <a:p>
            <a:r>
              <a:rPr lang="en-US" b="1" dirty="0"/>
              <a:t>Genomic Data Visualization and Integration</a:t>
            </a:r>
          </a:p>
          <a:p>
            <a:endParaRPr lang="en-US" dirty="0"/>
          </a:p>
          <a:p>
            <a:r>
              <a:rPr lang="en-US" dirty="0"/>
              <a:t>Slides borrowed/adapted from H. J. Park with permission</a:t>
            </a:r>
          </a:p>
        </p:txBody>
      </p:sp>
    </p:spTree>
    <p:extLst>
      <p:ext uri="{BB962C8B-B14F-4D97-AF65-F5344CB8AC3E}">
        <p14:creationId xmlns:p14="http://schemas.microsoft.com/office/powerpoint/2010/main" val="774775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877"/>
            <a:ext cx="12192000" cy="1325563"/>
          </a:xfrm>
        </p:spPr>
        <p:txBody>
          <a:bodyPr/>
          <a:lstStyle/>
          <a:p>
            <a:r>
              <a:rPr lang="en-US" dirty="0"/>
              <a:t>Visualizing uncertainties is visualizing probability</a:t>
            </a:r>
          </a:p>
        </p:txBody>
      </p:sp>
      <p:sp>
        <p:nvSpPr>
          <p:cNvPr id="7" name="Rectangle 6">
            <a:extLst>
              <a:ext uri="{FF2B5EF4-FFF2-40B4-BE49-F238E27FC236}">
                <a16:creationId xmlns:a16="http://schemas.microsoft.com/office/drawing/2014/main" id="{02713EB8-E38D-426D-A137-DE2C897401E4}"/>
              </a:ext>
            </a:extLst>
          </p:cNvPr>
          <p:cNvSpPr/>
          <p:nvPr/>
        </p:nvSpPr>
        <p:spPr>
          <a:xfrm>
            <a:off x="6693379" y="6550223"/>
            <a:ext cx="5498621" cy="307777"/>
          </a:xfrm>
          <a:prstGeom prst="rect">
            <a:avLst/>
          </a:prstGeom>
        </p:spPr>
        <p:txBody>
          <a:bodyPr wrap="none">
            <a:spAutoFit/>
          </a:bodyPr>
          <a:lstStyle/>
          <a:p>
            <a:r>
              <a:rPr lang="en-US" sz="1400" dirty="0"/>
              <a:t>Adapted from Fundamentals of Data Visualization, Wilke, O’Reilly, 1</a:t>
            </a:r>
            <a:r>
              <a:rPr lang="en-US" sz="1400" baseline="30000" dirty="0"/>
              <a:t>st</a:t>
            </a:r>
            <a:r>
              <a:rPr lang="en-US" sz="1400" dirty="0"/>
              <a:t> Ed.</a:t>
            </a:r>
          </a:p>
        </p:txBody>
      </p:sp>
      <p:pic>
        <p:nvPicPr>
          <p:cNvPr id="5" name="Picture 4">
            <a:extLst>
              <a:ext uri="{FF2B5EF4-FFF2-40B4-BE49-F238E27FC236}">
                <a16:creationId xmlns:a16="http://schemas.microsoft.com/office/drawing/2014/main" id="{1D75AABA-0014-4843-A880-BC599455D15E}"/>
              </a:ext>
            </a:extLst>
          </p:cNvPr>
          <p:cNvPicPr>
            <a:picLocks noChangeAspect="1"/>
          </p:cNvPicPr>
          <p:nvPr/>
        </p:nvPicPr>
        <p:blipFill>
          <a:blip r:embed="rId3"/>
          <a:stretch>
            <a:fillRect/>
          </a:stretch>
        </p:blipFill>
        <p:spPr>
          <a:xfrm>
            <a:off x="3637935" y="1922173"/>
            <a:ext cx="8554065" cy="3357067"/>
          </a:xfrm>
          <a:prstGeom prst="rect">
            <a:avLst/>
          </a:prstGeom>
        </p:spPr>
      </p:pic>
      <p:sp>
        <p:nvSpPr>
          <p:cNvPr id="9" name="Rectangle 8">
            <a:extLst>
              <a:ext uri="{FF2B5EF4-FFF2-40B4-BE49-F238E27FC236}">
                <a16:creationId xmlns:a16="http://schemas.microsoft.com/office/drawing/2014/main" id="{8B8CDD86-39E1-4B0B-9AF2-FEBAB5FD07FB}"/>
              </a:ext>
            </a:extLst>
          </p:cNvPr>
          <p:cNvSpPr/>
          <p:nvPr/>
        </p:nvSpPr>
        <p:spPr>
          <a:xfrm>
            <a:off x="179012" y="1119468"/>
            <a:ext cx="3553517" cy="5632311"/>
          </a:xfrm>
          <a:prstGeom prst="rect">
            <a:avLst/>
          </a:prstGeom>
        </p:spPr>
        <p:txBody>
          <a:bodyPr wrap="square">
            <a:spAutoFit/>
          </a:bodyPr>
          <a:lstStyle/>
          <a:p>
            <a:pPr marL="342900" indent="-342900">
              <a:buFont typeface="Arial" panose="020B0604020202020204" pitchFamily="34" charset="0"/>
              <a:buChar char="•"/>
            </a:pPr>
            <a:r>
              <a:rPr lang="en-US" sz="2400" dirty="0"/>
              <a:t>Visualizing uncertainty to a binary outcome, survival or mortality </a:t>
            </a:r>
          </a:p>
          <a:p>
            <a:pPr marL="342900" indent="-342900">
              <a:buFont typeface="Arial" panose="020B0604020202020204" pitchFamily="34" charset="0"/>
              <a:buChar char="•"/>
            </a:pPr>
            <a:r>
              <a:rPr lang="en-US" sz="2400" dirty="0"/>
              <a:t>e. g., how certain is a breast cancer patient to survive?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OK since 2 factors to define a probability</a:t>
            </a:r>
          </a:p>
          <a:p>
            <a:pPr marL="457200" indent="-457200">
              <a:buFont typeface="+mj-lt"/>
              <a:buAutoNum type="arabicPeriod"/>
            </a:pPr>
            <a:r>
              <a:rPr lang="en-US" sz="2400" dirty="0"/>
              <a:t>Sample size</a:t>
            </a:r>
          </a:p>
          <a:p>
            <a:pPr marL="457200" indent="-457200">
              <a:buFont typeface="+mj-lt"/>
              <a:buAutoNum type="arabicPeriod"/>
            </a:pPr>
            <a:r>
              <a:rPr lang="en-US" sz="2400" dirty="0"/>
              <a:t>Individuals with event (case or control)</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Not OK since it doesn’t show stochasticity?</a:t>
            </a:r>
          </a:p>
        </p:txBody>
      </p:sp>
    </p:spTree>
    <p:extLst>
      <p:ext uri="{BB962C8B-B14F-4D97-AF65-F5344CB8AC3E}">
        <p14:creationId xmlns:p14="http://schemas.microsoft.com/office/powerpoint/2010/main" val="88440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106" y="0"/>
            <a:ext cx="10515600" cy="1325563"/>
          </a:xfrm>
        </p:spPr>
        <p:txBody>
          <a:bodyPr/>
          <a:lstStyle/>
          <a:p>
            <a:r>
              <a:rPr lang="en-US"/>
              <a:t>Population, samples, individuals and variables</a:t>
            </a:r>
          </a:p>
        </p:txBody>
      </p:sp>
      <p:pic>
        <p:nvPicPr>
          <p:cNvPr id="1026" name="Picture 2" descr="Population_Sample_Individuals_Variab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7216" y="1140542"/>
            <a:ext cx="9100055" cy="35000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40767" y="4901850"/>
            <a:ext cx="10788778" cy="1631216"/>
          </a:xfrm>
          <a:prstGeom prst="rect">
            <a:avLst/>
          </a:prstGeom>
        </p:spPr>
        <p:txBody>
          <a:bodyPr wrap="square">
            <a:spAutoFit/>
          </a:bodyPr>
          <a:lstStyle/>
          <a:p>
            <a:pPr marL="285750" indent="-285750">
              <a:buFont typeface="Arial" panose="020B0604020202020204" pitchFamily="34" charset="0"/>
              <a:buChar char="•"/>
            </a:pPr>
            <a:r>
              <a:rPr lang="en-US" sz="2000" b="1" dirty="0"/>
              <a:t>Population: </a:t>
            </a:r>
            <a:r>
              <a:rPr lang="en-US" sz="2000" dirty="0"/>
              <a:t>The set of all the elements under study (e. g., all breast cancer patients)</a:t>
            </a:r>
          </a:p>
          <a:p>
            <a:pPr marL="285750" indent="-285750">
              <a:buFont typeface="Arial" panose="020B0604020202020204" pitchFamily="34" charset="0"/>
              <a:buChar char="•"/>
            </a:pPr>
            <a:r>
              <a:rPr lang="en-US" sz="2000" b="1" dirty="0"/>
              <a:t>Sample: </a:t>
            </a:r>
            <a:r>
              <a:rPr lang="en-US" sz="2000" dirty="0"/>
              <a:t>A subset of elements of the population (assumed to be representative of the population) (e. g., a breast cancer cohort)</a:t>
            </a:r>
          </a:p>
          <a:p>
            <a:pPr marL="285750" indent="-285750">
              <a:buFont typeface="Arial" panose="020B0604020202020204" pitchFamily="34" charset="0"/>
              <a:buChar char="•"/>
            </a:pPr>
            <a:r>
              <a:rPr lang="en-US" sz="2000" b="1" dirty="0"/>
              <a:t>Individuals: </a:t>
            </a:r>
            <a:r>
              <a:rPr lang="en-US" sz="2000" dirty="0"/>
              <a:t>Individual element in the population (e. g., a breast cancer patient)</a:t>
            </a:r>
          </a:p>
          <a:p>
            <a:pPr marL="285750" indent="-285750">
              <a:buFont typeface="Arial" panose="020B0604020202020204" pitchFamily="34" charset="0"/>
              <a:buChar char="•"/>
            </a:pPr>
            <a:r>
              <a:rPr lang="en-US" sz="2000" b="1" dirty="0"/>
              <a:t>Variables: </a:t>
            </a:r>
            <a:r>
              <a:rPr lang="en-US" sz="2000" dirty="0"/>
              <a:t>Characteristics of the individuals (clinical, molecular, socioeconomic features)</a:t>
            </a:r>
          </a:p>
        </p:txBody>
      </p:sp>
      <p:sp>
        <p:nvSpPr>
          <p:cNvPr id="5" name="Rectangle 4"/>
          <p:cNvSpPr/>
          <p:nvPr/>
        </p:nvSpPr>
        <p:spPr>
          <a:xfrm>
            <a:off x="8187558" y="3876245"/>
            <a:ext cx="3375395" cy="523220"/>
          </a:xfrm>
          <a:prstGeom prst="rect">
            <a:avLst/>
          </a:prstGeom>
        </p:spPr>
        <p:txBody>
          <a:bodyPr wrap="square">
            <a:spAutoFit/>
          </a:bodyPr>
          <a:lstStyle/>
          <a:p>
            <a:r>
              <a:rPr lang="en-US" sz="1400" dirty="0"/>
              <a:t>https://www.datalaria.com/en/post/fundamentos/2018-10-07-estadistica-descriptiva/</a:t>
            </a:r>
          </a:p>
        </p:txBody>
      </p:sp>
    </p:spTree>
    <p:extLst>
      <p:ext uri="{BB962C8B-B14F-4D97-AF65-F5344CB8AC3E}">
        <p14:creationId xmlns:p14="http://schemas.microsoft.com/office/powerpoint/2010/main" val="3791814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381"/>
            <a:ext cx="10515600" cy="1325563"/>
          </a:xfrm>
        </p:spPr>
        <p:txBody>
          <a:bodyPr/>
          <a:lstStyle/>
          <a:p>
            <a:r>
              <a:rPr lang="en-US" dirty="0"/>
              <a:t>Outcome prediction as probability</a:t>
            </a:r>
          </a:p>
        </p:txBody>
      </p:sp>
      <p:sp>
        <p:nvSpPr>
          <p:cNvPr id="8" name="TextBox 7">
            <a:extLst>
              <a:ext uri="{FF2B5EF4-FFF2-40B4-BE49-F238E27FC236}">
                <a16:creationId xmlns:a16="http://schemas.microsoft.com/office/drawing/2014/main" id="{91DF636B-2926-4BCE-AA0E-B206D0D9FB02}"/>
              </a:ext>
            </a:extLst>
          </p:cNvPr>
          <p:cNvSpPr txBox="1"/>
          <p:nvPr/>
        </p:nvSpPr>
        <p:spPr>
          <a:xfrm>
            <a:off x="5929779" y="1858485"/>
            <a:ext cx="5108193" cy="400110"/>
          </a:xfrm>
          <a:prstGeom prst="rect">
            <a:avLst/>
          </a:prstGeom>
          <a:noFill/>
        </p:spPr>
        <p:txBody>
          <a:bodyPr wrap="none" rtlCol="0">
            <a:spAutoFit/>
          </a:bodyPr>
          <a:lstStyle/>
          <a:p>
            <a:r>
              <a:rPr lang="en-US" sz="2000" dirty="0"/>
              <a:t>Hypothetical prediction of an election outcome</a:t>
            </a:r>
          </a:p>
        </p:txBody>
      </p:sp>
      <p:pic>
        <p:nvPicPr>
          <p:cNvPr id="3" name="Picture 2">
            <a:extLst>
              <a:ext uri="{FF2B5EF4-FFF2-40B4-BE49-F238E27FC236}">
                <a16:creationId xmlns:a16="http://schemas.microsoft.com/office/drawing/2014/main" id="{DB47CE8B-456C-44FA-9C6A-31F3FA3016D3}"/>
              </a:ext>
            </a:extLst>
          </p:cNvPr>
          <p:cNvPicPr>
            <a:picLocks noChangeAspect="1"/>
          </p:cNvPicPr>
          <p:nvPr/>
        </p:nvPicPr>
        <p:blipFill>
          <a:blip r:embed="rId3"/>
          <a:stretch>
            <a:fillRect/>
          </a:stretch>
        </p:blipFill>
        <p:spPr>
          <a:xfrm>
            <a:off x="4936690" y="2234765"/>
            <a:ext cx="7288648" cy="3785652"/>
          </a:xfrm>
          <a:prstGeom prst="rect">
            <a:avLst/>
          </a:prstGeom>
        </p:spPr>
      </p:pic>
      <p:sp>
        <p:nvSpPr>
          <p:cNvPr id="4" name="Rectangle 3"/>
          <p:cNvSpPr/>
          <p:nvPr/>
        </p:nvSpPr>
        <p:spPr>
          <a:xfrm>
            <a:off x="172277" y="1669538"/>
            <a:ext cx="4596235" cy="3785652"/>
          </a:xfrm>
          <a:prstGeom prst="rect">
            <a:avLst/>
          </a:prstGeom>
        </p:spPr>
        <p:txBody>
          <a:bodyPr wrap="square">
            <a:spAutoFit/>
          </a:bodyPr>
          <a:lstStyle/>
          <a:p>
            <a:pPr marL="285750" indent="-285750">
              <a:buFont typeface="Arial" panose="020B0604020202020204" pitchFamily="34" charset="0"/>
              <a:buChar char="•"/>
            </a:pPr>
            <a:r>
              <a:rPr lang="en-US" sz="2400" dirty="0"/>
              <a:t>E. g., </a:t>
            </a:r>
            <a:r>
              <a:rPr lang="en-US" sz="2400" b="0" i="0" kern="1200" dirty="0">
                <a:solidFill>
                  <a:schemeClr val="tx1"/>
                </a:solidFill>
                <a:effectLst/>
                <a:latin typeface="+mn-lt"/>
                <a:ea typeface="+mn-ea"/>
                <a:cs typeface="+mn-cs"/>
              </a:rPr>
              <a:t>an upcoming election with two parties, the yellow party and the blue party</a:t>
            </a:r>
            <a:endParaRPr lang="en-US" sz="2400" dirty="0"/>
          </a:p>
          <a:p>
            <a:pPr marL="285750" indent="-285750">
              <a:buFont typeface="Arial" panose="020B0604020202020204" pitchFamily="34" charset="0"/>
              <a:buChar char="•"/>
            </a:pPr>
            <a:r>
              <a:rPr lang="en-US" sz="2400" dirty="0"/>
              <a:t>On radio, t</a:t>
            </a:r>
            <a:r>
              <a:rPr lang="en-US" sz="2400" b="0" i="0" kern="1200" dirty="0">
                <a:solidFill>
                  <a:schemeClr val="tx1"/>
                </a:solidFill>
                <a:effectLst/>
                <a:latin typeface="+mn-lt"/>
                <a:ea typeface="+mn-ea"/>
                <a:cs typeface="+mn-cs"/>
              </a:rPr>
              <a:t>he blue party is predicted to have a 1% advantage with a margin of error of 1.76 % points</a:t>
            </a:r>
          </a:p>
          <a:p>
            <a:pPr marL="285750" indent="-285750">
              <a:buFont typeface="Arial" panose="020B0604020202020204" pitchFamily="34" charset="0"/>
              <a:buChar char="•"/>
            </a:pPr>
            <a:r>
              <a:rPr lang="en-US" sz="2400" b="0" i="0" kern="1200" dirty="0">
                <a:solidFill>
                  <a:schemeClr val="tx1"/>
                </a:solidFill>
                <a:effectLst/>
                <a:latin typeface="+mn-lt"/>
                <a:ea typeface="+mn-ea"/>
                <a:cs typeface="+mn-cs"/>
              </a:rPr>
              <a:t>The range of possible outcomes with their associated likelihoods in curve</a:t>
            </a:r>
            <a:endParaRPr lang="en-US" sz="2400" dirty="0"/>
          </a:p>
        </p:txBody>
      </p:sp>
      <p:sp>
        <p:nvSpPr>
          <p:cNvPr id="7" name="Rectangle 6">
            <a:extLst>
              <a:ext uri="{FF2B5EF4-FFF2-40B4-BE49-F238E27FC236}">
                <a16:creationId xmlns:a16="http://schemas.microsoft.com/office/drawing/2014/main" id="{02713EB8-E38D-426D-A137-DE2C897401E4}"/>
              </a:ext>
            </a:extLst>
          </p:cNvPr>
          <p:cNvSpPr/>
          <p:nvPr/>
        </p:nvSpPr>
        <p:spPr>
          <a:xfrm>
            <a:off x="7466043" y="6020417"/>
            <a:ext cx="4402039" cy="307777"/>
          </a:xfrm>
          <a:prstGeom prst="rect">
            <a:avLst/>
          </a:prstGeom>
        </p:spPr>
        <p:txBody>
          <a:bodyPr wrap="none">
            <a:spAutoFit/>
          </a:bodyPr>
          <a:lstStyle/>
          <a:p>
            <a:r>
              <a:rPr lang="en-US" sz="1400" dirty="0"/>
              <a:t>Fundamentals of Data Visualization, Wilke, O’Reilly, 1</a:t>
            </a:r>
            <a:r>
              <a:rPr lang="en-US" sz="1400" baseline="30000" dirty="0"/>
              <a:t>st</a:t>
            </a:r>
            <a:r>
              <a:rPr lang="en-US" sz="1400" dirty="0"/>
              <a:t> Ed.</a:t>
            </a:r>
          </a:p>
        </p:txBody>
      </p:sp>
    </p:spTree>
    <p:extLst>
      <p:ext uri="{BB962C8B-B14F-4D97-AF65-F5344CB8AC3E}">
        <p14:creationId xmlns:p14="http://schemas.microsoft.com/office/powerpoint/2010/main" val="2424072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381"/>
            <a:ext cx="10515600" cy="1325563"/>
          </a:xfrm>
        </p:spPr>
        <p:txBody>
          <a:bodyPr/>
          <a:lstStyle/>
          <a:p>
            <a:r>
              <a:rPr lang="en-US"/>
              <a:t>Quantile dot plots to represent probability</a:t>
            </a:r>
            <a:endParaRPr lang="en-US" dirty="0"/>
          </a:p>
        </p:txBody>
      </p:sp>
      <p:sp>
        <p:nvSpPr>
          <p:cNvPr id="8" name="TextBox 7">
            <a:extLst>
              <a:ext uri="{FF2B5EF4-FFF2-40B4-BE49-F238E27FC236}">
                <a16:creationId xmlns:a16="http://schemas.microsoft.com/office/drawing/2014/main" id="{91DF636B-2926-4BCE-AA0E-B206D0D9FB02}"/>
              </a:ext>
            </a:extLst>
          </p:cNvPr>
          <p:cNvSpPr txBox="1"/>
          <p:nvPr/>
        </p:nvSpPr>
        <p:spPr>
          <a:xfrm>
            <a:off x="5795412" y="1166309"/>
            <a:ext cx="6080319" cy="461665"/>
          </a:xfrm>
          <a:prstGeom prst="rect">
            <a:avLst/>
          </a:prstGeom>
          <a:noFill/>
        </p:spPr>
        <p:txBody>
          <a:bodyPr wrap="none" rtlCol="0">
            <a:spAutoFit/>
          </a:bodyPr>
          <a:lstStyle/>
          <a:p>
            <a:r>
              <a:rPr lang="en-US" sz="2400" dirty="0"/>
              <a:t>Hypothetical prediction of an election outcome</a:t>
            </a:r>
          </a:p>
        </p:txBody>
      </p:sp>
      <p:pic>
        <p:nvPicPr>
          <p:cNvPr id="4" name="Picture 3"/>
          <p:cNvPicPr>
            <a:picLocks noChangeAspect="1"/>
          </p:cNvPicPr>
          <p:nvPr/>
        </p:nvPicPr>
        <p:blipFill>
          <a:blip r:embed="rId3"/>
          <a:stretch>
            <a:fillRect/>
          </a:stretch>
        </p:blipFill>
        <p:spPr>
          <a:xfrm>
            <a:off x="5416576" y="1675924"/>
            <a:ext cx="6754122" cy="4836034"/>
          </a:xfrm>
          <a:prstGeom prst="rect">
            <a:avLst/>
          </a:prstGeom>
        </p:spPr>
      </p:pic>
      <p:sp>
        <p:nvSpPr>
          <p:cNvPr id="7" name="Rectangle 6"/>
          <p:cNvSpPr/>
          <p:nvPr/>
        </p:nvSpPr>
        <p:spPr>
          <a:xfrm>
            <a:off x="508018" y="2024747"/>
            <a:ext cx="4596235" cy="4524315"/>
          </a:xfrm>
          <a:prstGeom prst="rect">
            <a:avLst/>
          </a:prstGeom>
        </p:spPr>
        <p:txBody>
          <a:bodyPr wrap="square">
            <a:spAutoFit/>
          </a:bodyPr>
          <a:lstStyle/>
          <a:p>
            <a:pPr marL="285750" indent="-285750">
              <a:buFont typeface="Arial" panose="020B0604020202020204" pitchFamily="34" charset="0"/>
              <a:buChar char="•"/>
            </a:pPr>
            <a:r>
              <a:rPr lang="en-US" sz="2400" dirty="0"/>
              <a:t>Visualizing that the chance of the yellow party winning is 12.9%</a:t>
            </a:r>
          </a:p>
          <a:p>
            <a:pPr marL="285750" indent="-285750">
              <a:buFont typeface="Arial" panose="020B0604020202020204" pitchFamily="34" charset="0"/>
              <a:buChar char="•"/>
            </a:pPr>
            <a:r>
              <a:rPr lang="en-US" sz="2400" dirty="0"/>
              <a:t>Too many dots: have it perceived as a continuum</a:t>
            </a:r>
          </a:p>
          <a:p>
            <a:pPr marL="285750" indent="-285750">
              <a:buFont typeface="Arial" panose="020B0604020202020204" pitchFamily="34" charset="0"/>
              <a:buChar char="•"/>
            </a:pPr>
            <a:r>
              <a:rPr lang="en-US" sz="2400" dirty="0"/>
              <a:t>Too few dots: make the estimation inaccurate</a:t>
            </a:r>
          </a:p>
          <a:p>
            <a:pPr marL="285750" indent="-285750">
              <a:buFont typeface="Arial" panose="020B0604020202020204" pitchFamily="34" charset="0"/>
              <a:buChar char="•"/>
            </a:pPr>
            <a:r>
              <a:rPr lang="en-US" sz="2400" dirty="0"/>
              <a:t>How many dots would work?</a:t>
            </a:r>
          </a:p>
          <a:p>
            <a:pPr marL="742950" lvl="1" indent="-285750">
              <a:buFont typeface="Arial" panose="020B0604020202020204" pitchFamily="34" charset="0"/>
              <a:buChar char="•"/>
            </a:pPr>
            <a:r>
              <a:rPr lang="en-US" sz="2400" dirty="0"/>
              <a:t>Manual inspection</a:t>
            </a:r>
          </a:p>
          <a:p>
            <a:pPr marL="742950" lvl="1" indent="-285750">
              <a:buFont typeface="Arial" panose="020B0604020202020204" pitchFamily="34" charset="0"/>
              <a:buChar char="•"/>
            </a:pPr>
            <a:r>
              <a:rPr lang="en-US" sz="2400" dirty="0"/>
              <a:t>Who’s your audience?</a:t>
            </a:r>
          </a:p>
          <a:p>
            <a:pPr marL="285750" indent="-285750">
              <a:buFont typeface="Arial" panose="020B0604020202020204" pitchFamily="34" charset="0"/>
              <a:buChar char="•"/>
            </a:pPr>
            <a:r>
              <a:rPr lang="en-US" sz="2400" dirty="0"/>
              <a:t>Similar for bin width, bandwidth, window size in the sliding window</a:t>
            </a:r>
          </a:p>
        </p:txBody>
      </p:sp>
      <p:sp>
        <p:nvSpPr>
          <p:cNvPr id="9" name="Rectangle 8">
            <a:extLst>
              <a:ext uri="{FF2B5EF4-FFF2-40B4-BE49-F238E27FC236}">
                <a16:creationId xmlns:a16="http://schemas.microsoft.com/office/drawing/2014/main" id="{81938EBA-B6F2-4CAD-A4FD-26D51C476CC2}"/>
              </a:ext>
            </a:extLst>
          </p:cNvPr>
          <p:cNvSpPr/>
          <p:nvPr/>
        </p:nvSpPr>
        <p:spPr>
          <a:xfrm>
            <a:off x="7768659" y="6406019"/>
            <a:ext cx="4402039" cy="307777"/>
          </a:xfrm>
          <a:prstGeom prst="rect">
            <a:avLst/>
          </a:prstGeom>
        </p:spPr>
        <p:txBody>
          <a:bodyPr wrap="none">
            <a:spAutoFit/>
          </a:bodyPr>
          <a:lstStyle/>
          <a:p>
            <a:r>
              <a:rPr lang="en-US" sz="1400" dirty="0"/>
              <a:t>Fundamentals of Data Visualization, Wilke, O’Reilly, 1</a:t>
            </a:r>
            <a:r>
              <a:rPr lang="en-US" sz="1400" baseline="30000" dirty="0"/>
              <a:t>st</a:t>
            </a:r>
            <a:r>
              <a:rPr lang="en-US" sz="1400" dirty="0"/>
              <a:t> Ed.</a:t>
            </a:r>
          </a:p>
        </p:txBody>
      </p:sp>
    </p:spTree>
    <p:extLst>
      <p:ext uri="{BB962C8B-B14F-4D97-AF65-F5344CB8AC3E}">
        <p14:creationId xmlns:p14="http://schemas.microsoft.com/office/powerpoint/2010/main" val="290212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C638-2DF1-4025-9861-6C0B22D659E9}"/>
              </a:ext>
            </a:extLst>
          </p:cNvPr>
          <p:cNvSpPr>
            <a:spLocks noGrp="1"/>
          </p:cNvSpPr>
          <p:nvPr>
            <p:ph type="title"/>
          </p:nvPr>
        </p:nvSpPr>
        <p:spPr>
          <a:xfrm>
            <a:off x="838200" y="0"/>
            <a:ext cx="10515600" cy="1325563"/>
          </a:xfrm>
        </p:spPr>
        <p:txBody>
          <a:bodyPr/>
          <a:lstStyle/>
          <a:p>
            <a:r>
              <a:rPr lang="en-US" dirty="0"/>
              <a:t>Standard deviation and standard error of the mean to measure uncertainty</a:t>
            </a:r>
          </a:p>
        </p:txBody>
      </p:sp>
      <p:sp>
        <p:nvSpPr>
          <p:cNvPr id="11" name="Rectangle 10">
            <a:extLst>
              <a:ext uri="{FF2B5EF4-FFF2-40B4-BE49-F238E27FC236}">
                <a16:creationId xmlns:a16="http://schemas.microsoft.com/office/drawing/2014/main" id="{E5601793-9612-4154-A769-6CE79260F8CB}"/>
              </a:ext>
            </a:extLst>
          </p:cNvPr>
          <p:cNvSpPr/>
          <p:nvPr/>
        </p:nvSpPr>
        <p:spPr>
          <a:xfrm>
            <a:off x="157316" y="5132437"/>
            <a:ext cx="993058" cy="14053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0528E84-CE5C-4818-BC3D-AE4CB3BA6B09}"/>
              </a:ext>
            </a:extLst>
          </p:cNvPr>
          <p:cNvPicPr>
            <a:picLocks noChangeAspect="1"/>
          </p:cNvPicPr>
          <p:nvPr/>
        </p:nvPicPr>
        <p:blipFill>
          <a:blip r:embed="rId3"/>
          <a:stretch>
            <a:fillRect/>
          </a:stretch>
        </p:blipFill>
        <p:spPr>
          <a:xfrm>
            <a:off x="6296730" y="1762861"/>
            <a:ext cx="5873968" cy="4333127"/>
          </a:xfrm>
          <a:prstGeom prst="rect">
            <a:avLst/>
          </a:prstGeom>
        </p:spPr>
      </p:pic>
      <p:sp>
        <p:nvSpPr>
          <p:cNvPr id="7" name="Rectangle 6">
            <a:extLst>
              <a:ext uri="{FF2B5EF4-FFF2-40B4-BE49-F238E27FC236}">
                <a16:creationId xmlns:a16="http://schemas.microsoft.com/office/drawing/2014/main" id="{4419AF36-2802-4ECB-ACE6-CCC025F9F546}"/>
              </a:ext>
            </a:extLst>
          </p:cNvPr>
          <p:cNvSpPr/>
          <p:nvPr/>
        </p:nvSpPr>
        <p:spPr>
          <a:xfrm>
            <a:off x="7768659" y="6406019"/>
            <a:ext cx="4402039" cy="307777"/>
          </a:xfrm>
          <a:prstGeom prst="rect">
            <a:avLst/>
          </a:prstGeom>
        </p:spPr>
        <p:txBody>
          <a:bodyPr wrap="none">
            <a:spAutoFit/>
          </a:bodyPr>
          <a:lstStyle/>
          <a:p>
            <a:r>
              <a:rPr lang="en-US" sz="1400" dirty="0"/>
              <a:t>Fundamentals of Data Visualization, Wilke, O’Reilly, 1</a:t>
            </a:r>
            <a:r>
              <a:rPr lang="en-US" sz="1400" baseline="30000" dirty="0"/>
              <a:t>st</a:t>
            </a:r>
            <a:r>
              <a:rPr lang="en-US" sz="1400" dirty="0"/>
              <a:t> Ed.</a:t>
            </a: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A52170AC-BA59-9E65-6CAA-CF1AF2123E36}"/>
                  </a:ext>
                </a:extLst>
              </p:cNvPr>
              <p:cNvGraphicFramePr>
                <a:graphicFrameLocks noGrp="1"/>
              </p:cNvGraphicFramePr>
              <p:nvPr>
                <p:extLst>
                  <p:ext uri="{D42A27DB-BD31-4B8C-83A1-F6EECF244321}">
                    <p14:modId xmlns:p14="http://schemas.microsoft.com/office/powerpoint/2010/main" val="1704829566"/>
                  </p:ext>
                </p:extLst>
              </p:nvPr>
            </p:nvGraphicFramePr>
            <p:xfrm>
              <a:off x="80314" y="1566369"/>
              <a:ext cx="6113390" cy="4529619"/>
            </p:xfrm>
            <a:graphic>
              <a:graphicData uri="http://schemas.openxmlformats.org/drawingml/2006/table">
                <a:tbl>
                  <a:tblPr firstRow="1" bandRow="1">
                    <a:tableStyleId>{5C22544A-7EE6-4342-B048-85BDC9FD1C3A}</a:tableStyleId>
                  </a:tblPr>
                  <a:tblGrid>
                    <a:gridCol w="1363476">
                      <a:extLst>
                        <a:ext uri="{9D8B030D-6E8A-4147-A177-3AD203B41FA5}">
                          <a16:colId xmlns:a16="http://schemas.microsoft.com/office/drawing/2014/main" val="1652737351"/>
                        </a:ext>
                      </a:extLst>
                    </a:gridCol>
                    <a:gridCol w="1894588">
                      <a:extLst>
                        <a:ext uri="{9D8B030D-6E8A-4147-A177-3AD203B41FA5}">
                          <a16:colId xmlns:a16="http://schemas.microsoft.com/office/drawing/2014/main" val="3923664137"/>
                        </a:ext>
                      </a:extLst>
                    </a:gridCol>
                    <a:gridCol w="2855326">
                      <a:extLst>
                        <a:ext uri="{9D8B030D-6E8A-4147-A177-3AD203B41FA5}">
                          <a16:colId xmlns:a16="http://schemas.microsoft.com/office/drawing/2014/main" val="2782565932"/>
                        </a:ext>
                      </a:extLst>
                    </a:gridCol>
                  </a:tblGrid>
                  <a:tr h="308206">
                    <a:tc>
                      <a:txBody>
                        <a:bodyPr/>
                        <a:lstStyle/>
                        <a:p>
                          <a:r>
                            <a:rPr lang="en-US" sz="1200" dirty="0"/>
                            <a:t>Term</a:t>
                          </a:r>
                        </a:p>
                      </a:txBody>
                      <a:tcPr marL="79979" marR="79979" marT="39990" marB="39990"/>
                    </a:tc>
                    <a:tc>
                      <a:txBody>
                        <a:bodyPr/>
                        <a:lstStyle/>
                        <a:p>
                          <a:r>
                            <a:rPr lang="en-US" sz="1200" dirty="0"/>
                            <a:t>Symbol</a:t>
                          </a:r>
                        </a:p>
                      </a:txBody>
                      <a:tcPr marL="79979" marR="79979" marT="39990" marB="39990"/>
                    </a:tc>
                    <a:tc>
                      <a:txBody>
                        <a:bodyPr/>
                        <a:lstStyle/>
                        <a:p>
                          <a:r>
                            <a:rPr lang="en-US" sz="1200" dirty="0"/>
                            <a:t>Meaning</a:t>
                          </a:r>
                        </a:p>
                      </a:txBody>
                      <a:tcPr marL="79979" marR="79979" marT="39990" marB="39990"/>
                    </a:tc>
                    <a:extLst>
                      <a:ext uri="{0D108BD9-81ED-4DB2-BD59-A6C34878D82A}">
                        <a16:rowId xmlns:a16="http://schemas.microsoft.com/office/drawing/2014/main" val="4074060895"/>
                      </a:ext>
                    </a:extLst>
                  </a:tr>
                  <a:tr h="727644">
                    <a:tc>
                      <a:txBody>
                        <a:bodyPr/>
                        <a:lstStyle/>
                        <a:p>
                          <a:r>
                            <a:rPr lang="en-US" sz="1200" dirty="0"/>
                            <a:t>Standard deviation (of population)</a:t>
                          </a:r>
                        </a:p>
                      </a:txBody>
                      <a:tcPr marL="79979" marR="79979" marT="39990" marB="39990"/>
                    </a:tc>
                    <a:tc>
                      <a:txBody>
                        <a:bodyPr/>
                        <a:lstStyle/>
                        <a:p>
                          <a:pPr algn="l"/>
                          <a14:m>
                            <m:oMathPara xmlns:m="http://schemas.openxmlformats.org/officeDocument/2006/math">
                              <m:oMathParaPr>
                                <m:jc m:val="left"/>
                              </m:oMathParaPr>
                              <m:oMath xmlns:m="http://schemas.openxmlformats.org/officeDocument/2006/math">
                                <m:r>
                                  <a:rPr lang="en-US" sz="1200" i="1" smtClean="0">
                                    <a:latin typeface="Cambria Math" panose="02040503050406030204" pitchFamily="18" charset="0"/>
                                    <a:ea typeface="Cambria Math" panose="02040503050406030204" pitchFamily="18" charset="0"/>
                                  </a:rPr>
                                  <m:t>𝜎</m:t>
                                </m:r>
                              </m:oMath>
                            </m:oMathPara>
                          </a14:m>
                          <a:endParaRPr lang="en-US" sz="1200" dirty="0"/>
                        </a:p>
                      </a:txBody>
                      <a:tcPr marL="79979" marR="79979" marT="39990" marB="39990"/>
                    </a:tc>
                    <a:tc>
                      <a:txBody>
                        <a:bodyPr/>
                        <a:lstStyle/>
                        <a:p>
                          <a:pPr marL="285750" indent="-285750">
                            <a:buFont typeface="Arial" panose="020B0604020202020204" pitchFamily="34" charset="0"/>
                            <a:buChar char="•"/>
                          </a:pPr>
                          <a:r>
                            <a:rPr lang="en-US" sz="1200" dirty="0"/>
                            <a:t>Variability in population</a:t>
                          </a:r>
                        </a:p>
                        <a:p>
                          <a:pPr marL="285750" indent="-285750">
                            <a:buFont typeface="Arial" panose="020B0604020202020204" pitchFamily="34" charset="0"/>
                            <a:buChar char="•"/>
                          </a:pPr>
                          <a:r>
                            <a:rPr lang="en-US" sz="1200" dirty="0"/>
                            <a:t>Typically unknown (so estimate it)</a:t>
                          </a:r>
                        </a:p>
                      </a:txBody>
                      <a:tcPr marL="79979" marR="79979" marT="39990" marB="39990"/>
                    </a:tc>
                    <a:extLst>
                      <a:ext uri="{0D108BD9-81ED-4DB2-BD59-A6C34878D82A}">
                        <a16:rowId xmlns:a16="http://schemas.microsoft.com/office/drawing/2014/main" val="1823046341"/>
                      </a:ext>
                    </a:extLst>
                  </a:tr>
                  <a:tr h="735187">
                    <a:tc>
                      <a:txBody>
                        <a:bodyPr/>
                        <a:lstStyle/>
                        <a:p>
                          <a:r>
                            <a:rPr lang="en-US" sz="1200" dirty="0"/>
                            <a:t>Sample standard deviation</a:t>
                          </a:r>
                        </a:p>
                      </a:txBody>
                      <a:tcPr marL="79979" marR="79979" marT="39990" marB="39990"/>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 =</a:t>
                          </a:r>
                          <a:r>
                            <a:rPr lang="en-US" sz="1200" baseline="0" dirty="0"/>
                            <a:t> </a:t>
                          </a:r>
                          <a14:m>
                            <m:oMath xmlns:m="http://schemas.openxmlformats.org/officeDocument/2006/math">
                              <m:rad>
                                <m:radPr>
                                  <m:degHide m:val="on"/>
                                  <m:ctrlPr>
                                    <a:rPr lang="en-US" sz="1200" i="1" baseline="0" smtClean="0">
                                      <a:latin typeface="Cambria Math" panose="02040503050406030204" pitchFamily="18" charset="0"/>
                                    </a:rPr>
                                  </m:ctrlPr>
                                </m:radPr>
                                <m:deg/>
                                <m:e>
                                  <m:f>
                                    <m:fPr>
                                      <m:ctrlPr>
                                        <a:rPr lang="en-US" sz="1200" i="1" baseline="0" smtClean="0">
                                          <a:latin typeface="Cambria Math" panose="02040503050406030204" pitchFamily="18" charset="0"/>
                                        </a:rPr>
                                      </m:ctrlPr>
                                    </m:fPr>
                                    <m:num>
                                      <m:r>
                                        <a:rPr lang="en-US" sz="1200" b="0" i="1" baseline="0" smtClean="0">
                                          <a:latin typeface="Cambria Math" panose="02040503050406030204" pitchFamily="18" charset="0"/>
                                        </a:rPr>
                                        <m:t>1</m:t>
                                      </m:r>
                                    </m:num>
                                    <m:den>
                                      <m:r>
                                        <a:rPr lang="en-US" sz="1200" b="0" i="1" baseline="0" smtClean="0">
                                          <a:latin typeface="Cambria Math" panose="02040503050406030204" pitchFamily="18" charset="0"/>
                                        </a:rPr>
                                        <m:t>𝑛</m:t>
                                      </m:r>
                                    </m:den>
                                  </m:f>
                                  <m:nary>
                                    <m:naryPr>
                                      <m:chr m:val="∑"/>
                                      <m:ctrlPr>
                                        <a:rPr lang="en-US" sz="1200" i="1" baseline="0" smtClean="0">
                                          <a:latin typeface="Cambria Math" panose="02040503050406030204" pitchFamily="18" charset="0"/>
                                        </a:rPr>
                                      </m:ctrlPr>
                                    </m:naryPr>
                                    <m:sub>
                                      <m:r>
                                        <m:rPr>
                                          <m:brk m:alnAt="23"/>
                                        </m:rPr>
                                        <a:rPr lang="en-US" sz="1200" b="0" i="1" baseline="0" smtClean="0">
                                          <a:latin typeface="Cambria Math" panose="02040503050406030204" pitchFamily="18" charset="0"/>
                                        </a:rPr>
                                        <m:t>𝑖</m:t>
                                      </m:r>
                                      <m:r>
                                        <a:rPr lang="en-US" sz="1200" b="0" i="1" baseline="0" smtClean="0">
                                          <a:latin typeface="Cambria Math" panose="02040503050406030204" pitchFamily="18" charset="0"/>
                                        </a:rPr>
                                        <m:t>=1</m:t>
                                      </m:r>
                                    </m:sub>
                                    <m:sup>
                                      <m:r>
                                        <a:rPr lang="en-US" sz="1200" b="0" i="1" baseline="0" smtClean="0">
                                          <a:latin typeface="Cambria Math" panose="02040503050406030204" pitchFamily="18" charset="0"/>
                                        </a:rPr>
                                        <m:t>𝑛</m:t>
                                      </m:r>
                                    </m:sup>
                                    <m:e>
                                      <m:sSup>
                                        <m:sSupPr>
                                          <m:ctrlPr>
                                            <a:rPr lang="en-US" sz="1200" i="1" baseline="0" smtClean="0">
                                              <a:latin typeface="Cambria Math" panose="02040503050406030204" pitchFamily="18" charset="0"/>
                                            </a:rPr>
                                          </m:ctrlPr>
                                        </m:sSupPr>
                                        <m:e>
                                          <m:r>
                                            <a:rPr lang="en-US" sz="1200" b="0" i="1" baseline="0" smtClean="0">
                                              <a:latin typeface="Cambria Math" panose="02040503050406030204" pitchFamily="18" charset="0"/>
                                            </a:rPr>
                                            <m:t>(</m:t>
                                          </m:r>
                                          <m:sSub>
                                            <m:sSubPr>
                                              <m:ctrlPr>
                                                <a:rPr lang="en-US" sz="1200" b="0" i="1" baseline="0" smtClean="0">
                                                  <a:latin typeface="Cambria Math" panose="02040503050406030204" pitchFamily="18" charset="0"/>
                                                </a:rPr>
                                              </m:ctrlPr>
                                            </m:sSubPr>
                                            <m:e>
                                              <m:r>
                                                <a:rPr lang="en-US" sz="1200" b="0" i="1" baseline="0" smtClean="0">
                                                  <a:latin typeface="Cambria Math" panose="02040503050406030204" pitchFamily="18" charset="0"/>
                                                </a:rPr>
                                                <m:t>𝑥</m:t>
                                              </m:r>
                                            </m:e>
                                            <m:sub>
                                              <m:r>
                                                <a:rPr lang="en-US" sz="1200" b="0" i="1" baseline="0" smtClean="0">
                                                  <a:latin typeface="Cambria Math" panose="02040503050406030204" pitchFamily="18" charset="0"/>
                                                </a:rPr>
                                                <m:t>𝑖</m:t>
                                              </m:r>
                                            </m:sub>
                                          </m:sSub>
                                          <m:r>
                                            <a:rPr lang="en-US" sz="1200" b="0" i="1" baseline="0" smtClean="0">
                                              <a:latin typeface="Cambria Math" panose="02040503050406030204" pitchFamily="18" charset="0"/>
                                            </a:rPr>
                                            <m:t> − </m:t>
                                          </m:r>
                                          <m:acc>
                                            <m:accPr>
                                              <m:chr m:val="̅"/>
                                              <m:ctrlPr>
                                                <a:rPr lang="en-US" sz="1200" b="0" i="1" baseline="0" smtClean="0">
                                                  <a:latin typeface="Cambria Math" panose="02040503050406030204" pitchFamily="18" charset="0"/>
                                                </a:rPr>
                                              </m:ctrlPr>
                                            </m:accPr>
                                            <m:e>
                                              <m:r>
                                                <a:rPr lang="en-US" sz="1200" b="0" i="1" baseline="0" smtClean="0">
                                                  <a:latin typeface="Cambria Math" panose="02040503050406030204" pitchFamily="18" charset="0"/>
                                                </a:rPr>
                                                <m:t>𝑥</m:t>
                                              </m:r>
                                            </m:e>
                                          </m:acc>
                                          <m:r>
                                            <a:rPr lang="en-US" sz="1200" b="0" i="1" baseline="0" smtClean="0">
                                              <a:latin typeface="Cambria Math" panose="02040503050406030204" pitchFamily="18" charset="0"/>
                                            </a:rPr>
                                            <m:t> )</m:t>
                                          </m:r>
                                        </m:e>
                                        <m:sup>
                                          <m:r>
                                            <a:rPr lang="en-US" sz="1200" b="0" i="1" baseline="0" smtClean="0">
                                              <a:latin typeface="Cambria Math" panose="02040503050406030204" pitchFamily="18" charset="0"/>
                                            </a:rPr>
                                            <m:t>2</m:t>
                                          </m:r>
                                        </m:sup>
                                      </m:sSup>
                                    </m:e>
                                  </m:nary>
                                </m:e>
                              </m:rad>
                            </m:oMath>
                          </a14:m>
                          <a:endParaRPr lang="en-US" sz="12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lang="en-US" sz="1200" i="1" smtClean="0">
                                      <a:latin typeface="Cambria Math" panose="02040503050406030204" pitchFamily="18" charset="0"/>
                                    </a:rPr>
                                  </m:ctrlPr>
                                </m:accPr>
                                <m:e>
                                  <m:r>
                                    <a:rPr lang="en-US" sz="1200" i="1" smtClean="0">
                                      <a:latin typeface="Cambria Math" panose="02040503050406030204" pitchFamily="18" charset="0"/>
                                      <a:ea typeface="Cambria Math" panose="02040503050406030204" pitchFamily="18" charset="0"/>
                                    </a:rPr>
                                    <m:t>𝜎</m:t>
                                  </m:r>
                                </m:e>
                              </m:acc>
                            </m:oMath>
                          </a14:m>
                          <a:endParaRPr lang="en-US" sz="1200" dirty="0"/>
                        </a:p>
                      </a:txBody>
                      <a:tcPr marL="79979" marR="79979" marT="39990" marB="39990"/>
                    </a:tc>
                    <a:tc>
                      <a:txBody>
                        <a:bodyPr/>
                        <a:lstStyle/>
                        <a:p>
                          <a:pPr marL="285750" indent="-285750">
                            <a:buFont typeface="Arial" panose="020B0604020202020204" pitchFamily="34" charset="0"/>
                            <a:buChar char="•"/>
                          </a:pPr>
                          <a:r>
                            <a:rPr lang="en-US" sz="1200" dirty="0"/>
                            <a:t>Variability of a particular sample</a:t>
                          </a:r>
                        </a:p>
                        <a:p>
                          <a:pPr marL="285750" indent="-285750">
                            <a:buFont typeface="Arial" panose="020B0604020202020204" pitchFamily="34" charset="0"/>
                            <a:buChar char="•"/>
                          </a:pPr>
                          <a:r>
                            <a:rPr lang="en-US" sz="1200" dirty="0"/>
                            <a:t>Also</a:t>
                          </a:r>
                          <a:r>
                            <a:rPr lang="en-US" sz="1200" baseline="0" dirty="0"/>
                            <a:t> a</a:t>
                          </a:r>
                          <a:r>
                            <a:rPr lang="en-US" sz="1200" dirty="0"/>
                            <a:t>n estimator of </a:t>
                          </a:r>
                          <a14:m>
                            <m:oMath xmlns:m="http://schemas.openxmlformats.org/officeDocument/2006/math">
                              <m:r>
                                <a:rPr lang="en-US" sz="1200" i="1" smtClean="0">
                                  <a:latin typeface="Cambria Math" panose="02040503050406030204" pitchFamily="18" charset="0"/>
                                  <a:ea typeface="Cambria Math" panose="02040503050406030204" pitchFamily="18" charset="0"/>
                                </a:rPr>
                                <m:t>𝜎</m:t>
                              </m:r>
                            </m:oMath>
                          </a14:m>
                          <a:endParaRPr lang="en-US" sz="1200" dirty="0"/>
                        </a:p>
                      </a:txBody>
                      <a:tcPr marL="79979" marR="79979" marT="39990" marB="39990"/>
                    </a:tc>
                    <a:extLst>
                      <a:ext uri="{0D108BD9-81ED-4DB2-BD59-A6C34878D82A}">
                        <a16:rowId xmlns:a16="http://schemas.microsoft.com/office/drawing/2014/main" val="1872724248"/>
                      </a:ext>
                    </a:extLst>
                  </a:tr>
                  <a:tr h="1379291">
                    <a:tc>
                      <a:txBody>
                        <a:bodyPr/>
                        <a:lstStyle/>
                        <a:p>
                          <a:pPr marL="285750" indent="-285750">
                            <a:buFont typeface="Arial" panose="020B0604020202020204" pitchFamily="34" charset="0"/>
                            <a:buChar char="•"/>
                          </a:pPr>
                          <a:r>
                            <a:rPr lang="en-US" sz="1200" dirty="0"/>
                            <a:t>Standard error (of sample mean)</a:t>
                          </a:r>
                        </a:p>
                        <a:p>
                          <a:pPr marL="285750" indent="-285750">
                            <a:buFont typeface="Arial" panose="020B0604020202020204" pitchFamily="34" charset="0"/>
                            <a:buChar char="•"/>
                          </a:pPr>
                          <a:r>
                            <a:rPr lang="en-US" sz="1200" dirty="0"/>
                            <a:t>SE or SEM</a:t>
                          </a:r>
                        </a:p>
                      </a:txBody>
                      <a:tcPr marL="79979" marR="79979" marT="39990" marB="39990"/>
                    </a:tc>
                    <a:tc>
                      <a:txBody>
                        <a:bodyPr/>
                        <a:lstStyle/>
                        <a:p>
                          <a:pPr algn="l"/>
                          <a14:m>
                            <m:oMath xmlns:m="http://schemas.openxmlformats.org/officeDocument/2006/math">
                              <m:sSub>
                                <m:sSubPr>
                                  <m:ctrlPr>
                                    <a:rPr lang="en-US" sz="1200" i="1" smtClean="0">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𝜎</m:t>
                                  </m:r>
                                  <m:r>
                                    <m:rPr>
                                      <m:nor/>
                                    </m:rPr>
                                    <a:rPr lang="en-US" sz="1200" dirty="0"/>
                                    <m:t> </m:t>
                                  </m:r>
                                </m:e>
                                <m:sub>
                                  <m:acc>
                                    <m:accPr>
                                      <m:chr m:val="̅"/>
                                      <m:ctrlPr>
                                        <a:rPr lang="en-US" sz="1200" b="0" i="1" baseline="0" smtClean="0">
                                          <a:latin typeface="Cambria Math" panose="02040503050406030204" pitchFamily="18" charset="0"/>
                                        </a:rPr>
                                      </m:ctrlPr>
                                    </m:accPr>
                                    <m:e>
                                      <m:r>
                                        <a:rPr lang="en-US" sz="1200" b="0" i="1" baseline="0" smtClean="0">
                                          <a:latin typeface="Cambria Math" panose="02040503050406030204" pitchFamily="18" charset="0"/>
                                        </a:rPr>
                                        <m:t>𝑥</m:t>
                                      </m:r>
                                    </m:e>
                                  </m:acc>
                                </m:sub>
                              </m:sSub>
                            </m:oMath>
                          </a14:m>
                          <a:r>
                            <a:rPr lang="en-US" sz="1200" dirty="0"/>
                            <a:t> = </a:t>
                          </a:r>
                          <a14:m>
                            <m:oMath xmlns:m="http://schemas.openxmlformats.org/officeDocument/2006/math">
                              <m:f>
                                <m:fPr>
                                  <m:ctrlPr>
                                    <a:rPr lang="en-US" sz="1200" i="1" smtClean="0">
                                      <a:latin typeface="Cambria Math" panose="02040503050406030204" pitchFamily="18" charset="0"/>
                                    </a:rPr>
                                  </m:ctrlPr>
                                </m:fPr>
                                <m:num>
                                  <m:r>
                                    <a:rPr lang="en-US" sz="1200" i="1" smtClean="0">
                                      <a:latin typeface="Cambria Math" panose="02040503050406030204" pitchFamily="18" charset="0"/>
                                      <a:ea typeface="Cambria Math" panose="02040503050406030204" pitchFamily="18" charset="0"/>
                                    </a:rPr>
                                    <m:t>𝜎</m:t>
                                  </m:r>
                                  <m:r>
                                    <m:rPr>
                                      <m:nor/>
                                    </m:rPr>
                                    <a:rPr lang="en-US" sz="1200" dirty="0"/>
                                    <m:t> </m:t>
                                  </m:r>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𝑛</m:t>
                                      </m:r>
                                    </m:e>
                                  </m:rad>
                                </m:den>
                              </m:f>
                            </m:oMath>
                          </a14:m>
                          <a:endParaRPr lang="en-US" sz="1200" dirty="0"/>
                        </a:p>
                      </a:txBody>
                      <a:tcPr marL="79979" marR="79979" marT="39990" marB="39990"/>
                    </a:tc>
                    <a:tc>
                      <a:txBody>
                        <a:bodyPr/>
                        <a:lstStyle/>
                        <a:p>
                          <a:pPr marL="285750" indent="-285750">
                            <a:buFont typeface="Arial" panose="020B0604020202020204" pitchFamily="34" charset="0"/>
                            <a:buChar char="•"/>
                          </a:pPr>
                          <a:r>
                            <a:rPr lang="en-US" sz="1200" dirty="0"/>
                            <a:t>Variability of sample mean (think of </a:t>
                          </a:r>
                          <a14:m>
                            <m:oMath xmlns:m="http://schemas.openxmlformats.org/officeDocument/2006/math">
                              <m:acc>
                                <m:accPr>
                                  <m:chr m:val="̅"/>
                                  <m:ctrlPr>
                                    <a:rPr lang="en-US" sz="1200" b="0" i="1" baseline="0" smtClean="0">
                                      <a:latin typeface="Cambria Math" panose="02040503050406030204" pitchFamily="18" charset="0"/>
                                    </a:rPr>
                                  </m:ctrlPr>
                                </m:accPr>
                                <m:e>
                                  <m:r>
                                    <a:rPr lang="en-US" sz="1200" b="0" i="1" baseline="0" smtClean="0">
                                      <a:latin typeface="Cambria Math" panose="02040503050406030204" pitchFamily="18" charset="0"/>
                                    </a:rPr>
                                    <m:t>𝑥</m:t>
                                  </m:r>
                                </m:e>
                              </m:acc>
                              <m:r>
                                <a:rPr lang="en-US" sz="1200" b="0" i="1" baseline="0" smtClean="0">
                                  <a:latin typeface="Cambria Math" panose="02040503050406030204" pitchFamily="18" charset="0"/>
                                </a:rPr>
                                <m:t> </m:t>
                              </m:r>
                            </m:oMath>
                          </a14:m>
                          <a:r>
                            <a:rPr lang="en-US" sz="1200" dirty="0"/>
                            <a:t>as a random</a:t>
                          </a:r>
                          <a:r>
                            <a:rPr lang="en-US" sz="1200" baseline="0" dirty="0"/>
                            <a:t> variable)</a:t>
                          </a:r>
                        </a:p>
                        <a:p>
                          <a:pPr marL="285750" indent="-285750">
                            <a:buFont typeface="Arial" panose="020B0604020202020204" pitchFamily="34" charset="0"/>
                            <a:buChar char="•"/>
                          </a:pPr>
                          <a:r>
                            <a:rPr lang="en-US" sz="1200" baseline="0" dirty="0"/>
                            <a:t>Think of central limit theorem</a:t>
                          </a:r>
                        </a:p>
                        <a:p>
                          <a:pPr marL="285750" indent="-285750">
                            <a:buFont typeface="Arial" panose="020B0604020202020204" pitchFamily="34" charset="0"/>
                            <a:buChar char="•"/>
                          </a:pPr>
                          <a:r>
                            <a:rPr lang="en-US" sz="1200" baseline="0" dirty="0"/>
                            <a:t>Helps measure likely distance between sample mean </a:t>
                          </a:r>
                          <a14:m>
                            <m:oMath xmlns:m="http://schemas.openxmlformats.org/officeDocument/2006/math">
                              <m:acc>
                                <m:accPr>
                                  <m:chr m:val="̅"/>
                                  <m:ctrlPr>
                                    <a:rPr lang="en-US" sz="1200" b="0" i="1" baseline="0" smtClean="0">
                                      <a:latin typeface="Cambria Math" panose="02040503050406030204" pitchFamily="18" charset="0"/>
                                    </a:rPr>
                                  </m:ctrlPr>
                                </m:accPr>
                                <m:e>
                                  <m:r>
                                    <a:rPr lang="en-US" sz="1200" b="0" i="1" baseline="0" smtClean="0">
                                      <a:latin typeface="Cambria Math" panose="02040503050406030204" pitchFamily="18" charset="0"/>
                                    </a:rPr>
                                    <m:t>𝑥</m:t>
                                  </m:r>
                                </m:e>
                              </m:acc>
                              <m:r>
                                <a:rPr lang="en-US" sz="1200" b="0" i="1" baseline="0" smtClean="0">
                                  <a:latin typeface="Cambria Math" panose="02040503050406030204" pitchFamily="18" charset="0"/>
                                </a:rPr>
                                <m:t> </m:t>
                              </m:r>
                            </m:oMath>
                          </a14:m>
                          <a:r>
                            <a:rPr lang="en-US" sz="1200" baseline="0" dirty="0"/>
                            <a:t>and true mean </a:t>
                          </a:r>
                          <a14:m>
                            <m:oMath xmlns:m="http://schemas.openxmlformats.org/officeDocument/2006/math">
                              <m:r>
                                <a:rPr lang="en-US" sz="1200" i="1" baseline="0" smtClean="0">
                                  <a:latin typeface="Cambria Math" panose="02040503050406030204" pitchFamily="18" charset="0"/>
                                  <a:ea typeface="Cambria Math" panose="02040503050406030204" pitchFamily="18" charset="0"/>
                                </a:rPr>
                                <m:t>𝜇</m:t>
                              </m:r>
                            </m:oMath>
                          </a14:m>
                          <a:endParaRPr lang="en-US" sz="1200" baseline="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Typically unknown (since </a:t>
                          </a:r>
                          <a14:m>
                            <m:oMath xmlns:m="http://schemas.openxmlformats.org/officeDocument/2006/math">
                              <m:r>
                                <a:rPr lang="en-US" sz="1200" i="1" smtClean="0">
                                  <a:latin typeface="Cambria Math" panose="02040503050406030204" pitchFamily="18" charset="0"/>
                                  <a:ea typeface="Cambria Math" panose="02040503050406030204" pitchFamily="18" charset="0"/>
                                </a:rPr>
                                <m:t>𝜎</m:t>
                              </m:r>
                            </m:oMath>
                          </a14:m>
                          <a:r>
                            <a:rPr lang="en-US" sz="1200" dirty="0"/>
                            <a:t> is</a:t>
                          </a:r>
                          <a:r>
                            <a:rPr lang="en-US" sz="1200" baseline="0" dirty="0"/>
                            <a:t> unknown), so estimate it</a:t>
                          </a:r>
                        </a:p>
                      </a:txBody>
                      <a:tcPr marL="79979" marR="79979" marT="39990" marB="39990"/>
                    </a:tc>
                    <a:extLst>
                      <a:ext uri="{0D108BD9-81ED-4DB2-BD59-A6C34878D82A}">
                        <a16:rowId xmlns:a16="http://schemas.microsoft.com/office/drawing/2014/main" val="3377110531"/>
                      </a:ext>
                    </a:extLst>
                  </a:tr>
                  <a:tr h="1379291">
                    <a:tc>
                      <a:txBody>
                        <a:bodyPr/>
                        <a:lstStyle/>
                        <a:p>
                          <a:r>
                            <a:rPr lang="en-US" sz="1200" dirty="0"/>
                            <a:t>Estimator of standard error</a:t>
                          </a:r>
                        </a:p>
                      </a:txBody>
                      <a:tcPr marL="79979" marR="79979" marT="39990" marB="39990"/>
                    </a:tc>
                    <a:tc>
                      <a:txBody>
                        <a:bodyPr/>
                        <a:lstStyle/>
                        <a:p>
                          <a:pPr algn="l"/>
                          <a14:m>
                            <m:oMathPara xmlns:m="http://schemas.openxmlformats.org/officeDocument/2006/math">
                              <m:oMathParaPr>
                                <m:jc m:val="left"/>
                              </m:oMathParaPr>
                              <m:oMath xmlns:m="http://schemas.openxmlformats.org/officeDocument/2006/math">
                                <m:acc>
                                  <m:accPr>
                                    <m:chr m:val="̂"/>
                                    <m:ctrlPr>
                                      <a:rPr lang="en-US" sz="1200" i="1" smtClean="0">
                                        <a:latin typeface="Cambria Math" panose="02040503050406030204" pitchFamily="18" charset="0"/>
                                      </a:rPr>
                                    </m:ctrlPr>
                                  </m:accPr>
                                  <m:e>
                                    <m:sSub>
                                      <m:sSubPr>
                                        <m:ctrlPr>
                                          <a:rPr lang="en-US" sz="1200" i="1" smtClean="0">
                                            <a:latin typeface="Cambria Math" panose="02040503050406030204" pitchFamily="18" charset="0"/>
                                          </a:rPr>
                                        </m:ctrlPr>
                                      </m:sSubPr>
                                      <m:e>
                                        <m:r>
                                          <a:rPr lang="en-US" sz="1200" i="1" smtClean="0">
                                            <a:latin typeface="Cambria Math" panose="02040503050406030204" pitchFamily="18" charset="0"/>
                                            <a:ea typeface="Cambria Math" panose="02040503050406030204" pitchFamily="18" charset="0"/>
                                          </a:rPr>
                                          <m:t>𝜎</m:t>
                                        </m:r>
                                        <m:r>
                                          <m:rPr>
                                            <m:nor/>
                                          </m:rPr>
                                          <a:rPr lang="en-US" sz="1200" dirty="0"/>
                                          <m:t> </m:t>
                                        </m:r>
                                      </m:e>
                                      <m:sub>
                                        <m:acc>
                                          <m:accPr>
                                            <m:chr m:val="̅"/>
                                            <m:ctrlPr>
                                              <a:rPr lang="en-US" sz="1200" b="0" i="1" baseline="0" smtClean="0">
                                                <a:latin typeface="Cambria Math" panose="02040503050406030204" pitchFamily="18" charset="0"/>
                                              </a:rPr>
                                            </m:ctrlPr>
                                          </m:accPr>
                                          <m:e>
                                            <m:r>
                                              <a:rPr lang="en-US" sz="1200" b="0" i="1" baseline="0" smtClean="0">
                                                <a:latin typeface="Cambria Math" panose="02040503050406030204" pitchFamily="18" charset="0"/>
                                              </a:rPr>
                                              <m:t>𝑥</m:t>
                                            </m:r>
                                          </m:e>
                                        </m:acc>
                                      </m:sub>
                                    </m:sSub>
                                  </m:e>
                                </m:acc>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acc>
                                      <m:accPr>
                                        <m:chr m:val="̂"/>
                                        <m:ctrlPr>
                                          <a:rPr lang="en-US" sz="1200" i="1" smtClean="0">
                                            <a:latin typeface="Cambria Math" panose="02040503050406030204" pitchFamily="18" charset="0"/>
                                          </a:rPr>
                                        </m:ctrlPr>
                                      </m:accPr>
                                      <m:e>
                                        <m:r>
                                          <a:rPr lang="en-US" sz="1200" i="1" smtClean="0">
                                            <a:latin typeface="Cambria Math" panose="02040503050406030204" pitchFamily="18" charset="0"/>
                                            <a:ea typeface="Cambria Math" panose="02040503050406030204" pitchFamily="18" charset="0"/>
                                          </a:rPr>
                                          <m:t>𝜎</m:t>
                                        </m:r>
                                      </m:e>
                                    </m:acc>
                                  </m:num>
                                  <m:den>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𝑛</m:t>
                                        </m:r>
                                      </m:e>
                                    </m:rad>
                                  </m:den>
                                </m:f>
                              </m:oMath>
                            </m:oMathPara>
                          </a14:m>
                          <a:endParaRPr lang="en-US" sz="1200" dirty="0"/>
                        </a:p>
                      </a:txBody>
                      <a:tcPr marL="79979" marR="79979" marT="39990" marB="39990"/>
                    </a:tc>
                    <a:tc>
                      <a:txBody>
                        <a:bodyPr/>
                        <a:lstStyle/>
                        <a:p>
                          <a:pPr marL="285750" indent="-285750">
                            <a:buFont typeface="Arial" panose="020B0604020202020204" pitchFamily="34" charset="0"/>
                            <a:buChar char="•"/>
                          </a:pPr>
                          <a:r>
                            <a:rPr lang="en-US" sz="1200" dirty="0"/>
                            <a:t>Confusingly also called standard error/SE/SEM</a:t>
                          </a:r>
                        </a:p>
                        <a:p>
                          <a:pPr marL="285750" indent="-285750">
                            <a:buFont typeface="Arial" panose="020B0604020202020204" pitchFamily="34" charset="0"/>
                            <a:buChar char="•"/>
                          </a:pPr>
                          <a:r>
                            <a:rPr lang="en-US" sz="1200" dirty="0"/>
                            <a:t>Ingredient for error bars</a:t>
                          </a:r>
                        </a:p>
                        <a:p>
                          <a:pPr marL="285750" indent="-285750">
                            <a:buFont typeface="Arial" panose="020B0604020202020204" pitchFamily="34" charset="0"/>
                            <a:buChar char="•"/>
                          </a:pPr>
                          <a:r>
                            <a:rPr lang="en-US" sz="1200" dirty="0"/>
                            <a:t>Ingredient for confidence intervals</a:t>
                          </a:r>
                        </a:p>
                        <a:p>
                          <a:pPr marL="285750" indent="-285750">
                            <a:buFont typeface="Arial" panose="020B0604020202020204" pitchFamily="34" charset="0"/>
                            <a:buChar char="•"/>
                          </a:pPr>
                          <a:endParaRPr lang="en-US" sz="1200" dirty="0"/>
                        </a:p>
                      </a:txBody>
                      <a:tcPr marL="79979" marR="79979" marT="39990" marB="39990"/>
                    </a:tc>
                    <a:extLst>
                      <a:ext uri="{0D108BD9-81ED-4DB2-BD59-A6C34878D82A}">
                        <a16:rowId xmlns:a16="http://schemas.microsoft.com/office/drawing/2014/main" val="63095238"/>
                      </a:ext>
                    </a:extLst>
                  </a:tr>
                </a:tbl>
              </a:graphicData>
            </a:graphic>
          </p:graphicFrame>
        </mc:Choice>
        <mc:Fallback xmlns="">
          <p:graphicFrame>
            <p:nvGraphicFramePr>
              <p:cNvPr id="3" name="Table 3">
                <a:extLst>
                  <a:ext uri="{FF2B5EF4-FFF2-40B4-BE49-F238E27FC236}">
                    <a16:creationId xmlns:a16="http://schemas.microsoft.com/office/drawing/2014/main" id="{A52170AC-BA59-9E65-6CAA-CF1AF2123E36}"/>
                  </a:ext>
                </a:extLst>
              </p:cNvPr>
              <p:cNvGraphicFramePr>
                <a:graphicFrameLocks noGrp="1"/>
              </p:cNvGraphicFramePr>
              <p:nvPr>
                <p:extLst>
                  <p:ext uri="{D42A27DB-BD31-4B8C-83A1-F6EECF244321}">
                    <p14:modId xmlns:p14="http://schemas.microsoft.com/office/powerpoint/2010/main" val="1704829566"/>
                  </p:ext>
                </p:extLst>
              </p:nvPr>
            </p:nvGraphicFramePr>
            <p:xfrm>
              <a:off x="80314" y="1566369"/>
              <a:ext cx="6113390" cy="4529619"/>
            </p:xfrm>
            <a:graphic>
              <a:graphicData uri="http://schemas.openxmlformats.org/drawingml/2006/table">
                <a:tbl>
                  <a:tblPr firstRow="1" bandRow="1">
                    <a:tableStyleId>{5C22544A-7EE6-4342-B048-85BDC9FD1C3A}</a:tableStyleId>
                  </a:tblPr>
                  <a:tblGrid>
                    <a:gridCol w="1363476">
                      <a:extLst>
                        <a:ext uri="{9D8B030D-6E8A-4147-A177-3AD203B41FA5}">
                          <a16:colId xmlns:a16="http://schemas.microsoft.com/office/drawing/2014/main" val="1652737351"/>
                        </a:ext>
                      </a:extLst>
                    </a:gridCol>
                    <a:gridCol w="1894588">
                      <a:extLst>
                        <a:ext uri="{9D8B030D-6E8A-4147-A177-3AD203B41FA5}">
                          <a16:colId xmlns:a16="http://schemas.microsoft.com/office/drawing/2014/main" val="3923664137"/>
                        </a:ext>
                      </a:extLst>
                    </a:gridCol>
                    <a:gridCol w="2855326">
                      <a:extLst>
                        <a:ext uri="{9D8B030D-6E8A-4147-A177-3AD203B41FA5}">
                          <a16:colId xmlns:a16="http://schemas.microsoft.com/office/drawing/2014/main" val="2782565932"/>
                        </a:ext>
                      </a:extLst>
                    </a:gridCol>
                  </a:tblGrid>
                  <a:tr h="308206">
                    <a:tc>
                      <a:txBody>
                        <a:bodyPr/>
                        <a:lstStyle/>
                        <a:p>
                          <a:r>
                            <a:rPr lang="en-US" sz="1200" dirty="0"/>
                            <a:t>Term</a:t>
                          </a:r>
                        </a:p>
                      </a:txBody>
                      <a:tcPr marL="79979" marR="79979" marT="39990" marB="39990"/>
                    </a:tc>
                    <a:tc>
                      <a:txBody>
                        <a:bodyPr/>
                        <a:lstStyle/>
                        <a:p>
                          <a:r>
                            <a:rPr lang="en-US" sz="1200" dirty="0"/>
                            <a:t>Symbol</a:t>
                          </a:r>
                        </a:p>
                      </a:txBody>
                      <a:tcPr marL="79979" marR="79979" marT="39990" marB="39990"/>
                    </a:tc>
                    <a:tc>
                      <a:txBody>
                        <a:bodyPr/>
                        <a:lstStyle/>
                        <a:p>
                          <a:r>
                            <a:rPr lang="en-US" sz="1200" dirty="0"/>
                            <a:t>Meaning</a:t>
                          </a:r>
                        </a:p>
                      </a:txBody>
                      <a:tcPr marL="79979" marR="79979" marT="39990" marB="39990"/>
                    </a:tc>
                    <a:extLst>
                      <a:ext uri="{0D108BD9-81ED-4DB2-BD59-A6C34878D82A}">
                        <a16:rowId xmlns:a16="http://schemas.microsoft.com/office/drawing/2014/main" val="4074060895"/>
                      </a:ext>
                    </a:extLst>
                  </a:tr>
                  <a:tr h="727644">
                    <a:tc>
                      <a:txBody>
                        <a:bodyPr/>
                        <a:lstStyle/>
                        <a:p>
                          <a:r>
                            <a:rPr lang="en-US" sz="1200" dirty="0"/>
                            <a:t>Standard deviation (of population)</a:t>
                          </a:r>
                        </a:p>
                      </a:txBody>
                      <a:tcPr marL="79979" marR="79979" marT="39990" marB="39990"/>
                    </a:tc>
                    <a:tc>
                      <a:txBody>
                        <a:bodyPr/>
                        <a:lstStyle/>
                        <a:p>
                          <a:endParaRPr lang="en-US"/>
                        </a:p>
                      </a:txBody>
                      <a:tcPr marL="79979" marR="79979" marT="39990" marB="39990">
                        <a:blipFill>
                          <a:blip r:embed="rId4"/>
                          <a:stretch>
                            <a:fillRect l="-73154" t="-43103" r="-153020" b="-477586"/>
                          </a:stretch>
                        </a:blipFill>
                      </a:tcPr>
                    </a:tc>
                    <a:tc>
                      <a:txBody>
                        <a:bodyPr/>
                        <a:lstStyle/>
                        <a:p>
                          <a:pPr marL="285750" indent="-285750">
                            <a:buFont typeface="Arial" panose="020B0604020202020204" pitchFamily="34" charset="0"/>
                            <a:buChar char="•"/>
                          </a:pPr>
                          <a:r>
                            <a:rPr lang="en-US" sz="1200" dirty="0"/>
                            <a:t>Variability in population</a:t>
                          </a:r>
                        </a:p>
                        <a:p>
                          <a:pPr marL="285750" indent="-285750">
                            <a:buFont typeface="Arial" panose="020B0604020202020204" pitchFamily="34" charset="0"/>
                            <a:buChar char="•"/>
                          </a:pPr>
                          <a:r>
                            <a:rPr lang="en-US" sz="1200" dirty="0"/>
                            <a:t>Typically unknown (so estimate it)</a:t>
                          </a:r>
                        </a:p>
                      </a:txBody>
                      <a:tcPr marL="79979" marR="79979" marT="39990" marB="39990"/>
                    </a:tc>
                    <a:extLst>
                      <a:ext uri="{0D108BD9-81ED-4DB2-BD59-A6C34878D82A}">
                        <a16:rowId xmlns:a16="http://schemas.microsoft.com/office/drawing/2014/main" val="1823046341"/>
                      </a:ext>
                    </a:extLst>
                  </a:tr>
                  <a:tr h="735187">
                    <a:tc>
                      <a:txBody>
                        <a:bodyPr/>
                        <a:lstStyle/>
                        <a:p>
                          <a:r>
                            <a:rPr lang="en-US" sz="1200" dirty="0"/>
                            <a:t>Sample standard deviation</a:t>
                          </a:r>
                        </a:p>
                      </a:txBody>
                      <a:tcPr marL="79979" marR="79979" marT="39990" marB="39990"/>
                    </a:tc>
                    <a:tc>
                      <a:txBody>
                        <a:bodyPr/>
                        <a:lstStyle/>
                        <a:p>
                          <a:endParaRPr lang="en-US"/>
                        </a:p>
                      </a:txBody>
                      <a:tcPr marL="79979" marR="79979" marT="39990" marB="39990">
                        <a:blipFill>
                          <a:blip r:embed="rId4"/>
                          <a:stretch>
                            <a:fillRect l="-73154" t="-143103" r="-153020" b="-377586"/>
                          </a:stretch>
                        </a:blipFill>
                      </a:tcPr>
                    </a:tc>
                    <a:tc>
                      <a:txBody>
                        <a:bodyPr/>
                        <a:lstStyle/>
                        <a:p>
                          <a:endParaRPr lang="en-US"/>
                        </a:p>
                      </a:txBody>
                      <a:tcPr marL="79979" marR="79979" marT="39990" marB="39990">
                        <a:blipFill>
                          <a:blip r:embed="rId4"/>
                          <a:stretch>
                            <a:fillRect l="-114667" t="-143103" r="-1333" b="-377586"/>
                          </a:stretch>
                        </a:blipFill>
                      </a:tcPr>
                    </a:tc>
                    <a:extLst>
                      <a:ext uri="{0D108BD9-81ED-4DB2-BD59-A6C34878D82A}">
                        <a16:rowId xmlns:a16="http://schemas.microsoft.com/office/drawing/2014/main" val="1872724248"/>
                      </a:ext>
                    </a:extLst>
                  </a:tr>
                  <a:tr h="1379291">
                    <a:tc>
                      <a:txBody>
                        <a:bodyPr/>
                        <a:lstStyle/>
                        <a:p>
                          <a:pPr marL="285750" indent="-285750">
                            <a:buFont typeface="Arial" panose="020B0604020202020204" pitchFamily="34" charset="0"/>
                            <a:buChar char="•"/>
                          </a:pPr>
                          <a:r>
                            <a:rPr lang="en-US" sz="1200" dirty="0"/>
                            <a:t>Standard error (of sample mean)</a:t>
                          </a:r>
                        </a:p>
                        <a:p>
                          <a:pPr marL="285750" indent="-285750">
                            <a:buFont typeface="Arial" panose="020B0604020202020204" pitchFamily="34" charset="0"/>
                            <a:buChar char="•"/>
                          </a:pPr>
                          <a:r>
                            <a:rPr lang="en-US" sz="1200" dirty="0"/>
                            <a:t>SE or SEM</a:t>
                          </a:r>
                        </a:p>
                      </a:txBody>
                      <a:tcPr marL="79979" marR="79979" marT="39990" marB="39990"/>
                    </a:tc>
                    <a:tc>
                      <a:txBody>
                        <a:bodyPr/>
                        <a:lstStyle/>
                        <a:p>
                          <a:endParaRPr lang="en-US"/>
                        </a:p>
                      </a:txBody>
                      <a:tcPr marL="79979" marR="79979" marT="39990" marB="39990">
                        <a:blipFill>
                          <a:blip r:embed="rId4"/>
                          <a:stretch>
                            <a:fillRect l="-73154" t="-130556" r="-153020" b="-102778"/>
                          </a:stretch>
                        </a:blipFill>
                      </a:tcPr>
                    </a:tc>
                    <a:tc>
                      <a:txBody>
                        <a:bodyPr/>
                        <a:lstStyle/>
                        <a:p>
                          <a:endParaRPr lang="en-US"/>
                        </a:p>
                      </a:txBody>
                      <a:tcPr marL="79979" marR="79979" marT="39990" marB="39990">
                        <a:blipFill>
                          <a:blip r:embed="rId4"/>
                          <a:stretch>
                            <a:fillRect l="-114667" t="-130556" r="-1333" b="-102778"/>
                          </a:stretch>
                        </a:blipFill>
                      </a:tcPr>
                    </a:tc>
                    <a:extLst>
                      <a:ext uri="{0D108BD9-81ED-4DB2-BD59-A6C34878D82A}">
                        <a16:rowId xmlns:a16="http://schemas.microsoft.com/office/drawing/2014/main" val="3377110531"/>
                      </a:ext>
                    </a:extLst>
                  </a:tr>
                  <a:tr h="1379291">
                    <a:tc>
                      <a:txBody>
                        <a:bodyPr/>
                        <a:lstStyle/>
                        <a:p>
                          <a:r>
                            <a:rPr lang="en-US" sz="1200" dirty="0"/>
                            <a:t>Estimator of standard error</a:t>
                          </a:r>
                        </a:p>
                      </a:txBody>
                      <a:tcPr marL="79979" marR="79979" marT="39990" marB="39990"/>
                    </a:tc>
                    <a:tc>
                      <a:txBody>
                        <a:bodyPr/>
                        <a:lstStyle/>
                        <a:p>
                          <a:endParaRPr lang="en-US"/>
                        </a:p>
                      </a:txBody>
                      <a:tcPr marL="79979" marR="79979" marT="39990" marB="39990">
                        <a:blipFill>
                          <a:blip r:embed="rId4"/>
                          <a:stretch>
                            <a:fillRect l="-73154" t="-228440" r="-153020" b="-1835"/>
                          </a:stretch>
                        </a:blipFill>
                      </a:tcPr>
                    </a:tc>
                    <a:tc>
                      <a:txBody>
                        <a:bodyPr/>
                        <a:lstStyle/>
                        <a:p>
                          <a:pPr marL="285750" indent="-285750">
                            <a:buFont typeface="Arial" panose="020B0604020202020204" pitchFamily="34" charset="0"/>
                            <a:buChar char="•"/>
                          </a:pPr>
                          <a:r>
                            <a:rPr lang="en-US" sz="1200" dirty="0"/>
                            <a:t>Confusingly also called standard error/SE/SEM</a:t>
                          </a:r>
                        </a:p>
                        <a:p>
                          <a:pPr marL="285750" indent="-285750">
                            <a:buFont typeface="Arial" panose="020B0604020202020204" pitchFamily="34" charset="0"/>
                            <a:buChar char="•"/>
                          </a:pPr>
                          <a:r>
                            <a:rPr lang="en-US" sz="1200" dirty="0"/>
                            <a:t>Ingredient for error bars</a:t>
                          </a:r>
                        </a:p>
                        <a:p>
                          <a:pPr marL="285750" indent="-285750">
                            <a:buFont typeface="Arial" panose="020B0604020202020204" pitchFamily="34" charset="0"/>
                            <a:buChar char="•"/>
                          </a:pPr>
                          <a:r>
                            <a:rPr lang="en-US" sz="1200" dirty="0"/>
                            <a:t>Ingredient for confidence intervals</a:t>
                          </a:r>
                        </a:p>
                        <a:p>
                          <a:pPr marL="285750" indent="-285750">
                            <a:buFont typeface="Arial" panose="020B0604020202020204" pitchFamily="34" charset="0"/>
                            <a:buChar char="•"/>
                          </a:pPr>
                          <a:endParaRPr lang="en-US" sz="1200" dirty="0"/>
                        </a:p>
                      </a:txBody>
                      <a:tcPr marL="79979" marR="79979" marT="39990" marB="39990"/>
                    </a:tc>
                    <a:extLst>
                      <a:ext uri="{0D108BD9-81ED-4DB2-BD59-A6C34878D82A}">
                        <a16:rowId xmlns:a16="http://schemas.microsoft.com/office/drawing/2014/main" val="63095238"/>
                      </a:ext>
                    </a:extLst>
                  </a:tr>
                </a:tbl>
              </a:graphicData>
            </a:graphic>
          </p:graphicFrame>
        </mc:Fallback>
      </mc:AlternateContent>
    </p:spTree>
    <p:extLst>
      <p:ext uri="{BB962C8B-B14F-4D97-AF65-F5344CB8AC3E}">
        <p14:creationId xmlns:p14="http://schemas.microsoft.com/office/powerpoint/2010/main" val="3726586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C638-2DF1-4025-9861-6C0B22D659E9}"/>
              </a:ext>
            </a:extLst>
          </p:cNvPr>
          <p:cNvSpPr>
            <a:spLocks noGrp="1"/>
          </p:cNvSpPr>
          <p:nvPr>
            <p:ph type="title"/>
          </p:nvPr>
        </p:nvSpPr>
        <p:spPr>
          <a:xfrm>
            <a:off x="838200" y="0"/>
            <a:ext cx="10515600" cy="1325563"/>
          </a:xfrm>
        </p:spPr>
        <p:txBody>
          <a:bodyPr/>
          <a:lstStyle/>
          <a:p>
            <a:r>
              <a:rPr lang="en-US" dirty="0"/>
              <a:t>Error bars visualize uncertainty</a:t>
            </a:r>
          </a:p>
        </p:txBody>
      </p:sp>
      <p:pic>
        <p:nvPicPr>
          <p:cNvPr id="5" name="Picture 4"/>
          <p:cNvPicPr>
            <a:picLocks noChangeAspect="1"/>
          </p:cNvPicPr>
          <p:nvPr/>
        </p:nvPicPr>
        <p:blipFill>
          <a:blip r:embed="rId3"/>
          <a:stretch>
            <a:fillRect/>
          </a:stretch>
        </p:blipFill>
        <p:spPr>
          <a:xfrm>
            <a:off x="4002157" y="2046410"/>
            <a:ext cx="8189843" cy="4597294"/>
          </a:xfrm>
          <a:prstGeom prst="rect">
            <a:avLst/>
          </a:prstGeom>
        </p:spPr>
      </p:pic>
      <p:sp>
        <p:nvSpPr>
          <p:cNvPr id="6" name="Rectangle 5"/>
          <p:cNvSpPr/>
          <p:nvPr/>
        </p:nvSpPr>
        <p:spPr>
          <a:xfrm>
            <a:off x="7136577" y="6274372"/>
            <a:ext cx="5055423" cy="369332"/>
          </a:xfrm>
          <a:prstGeom prst="rect">
            <a:avLst/>
          </a:prstGeom>
        </p:spPr>
        <p:txBody>
          <a:bodyPr wrap="none">
            <a:spAutoFit/>
          </a:bodyPr>
          <a:lstStyle/>
          <a:p>
            <a:r>
              <a:rPr lang="en-US"/>
              <a:t>https://www.data-to-viz.com/caveat/error_bar.html</a:t>
            </a:r>
          </a:p>
        </p:txBody>
      </p:sp>
      <p:sp>
        <p:nvSpPr>
          <p:cNvPr id="9" name="Rectangle 8">
            <a:extLst>
              <a:ext uri="{FF2B5EF4-FFF2-40B4-BE49-F238E27FC236}">
                <a16:creationId xmlns:a16="http://schemas.microsoft.com/office/drawing/2014/main" id="{81FDC2C2-5A47-41BB-96E1-0F38EA00C20E}"/>
              </a:ext>
            </a:extLst>
          </p:cNvPr>
          <p:cNvSpPr/>
          <p:nvPr/>
        </p:nvSpPr>
        <p:spPr>
          <a:xfrm>
            <a:off x="4240696" y="1419194"/>
            <a:ext cx="1855304" cy="528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303B2BF-7047-4366-B782-10149AD2AD2D}"/>
              </a:ext>
            </a:extLst>
          </p:cNvPr>
          <p:cNvSpPr/>
          <p:nvPr/>
        </p:nvSpPr>
        <p:spPr>
          <a:xfrm>
            <a:off x="1610802" y="884815"/>
            <a:ext cx="9939514" cy="1569660"/>
          </a:xfrm>
          <a:prstGeom prst="rect">
            <a:avLst/>
          </a:prstGeom>
        </p:spPr>
        <p:txBody>
          <a:bodyPr wrap="square">
            <a:spAutoFit/>
          </a:bodyPr>
          <a:lstStyle/>
          <a:p>
            <a:pPr marL="342900" indent="-342900">
              <a:buFont typeface="Arial" panose="020B0604020202020204" pitchFamily="34" charset="0"/>
              <a:buChar char="•"/>
            </a:pPr>
            <a:r>
              <a:rPr lang="en-US" sz="2400" dirty="0"/>
              <a:t>Five samplings from five populations</a:t>
            </a:r>
          </a:p>
          <a:p>
            <a:pPr marL="342900" indent="-342900">
              <a:buFont typeface="Arial" panose="020B0604020202020204" pitchFamily="34" charset="0"/>
              <a:buChar char="•"/>
            </a:pPr>
            <a:r>
              <a:rPr lang="en-US" sz="2400" dirty="0"/>
              <a:t>Showing the sample distributions with confidence</a:t>
            </a:r>
          </a:p>
          <a:p>
            <a:pPr marL="342900" indent="-342900">
              <a:buFont typeface="Arial" panose="020B0604020202020204" pitchFamily="34" charset="0"/>
              <a:buChar char="•"/>
            </a:pPr>
            <a:r>
              <a:rPr lang="en-US" sz="2400" dirty="0"/>
              <a:t>Error bars usually are +/- SE (not always – could be a confidence interval)</a:t>
            </a:r>
          </a:p>
          <a:p>
            <a:pPr marL="342900" indent="-342900">
              <a:buFont typeface="Arial" panose="020B0604020202020204" pitchFamily="34" charset="0"/>
              <a:buChar char="•"/>
            </a:pPr>
            <a:r>
              <a:rPr lang="en-US" sz="2400" dirty="0"/>
              <a:t>Always define error bar!</a:t>
            </a:r>
          </a:p>
        </p:txBody>
      </p:sp>
      <p:pic>
        <p:nvPicPr>
          <p:cNvPr id="7" name="Picture 6">
            <a:extLst>
              <a:ext uri="{FF2B5EF4-FFF2-40B4-BE49-F238E27FC236}">
                <a16:creationId xmlns:a16="http://schemas.microsoft.com/office/drawing/2014/main" id="{06B3DCAF-4CB9-4D9A-BCC4-5559B34F8F32}"/>
              </a:ext>
            </a:extLst>
          </p:cNvPr>
          <p:cNvPicPr>
            <a:picLocks noChangeAspect="1"/>
          </p:cNvPicPr>
          <p:nvPr/>
        </p:nvPicPr>
        <p:blipFill>
          <a:blip r:embed="rId4"/>
          <a:stretch>
            <a:fillRect/>
          </a:stretch>
        </p:blipFill>
        <p:spPr>
          <a:xfrm rot="5400000">
            <a:off x="328309" y="3044164"/>
            <a:ext cx="3390110" cy="4046729"/>
          </a:xfrm>
          <a:prstGeom prst="rect">
            <a:avLst/>
          </a:prstGeom>
        </p:spPr>
      </p:pic>
      <p:cxnSp>
        <p:nvCxnSpPr>
          <p:cNvPr id="8" name="Straight Connector 7">
            <a:extLst>
              <a:ext uri="{FF2B5EF4-FFF2-40B4-BE49-F238E27FC236}">
                <a16:creationId xmlns:a16="http://schemas.microsoft.com/office/drawing/2014/main" id="{D21DDAE4-86B0-411A-A409-3637959D6265}"/>
              </a:ext>
            </a:extLst>
          </p:cNvPr>
          <p:cNvCxnSpPr>
            <a:cxnSpLocks/>
          </p:cNvCxnSpPr>
          <p:nvPr/>
        </p:nvCxnSpPr>
        <p:spPr>
          <a:xfrm>
            <a:off x="2213115" y="4512161"/>
            <a:ext cx="3763617" cy="0"/>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E8328F-5F68-43B6-BE44-96D6461282C1}"/>
              </a:ext>
            </a:extLst>
          </p:cNvPr>
          <p:cNvCxnSpPr>
            <a:cxnSpLocks/>
          </p:cNvCxnSpPr>
          <p:nvPr/>
        </p:nvCxnSpPr>
        <p:spPr>
          <a:xfrm>
            <a:off x="2193238" y="4094716"/>
            <a:ext cx="3763617" cy="0"/>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6808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1" y="0"/>
            <a:ext cx="12160403" cy="1325563"/>
          </a:xfrm>
        </p:spPr>
        <p:txBody>
          <a:bodyPr>
            <a:normAutofit/>
          </a:bodyPr>
          <a:lstStyle/>
          <a:p>
            <a:r>
              <a:rPr lang="en-US" dirty="0"/>
              <a:t>Show significance whenever possible</a:t>
            </a:r>
          </a:p>
        </p:txBody>
      </p:sp>
      <p:pic>
        <p:nvPicPr>
          <p:cNvPr id="4" name="Picture 3"/>
          <p:cNvPicPr>
            <a:picLocks noChangeAspect="1"/>
          </p:cNvPicPr>
          <p:nvPr/>
        </p:nvPicPr>
        <p:blipFill>
          <a:blip r:embed="rId3"/>
          <a:stretch>
            <a:fillRect/>
          </a:stretch>
        </p:blipFill>
        <p:spPr>
          <a:xfrm>
            <a:off x="5121868" y="1181566"/>
            <a:ext cx="5837679" cy="5391190"/>
          </a:xfrm>
          <a:prstGeom prst="rect">
            <a:avLst/>
          </a:prstGeom>
        </p:spPr>
      </p:pic>
      <p:sp>
        <p:nvSpPr>
          <p:cNvPr id="6" name="Rectangle 5"/>
          <p:cNvSpPr/>
          <p:nvPr/>
        </p:nvSpPr>
        <p:spPr>
          <a:xfrm>
            <a:off x="4759404" y="1173164"/>
            <a:ext cx="724930" cy="6844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9E96D6C-FBA2-4629-B954-82EA8868D695}"/>
              </a:ext>
            </a:extLst>
          </p:cNvPr>
          <p:cNvSpPr/>
          <p:nvPr/>
        </p:nvSpPr>
        <p:spPr>
          <a:xfrm>
            <a:off x="8900856" y="6488668"/>
            <a:ext cx="3259547" cy="369332"/>
          </a:xfrm>
          <a:prstGeom prst="rect">
            <a:avLst/>
          </a:prstGeom>
        </p:spPr>
        <p:txBody>
          <a:bodyPr wrap="none">
            <a:spAutoFit/>
          </a:bodyPr>
          <a:lstStyle/>
          <a:p>
            <a:r>
              <a:rPr lang="en-US"/>
              <a:t>Park et al. Nature Genetics, 2018</a:t>
            </a:r>
            <a:endParaRPr lang="en-US" dirty="0"/>
          </a:p>
        </p:txBody>
      </p:sp>
      <p:sp>
        <p:nvSpPr>
          <p:cNvPr id="5" name="TextBox 4"/>
          <p:cNvSpPr txBox="1"/>
          <p:nvPr/>
        </p:nvSpPr>
        <p:spPr>
          <a:xfrm>
            <a:off x="530084" y="2518538"/>
            <a:ext cx="4294388"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Different numbers of stars to represent significance of difference (usually from control)</a:t>
            </a:r>
          </a:p>
        </p:txBody>
      </p:sp>
    </p:spTree>
    <p:extLst>
      <p:ext uri="{BB962C8B-B14F-4D97-AF65-F5344CB8AC3E}">
        <p14:creationId xmlns:p14="http://schemas.microsoft.com/office/powerpoint/2010/main" val="2219366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811106" y="0"/>
            <a:ext cx="10515600" cy="1325563"/>
          </a:xfrm>
        </p:spPr>
        <p:txBody>
          <a:bodyPr>
            <a:normAutofit/>
          </a:bodyPr>
          <a:lstStyle/>
          <a:p>
            <a:r>
              <a:rPr lang="en-US" dirty="0"/>
              <a:t>Show real data points whenever possible</a:t>
            </a:r>
          </a:p>
        </p:txBody>
      </p:sp>
      <p:sp>
        <p:nvSpPr>
          <p:cNvPr id="3" name="Rectangle 2"/>
          <p:cNvSpPr/>
          <p:nvPr/>
        </p:nvSpPr>
        <p:spPr>
          <a:xfrm>
            <a:off x="2183027" y="1325563"/>
            <a:ext cx="724930" cy="6844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01519" y="1189639"/>
            <a:ext cx="724930" cy="6844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5772323" y="1189639"/>
            <a:ext cx="5317217" cy="5203934"/>
          </a:xfrm>
          <a:prstGeom prst="rect">
            <a:avLst/>
          </a:prstGeom>
        </p:spPr>
      </p:pic>
      <p:sp>
        <p:nvSpPr>
          <p:cNvPr id="7" name="Rectangle 6">
            <a:extLst>
              <a:ext uri="{FF2B5EF4-FFF2-40B4-BE49-F238E27FC236}">
                <a16:creationId xmlns:a16="http://schemas.microsoft.com/office/drawing/2014/main" id="{99E96D6C-FBA2-4629-B954-82EA8868D695}"/>
              </a:ext>
            </a:extLst>
          </p:cNvPr>
          <p:cNvSpPr/>
          <p:nvPr/>
        </p:nvSpPr>
        <p:spPr>
          <a:xfrm>
            <a:off x="8930586" y="6464099"/>
            <a:ext cx="3259547" cy="369332"/>
          </a:xfrm>
          <a:prstGeom prst="rect">
            <a:avLst/>
          </a:prstGeom>
        </p:spPr>
        <p:txBody>
          <a:bodyPr wrap="none">
            <a:spAutoFit/>
          </a:bodyPr>
          <a:lstStyle/>
          <a:p>
            <a:r>
              <a:rPr lang="en-US" dirty="0"/>
              <a:t>Park et al. Nature Genetics, 2018</a:t>
            </a:r>
          </a:p>
        </p:txBody>
      </p:sp>
      <p:sp>
        <p:nvSpPr>
          <p:cNvPr id="8" name="TextBox 7">
            <a:extLst>
              <a:ext uri="{FF2B5EF4-FFF2-40B4-BE49-F238E27FC236}">
                <a16:creationId xmlns:a16="http://schemas.microsoft.com/office/drawing/2014/main" id="{AEC49482-2246-4C3B-BEE9-61C6C7E17D8C}"/>
              </a:ext>
            </a:extLst>
          </p:cNvPr>
          <p:cNvSpPr txBox="1"/>
          <p:nvPr/>
        </p:nvSpPr>
        <p:spPr>
          <a:xfrm>
            <a:off x="530084" y="2518538"/>
            <a:ext cx="4294388"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Error bars to represent uncertainty</a:t>
            </a:r>
          </a:p>
          <a:p>
            <a:pPr marL="342900" indent="-342900">
              <a:buFont typeface="Arial" panose="020B0604020202020204" pitchFamily="34" charset="0"/>
              <a:buChar char="•"/>
            </a:pPr>
            <a:r>
              <a:rPr lang="en-US" sz="2400" dirty="0"/>
              <a:t>Stars to represent significance of difference (usually from control)</a:t>
            </a:r>
          </a:p>
          <a:p>
            <a:pPr marL="342900" indent="-342900">
              <a:buFont typeface="Arial" panose="020B0604020202020204" pitchFamily="34" charset="0"/>
              <a:buChar char="•"/>
            </a:pPr>
            <a:r>
              <a:rPr lang="en-US" sz="2400" dirty="0"/>
              <a:t>Dots to represent real values</a:t>
            </a:r>
          </a:p>
          <a:p>
            <a:pPr marL="342900" indent="-342900">
              <a:buFont typeface="Arial" panose="020B0604020202020204" pitchFamily="34" charset="0"/>
              <a:buChar char="•"/>
            </a:pPr>
            <a:r>
              <a:rPr lang="en-US" sz="2400" dirty="0"/>
              <a:t>X-axis label can be a table</a:t>
            </a:r>
          </a:p>
        </p:txBody>
      </p:sp>
    </p:spTree>
    <p:extLst>
      <p:ext uri="{BB962C8B-B14F-4D97-AF65-F5344CB8AC3E}">
        <p14:creationId xmlns:p14="http://schemas.microsoft.com/office/powerpoint/2010/main" val="1241439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C638-2DF1-4025-9861-6C0B22D659E9}"/>
              </a:ext>
            </a:extLst>
          </p:cNvPr>
          <p:cNvSpPr>
            <a:spLocks noGrp="1"/>
          </p:cNvSpPr>
          <p:nvPr>
            <p:ph type="title"/>
          </p:nvPr>
        </p:nvSpPr>
        <p:spPr>
          <a:xfrm>
            <a:off x="0" y="0"/>
            <a:ext cx="12192000" cy="1325563"/>
          </a:xfrm>
        </p:spPr>
        <p:txBody>
          <a:bodyPr/>
          <a:lstStyle/>
          <a:p>
            <a:r>
              <a:rPr lang="en-US" dirty="0"/>
              <a:t>Error bars can indicate different types of variations	</a:t>
            </a:r>
          </a:p>
        </p:txBody>
      </p:sp>
      <p:sp>
        <p:nvSpPr>
          <p:cNvPr id="5" name="TextBox 4"/>
          <p:cNvSpPr txBox="1"/>
          <p:nvPr/>
        </p:nvSpPr>
        <p:spPr>
          <a:xfrm>
            <a:off x="973667" y="1109407"/>
            <a:ext cx="9622186" cy="1938992"/>
          </a:xfrm>
          <a:prstGeom prst="rect">
            <a:avLst/>
          </a:prstGeom>
          <a:noFill/>
        </p:spPr>
        <p:txBody>
          <a:bodyPr wrap="none" rtlCol="0">
            <a:spAutoFit/>
          </a:bodyPr>
          <a:lstStyle/>
          <a:p>
            <a:r>
              <a:rPr lang="en-US" sz="2400" dirty="0"/>
              <a:t>State clearly if yours is</a:t>
            </a:r>
          </a:p>
          <a:p>
            <a:pPr marL="285750" indent="-285750">
              <a:buFont typeface="Arial" panose="020B0604020202020204" pitchFamily="34" charset="0"/>
              <a:buChar char="•"/>
            </a:pPr>
            <a:r>
              <a:rPr lang="en-US" sz="2400" dirty="0"/>
              <a:t>Standard Deviation (SD): variability within a sample,</a:t>
            </a:r>
          </a:p>
          <a:p>
            <a:pPr marL="285750" indent="-285750">
              <a:buFont typeface="Arial" panose="020B0604020202020204" pitchFamily="34" charset="0"/>
              <a:buChar char="•"/>
            </a:pPr>
            <a:r>
              <a:rPr lang="en-US" sz="2400" dirty="0"/>
              <a:t>Standard Error (SE): variability across samples of a population, or</a:t>
            </a:r>
          </a:p>
          <a:p>
            <a:pPr marL="285750" indent="-285750">
              <a:buFont typeface="Arial" panose="020B0604020202020204" pitchFamily="34" charset="0"/>
              <a:buChar char="•"/>
            </a:pPr>
            <a:r>
              <a:rPr lang="en-US" sz="2400" dirty="0"/>
              <a:t>A confidence interval (CI): a range that a value is usually expected to lie in</a:t>
            </a:r>
          </a:p>
          <a:p>
            <a:pPr marL="285750" indent="-285750">
              <a:buFont typeface="Arial" panose="020B0604020202020204" pitchFamily="34" charset="0"/>
              <a:buChar char="•"/>
            </a:pPr>
            <a:r>
              <a:rPr lang="en-US" sz="2400" dirty="0"/>
              <a:t>Credible interval (Bayesian-flavored confidence interval)</a:t>
            </a:r>
          </a:p>
        </p:txBody>
      </p:sp>
      <p:pic>
        <p:nvPicPr>
          <p:cNvPr id="7" name="Picture 6"/>
          <p:cNvPicPr>
            <a:picLocks noChangeAspect="1"/>
          </p:cNvPicPr>
          <p:nvPr/>
        </p:nvPicPr>
        <p:blipFill>
          <a:blip r:embed="rId3"/>
          <a:stretch>
            <a:fillRect/>
          </a:stretch>
        </p:blipFill>
        <p:spPr>
          <a:xfrm>
            <a:off x="1785782" y="3113719"/>
            <a:ext cx="8620435" cy="3448174"/>
          </a:xfrm>
          <a:prstGeom prst="rect">
            <a:avLst/>
          </a:prstGeom>
        </p:spPr>
      </p:pic>
      <p:sp>
        <p:nvSpPr>
          <p:cNvPr id="8" name="Rectangle 7"/>
          <p:cNvSpPr/>
          <p:nvPr/>
        </p:nvSpPr>
        <p:spPr>
          <a:xfrm>
            <a:off x="7136577" y="6488668"/>
            <a:ext cx="5055423" cy="369332"/>
          </a:xfrm>
          <a:prstGeom prst="rect">
            <a:avLst/>
          </a:prstGeom>
        </p:spPr>
        <p:txBody>
          <a:bodyPr wrap="none">
            <a:spAutoFit/>
          </a:bodyPr>
          <a:lstStyle/>
          <a:p>
            <a:r>
              <a:rPr lang="en-US"/>
              <a:t>https://www.data-to-viz.com/caveat/error_bar.html</a:t>
            </a:r>
          </a:p>
        </p:txBody>
      </p:sp>
    </p:spTree>
    <p:extLst>
      <p:ext uri="{BB962C8B-B14F-4D97-AF65-F5344CB8AC3E}">
        <p14:creationId xmlns:p14="http://schemas.microsoft.com/office/powerpoint/2010/main" val="1519083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811106" y="0"/>
            <a:ext cx="10515600" cy="1325563"/>
          </a:xfrm>
        </p:spPr>
        <p:txBody>
          <a:bodyPr>
            <a:normAutofit/>
          </a:bodyPr>
          <a:lstStyle/>
          <a:p>
            <a:r>
              <a:rPr lang="en-US"/>
              <a:t>Visualizing uncertainty with error bars </a:t>
            </a:r>
          </a:p>
        </p:txBody>
      </p:sp>
      <p:pic>
        <p:nvPicPr>
          <p:cNvPr id="6" name="Picture 5"/>
          <p:cNvPicPr>
            <a:picLocks noChangeAspect="1"/>
          </p:cNvPicPr>
          <p:nvPr/>
        </p:nvPicPr>
        <p:blipFill>
          <a:blip r:embed="rId3"/>
          <a:stretch>
            <a:fillRect/>
          </a:stretch>
        </p:blipFill>
        <p:spPr>
          <a:xfrm>
            <a:off x="4197926" y="1746257"/>
            <a:ext cx="7502682" cy="4412648"/>
          </a:xfrm>
          <a:prstGeom prst="rect">
            <a:avLst/>
          </a:prstGeom>
        </p:spPr>
      </p:pic>
      <p:sp>
        <p:nvSpPr>
          <p:cNvPr id="7" name="Rectangle 6"/>
          <p:cNvSpPr/>
          <p:nvPr/>
        </p:nvSpPr>
        <p:spPr>
          <a:xfrm>
            <a:off x="5637516" y="1009593"/>
            <a:ext cx="4114460" cy="461665"/>
          </a:xfrm>
          <a:prstGeom prst="rect">
            <a:avLst/>
          </a:prstGeom>
        </p:spPr>
        <p:txBody>
          <a:bodyPr wrap="none">
            <a:spAutoFit/>
          </a:bodyPr>
          <a:lstStyle/>
          <a:p>
            <a:r>
              <a:rPr lang="en-US" sz="2400"/>
              <a:t>Expert ratings of chocolate bars</a:t>
            </a:r>
          </a:p>
        </p:txBody>
      </p:sp>
      <p:sp>
        <p:nvSpPr>
          <p:cNvPr id="10" name="Rectangle 9"/>
          <p:cNvSpPr/>
          <p:nvPr/>
        </p:nvSpPr>
        <p:spPr>
          <a:xfrm>
            <a:off x="128601" y="1746257"/>
            <a:ext cx="4069325" cy="1200329"/>
          </a:xfrm>
          <a:prstGeom prst="rect">
            <a:avLst/>
          </a:prstGeom>
        </p:spPr>
        <p:txBody>
          <a:bodyPr wrap="square">
            <a:spAutoFit/>
          </a:bodyPr>
          <a:lstStyle/>
          <a:p>
            <a:pPr marL="342900" indent="-342900">
              <a:buFont typeface="Arial" panose="020B0604020202020204" pitchFamily="34" charset="0"/>
              <a:buChar char="•"/>
            </a:pPr>
            <a:r>
              <a:rPr lang="en-US" sz="2400" dirty="0"/>
              <a:t>Specify what quantity and/or confidence level the error bars represent</a:t>
            </a:r>
          </a:p>
        </p:txBody>
      </p:sp>
      <p:sp>
        <p:nvSpPr>
          <p:cNvPr id="8" name="Rectangle 7">
            <a:extLst>
              <a:ext uri="{FF2B5EF4-FFF2-40B4-BE49-F238E27FC236}">
                <a16:creationId xmlns:a16="http://schemas.microsoft.com/office/drawing/2014/main" id="{D2EC66D0-83CA-44C9-933F-80EECFAE0050}"/>
              </a:ext>
            </a:extLst>
          </p:cNvPr>
          <p:cNvSpPr/>
          <p:nvPr/>
        </p:nvSpPr>
        <p:spPr>
          <a:xfrm>
            <a:off x="7789961" y="6271822"/>
            <a:ext cx="4402039" cy="307777"/>
          </a:xfrm>
          <a:prstGeom prst="rect">
            <a:avLst/>
          </a:prstGeom>
        </p:spPr>
        <p:txBody>
          <a:bodyPr wrap="none">
            <a:spAutoFit/>
          </a:bodyPr>
          <a:lstStyle/>
          <a:p>
            <a:r>
              <a:rPr lang="en-US" sz="1400" dirty="0"/>
              <a:t>Fundamentals of Data Visualization, Wilke, O’Reilly, 1</a:t>
            </a:r>
            <a:r>
              <a:rPr lang="en-US" sz="1400" baseline="30000" dirty="0"/>
              <a:t>st</a:t>
            </a:r>
            <a:r>
              <a:rPr lang="en-US" sz="1400" dirty="0"/>
              <a:t> Ed.</a:t>
            </a:r>
          </a:p>
        </p:txBody>
      </p:sp>
    </p:spTree>
    <p:extLst>
      <p:ext uri="{BB962C8B-B14F-4D97-AF65-F5344CB8AC3E}">
        <p14:creationId xmlns:p14="http://schemas.microsoft.com/office/powerpoint/2010/main" val="4012914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811106" y="0"/>
            <a:ext cx="10515600" cy="1325563"/>
          </a:xfrm>
        </p:spPr>
        <p:txBody>
          <a:bodyPr>
            <a:normAutofit/>
          </a:bodyPr>
          <a:lstStyle/>
          <a:p>
            <a:r>
              <a:rPr lang="en-US"/>
              <a:t>Various visualization styles for error bars</a:t>
            </a:r>
          </a:p>
        </p:txBody>
      </p:sp>
      <p:sp>
        <p:nvSpPr>
          <p:cNvPr id="9" name="Rectangle 8"/>
          <p:cNvSpPr/>
          <p:nvPr/>
        </p:nvSpPr>
        <p:spPr>
          <a:xfrm>
            <a:off x="4005931" y="1219500"/>
            <a:ext cx="6912149" cy="400110"/>
          </a:xfrm>
          <a:prstGeom prst="rect">
            <a:avLst/>
          </a:prstGeom>
        </p:spPr>
        <p:txBody>
          <a:bodyPr wrap="none">
            <a:spAutoFit/>
          </a:bodyPr>
          <a:lstStyle/>
          <a:p>
            <a:r>
              <a:rPr lang="en-US" sz="2000" dirty="0"/>
              <a:t>Mean chocolate flavor rating by country (vs. US chocolate rating)</a:t>
            </a:r>
          </a:p>
        </p:txBody>
      </p:sp>
      <mc:AlternateContent xmlns:mc="http://schemas.openxmlformats.org/markup-compatibility/2006" xmlns:a14="http://schemas.microsoft.com/office/drawing/2010/main">
        <mc:Choice Requires="a14">
          <p:sp>
            <p:nvSpPr>
              <p:cNvPr id="11" name="Rectangle 10"/>
              <p:cNvSpPr/>
              <p:nvPr/>
            </p:nvSpPr>
            <p:spPr>
              <a:xfrm>
                <a:off x="179886" y="1815732"/>
                <a:ext cx="3485117" cy="1200329"/>
              </a:xfrm>
              <a:prstGeom prst="rect">
                <a:avLst/>
              </a:prstGeom>
            </p:spPr>
            <p:txBody>
              <a:bodyPr wrap="square">
                <a:spAutoFit/>
              </a:bodyPr>
              <a:lstStyle/>
              <a:p>
                <a:pPr marL="342900" indent="-342900">
                  <a:buFont typeface="Arial" panose="020B0604020202020204" pitchFamily="34" charset="0"/>
                  <a:buChar char="•"/>
                </a:pPr>
                <a:r>
                  <a:rPr lang="en-US" sz="2400" dirty="0"/>
                  <a:t>More information through multiple boxes</a:t>
                </a:r>
              </a:p>
              <a:p>
                <a:r>
                  <a:rPr lang="en-US" sz="2400" dirty="0"/>
                  <a:t>E. g., 1</a:t>
                </a:r>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 </m:t>
                    </m:r>
                  </m:oMath>
                </a14:m>
                <a:r>
                  <a:rPr lang="en-US" sz="2400" dirty="0"/>
                  <a:t>2&gt;…&gt;3</a:t>
                </a:r>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 </m:t>
                    </m:r>
                  </m:oMath>
                </a14:m>
                <a:r>
                  <a:rPr lang="en-US" sz="2400" dirty="0"/>
                  <a:t>4</a:t>
                </a:r>
              </a:p>
            </p:txBody>
          </p:sp>
        </mc:Choice>
        <mc:Fallback xmlns="">
          <p:sp>
            <p:nvSpPr>
              <p:cNvPr id="11" name="Rectangle 10"/>
              <p:cNvSpPr>
                <a:spLocks noRot="1" noChangeAspect="1" noMove="1" noResize="1" noEditPoints="1" noAdjustHandles="1" noChangeArrowheads="1" noChangeShapeType="1" noTextEdit="1"/>
              </p:cNvSpPr>
              <p:nvPr/>
            </p:nvSpPr>
            <p:spPr>
              <a:xfrm>
                <a:off x="179886" y="1815732"/>
                <a:ext cx="3485117" cy="1200329"/>
              </a:xfrm>
              <a:prstGeom prst="rect">
                <a:avLst/>
              </a:prstGeom>
              <a:blipFill>
                <a:blip r:embed="rId3"/>
                <a:stretch>
                  <a:fillRect l="-2802" t="-4061" b="-10660"/>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3657600" y="1770965"/>
            <a:ext cx="8534400" cy="4795055"/>
          </a:xfrm>
          <a:prstGeom prst="rect">
            <a:avLst/>
          </a:prstGeom>
        </p:spPr>
      </p:pic>
      <p:sp>
        <p:nvSpPr>
          <p:cNvPr id="7" name="Rectangle 6">
            <a:extLst>
              <a:ext uri="{FF2B5EF4-FFF2-40B4-BE49-F238E27FC236}">
                <a16:creationId xmlns:a16="http://schemas.microsoft.com/office/drawing/2014/main" id="{CD9C0488-49C7-4723-BA91-142F1D75A6BF}"/>
              </a:ext>
            </a:extLst>
          </p:cNvPr>
          <p:cNvSpPr/>
          <p:nvPr/>
        </p:nvSpPr>
        <p:spPr>
          <a:xfrm>
            <a:off x="6586010" y="6488668"/>
            <a:ext cx="5600123" cy="369332"/>
          </a:xfrm>
          <a:prstGeom prst="rect">
            <a:avLst/>
          </a:prstGeom>
        </p:spPr>
        <p:txBody>
          <a:bodyPr wrap="none">
            <a:spAutoFit/>
          </a:bodyPr>
          <a:lstStyle/>
          <a:p>
            <a:r>
              <a:rPr lang="en-US" dirty="0"/>
              <a:t>Fundamentals of Data Visualization, Wilke, O’Reilly, 1</a:t>
            </a:r>
            <a:r>
              <a:rPr lang="en-US" baseline="30000" dirty="0"/>
              <a:t>st</a:t>
            </a:r>
            <a:r>
              <a:rPr lang="en-US" dirty="0"/>
              <a:t> Ed.</a:t>
            </a:r>
          </a:p>
        </p:txBody>
      </p:sp>
      <p:sp>
        <p:nvSpPr>
          <p:cNvPr id="12" name="Rectangle 11">
            <a:extLst>
              <a:ext uri="{FF2B5EF4-FFF2-40B4-BE49-F238E27FC236}">
                <a16:creationId xmlns:a16="http://schemas.microsoft.com/office/drawing/2014/main" id="{7A729B12-0ADB-405A-8C5F-3219AA222DE2}"/>
              </a:ext>
            </a:extLst>
          </p:cNvPr>
          <p:cNvSpPr/>
          <p:nvPr/>
        </p:nvSpPr>
        <p:spPr>
          <a:xfrm>
            <a:off x="7633252" y="1775062"/>
            <a:ext cx="397565" cy="216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BF96FD-E043-4B24-B079-A9446B8D3BF7}"/>
              </a:ext>
            </a:extLst>
          </p:cNvPr>
          <p:cNvSpPr/>
          <p:nvPr/>
        </p:nvSpPr>
        <p:spPr>
          <a:xfrm>
            <a:off x="3525078" y="4168492"/>
            <a:ext cx="397565" cy="216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E6223A-1F04-4D79-93B4-A9D6C31B4DF1}"/>
              </a:ext>
            </a:extLst>
          </p:cNvPr>
          <p:cNvSpPr/>
          <p:nvPr/>
        </p:nvSpPr>
        <p:spPr>
          <a:xfrm>
            <a:off x="7726017" y="4168492"/>
            <a:ext cx="397565" cy="216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E9A2099-893B-4158-B342-C071A1F633A7}"/>
              </a:ext>
            </a:extLst>
          </p:cNvPr>
          <p:cNvSpPr/>
          <p:nvPr/>
        </p:nvSpPr>
        <p:spPr>
          <a:xfrm>
            <a:off x="3723860" y="1775061"/>
            <a:ext cx="397565" cy="216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 name="TextBox 3">
            <a:extLst>
              <a:ext uri="{FF2B5EF4-FFF2-40B4-BE49-F238E27FC236}">
                <a16:creationId xmlns:a16="http://schemas.microsoft.com/office/drawing/2014/main" id="{4DCEBDDD-7B3F-4C37-B7D1-13F03BBED4D9}"/>
              </a:ext>
            </a:extLst>
          </p:cNvPr>
          <p:cNvSpPr txBox="1"/>
          <p:nvPr/>
        </p:nvSpPr>
        <p:spPr>
          <a:xfrm>
            <a:off x="3539887" y="1698825"/>
            <a:ext cx="301686" cy="369332"/>
          </a:xfrm>
          <a:prstGeom prst="rect">
            <a:avLst/>
          </a:prstGeom>
          <a:no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3A3A3645-9B75-4640-A0B0-5D7B733B3E3D}"/>
              </a:ext>
            </a:extLst>
          </p:cNvPr>
          <p:cNvSpPr txBox="1"/>
          <p:nvPr/>
        </p:nvSpPr>
        <p:spPr>
          <a:xfrm>
            <a:off x="7633252" y="1695845"/>
            <a:ext cx="301686" cy="369332"/>
          </a:xfrm>
          <a:prstGeom prst="rect">
            <a:avLst/>
          </a:prstGeom>
          <a:noFill/>
        </p:spPr>
        <p:txBody>
          <a:bodyPr wrap="none" rtlCol="0">
            <a:spAutoFit/>
          </a:bodyPr>
          <a:lstStyle/>
          <a:p>
            <a:r>
              <a:rPr lang="en-US" dirty="0"/>
              <a:t>2</a:t>
            </a:r>
          </a:p>
        </p:txBody>
      </p:sp>
      <p:sp>
        <p:nvSpPr>
          <p:cNvPr id="16" name="TextBox 15">
            <a:extLst>
              <a:ext uri="{FF2B5EF4-FFF2-40B4-BE49-F238E27FC236}">
                <a16:creationId xmlns:a16="http://schemas.microsoft.com/office/drawing/2014/main" id="{2B93FEC7-855E-4531-9D53-753A848C8C33}"/>
              </a:ext>
            </a:extLst>
          </p:cNvPr>
          <p:cNvSpPr txBox="1"/>
          <p:nvPr/>
        </p:nvSpPr>
        <p:spPr>
          <a:xfrm>
            <a:off x="3539887" y="4154884"/>
            <a:ext cx="301686" cy="369332"/>
          </a:xfrm>
          <a:prstGeom prst="rect">
            <a:avLst/>
          </a:prstGeom>
          <a:noFill/>
        </p:spPr>
        <p:txBody>
          <a:bodyPr wrap="none" rtlCol="0">
            <a:spAutoFit/>
          </a:bodyPr>
          <a:lstStyle/>
          <a:p>
            <a:r>
              <a:rPr lang="en-US" dirty="0"/>
              <a:t>3</a:t>
            </a:r>
          </a:p>
        </p:txBody>
      </p:sp>
      <p:sp>
        <p:nvSpPr>
          <p:cNvPr id="17" name="TextBox 16">
            <a:extLst>
              <a:ext uri="{FF2B5EF4-FFF2-40B4-BE49-F238E27FC236}">
                <a16:creationId xmlns:a16="http://schemas.microsoft.com/office/drawing/2014/main" id="{47F57916-431C-4256-9872-4FC598ACF8E3}"/>
              </a:ext>
            </a:extLst>
          </p:cNvPr>
          <p:cNvSpPr txBox="1"/>
          <p:nvPr/>
        </p:nvSpPr>
        <p:spPr>
          <a:xfrm>
            <a:off x="7681970" y="4053868"/>
            <a:ext cx="30168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337453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811106" y="0"/>
            <a:ext cx="10515600" cy="1325563"/>
          </a:xfrm>
        </p:spPr>
        <p:txBody>
          <a:bodyPr>
            <a:normAutofit/>
          </a:bodyPr>
          <a:lstStyle/>
          <a:p>
            <a:r>
              <a:rPr lang="en-US"/>
              <a:t>Various visualization styles for error bars</a:t>
            </a:r>
          </a:p>
        </p:txBody>
      </p:sp>
      <p:sp>
        <p:nvSpPr>
          <p:cNvPr id="11" name="Rectangle 10"/>
          <p:cNvSpPr/>
          <p:nvPr/>
        </p:nvSpPr>
        <p:spPr>
          <a:xfrm>
            <a:off x="0" y="1981935"/>
            <a:ext cx="3737113" cy="3416320"/>
          </a:xfrm>
          <a:prstGeom prst="rect">
            <a:avLst/>
          </a:prstGeom>
        </p:spPr>
        <p:txBody>
          <a:bodyPr wrap="square">
            <a:spAutoFit/>
          </a:bodyPr>
          <a:lstStyle/>
          <a:p>
            <a:pPr marL="342900" indent="-342900">
              <a:buFont typeface="Arial" panose="020B0604020202020204" pitchFamily="34" charset="0"/>
              <a:buChar char="•"/>
            </a:pPr>
            <a:r>
              <a:rPr lang="en-US" sz="2400" dirty="0"/>
              <a:t>Often, styles obstruct scientific communication</a:t>
            </a:r>
          </a:p>
          <a:p>
            <a:pPr marL="800100" lvl="1" indent="-342900">
              <a:buFont typeface="Arial" panose="020B0604020202020204" pitchFamily="34" charset="0"/>
              <a:buChar char="•"/>
            </a:pPr>
            <a:r>
              <a:rPr lang="en-US" sz="2400" dirty="0"/>
              <a:t>Confidence strip, e.g. Is the mean rating of Peruvian chocolate  significantly lower than that of the US?</a:t>
            </a:r>
          </a:p>
          <a:p>
            <a:pPr marL="800100" lvl="1" indent="-342900">
              <a:buFont typeface="Arial" panose="020B0604020202020204" pitchFamily="34" charset="0"/>
              <a:buChar char="•"/>
            </a:pPr>
            <a:r>
              <a:rPr lang="en-US" sz="2400" dirty="0"/>
              <a:t>Ridgeline style</a:t>
            </a:r>
          </a:p>
          <a:p>
            <a:pPr marL="800100" lvl="1" indent="-342900">
              <a:buFont typeface="Arial" panose="020B0604020202020204" pitchFamily="34" charset="0"/>
              <a:buChar char="•"/>
            </a:pPr>
            <a:endParaRPr lang="en-US" sz="2400" dirty="0"/>
          </a:p>
        </p:txBody>
      </p:sp>
      <p:grpSp>
        <p:nvGrpSpPr>
          <p:cNvPr id="4" name="Group 3">
            <a:extLst>
              <a:ext uri="{FF2B5EF4-FFF2-40B4-BE49-F238E27FC236}">
                <a16:creationId xmlns:a16="http://schemas.microsoft.com/office/drawing/2014/main" id="{1FE1FE41-E665-4700-90C6-5E1B1AD008CA}"/>
              </a:ext>
            </a:extLst>
          </p:cNvPr>
          <p:cNvGrpSpPr/>
          <p:nvPr/>
        </p:nvGrpSpPr>
        <p:grpSpPr>
          <a:xfrm>
            <a:off x="3737113" y="1422105"/>
            <a:ext cx="8362123" cy="5071460"/>
            <a:chOff x="3219013" y="1990426"/>
            <a:chExt cx="7589100" cy="3706170"/>
          </a:xfrm>
        </p:grpSpPr>
        <p:pic>
          <p:nvPicPr>
            <p:cNvPr id="2" name="Picture 1"/>
            <p:cNvPicPr>
              <a:picLocks noChangeAspect="1"/>
            </p:cNvPicPr>
            <p:nvPr/>
          </p:nvPicPr>
          <p:blipFill>
            <a:blip r:embed="rId3"/>
            <a:stretch>
              <a:fillRect/>
            </a:stretch>
          </p:blipFill>
          <p:spPr>
            <a:xfrm>
              <a:off x="3219013" y="1990426"/>
              <a:ext cx="7574936" cy="3604572"/>
            </a:xfrm>
            <a:prstGeom prst="rect">
              <a:avLst/>
            </a:prstGeom>
          </p:spPr>
        </p:pic>
        <p:pic>
          <p:nvPicPr>
            <p:cNvPr id="3" name="Picture 2"/>
            <p:cNvPicPr>
              <a:picLocks noChangeAspect="1"/>
            </p:cNvPicPr>
            <p:nvPr/>
          </p:nvPicPr>
          <p:blipFill>
            <a:blip r:embed="rId4"/>
            <a:stretch>
              <a:fillRect/>
            </a:stretch>
          </p:blipFill>
          <p:spPr>
            <a:xfrm>
              <a:off x="3219013" y="3792711"/>
              <a:ext cx="7589100" cy="1903885"/>
            </a:xfrm>
            <a:prstGeom prst="rect">
              <a:avLst/>
            </a:prstGeom>
          </p:spPr>
        </p:pic>
      </p:grpSp>
      <p:sp>
        <p:nvSpPr>
          <p:cNvPr id="5" name="Rectangle 4">
            <a:extLst>
              <a:ext uri="{FF2B5EF4-FFF2-40B4-BE49-F238E27FC236}">
                <a16:creationId xmlns:a16="http://schemas.microsoft.com/office/drawing/2014/main" id="{8795AC68-749F-4BCC-ABAE-A2C637F0520A}"/>
              </a:ext>
            </a:extLst>
          </p:cNvPr>
          <p:cNvSpPr/>
          <p:nvPr/>
        </p:nvSpPr>
        <p:spPr>
          <a:xfrm>
            <a:off x="3737113" y="1448609"/>
            <a:ext cx="198783" cy="194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D8B15ED-0168-4B33-9692-CA9F26E58118}"/>
              </a:ext>
            </a:extLst>
          </p:cNvPr>
          <p:cNvSpPr/>
          <p:nvPr/>
        </p:nvSpPr>
        <p:spPr>
          <a:xfrm>
            <a:off x="7719393" y="1455237"/>
            <a:ext cx="198783" cy="194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06A6CC-6485-40F9-8B76-3E500B8C333B}"/>
              </a:ext>
            </a:extLst>
          </p:cNvPr>
          <p:cNvSpPr/>
          <p:nvPr/>
        </p:nvSpPr>
        <p:spPr>
          <a:xfrm>
            <a:off x="7924801" y="3860507"/>
            <a:ext cx="198783" cy="194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39EA6CB-ADF6-4BA2-91CC-87122A4AF413}"/>
              </a:ext>
            </a:extLst>
          </p:cNvPr>
          <p:cNvSpPr/>
          <p:nvPr/>
        </p:nvSpPr>
        <p:spPr>
          <a:xfrm>
            <a:off x="3756987" y="3893638"/>
            <a:ext cx="198783" cy="194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140E0DD-B905-4570-9205-352358407EC9}"/>
              </a:ext>
            </a:extLst>
          </p:cNvPr>
          <p:cNvSpPr/>
          <p:nvPr/>
        </p:nvSpPr>
        <p:spPr>
          <a:xfrm>
            <a:off x="6586010" y="6488668"/>
            <a:ext cx="5600123" cy="369332"/>
          </a:xfrm>
          <a:prstGeom prst="rect">
            <a:avLst/>
          </a:prstGeom>
        </p:spPr>
        <p:txBody>
          <a:bodyPr wrap="none">
            <a:spAutoFit/>
          </a:bodyPr>
          <a:lstStyle/>
          <a:p>
            <a:r>
              <a:rPr lang="en-US" dirty="0"/>
              <a:t>Fundamentals of Data Visualization, Wilke, O’Reilly, 1</a:t>
            </a:r>
            <a:r>
              <a:rPr lang="en-US" baseline="30000" dirty="0"/>
              <a:t>st</a:t>
            </a:r>
            <a:r>
              <a:rPr lang="en-US" dirty="0"/>
              <a:t> Ed.</a:t>
            </a:r>
          </a:p>
        </p:txBody>
      </p:sp>
      <p:sp>
        <p:nvSpPr>
          <p:cNvPr id="16" name="Rectangle 15">
            <a:extLst>
              <a:ext uri="{FF2B5EF4-FFF2-40B4-BE49-F238E27FC236}">
                <a16:creationId xmlns:a16="http://schemas.microsoft.com/office/drawing/2014/main" id="{ABFEF96D-655A-49F3-88C4-F5B285E60A59}"/>
              </a:ext>
            </a:extLst>
          </p:cNvPr>
          <p:cNvSpPr/>
          <p:nvPr/>
        </p:nvSpPr>
        <p:spPr>
          <a:xfrm>
            <a:off x="3935896" y="1043533"/>
            <a:ext cx="6912149" cy="400110"/>
          </a:xfrm>
          <a:prstGeom prst="rect">
            <a:avLst/>
          </a:prstGeom>
        </p:spPr>
        <p:txBody>
          <a:bodyPr wrap="none">
            <a:spAutoFit/>
          </a:bodyPr>
          <a:lstStyle/>
          <a:p>
            <a:r>
              <a:rPr lang="en-US" sz="2000" dirty="0"/>
              <a:t>Mean chocolate flavor rating by country (vs. US chocolate rating)</a:t>
            </a:r>
          </a:p>
        </p:txBody>
      </p:sp>
      <p:sp>
        <p:nvSpPr>
          <p:cNvPr id="6" name="TextBox 5">
            <a:extLst>
              <a:ext uri="{FF2B5EF4-FFF2-40B4-BE49-F238E27FC236}">
                <a16:creationId xmlns:a16="http://schemas.microsoft.com/office/drawing/2014/main" id="{DAAD983B-663F-4596-B2FB-81549E48EB59}"/>
              </a:ext>
            </a:extLst>
          </p:cNvPr>
          <p:cNvSpPr txBox="1"/>
          <p:nvPr/>
        </p:nvSpPr>
        <p:spPr>
          <a:xfrm>
            <a:off x="3634210" y="1431732"/>
            <a:ext cx="301686" cy="369332"/>
          </a:xfrm>
          <a:prstGeom prst="rect">
            <a:avLst/>
          </a:prstGeom>
          <a:noFill/>
        </p:spPr>
        <p:txBody>
          <a:bodyPr wrap="none" rtlCol="0">
            <a:spAutoFit/>
          </a:bodyPr>
          <a:lstStyle/>
          <a:p>
            <a:r>
              <a:rPr lang="en-US" dirty="0"/>
              <a:t>1</a:t>
            </a:r>
          </a:p>
        </p:txBody>
      </p:sp>
      <p:sp>
        <p:nvSpPr>
          <p:cNvPr id="17" name="TextBox 16">
            <a:extLst>
              <a:ext uri="{FF2B5EF4-FFF2-40B4-BE49-F238E27FC236}">
                <a16:creationId xmlns:a16="http://schemas.microsoft.com/office/drawing/2014/main" id="{8988709C-482E-4CE0-9708-C22AC737A867}"/>
              </a:ext>
            </a:extLst>
          </p:cNvPr>
          <p:cNvSpPr txBox="1"/>
          <p:nvPr/>
        </p:nvSpPr>
        <p:spPr>
          <a:xfrm>
            <a:off x="7824254" y="1376468"/>
            <a:ext cx="301686" cy="369332"/>
          </a:xfrm>
          <a:prstGeom prst="rect">
            <a:avLst/>
          </a:prstGeom>
          <a:noFill/>
        </p:spPr>
        <p:txBody>
          <a:bodyPr wrap="none" rtlCol="0">
            <a:spAutoFit/>
          </a:bodyPr>
          <a:lstStyle/>
          <a:p>
            <a:r>
              <a:rPr lang="en-US" dirty="0"/>
              <a:t>2</a:t>
            </a:r>
          </a:p>
        </p:txBody>
      </p:sp>
      <p:sp>
        <p:nvSpPr>
          <p:cNvPr id="18" name="TextBox 17">
            <a:extLst>
              <a:ext uri="{FF2B5EF4-FFF2-40B4-BE49-F238E27FC236}">
                <a16:creationId xmlns:a16="http://schemas.microsoft.com/office/drawing/2014/main" id="{4920BB4C-733A-4C9A-8B68-16B14E2B7D52}"/>
              </a:ext>
            </a:extLst>
          </p:cNvPr>
          <p:cNvSpPr txBox="1"/>
          <p:nvPr/>
        </p:nvSpPr>
        <p:spPr>
          <a:xfrm>
            <a:off x="3685661" y="3773171"/>
            <a:ext cx="301686" cy="369332"/>
          </a:xfrm>
          <a:prstGeom prst="rect">
            <a:avLst/>
          </a:prstGeom>
          <a:noFill/>
        </p:spPr>
        <p:txBody>
          <a:bodyPr wrap="none" rtlCol="0">
            <a:spAutoFit/>
          </a:bodyPr>
          <a:lstStyle/>
          <a:p>
            <a:r>
              <a:rPr lang="en-US" dirty="0"/>
              <a:t>3</a:t>
            </a:r>
          </a:p>
        </p:txBody>
      </p:sp>
      <p:sp>
        <p:nvSpPr>
          <p:cNvPr id="19" name="TextBox 18">
            <a:extLst>
              <a:ext uri="{FF2B5EF4-FFF2-40B4-BE49-F238E27FC236}">
                <a16:creationId xmlns:a16="http://schemas.microsoft.com/office/drawing/2014/main" id="{F30732D0-27AE-4B9C-9A7E-83B30F499FCE}"/>
              </a:ext>
            </a:extLst>
          </p:cNvPr>
          <p:cNvSpPr txBox="1"/>
          <p:nvPr/>
        </p:nvSpPr>
        <p:spPr>
          <a:xfrm>
            <a:off x="7824254" y="3731914"/>
            <a:ext cx="30168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4080059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0" y="0"/>
            <a:ext cx="12192000" cy="1325563"/>
          </a:xfrm>
        </p:spPr>
        <p:txBody>
          <a:bodyPr>
            <a:normAutofit/>
          </a:bodyPr>
          <a:lstStyle/>
          <a:p>
            <a:r>
              <a:rPr lang="en-US" dirty="0"/>
              <a:t>Confidence band to show uncertainty of a linear model</a:t>
            </a:r>
          </a:p>
        </p:txBody>
      </p:sp>
      <p:pic>
        <p:nvPicPr>
          <p:cNvPr id="4" name="Picture 3"/>
          <p:cNvPicPr>
            <a:picLocks noChangeAspect="1"/>
          </p:cNvPicPr>
          <p:nvPr/>
        </p:nvPicPr>
        <p:blipFill>
          <a:blip r:embed="rId3"/>
          <a:stretch>
            <a:fillRect/>
          </a:stretch>
        </p:blipFill>
        <p:spPr>
          <a:xfrm>
            <a:off x="4799811" y="1325563"/>
            <a:ext cx="7240080" cy="5163105"/>
          </a:xfrm>
          <a:prstGeom prst="rect">
            <a:avLst/>
          </a:prstGeom>
        </p:spPr>
      </p:pic>
      <p:sp>
        <p:nvSpPr>
          <p:cNvPr id="5" name="Rectangle 4"/>
          <p:cNvSpPr/>
          <p:nvPr/>
        </p:nvSpPr>
        <p:spPr>
          <a:xfrm>
            <a:off x="5809466" y="863898"/>
            <a:ext cx="6230424" cy="461665"/>
          </a:xfrm>
          <a:prstGeom prst="rect">
            <a:avLst/>
          </a:prstGeom>
        </p:spPr>
        <p:txBody>
          <a:bodyPr wrap="none">
            <a:spAutoFit/>
          </a:bodyPr>
          <a:lstStyle/>
          <a:p>
            <a:r>
              <a:rPr lang="en-US" sz="2400" dirty="0"/>
              <a:t>Head length versus body mass for male blue jays</a:t>
            </a:r>
          </a:p>
        </p:txBody>
      </p:sp>
      <p:sp>
        <p:nvSpPr>
          <p:cNvPr id="12" name="Rectangle 11"/>
          <p:cNvSpPr/>
          <p:nvPr/>
        </p:nvSpPr>
        <p:spPr>
          <a:xfrm>
            <a:off x="99208" y="2590296"/>
            <a:ext cx="4582489" cy="2308324"/>
          </a:xfrm>
          <a:prstGeom prst="rect">
            <a:avLst/>
          </a:prstGeom>
        </p:spPr>
        <p:txBody>
          <a:bodyPr wrap="square">
            <a:spAutoFit/>
          </a:bodyPr>
          <a:lstStyle/>
          <a:p>
            <a:pPr marL="342900" indent="-342900">
              <a:buFont typeface="Arial" panose="020B0604020202020204" pitchFamily="34" charset="0"/>
              <a:buChar char="•"/>
            </a:pPr>
            <a:r>
              <a:rPr lang="en-US" sz="2400" dirty="0"/>
              <a:t>Trend in a real line and the uncertainty in a trend line with a confidence band</a:t>
            </a:r>
          </a:p>
          <a:p>
            <a:pPr marL="342900" indent="-342900">
              <a:buFont typeface="Arial" panose="020B0604020202020204" pitchFamily="34" charset="0"/>
              <a:buChar char="•"/>
            </a:pPr>
            <a:r>
              <a:rPr lang="en-US" sz="2400" dirty="0"/>
              <a:t>Need to be very clear about what quantity the uncertainty is in</a:t>
            </a:r>
          </a:p>
        </p:txBody>
      </p:sp>
      <p:sp>
        <p:nvSpPr>
          <p:cNvPr id="7" name="Rectangle 6">
            <a:extLst>
              <a:ext uri="{FF2B5EF4-FFF2-40B4-BE49-F238E27FC236}">
                <a16:creationId xmlns:a16="http://schemas.microsoft.com/office/drawing/2014/main" id="{0C14D630-26FB-4AE8-8BFC-FC475D2851B6}"/>
              </a:ext>
            </a:extLst>
          </p:cNvPr>
          <p:cNvSpPr/>
          <p:nvPr/>
        </p:nvSpPr>
        <p:spPr>
          <a:xfrm>
            <a:off x="6586010" y="6488668"/>
            <a:ext cx="5600123" cy="369332"/>
          </a:xfrm>
          <a:prstGeom prst="rect">
            <a:avLst/>
          </a:prstGeom>
        </p:spPr>
        <p:txBody>
          <a:bodyPr wrap="none">
            <a:spAutoFit/>
          </a:bodyPr>
          <a:lstStyle/>
          <a:p>
            <a:r>
              <a:rPr lang="en-US" dirty="0"/>
              <a:t>Fundamentals of Data Visualization, Wilke, O’Reilly, 1</a:t>
            </a:r>
            <a:r>
              <a:rPr lang="en-US" baseline="30000" dirty="0"/>
              <a:t>st</a:t>
            </a:r>
            <a:r>
              <a:rPr lang="en-US" dirty="0"/>
              <a:t> Ed.</a:t>
            </a:r>
          </a:p>
        </p:txBody>
      </p:sp>
    </p:spTree>
    <p:extLst>
      <p:ext uri="{BB962C8B-B14F-4D97-AF65-F5344CB8AC3E}">
        <p14:creationId xmlns:p14="http://schemas.microsoft.com/office/powerpoint/2010/main" val="2974158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890426" y="1325563"/>
            <a:ext cx="7202332" cy="5257933"/>
          </a:xfrm>
          <a:prstGeom prst="rect">
            <a:avLst/>
          </a:prstGeom>
        </p:spPr>
      </p:pic>
      <p:sp>
        <p:nvSpPr>
          <p:cNvPr id="28" name="Title 1"/>
          <p:cNvSpPr>
            <a:spLocks noGrp="1"/>
          </p:cNvSpPr>
          <p:nvPr>
            <p:ph type="title"/>
          </p:nvPr>
        </p:nvSpPr>
        <p:spPr>
          <a:xfrm>
            <a:off x="-1" y="0"/>
            <a:ext cx="12186133" cy="1325563"/>
          </a:xfrm>
        </p:spPr>
        <p:txBody>
          <a:bodyPr>
            <a:normAutofit/>
          </a:bodyPr>
          <a:lstStyle/>
          <a:p>
            <a:r>
              <a:rPr lang="en-US" dirty="0"/>
              <a:t>Confidence band to show uncertainty of a linear model</a:t>
            </a:r>
          </a:p>
        </p:txBody>
      </p:sp>
      <p:sp>
        <p:nvSpPr>
          <p:cNvPr id="5" name="Rectangle 4"/>
          <p:cNvSpPr/>
          <p:nvPr/>
        </p:nvSpPr>
        <p:spPr>
          <a:xfrm>
            <a:off x="5743064" y="1153334"/>
            <a:ext cx="6230424" cy="461665"/>
          </a:xfrm>
          <a:prstGeom prst="rect">
            <a:avLst/>
          </a:prstGeom>
        </p:spPr>
        <p:txBody>
          <a:bodyPr wrap="none">
            <a:spAutoFit/>
          </a:bodyPr>
          <a:lstStyle/>
          <a:p>
            <a:r>
              <a:rPr lang="en-US" sz="2400" dirty="0"/>
              <a:t>Head length versus body mass for male blue jays</a:t>
            </a:r>
          </a:p>
        </p:txBody>
      </p:sp>
      <p:sp>
        <p:nvSpPr>
          <p:cNvPr id="7" name="Rectangle 6"/>
          <p:cNvSpPr/>
          <p:nvPr/>
        </p:nvSpPr>
        <p:spPr>
          <a:xfrm>
            <a:off x="153968" y="2337455"/>
            <a:ext cx="4582489" cy="1569660"/>
          </a:xfrm>
          <a:prstGeom prst="rect">
            <a:avLst/>
          </a:prstGeom>
        </p:spPr>
        <p:txBody>
          <a:bodyPr wrap="square">
            <a:spAutoFit/>
          </a:bodyPr>
          <a:lstStyle/>
          <a:p>
            <a:pPr marL="342900" indent="-342900">
              <a:buFont typeface="Arial" panose="020B0604020202020204" pitchFamily="34" charset="0"/>
              <a:buChar char="•"/>
            </a:pPr>
            <a:r>
              <a:rPr lang="en-US" sz="2400" dirty="0"/>
              <a:t>Different intercepts and slopes of line fits create the curvature </a:t>
            </a:r>
          </a:p>
          <a:p>
            <a:pPr marL="342900" indent="-342900">
              <a:buFont typeface="Arial" panose="020B0604020202020204" pitchFamily="34" charset="0"/>
              <a:buChar char="•"/>
            </a:pPr>
            <a:r>
              <a:rPr lang="en-US" sz="2400" dirty="0"/>
              <a:t>15 randomly chosen alternative fits from the confidence band</a:t>
            </a:r>
          </a:p>
        </p:txBody>
      </p:sp>
      <p:sp>
        <p:nvSpPr>
          <p:cNvPr id="8" name="Rectangle 7">
            <a:extLst>
              <a:ext uri="{FF2B5EF4-FFF2-40B4-BE49-F238E27FC236}">
                <a16:creationId xmlns:a16="http://schemas.microsoft.com/office/drawing/2014/main" id="{C14A54E8-5555-4012-8C3F-978CAD9C5ABF}"/>
              </a:ext>
            </a:extLst>
          </p:cNvPr>
          <p:cNvSpPr/>
          <p:nvPr/>
        </p:nvSpPr>
        <p:spPr>
          <a:xfrm>
            <a:off x="6586010" y="6488668"/>
            <a:ext cx="5600123" cy="369332"/>
          </a:xfrm>
          <a:prstGeom prst="rect">
            <a:avLst/>
          </a:prstGeom>
        </p:spPr>
        <p:txBody>
          <a:bodyPr wrap="none">
            <a:spAutoFit/>
          </a:bodyPr>
          <a:lstStyle/>
          <a:p>
            <a:r>
              <a:rPr lang="en-US" dirty="0"/>
              <a:t>Fundamentals of Data Visualization, Wilke, O’Reilly, 1</a:t>
            </a:r>
            <a:r>
              <a:rPr lang="en-US" baseline="30000" dirty="0"/>
              <a:t>st</a:t>
            </a:r>
            <a:r>
              <a:rPr lang="en-US" dirty="0"/>
              <a:t> Ed.</a:t>
            </a:r>
          </a:p>
        </p:txBody>
      </p:sp>
    </p:spTree>
    <p:extLst>
      <p:ext uri="{BB962C8B-B14F-4D97-AF65-F5344CB8AC3E}">
        <p14:creationId xmlns:p14="http://schemas.microsoft.com/office/powerpoint/2010/main" val="1081475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912350" y="1183134"/>
            <a:ext cx="7248939" cy="5383577"/>
          </a:xfrm>
          <a:prstGeom prst="rect">
            <a:avLst/>
          </a:prstGeom>
        </p:spPr>
      </p:pic>
      <p:sp>
        <p:nvSpPr>
          <p:cNvPr id="28" name="Title 1"/>
          <p:cNvSpPr>
            <a:spLocks noGrp="1"/>
          </p:cNvSpPr>
          <p:nvPr>
            <p:ph type="title"/>
          </p:nvPr>
        </p:nvSpPr>
        <p:spPr>
          <a:xfrm>
            <a:off x="-1" y="0"/>
            <a:ext cx="12161289" cy="1325563"/>
          </a:xfrm>
        </p:spPr>
        <p:txBody>
          <a:bodyPr>
            <a:normAutofit/>
          </a:bodyPr>
          <a:lstStyle/>
          <a:p>
            <a:r>
              <a:rPr lang="en-US" dirty="0"/>
              <a:t>Confidence band to show uncertainty of a linear model</a:t>
            </a:r>
          </a:p>
        </p:txBody>
      </p:sp>
      <p:sp>
        <p:nvSpPr>
          <p:cNvPr id="5" name="Rectangle 4"/>
          <p:cNvSpPr/>
          <p:nvPr/>
        </p:nvSpPr>
        <p:spPr>
          <a:xfrm>
            <a:off x="5614715" y="863898"/>
            <a:ext cx="6230424" cy="461665"/>
          </a:xfrm>
          <a:prstGeom prst="rect">
            <a:avLst/>
          </a:prstGeom>
        </p:spPr>
        <p:txBody>
          <a:bodyPr wrap="none">
            <a:spAutoFit/>
          </a:bodyPr>
          <a:lstStyle/>
          <a:p>
            <a:r>
              <a:rPr lang="en-US" sz="2400" dirty="0"/>
              <a:t>Head length versus body mass for male blue jays</a:t>
            </a:r>
          </a:p>
        </p:txBody>
      </p:sp>
      <p:sp>
        <p:nvSpPr>
          <p:cNvPr id="6" name="Rectangle 5">
            <a:extLst>
              <a:ext uri="{FF2B5EF4-FFF2-40B4-BE49-F238E27FC236}">
                <a16:creationId xmlns:a16="http://schemas.microsoft.com/office/drawing/2014/main" id="{617AB57A-4CCD-4A03-ADB6-83009CA05A9C}"/>
              </a:ext>
            </a:extLst>
          </p:cNvPr>
          <p:cNvSpPr/>
          <p:nvPr/>
        </p:nvSpPr>
        <p:spPr>
          <a:xfrm>
            <a:off x="6586010" y="6488668"/>
            <a:ext cx="5600123" cy="369332"/>
          </a:xfrm>
          <a:prstGeom prst="rect">
            <a:avLst/>
          </a:prstGeom>
        </p:spPr>
        <p:txBody>
          <a:bodyPr wrap="none">
            <a:spAutoFit/>
          </a:bodyPr>
          <a:lstStyle/>
          <a:p>
            <a:r>
              <a:rPr lang="en-US" dirty="0"/>
              <a:t>Fundamentals of Data Visualization, Wilke, O’Reilly, 1</a:t>
            </a:r>
            <a:r>
              <a:rPr lang="en-US" baseline="30000" dirty="0"/>
              <a:t>st</a:t>
            </a:r>
            <a:r>
              <a:rPr lang="en-US" dirty="0"/>
              <a:t> Ed.</a:t>
            </a:r>
          </a:p>
        </p:txBody>
      </p:sp>
      <p:sp>
        <p:nvSpPr>
          <p:cNvPr id="7" name="Rectangle 6">
            <a:extLst>
              <a:ext uri="{FF2B5EF4-FFF2-40B4-BE49-F238E27FC236}">
                <a16:creationId xmlns:a16="http://schemas.microsoft.com/office/drawing/2014/main" id="{EED91E38-39B2-4564-BD21-3D062A7D8538}"/>
              </a:ext>
            </a:extLst>
          </p:cNvPr>
          <p:cNvSpPr/>
          <p:nvPr/>
        </p:nvSpPr>
        <p:spPr>
          <a:xfrm>
            <a:off x="329861" y="1453673"/>
            <a:ext cx="4582489" cy="4524315"/>
          </a:xfrm>
          <a:prstGeom prst="rect">
            <a:avLst/>
          </a:prstGeom>
        </p:spPr>
        <p:txBody>
          <a:bodyPr wrap="square">
            <a:spAutoFit/>
          </a:bodyPr>
          <a:lstStyle/>
          <a:p>
            <a:r>
              <a:rPr lang="en-US" sz="2400" dirty="0"/>
              <a:t>A graded confidence band </a:t>
            </a:r>
          </a:p>
          <a:p>
            <a:pPr marL="342900" indent="-342900">
              <a:buFont typeface="Arial" panose="020B0604020202020204" pitchFamily="34" charset="0"/>
              <a:buChar char="•"/>
            </a:pPr>
            <a:r>
              <a:rPr lang="en-US" sz="2400" dirty="0"/>
              <a:t>Highlights different levels of confidence</a:t>
            </a:r>
          </a:p>
          <a:p>
            <a:pPr marL="342900" indent="-342900">
              <a:buFont typeface="Arial" panose="020B0604020202020204" pitchFamily="34" charset="0"/>
              <a:buChar char="•"/>
            </a:pPr>
            <a:r>
              <a:rPr lang="en-US" sz="2400" dirty="0"/>
              <a:t>Not only to show the distribution across the confidence levels</a:t>
            </a:r>
          </a:p>
          <a:p>
            <a:pPr marL="342900" indent="-342900">
              <a:buFont typeface="Arial" panose="020B0604020202020204" pitchFamily="34" charset="0"/>
              <a:buChar char="•"/>
            </a:pPr>
            <a:r>
              <a:rPr lang="en-US" sz="2400" dirty="0"/>
              <a:t>Enhances the sense of uncertainty in the reader, and </a:t>
            </a:r>
          </a:p>
          <a:p>
            <a:pPr marL="342900" indent="-342900">
              <a:buFont typeface="Arial" panose="020B0604020202020204" pitchFamily="34" charset="0"/>
              <a:buChar char="•"/>
            </a:pPr>
            <a:r>
              <a:rPr lang="en-US" sz="2400" dirty="0"/>
              <a:t>Forces the reader to confront the possibility that the data might support different alternative trend lines</a:t>
            </a:r>
          </a:p>
        </p:txBody>
      </p:sp>
    </p:spTree>
    <p:extLst>
      <p:ext uri="{BB962C8B-B14F-4D97-AF65-F5344CB8AC3E}">
        <p14:creationId xmlns:p14="http://schemas.microsoft.com/office/powerpoint/2010/main" val="1480241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990"/>
            <a:ext cx="12192000" cy="1325563"/>
          </a:xfrm>
        </p:spPr>
        <p:txBody>
          <a:bodyPr/>
          <a:lstStyle/>
          <a:p>
            <a:r>
              <a:rPr lang="en-US" dirty="0"/>
              <a:t>P-value to represent (un)certainty of a hypothesis</a:t>
            </a:r>
          </a:p>
        </p:txBody>
      </p:sp>
      <p:pic>
        <p:nvPicPr>
          <p:cNvPr id="7" name="Picture 6"/>
          <p:cNvPicPr>
            <a:picLocks noChangeAspect="1"/>
          </p:cNvPicPr>
          <p:nvPr/>
        </p:nvPicPr>
        <p:blipFill>
          <a:blip r:embed="rId2"/>
          <a:stretch>
            <a:fillRect/>
          </a:stretch>
        </p:blipFill>
        <p:spPr>
          <a:xfrm>
            <a:off x="4019432" y="1256343"/>
            <a:ext cx="8172568" cy="5104168"/>
          </a:xfrm>
          <a:prstGeom prst="rect">
            <a:avLst/>
          </a:prstGeom>
        </p:spPr>
      </p:pic>
      <p:sp>
        <p:nvSpPr>
          <p:cNvPr id="8" name="Rectangle 7"/>
          <p:cNvSpPr/>
          <p:nvPr/>
        </p:nvSpPr>
        <p:spPr>
          <a:xfrm>
            <a:off x="-19875" y="1536174"/>
            <a:ext cx="4283762" cy="3785652"/>
          </a:xfrm>
          <a:prstGeom prst="rect">
            <a:avLst/>
          </a:prstGeom>
        </p:spPr>
        <p:txBody>
          <a:bodyPr wrap="square">
            <a:spAutoFit/>
          </a:bodyPr>
          <a:lstStyle/>
          <a:p>
            <a:r>
              <a:rPr lang="en-US" sz="2400" dirty="0"/>
              <a:t>P-value </a:t>
            </a:r>
          </a:p>
          <a:p>
            <a:pPr marL="457200" indent="-457200">
              <a:buFont typeface="Arial" panose="020B0604020202020204" pitchFamily="34" charset="0"/>
              <a:buChar char="•"/>
            </a:pPr>
            <a:r>
              <a:rPr lang="en-US" sz="2400" dirty="0"/>
              <a:t>The probability of obtaining the observation (or something more extreme) under the null hypothesis or null distribution</a:t>
            </a:r>
          </a:p>
          <a:p>
            <a:pPr marL="457200" indent="-457200">
              <a:buFont typeface="Arial" panose="020B0604020202020204" pitchFamily="34" charset="0"/>
              <a:buChar char="•"/>
            </a:pPr>
            <a:r>
              <a:rPr lang="en-US" sz="2400" dirty="0"/>
              <a:t>The lower, the more certain to reject null hypothesis and to accept alternative hypothesis</a:t>
            </a:r>
          </a:p>
        </p:txBody>
      </p:sp>
      <p:sp>
        <p:nvSpPr>
          <p:cNvPr id="9" name="Rectangle 8"/>
          <p:cNvSpPr/>
          <p:nvPr/>
        </p:nvSpPr>
        <p:spPr>
          <a:xfrm>
            <a:off x="7467758" y="6420671"/>
            <a:ext cx="4724242" cy="369332"/>
          </a:xfrm>
          <a:prstGeom prst="rect">
            <a:avLst/>
          </a:prstGeom>
        </p:spPr>
        <p:txBody>
          <a:bodyPr wrap="none">
            <a:spAutoFit/>
          </a:bodyPr>
          <a:lstStyle/>
          <a:p>
            <a:r>
              <a:rPr lang="en-US" dirty="0"/>
              <a:t>https://www.simplypsychology.org/p-value.html</a:t>
            </a:r>
          </a:p>
        </p:txBody>
      </p:sp>
    </p:spTree>
    <p:extLst>
      <p:ext uri="{BB962C8B-B14F-4D97-AF65-F5344CB8AC3E}">
        <p14:creationId xmlns:p14="http://schemas.microsoft.com/office/powerpoint/2010/main" val="3396183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990"/>
            <a:ext cx="12192000" cy="1325563"/>
          </a:xfrm>
        </p:spPr>
        <p:txBody>
          <a:bodyPr/>
          <a:lstStyle/>
          <a:p>
            <a:r>
              <a:rPr lang="en-US" dirty="0"/>
              <a:t>P-value to represent (un)certainty of a hypothesis</a:t>
            </a:r>
          </a:p>
        </p:txBody>
      </p:sp>
      <p:sp>
        <p:nvSpPr>
          <p:cNvPr id="10" name="Rectangle 9">
            <a:extLst>
              <a:ext uri="{FF2B5EF4-FFF2-40B4-BE49-F238E27FC236}">
                <a16:creationId xmlns:a16="http://schemas.microsoft.com/office/drawing/2014/main" id="{D05553D1-ABF6-4CC6-99EF-81E9DD0C76E0}"/>
              </a:ext>
            </a:extLst>
          </p:cNvPr>
          <p:cNvSpPr/>
          <p:nvPr/>
        </p:nvSpPr>
        <p:spPr>
          <a:xfrm>
            <a:off x="619547" y="1041762"/>
            <a:ext cx="6636017" cy="2462213"/>
          </a:xfrm>
          <a:prstGeom prst="rect">
            <a:avLst/>
          </a:prstGeom>
        </p:spPr>
        <p:txBody>
          <a:bodyPr wrap="square">
            <a:spAutoFit/>
          </a:bodyPr>
          <a:lstStyle/>
          <a:p>
            <a:r>
              <a:rPr lang="en-US" sz="2200" dirty="0"/>
              <a:t>Now consider testing many similar hypotheses</a:t>
            </a:r>
          </a:p>
          <a:p>
            <a:pPr marL="342900" indent="-342900">
              <a:buFont typeface="Arial" panose="020B0604020202020204" pitchFamily="34" charset="0"/>
              <a:buChar char="•"/>
            </a:pPr>
            <a:r>
              <a:rPr lang="en-US" sz="2200" dirty="0"/>
              <a:t>Null hypothesis: the number of tumor suppressors and oncogenes in each group, adding up to 40, is balanced</a:t>
            </a:r>
          </a:p>
          <a:p>
            <a:pPr marL="342900" indent="-342900">
              <a:buFont typeface="Arial" panose="020B0604020202020204" pitchFamily="34" charset="0"/>
              <a:buChar char="•"/>
            </a:pPr>
            <a:r>
              <a:rPr lang="en-US" sz="2200" dirty="0"/>
              <a:t>Can use chi-square with df=1</a:t>
            </a:r>
          </a:p>
          <a:p>
            <a:pPr marL="342900" indent="-342900">
              <a:buFont typeface="Arial" panose="020B0604020202020204" pitchFamily="34" charset="0"/>
              <a:buChar char="•"/>
            </a:pPr>
            <a:r>
              <a:rPr lang="en-US" sz="2200" dirty="0"/>
              <a:t>Imagine we test this across many gene groups (several thousand)</a:t>
            </a:r>
          </a:p>
        </p:txBody>
      </p:sp>
      <p:graphicFrame>
        <p:nvGraphicFramePr>
          <p:cNvPr id="4" name="Table 3">
            <a:extLst>
              <a:ext uri="{FF2B5EF4-FFF2-40B4-BE49-F238E27FC236}">
                <a16:creationId xmlns:a16="http://schemas.microsoft.com/office/drawing/2014/main" id="{48B6D85D-33AF-4979-93E5-6817335D66D7}"/>
              </a:ext>
            </a:extLst>
          </p:cNvPr>
          <p:cNvGraphicFramePr>
            <a:graphicFrameLocks noGrp="1"/>
          </p:cNvGraphicFramePr>
          <p:nvPr>
            <p:extLst>
              <p:ext uri="{D42A27DB-BD31-4B8C-83A1-F6EECF244321}">
                <p14:modId xmlns:p14="http://schemas.microsoft.com/office/powerpoint/2010/main" val="1324854775"/>
              </p:ext>
            </p:extLst>
          </p:nvPr>
        </p:nvGraphicFramePr>
        <p:xfrm>
          <a:off x="619548" y="3429000"/>
          <a:ext cx="5476452" cy="3361434"/>
        </p:xfrm>
        <a:graphic>
          <a:graphicData uri="http://schemas.openxmlformats.org/drawingml/2006/table">
            <a:tbl>
              <a:tblPr firstRow="1" bandRow="1">
                <a:tableStyleId>{5C22544A-7EE6-4342-B048-85BDC9FD1C3A}</a:tableStyleId>
              </a:tblPr>
              <a:tblGrid>
                <a:gridCol w="1369113">
                  <a:extLst>
                    <a:ext uri="{9D8B030D-6E8A-4147-A177-3AD203B41FA5}">
                      <a16:colId xmlns:a16="http://schemas.microsoft.com/office/drawing/2014/main" val="334658317"/>
                    </a:ext>
                  </a:extLst>
                </a:gridCol>
                <a:gridCol w="1584854">
                  <a:extLst>
                    <a:ext uri="{9D8B030D-6E8A-4147-A177-3AD203B41FA5}">
                      <a16:colId xmlns:a16="http://schemas.microsoft.com/office/drawing/2014/main" val="992117508"/>
                    </a:ext>
                  </a:extLst>
                </a:gridCol>
                <a:gridCol w="1534511">
                  <a:extLst>
                    <a:ext uri="{9D8B030D-6E8A-4147-A177-3AD203B41FA5}">
                      <a16:colId xmlns:a16="http://schemas.microsoft.com/office/drawing/2014/main" val="4090217604"/>
                    </a:ext>
                  </a:extLst>
                </a:gridCol>
                <a:gridCol w="987974">
                  <a:extLst>
                    <a:ext uri="{9D8B030D-6E8A-4147-A177-3AD203B41FA5}">
                      <a16:colId xmlns:a16="http://schemas.microsoft.com/office/drawing/2014/main" val="3611836974"/>
                    </a:ext>
                  </a:extLst>
                </a:gridCol>
              </a:tblGrid>
              <a:tr h="557274">
                <a:tc>
                  <a:txBody>
                    <a:bodyPr/>
                    <a:lstStyle/>
                    <a:p>
                      <a:endParaRPr lang="en-US" sz="2000" dirty="0"/>
                    </a:p>
                  </a:txBody>
                  <a:tcPr/>
                </a:tc>
                <a:tc>
                  <a:txBody>
                    <a:bodyPr/>
                    <a:lstStyle/>
                    <a:p>
                      <a:r>
                        <a:rPr lang="en-US" sz="2000" dirty="0"/>
                        <a:t># tumor suppressors</a:t>
                      </a:r>
                    </a:p>
                  </a:txBody>
                  <a:tcPr/>
                </a:tc>
                <a:tc>
                  <a:txBody>
                    <a:bodyPr/>
                    <a:lstStyle/>
                    <a:p>
                      <a:r>
                        <a:rPr lang="en-US" sz="2000" dirty="0"/>
                        <a:t># oncogenes</a:t>
                      </a:r>
                    </a:p>
                  </a:txBody>
                  <a:tcPr/>
                </a:tc>
                <a:tc>
                  <a:txBody>
                    <a:bodyPr/>
                    <a:lstStyle/>
                    <a:p>
                      <a:r>
                        <a:rPr lang="en-US" sz="2000" dirty="0"/>
                        <a:t>P-value</a:t>
                      </a:r>
                    </a:p>
                  </a:txBody>
                  <a:tcPr/>
                </a:tc>
                <a:extLst>
                  <a:ext uri="{0D108BD9-81ED-4DB2-BD59-A6C34878D82A}">
                    <a16:rowId xmlns:a16="http://schemas.microsoft.com/office/drawing/2014/main" val="2135076808"/>
                  </a:ext>
                </a:extLst>
              </a:tr>
              <a:tr h="557274">
                <a:tc>
                  <a:txBody>
                    <a:bodyPr/>
                    <a:lstStyle/>
                    <a:p>
                      <a:r>
                        <a:rPr lang="en-US" sz="2000" dirty="0"/>
                        <a:t>Expected number</a:t>
                      </a:r>
                    </a:p>
                  </a:txBody>
                  <a:tcPr/>
                </a:tc>
                <a:tc>
                  <a:txBody>
                    <a:bodyPr/>
                    <a:lstStyle/>
                    <a:p>
                      <a:r>
                        <a:rPr lang="en-US" sz="2000" dirty="0"/>
                        <a:t>20</a:t>
                      </a:r>
                    </a:p>
                  </a:txBody>
                  <a:tcPr/>
                </a:tc>
                <a:tc>
                  <a:txBody>
                    <a:bodyPr/>
                    <a:lstStyle/>
                    <a:p>
                      <a:r>
                        <a:rPr lang="en-US" sz="2000" dirty="0"/>
                        <a:t>20</a:t>
                      </a:r>
                    </a:p>
                  </a:txBody>
                  <a:tcPr/>
                </a:tc>
                <a:tc>
                  <a:txBody>
                    <a:bodyPr/>
                    <a:lstStyle/>
                    <a:p>
                      <a:r>
                        <a:rPr lang="en-US" sz="2000" dirty="0"/>
                        <a:t>NA</a:t>
                      </a:r>
                    </a:p>
                  </a:txBody>
                  <a:tcPr/>
                </a:tc>
                <a:extLst>
                  <a:ext uri="{0D108BD9-81ED-4DB2-BD59-A6C34878D82A}">
                    <a16:rowId xmlns:a16="http://schemas.microsoft.com/office/drawing/2014/main" val="2039979158"/>
                  </a:ext>
                </a:extLst>
              </a:tr>
              <a:tr h="557274">
                <a:tc>
                  <a:txBody>
                    <a:bodyPr/>
                    <a:lstStyle/>
                    <a:p>
                      <a:r>
                        <a:rPr lang="en-US" sz="2000" dirty="0"/>
                        <a:t>Gene group 1</a:t>
                      </a:r>
                    </a:p>
                  </a:txBody>
                  <a:tcPr/>
                </a:tc>
                <a:tc>
                  <a:txBody>
                    <a:bodyPr/>
                    <a:lstStyle/>
                    <a:p>
                      <a:r>
                        <a:rPr lang="en-US" sz="2000" dirty="0"/>
                        <a:t>9</a:t>
                      </a:r>
                    </a:p>
                  </a:txBody>
                  <a:tcPr/>
                </a:tc>
                <a:tc>
                  <a:txBody>
                    <a:bodyPr/>
                    <a:lstStyle/>
                    <a:p>
                      <a:r>
                        <a:rPr lang="en-US" sz="2000" dirty="0"/>
                        <a:t>31</a:t>
                      </a:r>
                    </a:p>
                  </a:txBody>
                  <a:tcPr/>
                </a:tc>
                <a:tc>
                  <a:txBody>
                    <a:bodyPr/>
                    <a:lstStyle/>
                    <a:p>
                      <a:r>
                        <a:rPr lang="en-US" sz="2000" dirty="0"/>
                        <a:t>..</a:t>
                      </a:r>
                    </a:p>
                  </a:txBody>
                  <a:tcPr/>
                </a:tc>
                <a:extLst>
                  <a:ext uri="{0D108BD9-81ED-4DB2-BD59-A6C34878D82A}">
                    <a16:rowId xmlns:a16="http://schemas.microsoft.com/office/drawing/2014/main" val="1789963469"/>
                  </a:ext>
                </a:extLst>
              </a:tr>
              <a:tr h="557274">
                <a:tc>
                  <a:txBody>
                    <a:bodyPr/>
                    <a:lstStyle/>
                    <a:p>
                      <a:r>
                        <a:rPr lang="en-US" sz="2000" dirty="0"/>
                        <a:t>Gene group 2</a:t>
                      </a:r>
                    </a:p>
                  </a:txBody>
                  <a:tcPr/>
                </a:tc>
                <a:tc>
                  <a:txBody>
                    <a:bodyPr/>
                    <a:lstStyle/>
                    <a:p>
                      <a:r>
                        <a:rPr lang="en-US" sz="2000" dirty="0"/>
                        <a:t>21</a:t>
                      </a:r>
                    </a:p>
                  </a:txBody>
                  <a:tcPr/>
                </a:tc>
                <a:tc>
                  <a:txBody>
                    <a:bodyPr/>
                    <a:lstStyle/>
                    <a:p>
                      <a:r>
                        <a:rPr lang="en-US" sz="2000" dirty="0"/>
                        <a:t>19</a:t>
                      </a:r>
                    </a:p>
                  </a:txBody>
                  <a:tcPr/>
                </a:tc>
                <a:tc>
                  <a:txBody>
                    <a:bodyPr/>
                    <a:lstStyle/>
                    <a:p>
                      <a:r>
                        <a:rPr lang="en-US" sz="2000" dirty="0"/>
                        <a:t>..</a:t>
                      </a:r>
                    </a:p>
                  </a:txBody>
                  <a:tcPr/>
                </a:tc>
                <a:extLst>
                  <a:ext uri="{0D108BD9-81ED-4DB2-BD59-A6C34878D82A}">
                    <a16:rowId xmlns:a16="http://schemas.microsoft.com/office/drawing/2014/main" val="1428086187"/>
                  </a:ext>
                </a:extLst>
              </a:tr>
              <a:tr h="557274">
                <a:tc>
                  <a:txBody>
                    <a:bodyPr/>
                    <a:lstStyle/>
                    <a:p>
                      <a:r>
                        <a:rPr lang="en-US" sz="2000" dirty="0"/>
                        <a:t>…</a:t>
                      </a:r>
                    </a:p>
                  </a:txBody>
                  <a:tcPr/>
                </a:tc>
                <a:tc>
                  <a:txBody>
                    <a:bodyPr/>
                    <a:lstStyle/>
                    <a:p>
                      <a:r>
                        <a:rPr lang="en-US" sz="2000" dirty="0"/>
                        <a:t>…</a:t>
                      </a:r>
                    </a:p>
                  </a:txBody>
                  <a:tcPr/>
                </a:tc>
                <a:tc>
                  <a:txBody>
                    <a:bodyPr/>
                    <a:lstStyle/>
                    <a:p>
                      <a:r>
                        <a:rPr lang="en-US" sz="2000" dirty="0"/>
                        <a:t>…</a:t>
                      </a:r>
                    </a:p>
                  </a:txBody>
                  <a:tcPr/>
                </a:tc>
                <a:tc>
                  <a:txBody>
                    <a:bodyPr/>
                    <a:lstStyle/>
                    <a:p>
                      <a:r>
                        <a:rPr lang="en-US" sz="2000" dirty="0"/>
                        <a:t>…</a:t>
                      </a:r>
                    </a:p>
                  </a:txBody>
                  <a:tcPr/>
                </a:tc>
                <a:extLst>
                  <a:ext uri="{0D108BD9-81ED-4DB2-BD59-A6C34878D82A}">
                    <a16:rowId xmlns:a16="http://schemas.microsoft.com/office/drawing/2014/main" val="3779969959"/>
                  </a:ext>
                </a:extLst>
              </a:tr>
            </a:tbl>
          </a:graphicData>
        </a:graphic>
      </p:graphicFrame>
      <p:sp>
        <p:nvSpPr>
          <p:cNvPr id="5" name="Rectangle 4">
            <a:extLst>
              <a:ext uri="{FF2B5EF4-FFF2-40B4-BE49-F238E27FC236}">
                <a16:creationId xmlns:a16="http://schemas.microsoft.com/office/drawing/2014/main" id="{92520119-D802-421D-8067-7C49ABC57195}"/>
              </a:ext>
            </a:extLst>
          </p:cNvPr>
          <p:cNvSpPr/>
          <p:nvPr/>
        </p:nvSpPr>
        <p:spPr>
          <a:xfrm>
            <a:off x="6616769" y="5185646"/>
            <a:ext cx="5348259" cy="369332"/>
          </a:xfrm>
          <a:prstGeom prst="rect">
            <a:avLst/>
          </a:prstGeom>
        </p:spPr>
        <p:txBody>
          <a:bodyPr wrap="none">
            <a:spAutoFit/>
          </a:bodyPr>
          <a:lstStyle/>
          <a:p>
            <a:r>
              <a:rPr lang="en-US" dirty="0"/>
              <a:t>https://en.wikipedia.org/wiki/Chi-squared_distribution</a:t>
            </a:r>
          </a:p>
        </p:txBody>
      </p:sp>
      <p:pic>
        <p:nvPicPr>
          <p:cNvPr id="6146" name="Picture 2">
            <a:extLst>
              <a:ext uri="{FF2B5EF4-FFF2-40B4-BE49-F238E27FC236}">
                <a16:creationId xmlns:a16="http://schemas.microsoft.com/office/drawing/2014/main" id="{01091B86-247C-4A7A-905D-A36F329FD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9506" y="1826592"/>
            <a:ext cx="4510059" cy="343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224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dirty="0"/>
              <a:t>How to interpret P-value distribution?</a:t>
            </a:r>
          </a:p>
        </p:txBody>
      </p:sp>
      <p:pic>
        <p:nvPicPr>
          <p:cNvPr id="3" name="Picture 2"/>
          <p:cNvPicPr>
            <a:picLocks noChangeAspect="1"/>
          </p:cNvPicPr>
          <p:nvPr/>
        </p:nvPicPr>
        <p:blipFill>
          <a:blip r:embed="rId3"/>
          <a:stretch>
            <a:fillRect/>
          </a:stretch>
        </p:blipFill>
        <p:spPr>
          <a:xfrm>
            <a:off x="4664765" y="903043"/>
            <a:ext cx="7540269" cy="5698051"/>
          </a:xfrm>
          <a:prstGeom prst="rect">
            <a:avLst/>
          </a:prstGeom>
        </p:spPr>
      </p:pic>
      <p:sp>
        <p:nvSpPr>
          <p:cNvPr id="4" name="Rectangle 3"/>
          <p:cNvSpPr/>
          <p:nvPr/>
        </p:nvSpPr>
        <p:spPr>
          <a:xfrm>
            <a:off x="5488772" y="6495078"/>
            <a:ext cx="6888541" cy="369332"/>
          </a:xfrm>
          <a:prstGeom prst="rect">
            <a:avLst/>
          </a:prstGeom>
        </p:spPr>
        <p:txBody>
          <a:bodyPr wrap="square">
            <a:spAutoFit/>
          </a:bodyPr>
          <a:lstStyle/>
          <a:p>
            <a:r>
              <a:rPr lang="en-US" dirty="0"/>
              <a:t>http://varianceexplained.org/statistics/interpreting-pvalue-histogram/</a:t>
            </a:r>
          </a:p>
        </p:txBody>
      </p:sp>
      <p:sp>
        <p:nvSpPr>
          <p:cNvPr id="5" name="Rectangle 4">
            <a:extLst>
              <a:ext uri="{FF2B5EF4-FFF2-40B4-BE49-F238E27FC236}">
                <a16:creationId xmlns:a16="http://schemas.microsoft.com/office/drawing/2014/main" id="{A6F54C21-32BA-4FFC-91C5-00B282DA3D61}"/>
              </a:ext>
            </a:extLst>
          </p:cNvPr>
          <p:cNvSpPr/>
          <p:nvPr/>
        </p:nvSpPr>
        <p:spPr>
          <a:xfrm>
            <a:off x="400693" y="1259110"/>
            <a:ext cx="4467564" cy="2677656"/>
          </a:xfrm>
          <a:prstGeom prst="rect">
            <a:avLst/>
          </a:prstGeom>
        </p:spPr>
        <p:txBody>
          <a:bodyPr wrap="square">
            <a:spAutoFit/>
          </a:bodyPr>
          <a:lstStyle/>
          <a:p>
            <a:pPr marL="342900" indent="-342900">
              <a:buFont typeface="Arial" panose="020B0604020202020204" pitchFamily="34" charset="0"/>
              <a:buChar char="•"/>
            </a:pPr>
            <a:r>
              <a:rPr lang="en-US" sz="2400" dirty="0"/>
              <a:t>If we have many gene groups to test, we will have many p values, one for each gene group</a:t>
            </a:r>
          </a:p>
          <a:p>
            <a:pPr marL="342900" indent="-342900">
              <a:buFont typeface="Arial" panose="020B0604020202020204" pitchFamily="34" charset="0"/>
              <a:buChar char="•"/>
            </a:pPr>
            <a:r>
              <a:rPr lang="en-US" sz="2400" dirty="0"/>
              <a:t>The distribution of the p values provides insights to your experimental design</a:t>
            </a:r>
          </a:p>
        </p:txBody>
      </p:sp>
    </p:spTree>
    <p:extLst>
      <p:ext uri="{BB962C8B-B14F-4D97-AF65-F5344CB8AC3E}">
        <p14:creationId xmlns:p14="http://schemas.microsoft.com/office/powerpoint/2010/main" val="3502781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Anti-conservative p-values (“Hooray!”)</a:t>
            </a:r>
          </a:p>
        </p:txBody>
      </p:sp>
      <p:sp>
        <p:nvSpPr>
          <p:cNvPr id="4" name="Rectangle 3"/>
          <p:cNvSpPr/>
          <p:nvPr/>
        </p:nvSpPr>
        <p:spPr>
          <a:xfrm>
            <a:off x="5406888" y="6503217"/>
            <a:ext cx="6798148" cy="369332"/>
          </a:xfrm>
          <a:prstGeom prst="rect">
            <a:avLst/>
          </a:prstGeom>
        </p:spPr>
        <p:txBody>
          <a:bodyPr wrap="square">
            <a:spAutoFit/>
          </a:bodyPr>
          <a:lstStyle/>
          <a:p>
            <a:r>
              <a:rPr lang="en-US" dirty="0"/>
              <a:t>http://varianceexplained.org/statistics/interpreting-pvalue-histogram/</a:t>
            </a:r>
          </a:p>
        </p:txBody>
      </p:sp>
      <p:pic>
        <p:nvPicPr>
          <p:cNvPr id="5" name="Picture 4"/>
          <p:cNvPicPr>
            <a:picLocks noChangeAspect="1"/>
          </p:cNvPicPr>
          <p:nvPr/>
        </p:nvPicPr>
        <p:blipFill>
          <a:blip r:embed="rId3"/>
          <a:stretch>
            <a:fillRect/>
          </a:stretch>
        </p:blipFill>
        <p:spPr>
          <a:xfrm>
            <a:off x="6470863" y="1028699"/>
            <a:ext cx="5285473" cy="5285473"/>
          </a:xfrm>
          <a:prstGeom prst="rect">
            <a:avLst/>
          </a:prstGeom>
        </p:spPr>
      </p:pic>
      <p:sp>
        <p:nvSpPr>
          <p:cNvPr id="6" name="Rectangle 5">
            <a:extLst>
              <a:ext uri="{FF2B5EF4-FFF2-40B4-BE49-F238E27FC236}">
                <a16:creationId xmlns:a16="http://schemas.microsoft.com/office/drawing/2014/main" id="{DDACC98C-8097-46D3-A762-0091160407DC}"/>
              </a:ext>
            </a:extLst>
          </p:cNvPr>
          <p:cNvSpPr/>
          <p:nvPr/>
        </p:nvSpPr>
        <p:spPr>
          <a:xfrm>
            <a:off x="838200" y="1165018"/>
            <a:ext cx="5483087" cy="3416320"/>
          </a:xfrm>
          <a:prstGeom prst="rect">
            <a:avLst/>
          </a:prstGeom>
        </p:spPr>
        <p:txBody>
          <a:bodyPr wrap="square">
            <a:spAutoFit/>
          </a:bodyPr>
          <a:lstStyle/>
          <a:p>
            <a:pPr marL="342900" indent="-342900">
              <a:buFont typeface="Arial" panose="020B0604020202020204" pitchFamily="34" charset="0"/>
              <a:buChar char="•"/>
            </a:pPr>
            <a:r>
              <a:rPr lang="en-US" sz="2400" dirty="0"/>
              <a:t>Example:</a:t>
            </a:r>
          </a:p>
          <a:p>
            <a:pPr marL="914400" lvl="1" indent="-457200">
              <a:buFont typeface="Arial" panose="020B0604020202020204" pitchFamily="34" charset="0"/>
              <a:buChar char="•"/>
            </a:pPr>
            <a:r>
              <a:rPr lang="en-US" sz="2400" dirty="0"/>
              <a:t>~1,700 hypotheses (tests or gene groups) with p-value &lt; 0.05</a:t>
            </a:r>
          </a:p>
          <a:p>
            <a:pPr marL="914400" lvl="1" indent="-457200">
              <a:buFont typeface="Arial" panose="020B0604020202020204" pitchFamily="34" charset="0"/>
              <a:buChar char="•"/>
            </a:pPr>
            <a:r>
              <a:rPr lang="en-US" sz="2400" dirty="0"/>
              <a:t>~780 hypotheses with p-value b/w 0.05 and 0.1 </a:t>
            </a:r>
          </a:p>
          <a:p>
            <a:pPr marL="457200" indent="-457200">
              <a:buFont typeface="Arial" panose="020B0604020202020204" pitchFamily="34" charset="0"/>
              <a:buChar char="•"/>
            </a:pPr>
            <a:r>
              <a:rPr lang="en-US" sz="2400" dirty="0"/>
              <a:t>One may think that all ~1,700 hypotheses under p-value &lt; 0.05 are truly unbalanced gene groups (true positives), but not all of them are.</a:t>
            </a:r>
          </a:p>
        </p:txBody>
      </p:sp>
      <p:cxnSp>
        <p:nvCxnSpPr>
          <p:cNvPr id="7" name="Straight Connector 6">
            <a:extLst>
              <a:ext uri="{FF2B5EF4-FFF2-40B4-BE49-F238E27FC236}">
                <a16:creationId xmlns:a16="http://schemas.microsoft.com/office/drawing/2014/main" id="{793E792F-8FB1-4189-BDAB-376840C9DD02}"/>
              </a:ext>
            </a:extLst>
          </p:cNvPr>
          <p:cNvCxnSpPr/>
          <p:nvPr/>
        </p:nvCxnSpPr>
        <p:spPr>
          <a:xfrm flipV="1">
            <a:off x="7609495" y="1165018"/>
            <a:ext cx="0" cy="453158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616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dirty="0"/>
              <a:t>Anti-conservative p-values (“Hooray!”)</a:t>
            </a:r>
          </a:p>
        </p:txBody>
      </p:sp>
      <p:sp>
        <p:nvSpPr>
          <p:cNvPr id="4" name="Rectangle 3"/>
          <p:cNvSpPr/>
          <p:nvPr/>
        </p:nvSpPr>
        <p:spPr>
          <a:xfrm>
            <a:off x="6826322" y="6157631"/>
            <a:ext cx="6784896" cy="307777"/>
          </a:xfrm>
          <a:prstGeom prst="rect">
            <a:avLst/>
          </a:prstGeom>
        </p:spPr>
        <p:txBody>
          <a:bodyPr wrap="square">
            <a:spAutoFit/>
          </a:bodyPr>
          <a:lstStyle/>
          <a:p>
            <a:r>
              <a:rPr lang="en-US" sz="1400" dirty="0"/>
              <a:t>http://varianceexplained.org/statistics/interpreting-pvalue-histogram/</a:t>
            </a:r>
          </a:p>
        </p:txBody>
      </p:sp>
      <p:pic>
        <p:nvPicPr>
          <p:cNvPr id="8" name="Picture 7">
            <a:extLst>
              <a:ext uri="{FF2B5EF4-FFF2-40B4-BE49-F238E27FC236}">
                <a16:creationId xmlns:a16="http://schemas.microsoft.com/office/drawing/2014/main" id="{BB1FFB21-F4F7-4531-82DC-2DEC698BB24A}"/>
              </a:ext>
            </a:extLst>
          </p:cNvPr>
          <p:cNvPicPr>
            <a:picLocks noChangeAspect="1"/>
          </p:cNvPicPr>
          <p:nvPr/>
        </p:nvPicPr>
        <p:blipFill>
          <a:blip r:embed="rId3"/>
          <a:stretch>
            <a:fillRect/>
          </a:stretch>
        </p:blipFill>
        <p:spPr>
          <a:xfrm>
            <a:off x="6607952" y="2567507"/>
            <a:ext cx="4262960" cy="3656730"/>
          </a:xfrm>
          <a:prstGeom prst="rect">
            <a:avLst/>
          </a:prstGeom>
        </p:spPr>
      </p:pic>
      <p:sp>
        <p:nvSpPr>
          <p:cNvPr id="5" name="Rectangle 4">
            <a:extLst>
              <a:ext uri="{FF2B5EF4-FFF2-40B4-BE49-F238E27FC236}">
                <a16:creationId xmlns:a16="http://schemas.microsoft.com/office/drawing/2014/main" id="{8617EB96-AE2B-4B26-B68D-DF674439B514}"/>
              </a:ext>
            </a:extLst>
          </p:cNvPr>
          <p:cNvSpPr/>
          <p:nvPr/>
        </p:nvSpPr>
        <p:spPr>
          <a:xfrm>
            <a:off x="1048732" y="997847"/>
            <a:ext cx="10305068" cy="1569660"/>
          </a:xfrm>
          <a:prstGeom prst="rect">
            <a:avLst/>
          </a:prstGeom>
        </p:spPr>
        <p:txBody>
          <a:bodyPr wrap="square">
            <a:spAutoFit/>
          </a:bodyPr>
          <a:lstStyle/>
          <a:p>
            <a:r>
              <a:rPr lang="en-US" sz="2400" dirty="0"/>
              <a:t>1,700 gene groups with p-value &lt; 0.05 consist of</a:t>
            </a:r>
          </a:p>
          <a:p>
            <a:pPr marL="342900" indent="-342900">
              <a:buFont typeface="Arial" panose="020B0604020202020204" pitchFamily="34" charset="0"/>
              <a:buChar char="•"/>
            </a:pPr>
            <a:r>
              <a:rPr lang="en-US" sz="2400" dirty="0"/>
              <a:t>unbalanced gene groups (true positives) </a:t>
            </a:r>
          </a:p>
          <a:p>
            <a:pPr marL="342900" indent="-342900">
              <a:buFont typeface="Arial" panose="020B0604020202020204" pitchFamily="34" charset="0"/>
              <a:buChar char="•"/>
            </a:pPr>
            <a:r>
              <a:rPr lang="en-US" sz="2400" dirty="0"/>
              <a:t>balanced gene groups (false positives)</a:t>
            </a:r>
          </a:p>
          <a:p>
            <a:r>
              <a:rPr lang="en-US" sz="2400" dirty="0"/>
              <a:t>Because p-values are distributed uniformly under H</a:t>
            </a:r>
            <a:r>
              <a:rPr lang="en-US" sz="2400" baseline="-25000" dirty="0"/>
              <a:t>0 </a:t>
            </a:r>
            <a:r>
              <a:rPr lang="en-US" sz="2400" dirty="0"/>
              <a:t>(and the null is usually true)</a:t>
            </a:r>
          </a:p>
        </p:txBody>
      </p:sp>
      <p:sp>
        <p:nvSpPr>
          <p:cNvPr id="3" name="Arrow: Right 2">
            <a:extLst>
              <a:ext uri="{FF2B5EF4-FFF2-40B4-BE49-F238E27FC236}">
                <a16:creationId xmlns:a16="http://schemas.microsoft.com/office/drawing/2014/main" id="{38503420-7C99-48EA-87FA-2F7200D0E65F}"/>
              </a:ext>
            </a:extLst>
          </p:cNvPr>
          <p:cNvSpPr/>
          <p:nvPr/>
        </p:nvSpPr>
        <p:spPr>
          <a:xfrm>
            <a:off x="5365678" y="4602045"/>
            <a:ext cx="1460644"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6D2D632-DE56-44C8-9ED0-A7F4CF9BF541}"/>
              </a:ext>
            </a:extLst>
          </p:cNvPr>
          <p:cNvPicPr>
            <a:picLocks noChangeAspect="1"/>
          </p:cNvPicPr>
          <p:nvPr/>
        </p:nvPicPr>
        <p:blipFill>
          <a:blip r:embed="rId4"/>
          <a:stretch>
            <a:fillRect/>
          </a:stretch>
        </p:blipFill>
        <p:spPr>
          <a:xfrm>
            <a:off x="123458" y="3018406"/>
            <a:ext cx="5133035" cy="3205831"/>
          </a:xfrm>
          <a:prstGeom prst="rect">
            <a:avLst/>
          </a:prstGeom>
        </p:spPr>
      </p:pic>
    </p:spTree>
    <p:extLst>
      <p:ext uri="{BB962C8B-B14F-4D97-AF65-F5344CB8AC3E}">
        <p14:creationId xmlns:p14="http://schemas.microsoft.com/office/powerpoint/2010/main" val="547325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dirty="0"/>
              <a:t>Anti-conservative p-values (“Hooray!”)</a:t>
            </a:r>
          </a:p>
        </p:txBody>
      </p:sp>
      <p:sp>
        <p:nvSpPr>
          <p:cNvPr id="4" name="Rectangle 3"/>
          <p:cNvSpPr/>
          <p:nvPr/>
        </p:nvSpPr>
        <p:spPr>
          <a:xfrm>
            <a:off x="5420140" y="6489962"/>
            <a:ext cx="6784896" cy="369332"/>
          </a:xfrm>
          <a:prstGeom prst="rect">
            <a:avLst/>
          </a:prstGeom>
        </p:spPr>
        <p:txBody>
          <a:bodyPr wrap="square">
            <a:spAutoFit/>
          </a:bodyPr>
          <a:lstStyle/>
          <a:p>
            <a:r>
              <a:rPr lang="en-US" dirty="0"/>
              <a:t>http://varianceexplained.org/statistics/interpreting-pvalue-histogram/</a:t>
            </a:r>
          </a:p>
        </p:txBody>
      </p:sp>
      <p:sp>
        <p:nvSpPr>
          <p:cNvPr id="5" name="Rectangle 4">
            <a:extLst>
              <a:ext uri="{FF2B5EF4-FFF2-40B4-BE49-F238E27FC236}">
                <a16:creationId xmlns:a16="http://schemas.microsoft.com/office/drawing/2014/main" id="{8617EB96-AE2B-4B26-B68D-DF674439B514}"/>
              </a:ext>
            </a:extLst>
          </p:cNvPr>
          <p:cNvSpPr/>
          <p:nvPr/>
        </p:nvSpPr>
        <p:spPr>
          <a:xfrm>
            <a:off x="317212" y="1208429"/>
            <a:ext cx="4895993" cy="1200329"/>
          </a:xfrm>
          <a:prstGeom prst="rect">
            <a:avLst/>
          </a:prstGeom>
        </p:spPr>
        <p:txBody>
          <a:bodyPr wrap="square">
            <a:spAutoFit/>
          </a:bodyPr>
          <a:lstStyle/>
          <a:p>
            <a:r>
              <a:rPr lang="en-US" sz="2400" dirty="0"/>
              <a:t>Some positives are not identifiable to your test (all the blue rectangles to the right of p=0.05).</a:t>
            </a:r>
          </a:p>
        </p:txBody>
      </p:sp>
      <p:pic>
        <p:nvPicPr>
          <p:cNvPr id="8" name="Picture 7">
            <a:extLst>
              <a:ext uri="{FF2B5EF4-FFF2-40B4-BE49-F238E27FC236}">
                <a16:creationId xmlns:a16="http://schemas.microsoft.com/office/drawing/2014/main" id="{BB1FFB21-F4F7-4531-82DC-2DEC698BB24A}"/>
              </a:ext>
            </a:extLst>
          </p:cNvPr>
          <p:cNvPicPr>
            <a:picLocks noChangeAspect="1"/>
          </p:cNvPicPr>
          <p:nvPr/>
        </p:nvPicPr>
        <p:blipFill>
          <a:blip r:embed="rId3"/>
          <a:stretch>
            <a:fillRect/>
          </a:stretch>
        </p:blipFill>
        <p:spPr>
          <a:xfrm>
            <a:off x="5213205" y="1089287"/>
            <a:ext cx="6296025" cy="5400675"/>
          </a:xfrm>
          <a:prstGeom prst="rect">
            <a:avLst/>
          </a:prstGeom>
        </p:spPr>
      </p:pic>
      <p:sp>
        <p:nvSpPr>
          <p:cNvPr id="3" name="Arrow: Right 2">
            <a:extLst>
              <a:ext uri="{FF2B5EF4-FFF2-40B4-BE49-F238E27FC236}">
                <a16:creationId xmlns:a16="http://schemas.microsoft.com/office/drawing/2014/main" id="{9A0309DA-8A5C-B500-83D4-A0375D1AC1DF}"/>
              </a:ext>
            </a:extLst>
          </p:cNvPr>
          <p:cNvSpPr/>
          <p:nvPr/>
        </p:nvSpPr>
        <p:spPr>
          <a:xfrm rot="1825760">
            <a:off x="2856083" y="3217892"/>
            <a:ext cx="4801788" cy="3302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BE8CB8D0-8053-565E-9905-7F829B50A940}"/>
              </a:ext>
            </a:extLst>
          </p:cNvPr>
          <p:cNvCxnSpPr>
            <a:cxnSpLocks/>
          </p:cNvCxnSpPr>
          <p:nvPr/>
        </p:nvCxnSpPr>
        <p:spPr>
          <a:xfrm>
            <a:off x="6689035" y="3612470"/>
            <a:ext cx="0" cy="2207562"/>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95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D8A86F-A7C5-437C-BF11-5CAFE3511B13}"/>
              </a:ext>
            </a:extLst>
          </p:cNvPr>
          <p:cNvPicPr>
            <a:picLocks noChangeAspect="1"/>
          </p:cNvPicPr>
          <p:nvPr/>
        </p:nvPicPr>
        <p:blipFill>
          <a:blip r:embed="rId3"/>
          <a:stretch>
            <a:fillRect/>
          </a:stretch>
        </p:blipFill>
        <p:spPr>
          <a:xfrm>
            <a:off x="5420140" y="1089287"/>
            <a:ext cx="6296025" cy="5400675"/>
          </a:xfrm>
          <a:prstGeom prst="rect">
            <a:avLst/>
          </a:prstGeom>
        </p:spPr>
      </p:pic>
      <p:sp>
        <p:nvSpPr>
          <p:cNvPr id="2" name="Title 1"/>
          <p:cNvSpPr>
            <a:spLocks noGrp="1"/>
          </p:cNvSpPr>
          <p:nvPr>
            <p:ph type="title"/>
          </p:nvPr>
        </p:nvSpPr>
        <p:spPr>
          <a:xfrm>
            <a:off x="838200" y="8990"/>
            <a:ext cx="10515600" cy="1325563"/>
          </a:xfrm>
        </p:spPr>
        <p:txBody>
          <a:bodyPr/>
          <a:lstStyle/>
          <a:p>
            <a:r>
              <a:rPr lang="en-US" dirty="0"/>
              <a:t>Anti-conservative p-values (“Hooray!”)</a:t>
            </a:r>
          </a:p>
        </p:txBody>
      </p:sp>
      <p:sp>
        <p:nvSpPr>
          <p:cNvPr id="4" name="Rectangle 3"/>
          <p:cNvSpPr/>
          <p:nvPr/>
        </p:nvSpPr>
        <p:spPr>
          <a:xfrm>
            <a:off x="5420140" y="6489962"/>
            <a:ext cx="6784896" cy="369332"/>
          </a:xfrm>
          <a:prstGeom prst="rect">
            <a:avLst/>
          </a:prstGeom>
        </p:spPr>
        <p:txBody>
          <a:bodyPr wrap="square">
            <a:spAutoFit/>
          </a:bodyPr>
          <a:lstStyle/>
          <a:p>
            <a:r>
              <a:rPr lang="en-US" dirty="0"/>
              <a:t>http://varianceexplained.org/statistics/interpreting-pvalue-histogram/</a:t>
            </a:r>
          </a:p>
        </p:txBody>
      </p:sp>
      <p:sp>
        <p:nvSpPr>
          <p:cNvPr id="5" name="Rectangle 4">
            <a:extLst>
              <a:ext uri="{FF2B5EF4-FFF2-40B4-BE49-F238E27FC236}">
                <a16:creationId xmlns:a16="http://schemas.microsoft.com/office/drawing/2014/main" id="{8617EB96-AE2B-4B26-B68D-DF674439B514}"/>
              </a:ext>
            </a:extLst>
          </p:cNvPr>
          <p:cNvSpPr/>
          <p:nvPr/>
        </p:nvSpPr>
        <p:spPr>
          <a:xfrm>
            <a:off x="60963" y="1531248"/>
            <a:ext cx="5539736" cy="3416320"/>
          </a:xfrm>
          <a:prstGeom prst="rect">
            <a:avLst/>
          </a:prstGeom>
        </p:spPr>
        <p:txBody>
          <a:bodyPr wrap="square">
            <a:spAutoFit/>
          </a:bodyPr>
          <a:lstStyle/>
          <a:p>
            <a:r>
              <a:rPr lang="en-US" sz="2400" dirty="0"/>
              <a:t>Consider the significance thresholds:</a:t>
            </a:r>
          </a:p>
          <a:p>
            <a:r>
              <a:rPr lang="en-US" sz="2400" dirty="0"/>
              <a:t>&lt; 0.1 (gray dotted line) and</a:t>
            </a:r>
            <a:br>
              <a:rPr lang="en-US" sz="2400" dirty="0"/>
            </a:br>
            <a:r>
              <a:rPr lang="en-US" sz="2400" dirty="0"/>
              <a:t>&lt; 0.05 (black dotted line)</a:t>
            </a:r>
            <a:br>
              <a:rPr lang="en-US" sz="2400" dirty="0"/>
            </a:br>
            <a:r>
              <a:rPr lang="en-US" sz="2400" dirty="0"/>
              <a:t>What would you pick if you want to</a:t>
            </a:r>
          </a:p>
          <a:p>
            <a:pPr marL="457200" indent="-457200">
              <a:buFont typeface="Arial" panose="020B0604020202020204" pitchFamily="34" charset="0"/>
              <a:buChar char="•"/>
            </a:pPr>
            <a:r>
              <a:rPr lang="en-US" sz="2400" dirty="0"/>
              <a:t>to increase the </a:t>
            </a:r>
            <a:r>
              <a:rPr lang="en-US" sz="2400" i="1" dirty="0"/>
              <a:t>number</a:t>
            </a:r>
            <a:r>
              <a:rPr lang="en-US" sz="2400" dirty="0"/>
              <a:t> of true positives</a:t>
            </a:r>
            <a:br>
              <a:rPr lang="en-US" sz="2400" dirty="0"/>
            </a:br>
            <a:r>
              <a:rPr lang="en-US" sz="2400" dirty="0"/>
              <a:t>vs. </a:t>
            </a:r>
          </a:p>
          <a:p>
            <a:pPr marL="457200" indent="-457200">
              <a:buFont typeface="Arial" panose="020B0604020202020204" pitchFamily="34" charset="0"/>
              <a:buChar char="•"/>
            </a:pPr>
            <a:r>
              <a:rPr lang="en-US" sz="2400" dirty="0"/>
              <a:t>to increase the </a:t>
            </a:r>
            <a:r>
              <a:rPr lang="en-US" sz="2400" i="1" dirty="0"/>
              <a:t>ratio</a:t>
            </a:r>
            <a:r>
              <a:rPr lang="en-US" sz="2400" dirty="0"/>
              <a:t> of true positives</a:t>
            </a:r>
          </a:p>
          <a:p>
            <a:r>
              <a:rPr lang="en-US" sz="2400" dirty="0"/>
              <a:t>Let’s not consider multiple testing issue</a:t>
            </a:r>
          </a:p>
        </p:txBody>
      </p:sp>
      <p:cxnSp>
        <p:nvCxnSpPr>
          <p:cNvPr id="7" name="Straight Connector 6">
            <a:extLst>
              <a:ext uri="{FF2B5EF4-FFF2-40B4-BE49-F238E27FC236}">
                <a16:creationId xmlns:a16="http://schemas.microsoft.com/office/drawing/2014/main" id="{CA033D28-12CB-4A25-A0B1-4CEE9F0DF189}"/>
              </a:ext>
            </a:extLst>
          </p:cNvPr>
          <p:cNvCxnSpPr/>
          <p:nvPr/>
        </p:nvCxnSpPr>
        <p:spPr>
          <a:xfrm>
            <a:off x="6892637" y="1203588"/>
            <a:ext cx="0" cy="4857750"/>
          </a:xfrm>
          <a:prstGeom prst="line">
            <a:avLst/>
          </a:prstGeom>
          <a:ln w="254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BC26919-6B6F-441E-AA1F-58739A93F861}"/>
              </a:ext>
            </a:extLst>
          </p:cNvPr>
          <p:cNvCxnSpPr/>
          <p:nvPr/>
        </p:nvCxnSpPr>
        <p:spPr>
          <a:xfrm>
            <a:off x="7143359" y="1203588"/>
            <a:ext cx="0" cy="4857750"/>
          </a:xfrm>
          <a:prstGeom prst="line">
            <a:avLst/>
          </a:prstGeom>
          <a:ln w="2540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746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Uniform p-values (“Awww…”)</a:t>
            </a:r>
          </a:p>
        </p:txBody>
      </p:sp>
      <p:sp>
        <p:nvSpPr>
          <p:cNvPr id="4" name="Rectangle 3"/>
          <p:cNvSpPr/>
          <p:nvPr/>
        </p:nvSpPr>
        <p:spPr>
          <a:xfrm>
            <a:off x="5343526" y="6478369"/>
            <a:ext cx="6861510" cy="369332"/>
          </a:xfrm>
          <a:prstGeom prst="rect">
            <a:avLst/>
          </a:prstGeom>
        </p:spPr>
        <p:txBody>
          <a:bodyPr wrap="square">
            <a:spAutoFit/>
          </a:bodyPr>
          <a:lstStyle/>
          <a:p>
            <a:r>
              <a:rPr lang="en-US"/>
              <a:t>http://varianceexplained.org/statistics/interpreting-pvalue-histogram/</a:t>
            </a:r>
          </a:p>
        </p:txBody>
      </p:sp>
      <p:pic>
        <p:nvPicPr>
          <p:cNvPr id="5" name="Picture 4"/>
          <p:cNvPicPr>
            <a:picLocks noChangeAspect="1"/>
          </p:cNvPicPr>
          <p:nvPr/>
        </p:nvPicPr>
        <p:blipFill>
          <a:blip r:embed="rId3"/>
          <a:stretch>
            <a:fillRect/>
          </a:stretch>
        </p:blipFill>
        <p:spPr>
          <a:xfrm>
            <a:off x="5824240" y="1047750"/>
            <a:ext cx="5529560" cy="5529560"/>
          </a:xfrm>
          <a:prstGeom prst="rect">
            <a:avLst/>
          </a:prstGeom>
        </p:spPr>
      </p:pic>
      <p:sp>
        <p:nvSpPr>
          <p:cNvPr id="6" name="Rectangle 5">
            <a:extLst>
              <a:ext uri="{FF2B5EF4-FFF2-40B4-BE49-F238E27FC236}">
                <a16:creationId xmlns:a16="http://schemas.microsoft.com/office/drawing/2014/main" id="{6AF072C4-8E35-4BB6-82D0-AAE128CAF705}"/>
              </a:ext>
            </a:extLst>
          </p:cNvPr>
          <p:cNvSpPr/>
          <p:nvPr/>
        </p:nvSpPr>
        <p:spPr>
          <a:xfrm>
            <a:off x="330901" y="1528310"/>
            <a:ext cx="5011799" cy="3046988"/>
          </a:xfrm>
          <a:prstGeom prst="rect">
            <a:avLst/>
          </a:prstGeom>
        </p:spPr>
        <p:txBody>
          <a:bodyPr wrap="square">
            <a:spAutoFit/>
          </a:bodyPr>
          <a:lstStyle/>
          <a:p>
            <a:pPr marL="457200" indent="-457200">
              <a:buFont typeface="Arial" panose="020B0604020202020204" pitchFamily="34" charset="0"/>
              <a:buChar char="•"/>
            </a:pPr>
            <a:r>
              <a:rPr lang="en-US" sz="2400" dirty="0"/>
              <a:t>P ~ U(0,1) under null</a:t>
            </a:r>
          </a:p>
          <a:p>
            <a:pPr marL="457200" indent="-457200">
              <a:buFont typeface="Arial" panose="020B0604020202020204" pitchFamily="34" charset="0"/>
              <a:buChar char="•"/>
            </a:pPr>
            <a:r>
              <a:rPr lang="en-US" sz="2400" dirty="0"/>
              <a:t>The picture is consistent with an appropriate model, where H</a:t>
            </a:r>
            <a:r>
              <a:rPr lang="en-US" sz="2400" baseline="-25000" dirty="0"/>
              <a:t>0</a:t>
            </a:r>
            <a:r>
              <a:rPr lang="en-US" sz="2400" dirty="0"/>
              <a:t> is generally false</a:t>
            </a:r>
          </a:p>
          <a:p>
            <a:pPr marL="457200" indent="-457200">
              <a:buFont typeface="Arial" panose="020B0604020202020204" pitchFamily="34" charset="0"/>
              <a:buChar char="•"/>
            </a:pPr>
            <a:r>
              <a:rPr lang="en-US" sz="2400" dirty="0"/>
              <a:t>There could be some very significant p-values in the first bin (there just are not a whole lot of significant gene groups)</a:t>
            </a:r>
          </a:p>
        </p:txBody>
      </p:sp>
      <p:cxnSp>
        <p:nvCxnSpPr>
          <p:cNvPr id="7" name="Straight Connector 6">
            <a:extLst>
              <a:ext uri="{FF2B5EF4-FFF2-40B4-BE49-F238E27FC236}">
                <a16:creationId xmlns:a16="http://schemas.microsoft.com/office/drawing/2014/main" id="{4BE03F11-9354-4090-AB57-C7924061F4C6}"/>
              </a:ext>
            </a:extLst>
          </p:cNvPr>
          <p:cNvCxnSpPr/>
          <p:nvPr/>
        </p:nvCxnSpPr>
        <p:spPr>
          <a:xfrm>
            <a:off x="6941276" y="1263021"/>
            <a:ext cx="0" cy="4857750"/>
          </a:xfrm>
          <a:prstGeom prst="line">
            <a:avLst/>
          </a:prstGeom>
          <a:ln w="2540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60B75DF-6374-4470-99B8-B3B6326BA101}"/>
              </a:ext>
            </a:extLst>
          </p:cNvPr>
          <p:cNvCxnSpPr>
            <a:cxnSpLocks/>
          </p:cNvCxnSpPr>
          <p:nvPr/>
        </p:nvCxnSpPr>
        <p:spPr>
          <a:xfrm flipH="1">
            <a:off x="6361889" y="2081719"/>
            <a:ext cx="4815192"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550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Bimodal p-values (“Hmmm…”)</a:t>
            </a:r>
          </a:p>
        </p:txBody>
      </p:sp>
      <p:sp>
        <p:nvSpPr>
          <p:cNvPr id="4" name="Rectangle 3"/>
          <p:cNvSpPr/>
          <p:nvPr/>
        </p:nvSpPr>
        <p:spPr>
          <a:xfrm>
            <a:off x="5301466" y="6478793"/>
            <a:ext cx="6903570" cy="369332"/>
          </a:xfrm>
          <a:prstGeom prst="rect">
            <a:avLst/>
          </a:prstGeom>
        </p:spPr>
        <p:txBody>
          <a:bodyPr wrap="square">
            <a:spAutoFit/>
          </a:bodyPr>
          <a:lstStyle/>
          <a:p>
            <a:r>
              <a:rPr lang="en-US" dirty="0"/>
              <a:t>http://varianceexplained.org/statistics/interpreting-pvalue-histogram/</a:t>
            </a:r>
          </a:p>
        </p:txBody>
      </p:sp>
      <p:pic>
        <p:nvPicPr>
          <p:cNvPr id="3" name="Picture 2"/>
          <p:cNvPicPr>
            <a:picLocks noChangeAspect="1"/>
          </p:cNvPicPr>
          <p:nvPr/>
        </p:nvPicPr>
        <p:blipFill>
          <a:blip r:embed="rId3"/>
          <a:stretch>
            <a:fillRect/>
          </a:stretch>
        </p:blipFill>
        <p:spPr>
          <a:xfrm>
            <a:off x="5934902" y="1275880"/>
            <a:ext cx="5342698" cy="5342698"/>
          </a:xfrm>
          <a:prstGeom prst="rect">
            <a:avLst/>
          </a:prstGeom>
        </p:spPr>
      </p:pic>
      <p:sp>
        <p:nvSpPr>
          <p:cNvPr id="5" name="Rectangle 4">
            <a:extLst>
              <a:ext uri="{FF2B5EF4-FFF2-40B4-BE49-F238E27FC236}">
                <a16:creationId xmlns:a16="http://schemas.microsoft.com/office/drawing/2014/main" id="{ECD4727A-9A2D-4A43-8F33-FDA27FA950D4}"/>
              </a:ext>
            </a:extLst>
          </p:cNvPr>
          <p:cNvSpPr/>
          <p:nvPr/>
        </p:nvSpPr>
        <p:spPr>
          <a:xfrm>
            <a:off x="330901" y="1528310"/>
            <a:ext cx="5011799" cy="3847207"/>
          </a:xfrm>
          <a:prstGeom prst="rect">
            <a:avLst/>
          </a:prstGeom>
        </p:spPr>
        <p:txBody>
          <a:bodyPr wrap="square">
            <a:spAutoFit/>
          </a:bodyPr>
          <a:lstStyle/>
          <a:p>
            <a:pPr marL="457200" indent="-457200">
              <a:buFont typeface="Arial" panose="020B0604020202020204" pitchFamily="34" charset="0"/>
              <a:buChar char="•"/>
            </a:pPr>
            <a:r>
              <a:rPr lang="en-US" sz="2400" dirty="0"/>
              <a:t>Don’t proceed just yet (why?)</a:t>
            </a:r>
          </a:p>
          <a:p>
            <a:pPr marL="457200" indent="-457200">
              <a:buFont typeface="Arial" panose="020B0604020202020204" pitchFamily="34" charset="0"/>
              <a:buChar char="•"/>
            </a:pPr>
            <a:r>
              <a:rPr lang="en-US" sz="2400" dirty="0"/>
              <a:t>Possible reasons: </a:t>
            </a:r>
          </a:p>
          <a:p>
            <a:pPr marL="914400" lvl="1" indent="-457200">
              <a:buFont typeface="Arial" panose="020B0604020202020204" pitchFamily="34" charset="0"/>
              <a:buChar char="•"/>
            </a:pPr>
            <a:r>
              <a:rPr lang="en-US" sz="2400" dirty="0"/>
              <a:t>A wrong handling of exceptions in the hypothesis testing (e. g., your method may throw p-value 1 for undefined cases)?</a:t>
            </a:r>
          </a:p>
          <a:p>
            <a:pPr marL="914400" lvl="1" indent="-457200">
              <a:buFont typeface="Arial" panose="020B0604020202020204" pitchFamily="34" charset="0"/>
              <a:buChar char="•"/>
            </a:pPr>
            <a:r>
              <a:rPr lang="en-US" sz="2400" dirty="0"/>
              <a:t>Did you use a two-tailed test when it should’ve been one-tailed?</a:t>
            </a:r>
          </a:p>
          <a:p>
            <a:pPr marL="914400" lvl="1"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3978708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Conservative p-values (“Whoops…”)</a:t>
            </a:r>
          </a:p>
        </p:txBody>
      </p:sp>
      <p:sp>
        <p:nvSpPr>
          <p:cNvPr id="4" name="Rectangle 3"/>
          <p:cNvSpPr/>
          <p:nvPr/>
        </p:nvSpPr>
        <p:spPr>
          <a:xfrm>
            <a:off x="5350075" y="6491712"/>
            <a:ext cx="6841925" cy="369332"/>
          </a:xfrm>
          <a:prstGeom prst="rect">
            <a:avLst/>
          </a:prstGeom>
        </p:spPr>
        <p:txBody>
          <a:bodyPr wrap="square">
            <a:spAutoFit/>
          </a:bodyPr>
          <a:lstStyle/>
          <a:p>
            <a:r>
              <a:rPr lang="en-US" dirty="0"/>
              <a:t>http://varianceexplained.org/statistics/interpreting-pvalue-histogram/</a:t>
            </a:r>
          </a:p>
        </p:txBody>
      </p:sp>
      <p:pic>
        <p:nvPicPr>
          <p:cNvPr id="5" name="Picture 4"/>
          <p:cNvPicPr>
            <a:picLocks noChangeAspect="1"/>
          </p:cNvPicPr>
          <p:nvPr/>
        </p:nvPicPr>
        <p:blipFill>
          <a:blip r:embed="rId3"/>
          <a:stretch>
            <a:fillRect/>
          </a:stretch>
        </p:blipFill>
        <p:spPr>
          <a:xfrm>
            <a:off x="5955003" y="986319"/>
            <a:ext cx="5757111" cy="5587319"/>
          </a:xfrm>
          <a:prstGeom prst="rect">
            <a:avLst/>
          </a:prstGeom>
        </p:spPr>
      </p:pic>
      <p:sp>
        <p:nvSpPr>
          <p:cNvPr id="6" name="Rectangle 5">
            <a:extLst>
              <a:ext uri="{FF2B5EF4-FFF2-40B4-BE49-F238E27FC236}">
                <a16:creationId xmlns:a16="http://schemas.microsoft.com/office/drawing/2014/main" id="{FD465A15-4AA6-4788-8621-7ED0464CCB9F}"/>
              </a:ext>
            </a:extLst>
          </p:cNvPr>
          <p:cNvSpPr/>
          <p:nvPr/>
        </p:nvSpPr>
        <p:spPr>
          <a:xfrm>
            <a:off x="160021" y="1172399"/>
            <a:ext cx="5616850" cy="3785652"/>
          </a:xfrm>
          <a:prstGeom prst="rect">
            <a:avLst/>
          </a:prstGeom>
        </p:spPr>
        <p:txBody>
          <a:bodyPr wrap="square">
            <a:spAutoFit/>
          </a:bodyPr>
          <a:lstStyle/>
          <a:p>
            <a:pPr marL="457200" indent="-457200">
              <a:buFont typeface="Arial" panose="020B0604020202020204" pitchFamily="34" charset="0"/>
              <a:buChar char="•"/>
            </a:pPr>
            <a:r>
              <a:rPr lang="en-US" sz="2400" dirty="0"/>
              <a:t>Don’t just assume nothing is significant!</a:t>
            </a:r>
          </a:p>
          <a:p>
            <a:pPr marL="457200" indent="-457200">
              <a:buFont typeface="Arial" panose="020B0604020202020204" pitchFamily="34" charset="0"/>
              <a:buChar char="•"/>
            </a:pPr>
            <a:r>
              <a:rPr lang="en-US" sz="2400" dirty="0"/>
              <a:t>May signify that your test</a:t>
            </a:r>
          </a:p>
          <a:p>
            <a:pPr marL="914400" lvl="1" indent="-457200">
              <a:buFont typeface="Arial" panose="020B0604020202020204" pitchFamily="34" charset="0"/>
              <a:buChar char="•"/>
            </a:pPr>
            <a:r>
              <a:rPr lang="en-US" sz="2400" dirty="0"/>
              <a:t>Assumes a wrong distribution/model mis-</a:t>
            </a:r>
            <a:r>
              <a:rPr lang="en-US" sz="2400" dirty="0" err="1"/>
              <a:t>specfication</a:t>
            </a:r>
            <a:endParaRPr lang="en-US" sz="2400" dirty="0"/>
          </a:p>
          <a:p>
            <a:pPr marL="1371600" lvl="2" indent="-457200">
              <a:buFont typeface="Arial" panose="020B0604020202020204" pitchFamily="34" charset="0"/>
              <a:buChar char="•"/>
            </a:pPr>
            <a:r>
              <a:rPr lang="en-US" sz="2400" dirty="0"/>
              <a:t>Designed for normally-distributed data but your data is not?</a:t>
            </a:r>
          </a:p>
          <a:p>
            <a:pPr marL="1371600" lvl="2" indent="-457200">
              <a:buFont typeface="Arial" panose="020B0604020202020204" pitchFamily="34" charset="0"/>
              <a:buChar char="•"/>
            </a:pPr>
            <a:r>
              <a:rPr lang="en-US" sz="2400" dirty="0"/>
              <a:t>Designed for continuous data but your data are discrete?</a:t>
            </a:r>
          </a:p>
          <a:p>
            <a:pPr marL="914400" lvl="1" indent="-457200">
              <a:buFont typeface="Arial" panose="020B0604020202020204" pitchFamily="34" charset="0"/>
              <a:buChar char="•"/>
            </a:pPr>
            <a:r>
              <a:rPr lang="en-US" sz="2400" dirty="0"/>
              <a:t>Already multiple testing corrected?</a:t>
            </a:r>
          </a:p>
        </p:txBody>
      </p:sp>
    </p:spTree>
    <p:extLst>
      <p:ext uri="{BB962C8B-B14F-4D97-AF65-F5344CB8AC3E}">
        <p14:creationId xmlns:p14="http://schemas.microsoft.com/office/powerpoint/2010/main" val="3730698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Sparse p-values (“Hold on…”)</a:t>
            </a:r>
          </a:p>
        </p:txBody>
      </p:sp>
      <p:sp>
        <p:nvSpPr>
          <p:cNvPr id="4" name="Rectangle 3"/>
          <p:cNvSpPr/>
          <p:nvPr/>
        </p:nvSpPr>
        <p:spPr>
          <a:xfrm>
            <a:off x="5424756" y="6489069"/>
            <a:ext cx="6780280" cy="369332"/>
          </a:xfrm>
          <a:prstGeom prst="rect">
            <a:avLst/>
          </a:prstGeom>
        </p:spPr>
        <p:txBody>
          <a:bodyPr wrap="square">
            <a:spAutoFit/>
          </a:bodyPr>
          <a:lstStyle/>
          <a:p>
            <a:r>
              <a:rPr lang="en-US" dirty="0"/>
              <a:t>http://varianceexplained.org/statistics/interpreting-pvalue-histogram/</a:t>
            </a:r>
          </a:p>
        </p:txBody>
      </p:sp>
      <p:pic>
        <p:nvPicPr>
          <p:cNvPr id="3" name="Picture 2"/>
          <p:cNvPicPr>
            <a:picLocks noChangeAspect="1"/>
          </p:cNvPicPr>
          <p:nvPr/>
        </p:nvPicPr>
        <p:blipFill>
          <a:blip r:embed="rId3"/>
          <a:stretch>
            <a:fillRect/>
          </a:stretch>
        </p:blipFill>
        <p:spPr>
          <a:xfrm>
            <a:off x="5712193" y="892831"/>
            <a:ext cx="5641607" cy="5641607"/>
          </a:xfrm>
          <a:prstGeom prst="rect">
            <a:avLst/>
          </a:prstGeom>
        </p:spPr>
      </p:pic>
      <p:sp>
        <p:nvSpPr>
          <p:cNvPr id="5" name="Rectangle 4">
            <a:extLst>
              <a:ext uri="{FF2B5EF4-FFF2-40B4-BE49-F238E27FC236}">
                <a16:creationId xmlns:a16="http://schemas.microsoft.com/office/drawing/2014/main" id="{0DBC3EFE-FCFD-44B9-A98B-5F13A137FB8B}"/>
              </a:ext>
            </a:extLst>
          </p:cNvPr>
          <p:cNvSpPr/>
          <p:nvPr/>
        </p:nvSpPr>
        <p:spPr>
          <a:xfrm>
            <a:off x="772691" y="1271459"/>
            <a:ext cx="5011799" cy="3785652"/>
          </a:xfrm>
          <a:prstGeom prst="rect">
            <a:avLst/>
          </a:prstGeom>
        </p:spPr>
        <p:txBody>
          <a:bodyPr wrap="square">
            <a:spAutoFit/>
          </a:bodyPr>
          <a:lstStyle/>
          <a:p>
            <a:pPr marL="457200" indent="-457200">
              <a:buFont typeface="Arial" panose="020B0604020202020204" pitchFamily="34" charset="0"/>
              <a:buChar char="•"/>
            </a:pPr>
            <a:r>
              <a:rPr lang="en-US" sz="2400" dirty="0"/>
              <a:t>Don’t proceed just yet</a:t>
            </a:r>
          </a:p>
          <a:p>
            <a:pPr marL="457200" indent="-457200">
              <a:buFont typeface="Arial" panose="020B0604020202020204" pitchFamily="34" charset="0"/>
              <a:buChar char="•"/>
            </a:pPr>
            <a:r>
              <a:rPr lang="en-US" sz="2400" dirty="0"/>
              <a:t>Only a small number of distinct p-values</a:t>
            </a:r>
          </a:p>
          <a:p>
            <a:pPr marL="457200" indent="-457200">
              <a:buFont typeface="Arial" panose="020B0604020202020204" pitchFamily="34" charset="0"/>
              <a:buChar char="•"/>
            </a:pPr>
            <a:r>
              <a:rPr lang="en-US" sz="2400" dirty="0"/>
              <a:t>Did you run</a:t>
            </a:r>
          </a:p>
          <a:p>
            <a:pPr marL="914400" lvl="1" indent="-457200">
              <a:buFont typeface="Arial" panose="020B0604020202020204" pitchFamily="34" charset="0"/>
              <a:buChar char="•"/>
            </a:pPr>
            <a:r>
              <a:rPr lang="en-US" sz="2400" dirty="0"/>
              <a:t>A bootstrap or permutation with too few iterations?</a:t>
            </a:r>
          </a:p>
          <a:p>
            <a:pPr marL="914400" lvl="1" indent="-457200">
              <a:buFont typeface="Arial" panose="020B0604020202020204" pitchFamily="34" charset="0"/>
              <a:buChar char="•"/>
            </a:pPr>
            <a:r>
              <a:rPr lang="en-US" sz="2400" dirty="0"/>
              <a:t>Non-parametric test (e. g., the Wilcoxon rank-sum test or Spearman correlation) on a small sample size data?</a:t>
            </a:r>
          </a:p>
        </p:txBody>
      </p:sp>
    </p:spTree>
    <p:extLst>
      <p:ext uri="{BB962C8B-B14F-4D97-AF65-F5344CB8AC3E}">
        <p14:creationId xmlns:p14="http://schemas.microsoft.com/office/powerpoint/2010/main" val="4066348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0"/>
            <a:ext cx="10515600" cy="1325563"/>
          </a:xfrm>
        </p:spPr>
        <p:txBody>
          <a:bodyPr/>
          <a:lstStyle/>
          <a:p>
            <a:r>
              <a:rPr lang="en-US"/>
              <a:t>Something even weirder (“What the…?!?”)</a:t>
            </a:r>
          </a:p>
        </p:txBody>
      </p:sp>
      <p:sp>
        <p:nvSpPr>
          <p:cNvPr id="4" name="Rectangle 3"/>
          <p:cNvSpPr/>
          <p:nvPr/>
        </p:nvSpPr>
        <p:spPr>
          <a:xfrm>
            <a:off x="6713820" y="6397627"/>
            <a:ext cx="6893296" cy="307777"/>
          </a:xfrm>
          <a:prstGeom prst="rect">
            <a:avLst/>
          </a:prstGeom>
        </p:spPr>
        <p:txBody>
          <a:bodyPr wrap="square">
            <a:spAutoFit/>
          </a:bodyPr>
          <a:lstStyle/>
          <a:p>
            <a:r>
              <a:rPr lang="en-US" sz="1400" dirty="0"/>
              <a:t>http://varianceexplained.org/statistics/interpreting-pvalue-histogram/</a:t>
            </a:r>
          </a:p>
        </p:txBody>
      </p:sp>
      <p:pic>
        <p:nvPicPr>
          <p:cNvPr id="5" name="Picture 4"/>
          <p:cNvPicPr>
            <a:picLocks noChangeAspect="1"/>
          </p:cNvPicPr>
          <p:nvPr/>
        </p:nvPicPr>
        <p:blipFill>
          <a:blip r:embed="rId3"/>
          <a:stretch>
            <a:fillRect/>
          </a:stretch>
        </p:blipFill>
        <p:spPr>
          <a:xfrm>
            <a:off x="6186489" y="940756"/>
            <a:ext cx="5456871" cy="5456871"/>
          </a:xfrm>
          <a:prstGeom prst="rect">
            <a:avLst/>
          </a:prstGeom>
        </p:spPr>
      </p:pic>
      <p:sp>
        <p:nvSpPr>
          <p:cNvPr id="6" name="Rectangle 5">
            <a:extLst>
              <a:ext uri="{FF2B5EF4-FFF2-40B4-BE49-F238E27FC236}">
                <a16:creationId xmlns:a16="http://schemas.microsoft.com/office/drawing/2014/main" id="{2C65AB8D-F19E-4C80-B999-9CC14D8F0E93}"/>
              </a:ext>
            </a:extLst>
          </p:cNvPr>
          <p:cNvSpPr/>
          <p:nvPr/>
        </p:nvSpPr>
        <p:spPr>
          <a:xfrm>
            <a:off x="689563" y="1842959"/>
            <a:ext cx="5011799" cy="830997"/>
          </a:xfrm>
          <a:prstGeom prst="rect">
            <a:avLst/>
          </a:prstGeom>
        </p:spPr>
        <p:txBody>
          <a:bodyPr wrap="square">
            <a:spAutoFit/>
          </a:bodyPr>
          <a:lstStyle/>
          <a:p>
            <a:pPr marL="457200" indent="-457200">
              <a:buFont typeface="Arial" panose="020B0604020202020204" pitchFamily="34" charset="0"/>
              <a:buChar char="•"/>
            </a:pPr>
            <a:r>
              <a:rPr lang="en-US" sz="2400" dirty="0"/>
              <a:t>Stop whatever you’re doing and find a statistician</a:t>
            </a:r>
          </a:p>
        </p:txBody>
      </p:sp>
    </p:spTree>
    <p:extLst>
      <p:ext uri="{BB962C8B-B14F-4D97-AF65-F5344CB8AC3E}">
        <p14:creationId xmlns:p14="http://schemas.microsoft.com/office/powerpoint/2010/main" val="3560830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0" y="0"/>
            <a:ext cx="11326706" cy="1325563"/>
          </a:xfrm>
        </p:spPr>
        <p:txBody>
          <a:bodyPr>
            <a:normAutofit/>
          </a:bodyPr>
          <a:lstStyle/>
          <a:p>
            <a:r>
              <a:rPr lang="en-US" dirty="0"/>
              <a:t>Recent criticism on significance testing (p-value)</a:t>
            </a:r>
          </a:p>
        </p:txBody>
      </p:sp>
      <p:sp>
        <p:nvSpPr>
          <p:cNvPr id="4" name="TextBox 3">
            <a:extLst>
              <a:ext uri="{FF2B5EF4-FFF2-40B4-BE49-F238E27FC236}">
                <a16:creationId xmlns:a16="http://schemas.microsoft.com/office/drawing/2014/main" id="{6A810DEF-BA91-4DDE-8123-3A126FB2D82A}"/>
              </a:ext>
            </a:extLst>
          </p:cNvPr>
          <p:cNvSpPr txBox="1"/>
          <p:nvPr/>
        </p:nvSpPr>
        <p:spPr>
          <a:xfrm>
            <a:off x="811106" y="1325563"/>
            <a:ext cx="8884119" cy="461665"/>
          </a:xfrm>
          <a:prstGeom prst="rect">
            <a:avLst/>
          </a:prstGeom>
          <a:noFill/>
        </p:spPr>
        <p:txBody>
          <a:bodyPr wrap="square" rtlCol="0">
            <a:spAutoFit/>
          </a:bodyPr>
          <a:lstStyle/>
          <a:p>
            <a:r>
              <a:rPr lang="en-US" sz="2400" dirty="0"/>
              <a:t>Let's say an experiment with 30 control subjects, and 30 test subjects</a:t>
            </a:r>
          </a:p>
        </p:txBody>
      </p:sp>
      <p:pic>
        <p:nvPicPr>
          <p:cNvPr id="5" name="Picture 4">
            <a:extLst>
              <a:ext uri="{FF2B5EF4-FFF2-40B4-BE49-F238E27FC236}">
                <a16:creationId xmlns:a16="http://schemas.microsoft.com/office/drawing/2014/main" id="{12762AB3-D4FC-4B3B-BFAB-E56E1E39D53D}"/>
              </a:ext>
            </a:extLst>
          </p:cNvPr>
          <p:cNvPicPr>
            <a:picLocks noChangeAspect="1"/>
          </p:cNvPicPr>
          <p:nvPr/>
        </p:nvPicPr>
        <p:blipFill>
          <a:blip r:embed="rId3"/>
          <a:stretch>
            <a:fillRect/>
          </a:stretch>
        </p:blipFill>
        <p:spPr>
          <a:xfrm>
            <a:off x="2344984" y="1787228"/>
            <a:ext cx="2390645" cy="4938713"/>
          </a:xfrm>
          <a:prstGeom prst="rect">
            <a:avLst/>
          </a:prstGeom>
        </p:spPr>
      </p:pic>
      <p:sp>
        <p:nvSpPr>
          <p:cNvPr id="9" name="TextBox 8">
            <a:extLst>
              <a:ext uri="{FF2B5EF4-FFF2-40B4-BE49-F238E27FC236}">
                <a16:creationId xmlns:a16="http://schemas.microsoft.com/office/drawing/2014/main" id="{2F911640-E74C-4976-8CC0-F61951012030}"/>
              </a:ext>
            </a:extLst>
          </p:cNvPr>
          <p:cNvSpPr txBox="1"/>
          <p:nvPr/>
        </p:nvSpPr>
        <p:spPr>
          <a:xfrm>
            <a:off x="5030180" y="2651126"/>
            <a:ext cx="5148535"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Observed values </a:t>
            </a:r>
            <a:r>
              <a:rPr lang="en-US" sz="2400" dirty="0">
                <a:solidFill>
                  <a:srgbClr val="0070C0"/>
                </a:solidFill>
              </a:rPr>
              <a:t>shown</a:t>
            </a:r>
            <a:r>
              <a:rPr lang="en-US" sz="2400" dirty="0"/>
              <a:t> </a:t>
            </a:r>
          </a:p>
          <a:p>
            <a:pPr marL="342900" indent="-342900">
              <a:buFont typeface="Arial" panose="020B0604020202020204" pitchFamily="34" charset="0"/>
              <a:buChar char="•"/>
            </a:pPr>
            <a:r>
              <a:rPr lang="en-US" sz="2400" dirty="0"/>
              <a:t>Underlying distribution </a:t>
            </a:r>
            <a:r>
              <a:rPr lang="en-US" sz="2400" dirty="0">
                <a:solidFill>
                  <a:srgbClr val="FF0000"/>
                </a:solidFill>
              </a:rPr>
              <a:t>not shown</a:t>
            </a:r>
          </a:p>
          <a:p>
            <a:pPr marL="342900" indent="-342900">
              <a:buFont typeface="Arial" panose="020B0604020202020204" pitchFamily="34" charset="0"/>
              <a:buChar char="•"/>
            </a:pPr>
            <a:r>
              <a:rPr lang="en-US" sz="2400" dirty="0"/>
              <a:t>Effect size (the mean difference in the observed samples) </a:t>
            </a:r>
            <a:r>
              <a:rPr lang="en-US" sz="2400" dirty="0">
                <a:solidFill>
                  <a:srgbClr val="FF0000"/>
                </a:solidFill>
              </a:rPr>
              <a:t>not shown </a:t>
            </a:r>
          </a:p>
          <a:p>
            <a:pPr marL="342900" indent="-342900">
              <a:buFont typeface="Arial" panose="020B0604020202020204" pitchFamily="34" charset="0"/>
              <a:buChar char="•"/>
            </a:pPr>
            <a:r>
              <a:rPr lang="en-US" sz="2400" dirty="0"/>
              <a:t>Confidence and likelihood of effect size </a:t>
            </a:r>
            <a:r>
              <a:rPr lang="en-US" sz="2400" dirty="0">
                <a:solidFill>
                  <a:srgbClr val="FF0000"/>
                </a:solidFill>
              </a:rPr>
              <a:t>not shown</a:t>
            </a:r>
          </a:p>
        </p:txBody>
      </p:sp>
      <p:sp>
        <p:nvSpPr>
          <p:cNvPr id="10" name="TextBox 9">
            <a:extLst>
              <a:ext uri="{FF2B5EF4-FFF2-40B4-BE49-F238E27FC236}">
                <a16:creationId xmlns:a16="http://schemas.microsoft.com/office/drawing/2014/main" id="{746FFBA3-5B1D-4461-8180-22A7204DD44A}"/>
              </a:ext>
            </a:extLst>
          </p:cNvPr>
          <p:cNvSpPr txBox="1"/>
          <p:nvPr/>
        </p:nvSpPr>
        <p:spPr>
          <a:xfrm>
            <a:off x="3014314" y="6264276"/>
            <a:ext cx="4305700" cy="369332"/>
          </a:xfrm>
          <a:prstGeom prst="rect">
            <a:avLst/>
          </a:prstGeom>
          <a:noFill/>
        </p:spPr>
        <p:txBody>
          <a:bodyPr wrap="square" rtlCol="0">
            <a:spAutoFit/>
          </a:bodyPr>
          <a:lstStyle/>
          <a:p>
            <a:r>
              <a:rPr lang="en-US" dirty="0"/>
              <a:t>Ho et al. Nature Methods, 2019</a:t>
            </a:r>
          </a:p>
        </p:txBody>
      </p:sp>
    </p:spTree>
    <p:extLst>
      <p:ext uri="{BB962C8B-B14F-4D97-AF65-F5344CB8AC3E}">
        <p14:creationId xmlns:p14="http://schemas.microsoft.com/office/powerpoint/2010/main" val="3829484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0" y="0"/>
            <a:ext cx="11326706" cy="1325563"/>
          </a:xfrm>
        </p:spPr>
        <p:txBody>
          <a:bodyPr>
            <a:normAutofit/>
          </a:bodyPr>
          <a:lstStyle/>
          <a:p>
            <a:r>
              <a:rPr lang="en-US" dirty="0"/>
              <a:t>Recent criticism on significance testing (p-value)</a:t>
            </a:r>
          </a:p>
        </p:txBody>
      </p:sp>
      <p:sp>
        <p:nvSpPr>
          <p:cNvPr id="4" name="TextBox 3">
            <a:extLst>
              <a:ext uri="{FF2B5EF4-FFF2-40B4-BE49-F238E27FC236}">
                <a16:creationId xmlns:a16="http://schemas.microsoft.com/office/drawing/2014/main" id="{6A810DEF-BA91-4DDE-8123-3A126FB2D82A}"/>
              </a:ext>
            </a:extLst>
          </p:cNvPr>
          <p:cNvSpPr txBox="1"/>
          <p:nvPr/>
        </p:nvSpPr>
        <p:spPr>
          <a:xfrm>
            <a:off x="811106" y="1325563"/>
            <a:ext cx="8884119" cy="461665"/>
          </a:xfrm>
          <a:prstGeom prst="rect">
            <a:avLst/>
          </a:prstGeom>
          <a:noFill/>
        </p:spPr>
        <p:txBody>
          <a:bodyPr wrap="square" rtlCol="0">
            <a:spAutoFit/>
          </a:bodyPr>
          <a:lstStyle/>
          <a:p>
            <a:r>
              <a:rPr lang="en-US" sz="2400" dirty="0"/>
              <a:t>Let's say an experiment has 30 control subjects, and 30 test subjects</a:t>
            </a:r>
          </a:p>
        </p:txBody>
      </p:sp>
      <p:sp>
        <p:nvSpPr>
          <p:cNvPr id="9" name="TextBox 8">
            <a:extLst>
              <a:ext uri="{FF2B5EF4-FFF2-40B4-BE49-F238E27FC236}">
                <a16:creationId xmlns:a16="http://schemas.microsoft.com/office/drawing/2014/main" id="{2F911640-E74C-4976-8CC0-F61951012030}"/>
              </a:ext>
            </a:extLst>
          </p:cNvPr>
          <p:cNvSpPr txBox="1"/>
          <p:nvPr/>
        </p:nvSpPr>
        <p:spPr>
          <a:xfrm>
            <a:off x="5030180" y="2651126"/>
            <a:ext cx="5148535"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Observed values </a:t>
            </a:r>
            <a:r>
              <a:rPr lang="en-US" sz="2400" dirty="0">
                <a:solidFill>
                  <a:srgbClr val="FF0000"/>
                </a:solidFill>
              </a:rPr>
              <a:t>not shown </a:t>
            </a:r>
          </a:p>
          <a:p>
            <a:pPr marL="342900" indent="-342900">
              <a:buFont typeface="Arial" panose="020B0604020202020204" pitchFamily="34" charset="0"/>
              <a:buChar char="•"/>
            </a:pPr>
            <a:r>
              <a:rPr lang="en-US" sz="2400" dirty="0"/>
              <a:t>Underlying distribution </a:t>
            </a:r>
            <a:r>
              <a:rPr lang="en-US" sz="2400" dirty="0">
                <a:solidFill>
                  <a:srgbClr val="FF0000"/>
                </a:solidFill>
              </a:rPr>
              <a:t>not shown</a:t>
            </a:r>
          </a:p>
          <a:p>
            <a:pPr marL="342900" indent="-342900">
              <a:buFont typeface="Arial" panose="020B0604020202020204" pitchFamily="34" charset="0"/>
              <a:buChar char="•"/>
            </a:pPr>
            <a:r>
              <a:rPr lang="en-US" sz="2400" dirty="0"/>
              <a:t>Effect size </a:t>
            </a:r>
            <a:r>
              <a:rPr lang="en-US" sz="2400" dirty="0">
                <a:solidFill>
                  <a:srgbClr val="FF0000"/>
                </a:solidFill>
              </a:rPr>
              <a:t>not shown </a:t>
            </a:r>
          </a:p>
          <a:p>
            <a:pPr marL="342900" indent="-342900">
              <a:buFont typeface="Arial" panose="020B0604020202020204" pitchFamily="34" charset="0"/>
              <a:buChar char="•"/>
            </a:pPr>
            <a:r>
              <a:rPr lang="en-US" sz="2400" dirty="0"/>
              <a:t>Confidence and likelihood of effect size </a:t>
            </a:r>
            <a:r>
              <a:rPr lang="en-US" sz="2400" dirty="0">
                <a:solidFill>
                  <a:srgbClr val="FF0000"/>
                </a:solidFill>
              </a:rPr>
              <a:t>not shown</a:t>
            </a:r>
          </a:p>
        </p:txBody>
      </p:sp>
      <p:pic>
        <p:nvPicPr>
          <p:cNvPr id="2" name="Picture 1">
            <a:extLst>
              <a:ext uri="{FF2B5EF4-FFF2-40B4-BE49-F238E27FC236}">
                <a16:creationId xmlns:a16="http://schemas.microsoft.com/office/drawing/2014/main" id="{C97B4614-50D0-4BA7-B954-6986C0BDB4A9}"/>
              </a:ext>
            </a:extLst>
          </p:cNvPr>
          <p:cNvPicPr>
            <a:picLocks noChangeAspect="1"/>
          </p:cNvPicPr>
          <p:nvPr/>
        </p:nvPicPr>
        <p:blipFill>
          <a:blip r:embed="rId3"/>
          <a:stretch>
            <a:fillRect/>
          </a:stretch>
        </p:blipFill>
        <p:spPr>
          <a:xfrm>
            <a:off x="2599711" y="1742172"/>
            <a:ext cx="2347674" cy="4702440"/>
          </a:xfrm>
          <a:prstGeom prst="rect">
            <a:avLst/>
          </a:prstGeom>
        </p:spPr>
      </p:pic>
      <p:sp>
        <p:nvSpPr>
          <p:cNvPr id="7" name="TextBox 6">
            <a:extLst>
              <a:ext uri="{FF2B5EF4-FFF2-40B4-BE49-F238E27FC236}">
                <a16:creationId xmlns:a16="http://schemas.microsoft.com/office/drawing/2014/main" id="{9DAB6102-244B-4072-A459-76BA92E7980A}"/>
              </a:ext>
            </a:extLst>
          </p:cNvPr>
          <p:cNvSpPr txBox="1"/>
          <p:nvPr/>
        </p:nvSpPr>
        <p:spPr>
          <a:xfrm>
            <a:off x="3014314" y="6264276"/>
            <a:ext cx="4305700" cy="369332"/>
          </a:xfrm>
          <a:prstGeom prst="rect">
            <a:avLst/>
          </a:prstGeom>
          <a:noFill/>
        </p:spPr>
        <p:txBody>
          <a:bodyPr wrap="square" rtlCol="0">
            <a:spAutoFit/>
          </a:bodyPr>
          <a:lstStyle/>
          <a:p>
            <a:r>
              <a:rPr lang="en-US" dirty="0"/>
              <a:t>Ho et al. Nature Methods, 2019</a:t>
            </a:r>
          </a:p>
        </p:txBody>
      </p:sp>
    </p:spTree>
    <p:extLst>
      <p:ext uri="{BB962C8B-B14F-4D97-AF65-F5344CB8AC3E}">
        <p14:creationId xmlns:p14="http://schemas.microsoft.com/office/powerpoint/2010/main" val="2906953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810DEF-BA91-4DDE-8123-3A126FB2D82A}"/>
              </a:ext>
            </a:extLst>
          </p:cNvPr>
          <p:cNvSpPr txBox="1"/>
          <p:nvPr/>
        </p:nvSpPr>
        <p:spPr>
          <a:xfrm>
            <a:off x="811106" y="1325563"/>
            <a:ext cx="8884119" cy="461665"/>
          </a:xfrm>
          <a:prstGeom prst="rect">
            <a:avLst/>
          </a:prstGeom>
          <a:noFill/>
        </p:spPr>
        <p:txBody>
          <a:bodyPr wrap="square" rtlCol="0">
            <a:spAutoFit/>
          </a:bodyPr>
          <a:lstStyle/>
          <a:p>
            <a:r>
              <a:rPr lang="en-US" sz="2400" dirty="0"/>
              <a:t>Let's say an experiment has 30 control subjects, and 30 test subjects</a:t>
            </a:r>
          </a:p>
        </p:txBody>
      </p:sp>
      <p:sp>
        <p:nvSpPr>
          <p:cNvPr id="9" name="TextBox 8">
            <a:extLst>
              <a:ext uri="{FF2B5EF4-FFF2-40B4-BE49-F238E27FC236}">
                <a16:creationId xmlns:a16="http://schemas.microsoft.com/office/drawing/2014/main" id="{2F911640-E74C-4976-8CC0-F61951012030}"/>
              </a:ext>
            </a:extLst>
          </p:cNvPr>
          <p:cNvSpPr txBox="1"/>
          <p:nvPr/>
        </p:nvSpPr>
        <p:spPr>
          <a:xfrm>
            <a:off x="5030180" y="2651126"/>
            <a:ext cx="5148535"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Medians, quartiles, minima, and maxima </a:t>
            </a:r>
            <a:r>
              <a:rPr lang="en-US" sz="2400" dirty="0">
                <a:solidFill>
                  <a:srgbClr val="0070C0"/>
                </a:solidFill>
              </a:rPr>
              <a:t>shown </a:t>
            </a:r>
          </a:p>
          <a:p>
            <a:pPr marL="342900" indent="-342900">
              <a:buFont typeface="Arial" panose="020B0604020202020204" pitchFamily="34" charset="0"/>
              <a:buChar char="•"/>
            </a:pPr>
            <a:r>
              <a:rPr lang="en-US" sz="2400" dirty="0"/>
              <a:t>Observed values </a:t>
            </a:r>
            <a:r>
              <a:rPr lang="en-US" sz="2400" dirty="0">
                <a:solidFill>
                  <a:srgbClr val="FF0000"/>
                </a:solidFill>
              </a:rPr>
              <a:t>not shown </a:t>
            </a:r>
          </a:p>
          <a:p>
            <a:pPr marL="342900" indent="-342900">
              <a:buFont typeface="Arial" panose="020B0604020202020204" pitchFamily="34" charset="0"/>
              <a:buChar char="•"/>
            </a:pPr>
            <a:r>
              <a:rPr lang="en-US" sz="2400" dirty="0"/>
              <a:t>Effect size </a:t>
            </a:r>
            <a:r>
              <a:rPr lang="en-US" sz="2400" dirty="0">
                <a:solidFill>
                  <a:srgbClr val="FF0000"/>
                </a:solidFill>
              </a:rPr>
              <a:t>not shown </a:t>
            </a:r>
          </a:p>
          <a:p>
            <a:pPr marL="342900" indent="-342900">
              <a:buFont typeface="Arial" panose="020B0604020202020204" pitchFamily="34" charset="0"/>
              <a:buChar char="•"/>
            </a:pPr>
            <a:r>
              <a:rPr lang="en-US" sz="2400" dirty="0"/>
              <a:t>Confidence and likelihood of effect size </a:t>
            </a:r>
            <a:r>
              <a:rPr lang="en-US" sz="2400" dirty="0">
                <a:solidFill>
                  <a:srgbClr val="FF0000"/>
                </a:solidFill>
              </a:rPr>
              <a:t>not shown </a:t>
            </a:r>
          </a:p>
        </p:txBody>
      </p:sp>
      <p:sp>
        <p:nvSpPr>
          <p:cNvPr id="6" name="TextBox 5">
            <a:extLst>
              <a:ext uri="{FF2B5EF4-FFF2-40B4-BE49-F238E27FC236}">
                <a16:creationId xmlns:a16="http://schemas.microsoft.com/office/drawing/2014/main" id="{7C868C64-BDE1-4B84-A8DC-FC661E00311E}"/>
              </a:ext>
            </a:extLst>
          </p:cNvPr>
          <p:cNvSpPr txBox="1"/>
          <p:nvPr/>
        </p:nvSpPr>
        <p:spPr>
          <a:xfrm>
            <a:off x="3014314" y="6264276"/>
            <a:ext cx="4305700" cy="369332"/>
          </a:xfrm>
          <a:prstGeom prst="rect">
            <a:avLst/>
          </a:prstGeom>
          <a:noFill/>
        </p:spPr>
        <p:txBody>
          <a:bodyPr wrap="square" rtlCol="0">
            <a:spAutoFit/>
          </a:bodyPr>
          <a:lstStyle/>
          <a:p>
            <a:r>
              <a:rPr lang="en-US" dirty="0"/>
              <a:t>Ho et al. Nature Methods, 2019</a:t>
            </a:r>
          </a:p>
        </p:txBody>
      </p:sp>
      <p:pic>
        <p:nvPicPr>
          <p:cNvPr id="3" name="Picture 2">
            <a:extLst>
              <a:ext uri="{FF2B5EF4-FFF2-40B4-BE49-F238E27FC236}">
                <a16:creationId xmlns:a16="http://schemas.microsoft.com/office/drawing/2014/main" id="{ABBEB056-A265-4039-83FE-931D64F256CF}"/>
              </a:ext>
            </a:extLst>
          </p:cNvPr>
          <p:cNvPicPr>
            <a:picLocks noChangeAspect="1"/>
          </p:cNvPicPr>
          <p:nvPr/>
        </p:nvPicPr>
        <p:blipFill>
          <a:blip r:embed="rId3"/>
          <a:stretch>
            <a:fillRect/>
          </a:stretch>
        </p:blipFill>
        <p:spPr>
          <a:xfrm>
            <a:off x="2720171" y="1745051"/>
            <a:ext cx="2035280" cy="4378550"/>
          </a:xfrm>
          <a:prstGeom prst="rect">
            <a:avLst/>
          </a:prstGeom>
        </p:spPr>
      </p:pic>
      <p:sp>
        <p:nvSpPr>
          <p:cNvPr id="10" name="Title 1">
            <a:extLst>
              <a:ext uri="{FF2B5EF4-FFF2-40B4-BE49-F238E27FC236}">
                <a16:creationId xmlns:a16="http://schemas.microsoft.com/office/drawing/2014/main" id="{531686CC-4BD7-4A3E-B3E4-753E477F7EEB}"/>
              </a:ext>
            </a:extLst>
          </p:cNvPr>
          <p:cNvSpPr>
            <a:spLocks noGrp="1"/>
          </p:cNvSpPr>
          <p:nvPr>
            <p:ph type="title"/>
          </p:nvPr>
        </p:nvSpPr>
        <p:spPr>
          <a:xfrm>
            <a:off x="0" y="0"/>
            <a:ext cx="11326706" cy="1325563"/>
          </a:xfrm>
        </p:spPr>
        <p:txBody>
          <a:bodyPr>
            <a:normAutofit/>
          </a:bodyPr>
          <a:lstStyle/>
          <a:p>
            <a:r>
              <a:rPr lang="en-US" dirty="0"/>
              <a:t>Recent criticism on significance testing (p-value)</a:t>
            </a:r>
          </a:p>
        </p:txBody>
      </p:sp>
    </p:spTree>
    <p:extLst>
      <p:ext uri="{BB962C8B-B14F-4D97-AF65-F5344CB8AC3E}">
        <p14:creationId xmlns:p14="http://schemas.microsoft.com/office/powerpoint/2010/main" val="732580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810DEF-BA91-4DDE-8123-3A126FB2D82A}"/>
              </a:ext>
            </a:extLst>
          </p:cNvPr>
          <p:cNvSpPr txBox="1"/>
          <p:nvPr/>
        </p:nvSpPr>
        <p:spPr>
          <a:xfrm>
            <a:off x="811106" y="1325563"/>
            <a:ext cx="8884119" cy="461665"/>
          </a:xfrm>
          <a:prstGeom prst="rect">
            <a:avLst/>
          </a:prstGeom>
          <a:noFill/>
        </p:spPr>
        <p:txBody>
          <a:bodyPr wrap="square" rtlCol="0">
            <a:spAutoFit/>
          </a:bodyPr>
          <a:lstStyle/>
          <a:p>
            <a:r>
              <a:rPr lang="en-US" sz="2400" dirty="0"/>
              <a:t>Let's say an experiment has 30 control subjects, and 30 test subjects</a:t>
            </a:r>
          </a:p>
        </p:txBody>
      </p:sp>
      <p:sp>
        <p:nvSpPr>
          <p:cNvPr id="9" name="TextBox 8">
            <a:extLst>
              <a:ext uri="{FF2B5EF4-FFF2-40B4-BE49-F238E27FC236}">
                <a16:creationId xmlns:a16="http://schemas.microsoft.com/office/drawing/2014/main" id="{2F911640-E74C-4976-8CC0-F61951012030}"/>
              </a:ext>
            </a:extLst>
          </p:cNvPr>
          <p:cNvSpPr txBox="1"/>
          <p:nvPr/>
        </p:nvSpPr>
        <p:spPr>
          <a:xfrm>
            <a:off x="5386315" y="2342905"/>
            <a:ext cx="6092791"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Data points </a:t>
            </a:r>
            <a:r>
              <a:rPr lang="en-US" sz="2400"/>
              <a:t>in swarm plot</a:t>
            </a:r>
          </a:p>
          <a:p>
            <a:pPr marL="342900" indent="-342900">
              <a:buFont typeface="Arial" panose="020B0604020202020204" pitchFamily="34" charset="0"/>
              <a:buChar char="•"/>
            </a:pPr>
            <a:r>
              <a:rPr lang="en-US" sz="2400"/>
              <a:t>Effect size on a separate but aligned axes as a bootstrap 95% confidence interval (CI)</a:t>
            </a:r>
            <a:endParaRPr lang="en-US" sz="2400" dirty="0"/>
          </a:p>
        </p:txBody>
      </p:sp>
      <p:sp>
        <p:nvSpPr>
          <p:cNvPr id="6" name="TextBox 5">
            <a:extLst>
              <a:ext uri="{FF2B5EF4-FFF2-40B4-BE49-F238E27FC236}">
                <a16:creationId xmlns:a16="http://schemas.microsoft.com/office/drawing/2014/main" id="{7C868C64-BDE1-4B84-A8DC-FC661E00311E}"/>
              </a:ext>
            </a:extLst>
          </p:cNvPr>
          <p:cNvSpPr txBox="1"/>
          <p:nvPr/>
        </p:nvSpPr>
        <p:spPr>
          <a:xfrm>
            <a:off x="1658126" y="6204210"/>
            <a:ext cx="4305700" cy="369332"/>
          </a:xfrm>
          <a:prstGeom prst="rect">
            <a:avLst/>
          </a:prstGeom>
          <a:noFill/>
        </p:spPr>
        <p:txBody>
          <a:bodyPr wrap="square" rtlCol="0">
            <a:spAutoFit/>
          </a:bodyPr>
          <a:lstStyle/>
          <a:p>
            <a:r>
              <a:rPr lang="en-US" dirty="0"/>
              <a:t>Ho et al. Nature Methods, 2019</a:t>
            </a:r>
          </a:p>
        </p:txBody>
      </p:sp>
      <p:sp>
        <p:nvSpPr>
          <p:cNvPr id="7" name="Title 1">
            <a:extLst>
              <a:ext uri="{FF2B5EF4-FFF2-40B4-BE49-F238E27FC236}">
                <a16:creationId xmlns:a16="http://schemas.microsoft.com/office/drawing/2014/main" id="{949B5E38-F6B3-40B2-8DB0-8847B39B53D4}"/>
              </a:ext>
            </a:extLst>
          </p:cNvPr>
          <p:cNvSpPr txBox="1">
            <a:spLocks/>
          </p:cNvSpPr>
          <p:nvPr/>
        </p:nvSpPr>
        <p:spPr>
          <a:xfrm>
            <a:off x="128515"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Introducing estimation statistics</a:t>
            </a:r>
          </a:p>
        </p:txBody>
      </p:sp>
      <p:pic>
        <p:nvPicPr>
          <p:cNvPr id="8" name="Picture 7">
            <a:extLst>
              <a:ext uri="{FF2B5EF4-FFF2-40B4-BE49-F238E27FC236}">
                <a16:creationId xmlns:a16="http://schemas.microsoft.com/office/drawing/2014/main" id="{61AA032A-659C-4E8A-AD25-E014652D6FAB}"/>
              </a:ext>
            </a:extLst>
          </p:cNvPr>
          <p:cNvPicPr>
            <a:picLocks noChangeAspect="1"/>
          </p:cNvPicPr>
          <p:nvPr/>
        </p:nvPicPr>
        <p:blipFill>
          <a:blip r:embed="rId3"/>
          <a:stretch>
            <a:fillRect/>
          </a:stretch>
        </p:blipFill>
        <p:spPr>
          <a:xfrm>
            <a:off x="1890667" y="1761861"/>
            <a:ext cx="3362498" cy="4527783"/>
          </a:xfrm>
          <a:prstGeom prst="rect">
            <a:avLst/>
          </a:prstGeom>
        </p:spPr>
      </p:pic>
    </p:spTree>
    <p:extLst>
      <p:ext uri="{BB962C8B-B14F-4D97-AF65-F5344CB8AC3E}">
        <p14:creationId xmlns:p14="http://schemas.microsoft.com/office/powerpoint/2010/main" val="3107805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810DEF-BA91-4DDE-8123-3A126FB2D82A}"/>
              </a:ext>
            </a:extLst>
          </p:cNvPr>
          <p:cNvSpPr txBox="1"/>
          <p:nvPr/>
        </p:nvSpPr>
        <p:spPr>
          <a:xfrm>
            <a:off x="811106" y="1325563"/>
            <a:ext cx="8884119" cy="461665"/>
          </a:xfrm>
          <a:prstGeom prst="rect">
            <a:avLst/>
          </a:prstGeom>
          <a:noFill/>
        </p:spPr>
        <p:txBody>
          <a:bodyPr wrap="square" rtlCol="0">
            <a:spAutoFit/>
          </a:bodyPr>
          <a:lstStyle/>
          <a:p>
            <a:r>
              <a:rPr lang="en-US" sz="2400" dirty="0"/>
              <a:t>Let's say an </a:t>
            </a:r>
            <a:r>
              <a:rPr lang="en-US" sz="2400"/>
              <a:t>experiment has </a:t>
            </a:r>
            <a:r>
              <a:rPr lang="en-US" sz="2400" dirty="0"/>
              <a:t>30 control subjects, and 30 test subjects</a:t>
            </a:r>
          </a:p>
        </p:txBody>
      </p:sp>
      <p:sp>
        <p:nvSpPr>
          <p:cNvPr id="9" name="TextBox 8">
            <a:extLst>
              <a:ext uri="{FF2B5EF4-FFF2-40B4-BE49-F238E27FC236}">
                <a16:creationId xmlns:a16="http://schemas.microsoft.com/office/drawing/2014/main" id="{2F911640-E74C-4976-8CC0-F61951012030}"/>
              </a:ext>
            </a:extLst>
          </p:cNvPr>
          <p:cNvSpPr txBox="1"/>
          <p:nvPr/>
        </p:nvSpPr>
        <p:spPr>
          <a:xfrm>
            <a:off x="5367064" y="2651126"/>
            <a:ext cx="5148535"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Observed values </a:t>
            </a:r>
            <a:r>
              <a:rPr lang="en-US" sz="2400" dirty="0">
                <a:solidFill>
                  <a:srgbClr val="0070C0"/>
                </a:solidFill>
              </a:rPr>
              <a:t>shown</a:t>
            </a:r>
            <a:r>
              <a:rPr lang="en-US" sz="2400" dirty="0"/>
              <a:t> </a:t>
            </a:r>
          </a:p>
          <a:p>
            <a:pPr marL="342900" indent="-342900">
              <a:buFont typeface="Arial" panose="020B0604020202020204" pitchFamily="34" charset="0"/>
              <a:buChar char="•"/>
            </a:pPr>
            <a:r>
              <a:rPr lang="en-US" sz="2400" dirty="0"/>
              <a:t>Effect size </a:t>
            </a:r>
            <a:r>
              <a:rPr lang="en-US" sz="2400" dirty="0">
                <a:solidFill>
                  <a:srgbClr val="0070C0"/>
                </a:solidFill>
              </a:rPr>
              <a:t>shown</a:t>
            </a:r>
            <a:r>
              <a:rPr lang="en-US" sz="2400" dirty="0"/>
              <a:t> in the curve</a:t>
            </a:r>
          </a:p>
          <a:p>
            <a:pPr marL="342900" indent="-342900">
              <a:buFont typeface="Arial" panose="020B0604020202020204" pitchFamily="34" charset="0"/>
              <a:buChar char="•"/>
            </a:pPr>
            <a:r>
              <a:rPr lang="en-US" sz="2400" dirty="0"/>
              <a:t>Precision of effect size </a:t>
            </a:r>
            <a:r>
              <a:rPr lang="en-US" sz="2400" dirty="0">
                <a:solidFill>
                  <a:srgbClr val="0070C0"/>
                </a:solidFill>
              </a:rPr>
              <a:t>shown</a:t>
            </a:r>
            <a:r>
              <a:rPr lang="en-US" sz="2400" dirty="0"/>
              <a:t> </a:t>
            </a:r>
          </a:p>
          <a:p>
            <a:pPr marL="342900" indent="-342900">
              <a:buFont typeface="Arial" panose="020B0604020202020204" pitchFamily="34" charset="0"/>
              <a:buChar char="•"/>
            </a:pPr>
            <a:r>
              <a:rPr lang="en-US" sz="2400" dirty="0"/>
              <a:t>Confidence and likelihood of effect size </a:t>
            </a:r>
            <a:r>
              <a:rPr lang="en-US" sz="2400" dirty="0">
                <a:solidFill>
                  <a:srgbClr val="0070C0"/>
                </a:solidFill>
              </a:rPr>
              <a:t>shown</a:t>
            </a:r>
            <a:r>
              <a:rPr lang="en-US" sz="2400" dirty="0"/>
              <a:t> </a:t>
            </a:r>
          </a:p>
        </p:txBody>
      </p:sp>
      <p:sp>
        <p:nvSpPr>
          <p:cNvPr id="6" name="TextBox 5">
            <a:extLst>
              <a:ext uri="{FF2B5EF4-FFF2-40B4-BE49-F238E27FC236}">
                <a16:creationId xmlns:a16="http://schemas.microsoft.com/office/drawing/2014/main" id="{7C868C64-BDE1-4B84-A8DC-FC661E00311E}"/>
              </a:ext>
            </a:extLst>
          </p:cNvPr>
          <p:cNvSpPr txBox="1"/>
          <p:nvPr/>
        </p:nvSpPr>
        <p:spPr>
          <a:xfrm>
            <a:off x="3014314" y="6264276"/>
            <a:ext cx="4305700" cy="369332"/>
          </a:xfrm>
          <a:prstGeom prst="rect">
            <a:avLst/>
          </a:prstGeom>
          <a:noFill/>
        </p:spPr>
        <p:txBody>
          <a:bodyPr wrap="square" rtlCol="0">
            <a:spAutoFit/>
          </a:bodyPr>
          <a:lstStyle/>
          <a:p>
            <a:r>
              <a:rPr lang="en-US" dirty="0"/>
              <a:t>Ho et al. Nature Methods, 2019</a:t>
            </a:r>
          </a:p>
        </p:txBody>
      </p:sp>
      <p:sp>
        <p:nvSpPr>
          <p:cNvPr id="7" name="Title 1">
            <a:extLst>
              <a:ext uri="{FF2B5EF4-FFF2-40B4-BE49-F238E27FC236}">
                <a16:creationId xmlns:a16="http://schemas.microsoft.com/office/drawing/2014/main" id="{949B5E38-F6B3-40B2-8DB0-8847B39B53D4}"/>
              </a:ext>
            </a:extLst>
          </p:cNvPr>
          <p:cNvSpPr txBox="1">
            <a:spLocks/>
          </p:cNvSpPr>
          <p:nvPr/>
        </p:nvSpPr>
        <p:spPr>
          <a:xfrm>
            <a:off x="-4635" y="241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Introducing estimation statistics</a:t>
            </a:r>
          </a:p>
        </p:txBody>
      </p:sp>
      <p:pic>
        <p:nvPicPr>
          <p:cNvPr id="8" name="Picture 7">
            <a:extLst>
              <a:ext uri="{FF2B5EF4-FFF2-40B4-BE49-F238E27FC236}">
                <a16:creationId xmlns:a16="http://schemas.microsoft.com/office/drawing/2014/main" id="{61AA032A-659C-4E8A-AD25-E014652D6FAB}"/>
              </a:ext>
            </a:extLst>
          </p:cNvPr>
          <p:cNvPicPr>
            <a:picLocks noChangeAspect="1"/>
          </p:cNvPicPr>
          <p:nvPr/>
        </p:nvPicPr>
        <p:blipFill>
          <a:blip r:embed="rId3"/>
          <a:stretch>
            <a:fillRect/>
          </a:stretch>
        </p:blipFill>
        <p:spPr>
          <a:xfrm>
            <a:off x="1890667" y="1761861"/>
            <a:ext cx="3362498" cy="4527783"/>
          </a:xfrm>
          <a:prstGeom prst="rect">
            <a:avLst/>
          </a:prstGeom>
        </p:spPr>
      </p:pic>
    </p:spTree>
    <p:extLst>
      <p:ext uri="{BB962C8B-B14F-4D97-AF65-F5344CB8AC3E}">
        <p14:creationId xmlns:p14="http://schemas.microsoft.com/office/powerpoint/2010/main" val="107598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964702" y="1022319"/>
            <a:ext cx="5586617" cy="4813362"/>
          </a:xfrm>
          <a:prstGeom prst="rect">
            <a:avLst/>
          </a:prstGeom>
        </p:spPr>
      </p:pic>
      <p:sp>
        <p:nvSpPr>
          <p:cNvPr id="7" name="Title 1">
            <a:extLst>
              <a:ext uri="{FF2B5EF4-FFF2-40B4-BE49-F238E27FC236}">
                <a16:creationId xmlns:a16="http://schemas.microsoft.com/office/drawing/2014/main" id="{949B5E38-F6B3-40B2-8DB0-8847B39B53D4}"/>
              </a:ext>
            </a:extLst>
          </p:cNvPr>
          <p:cNvSpPr txBox="1">
            <a:spLocks/>
          </p:cNvSpPr>
          <p:nvPr/>
        </p:nvSpPr>
        <p:spPr>
          <a:xfrm>
            <a:off x="0" y="0"/>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Estimation plot vs. </a:t>
            </a:r>
            <a:r>
              <a:rPr lang="en-US" dirty="0" err="1"/>
              <a:t>barchart</a:t>
            </a:r>
            <a:r>
              <a:rPr lang="en-US" dirty="0"/>
              <a:t> or boxplot (P-value based)</a:t>
            </a:r>
          </a:p>
        </p:txBody>
      </p:sp>
      <p:sp>
        <p:nvSpPr>
          <p:cNvPr id="6" name="TextBox 5">
            <a:extLst>
              <a:ext uri="{FF2B5EF4-FFF2-40B4-BE49-F238E27FC236}">
                <a16:creationId xmlns:a16="http://schemas.microsoft.com/office/drawing/2014/main" id="{7C868C64-BDE1-4B84-A8DC-FC661E00311E}"/>
              </a:ext>
            </a:extLst>
          </p:cNvPr>
          <p:cNvSpPr txBox="1"/>
          <p:nvPr/>
        </p:nvSpPr>
        <p:spPr>
          <a:xfrm>
            <a:off x="9028638" y="6482993"/>
            <a:ext cx="3166787" cy="369332"/>
          </a:xfrm>
          <a:prstGeom prst="rect">
            <a:avLst/>
          </a:prstGeom>
          <a:noFill/>
        </p:spPr>
        <p:txBody>
          <a:bodyPr wrap="square" rtlCol="0">
            <a:spAutoFit/>
          </a:bodyPr>
          <a:lstStyle/>
          <a:p>
            <a:r>
              <a:rPr lang="en-US" dirty="0"/>
              <a:t>Ho et al. Nature Methods, 2019</a:t>
            </a:r>
          </a:p>
        </p:txBody>
      </p:sp>
      <p:pic>
        <p:nvPicPr>
          <p:cNvPr id="5" name="Picture 4">
            <a:extLst>
              <a:ext uri="{FF2B5EF4-FFF2-40B4-BE49-F238E27FC236}">
                <a16:creationId xmlns:a16="http://schemas.microsoft.com/office/drawing/2014/main" id="{E6AF863B-D759-4FC4-8F6D-B84917AAD557}"/>
              </a:ext>
            </a:extLst>
          </p:cNvPr>
          <p:cNvPicPr>
            <a:picLocks noChangeAspect="1"/>
          </p:cNvPicPr>
          <p:nvPr/>
        </p:nvPicPr>
        <p:blipFill>
          <a:blip r:embed="rId4"/>
          <a:stretch>
            <a:fillRect/>
          </a:stretch>
        </p:blipFill>
        <p:spPr>
          <a:xfrm>
            <a:off x="1961523" y="1517348"/>
            <a:ext cx="3362498" cy="4527783"/>
          </a:xfrm>
          <a:prstGeom prst="rect">
            <a:avLst/>
          </a:prstGeom>
        </p:spPr>
      </p:pic>
    </p:spTree>
    <p:extLst>
      <p:ext uri="{BB962C8B-B14F-4D97-AF65-F5344CB8AC3E}">
        <p14:creationId xmlns:p14="http://schemas.microsoft.com/office/powerpoint/2010/main" val="1044522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4811</TotalTime>
  <Words>5242</Words>
  <Application>Microsoft Macintosh PowerPoint</Application>
  <PresentationFormat>Widescreen</PresentationFormat>
  <Paragraphs>343</Paragraphs>
  <Slides>34</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Visualizing Uncertainty</vt:lpstr>
      <vt:lpstr>Visualizing uncertainties is visualizing probability</vt:lpstr>
      <vt:lpstr>Population, samples, individuals and variables</vt:lpstr>
      <vt:lpstr>Outcome prediction as probability</vt:lpstr>
      <vt:lpstr>Quantile dot plots to represent probability</vt:lpstr>
      <vt:lpstr>Standard deviation and standard error of the mean to measure uncertainty</vt:lpstr>
      <vt:lpstr>Error bars visualize uncertainty</vt:lpstr>
      <vt:lpstr>Show significance whenever possible</vt:lpstr>
      <vt:lpstr>Show real data points whenever possible</vt:lpstr>
      <vt:lpstr>Error bars can indicate different types of variations </vt:lpstr>
      <vt:lpstr>Visualizing uncertainty with error bars </vt:lpstr>
      <vt:lpstr>Various visualization styles for error bars</vt:lpstr>
      <vt:lpstr>Various visualization styles for error bars</vt:lpstr>
      <vt:lpstr>Confidence band to show uncertainty of a linear model</vt:lpstr>
      <vt:lpstr>Confidence band to show uncertainty of a linear model</vt:lpstr>
      <vt:lpstr>Confidence band to show uncertainty of a linear model</vt:lpstr>
      <vt:lpstr>P-value to represent (un)certainty of a hypothesis</vt:lpstr>
      <vt:lpstr>P-value to represent (un)certainty of a hypothesis</vt:lpstr>
      <vt:lpstr>How to interpret P-value distribution?</vt:lpstr>
      <vt:lpstr>Anti-conservative p-values (“Hooray!”)</vt:lpstr>
      <vt:lpstr>Anti-conservative p-values (“Hooray!”)</vt:lpstr>
      <vt:lpstr>Anti-conservative p-values (“Hooray!”)</vt:lpstr>
      <vt:lpstr>Anti-conservative p-values (“Hooray!”)</vt:lpstr>
      <vt:lpstr>Uniform p-values (“Awww…”)</vt:lpstr>
      <vt:lpstr>Bimodal p-values (“Hmmm…”)</vt:lpstr>
      <vt:lpstr>Conservative p-values (“Whoops…”)</vt:lpstr>
      <vt:lpstr>Sparse p-values (“Hold on…”)</vt:lpstr>
      <vt:lpstr>Something even weirder (“What the…?!?”)</vt:lpstr>
      <vt:lpstr>Recent criticism on significance testing (p-value)</vt:lpstr>
      <vt:lpstr>Recent criticism on significance testing (p-value)</vt:lpstr>
      <vt:lpstr>Recent criticism on significance testing (p-value)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Uncertainty</dc:title>
  <dc:creator>Chernus, Jonathan M</dc:creator>
  <cp:lastModifiedBy>Chernus, Jonathan M</cp:lastModifiedBy>
  <cp:revision>60</cp:revision>
  <dcterms:created xsi:type="dcterms:W3CDTF">2023-02-09T12:24:00Z</dcterms:created>
  <dcterms:modified xsi:type="dcterms:W3CDTF">2024-02-07T23:57:57Z</dcterms:modified>
</cp:coreProperties>
</file>