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4" r:id="rId3"/>
    <p:sldId id="258" r:id="rId4"/>
    <p:sldId id="267" r:id="rId5"/>
    <p:sldId id="268" r:id="rId6"/>
    <p:sldId id="269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70" r:id="rId18"/>
    <p:sldId id="260" r:id="rId19"/>
    <p:sldId id="282" r:id="rId20"/>
    <p:sldId id="283" r:id="rId21"/>
    <p:sldId id="271" r:id="rId22"/>
    <p:sldId id="261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82"/>
    <p:restoredTop sz="96327"/>
  </p:normalViewPr>
  <p:slideViewPr>
    <p:cSldViewPr snapToGrid="0">
      <p:cViewPr varScale="1">
        <p:scale>
          <a:sx n="124" d="100"/>
          <a:sy n="124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A253-F70D-10B9-C13B-2BB2BEC2A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E7E08-64EE-C29C-61A6-283B4193C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8EC83-4117-72F2-2AA2-AB0822DA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19823-CACA-A7BD-F44D-759D4EAD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7BB93-B517-AF36-6FB7-2398B435F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7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DADA-C007-2B16-28DC-A67D00FB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4E70C-7829-4770-0DF3-77AF52B13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E94BD-0DC0-4FAF-ACE2-779D3515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0227D-8185-6E88-3A2F-E126C77F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CE550-C768-2F9D-B6A3-76A6AFA6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0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F5F3D-FBF8-5FDB-FE7A-34ACAB8A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56365-5EBD-80E2-864E-79E885F66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C1136-433E-4F50-BCB2-94AE0CCA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7B9DA-9E15-1DC4-2C26-B1661846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593BE-5FE6-F738-B00A-B2D4DE2C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5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D99E-9492-8BB0-78B1-D00DCA11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1F220-6926-F55F-2789-1C4F6DA77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4641D-EAF3-F94C-5340-8371F2ECE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044D6-4688-176E-314F-D3E20F8F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E21F7-C951-719B-6554-6D85F6AF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8B7E5-BEAC-AF39-2430-48D93A10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2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0157-9011-86FD-D52A-19098C14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D280B-1843-F809-6130-241A03DCD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B3F5B-8C5D-3FBC-CEFC-03639F5F3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B3F78D-54E0-2B78-8DBE-00CF7F910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BF876-3656-F423-FF56-61F37AA4F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BD396-221E-5CB6-8B48-8C2DBDC4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178E5-BDEB-73EC-6300-9A341E01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598F6-9EE2-FC09-576C-349ED37C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8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DE7F-5556-495A-530B-39FD1B52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4B2ED-10E6-0CCB-1BC2-2D9CF87F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D1A6D-7C92-FE35-E7F3-6413DFCA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CBB0B-A03F-8052-5447-C89730C0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0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05671-7AA4-09B2-3A33-3BA4A24F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E7329-2E01-3E17-74A2-6C2D27435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9E2D6-508D-50A2-9052-98E86EB0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0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1AA5-4CD1-621D-3798-82BA55BF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39D96-8092-FF43-B7D4-2003CE2F0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27D3B-9C9D-EB13-F148-C18EB3A7B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6CBBE-2549-7D07-B905-C2229729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33410-4AD9-C6D9-4FE8-266006FD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8340E-2386-BF7A-8AC9-F80C04CA6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6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603D-744A-930B-1518-EAB9D709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EAA8A-5877-FC44-273D-478B69611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1B1D5-162B-1FF0-A14E-88B1EBBB2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748C1-4175-3F27-BFC2-0AA3DEF8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83C35-4DFF-5919-1DA2-C503E3BB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DB78F-CC0E-0D7D-B12C-56387CDD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9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888A-9252-BBA7-6286-9E1B914B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57EB4-5F89-31BF-B921-9315CB30F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E5536-3DD0-2756-3C59-8B5CEED1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6B291-4A9F-07CA-8597-FF7C4B6F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FF00-3475-003D-0570-741561BC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6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EFC23-4AB3-9E41-172B-027BA7729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F5B9A-8827-7D23-89CD-2870673BA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DE1E-74E7-B741-DE97-5FBF7DE6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8A917-59CE-E9B3-15A3-77314D1C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E5433-0A26-9638-478F-12BE0519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2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6A97B-93CA-7C4F-FED0-D2D582AE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0251C-D165-8A3E-5480-FCFD1063B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D4677-4767-73E4-F145-C311263D9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1E9A5-95E3-CA4F-8560-092FCD2AC2BB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C7E4F-4960-6CC7-4331-A7A0ECADE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6794-FA84-652B-23BD-7025CB2EE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3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BEB9-5EC6-466B-84E7-DF9591409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Interactive visualization in R with Shiny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516A3-79EC-4194-ABE6-15B94697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HUGEN 2073</a:t>
            </a:r>
          </a:p>
          <a:p>
            <a:r>
              <a:rPr lang="en-US" b="1" dirty="0"/>
              <a:t>Genomic Data Visualization and Integration</a:t>
            </a:r>
          </a:p>
          <a:p>
            <a:endParaRPr lang="en-US" dirty="0"/>
          </a:p>
          <a:p>
            <a:r>
              <a:rPr lang="en-US" dirty="0"/>
              <a:t>Jon </a:t>
            </a:r>
            <a:r>
              <a:rPr lang="en-US" dirty="0" err="1"/>
              <a:t>Chernus</a:t>
            </a:r>
            <a:endParaRPr lang="en-US" dirty="0"/>
          </a:p>
          <a:p>
            <a:r>
              <a:rPr lang="en-US" dirty="0"/>
              <a:t>Some material adapted from https://</a:t>
            </a:r>
            <a:r>
              <a:rPr lang="en-US" dirty="0" err="1"/>
              <a:t>shiny.rstudio.com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75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553F-3275-1627-94FA-A54D03D7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FCD95-3167-7E00-CBAE-46A3543CC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Download the folder 16_shiny_data from this Canvas module.</a:t>
            </a:r>
          </a:p>
          <a:p>
            <a:pPr marL="0" indent="0">
              <a:buNone/>
            </a:pPr>
            <a:r>
              <a:rPr lang="en-US" dirty="0"/>
              <a:t>It contains some Shiny apps, an </a:t>
            </a:r>
            <a:r>
              <a:rPr lang="en-US"/>
              <a:t>R script, </a:t>
            </a:r>
            <a:r>
              <a:rPr lang="en-US" dirty="0"/>
              <a:t>and </a:t>
            </a:r>
            <a:r>
              <a:rPr lang="en-US"/>
              <a:t>a dataset.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58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45A24-640A-6FDD-BBE0-655A047B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EFA0F-466A-EB25-7BBC-5E16B19E4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package for building interactive web apps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“Automatic 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‘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reactive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’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binding between inputs and outputs and extensive prebuilt widgets make it possible to build beautiful, responsive, and powerful applications with minimal effort.”</a:t>
            </a: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For genomics, perhaps most useful for data exploration?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1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36DA-9D9F-A95A-0404-457674D6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Shiny app?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468EC-3E33-67F8-5F4F-28881DE29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Just an R script, with a specific structure.</a:t>
            </a:r>
          </a:p>
          <a:p>
            <a:pPr marL="0" indent="0">
              <a:buNone/>
            </a:pPr>
            <a:r>
              <a:rPr lang="en-US" dirty="0"/>
              <a:t>Can be run in RStudio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Other details</a:t>
            </a:r>
          </a:p>
          <a:p>
            <a:r>
              <a:rPr lang="en-US" dirty="0"/>
              <a:t>Usually name it something like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/>
              <a:t>”</a:t>
            </a:r>
          </a:p>
          <a:p>
            <a:r>
              <a:rPr lang="en-US" dirty="0"/>
              <a:t>Put it alone in its own folder, say,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app_dir</a:t>
            </a:r>
            <a:r>
              <a:rPr lang="en-US" dirty="0"/>
              <a:t>”</a:t>
            </a:r>
          </a:p>
          <a:p>
            <a:r>
              <a:rPr lang="en-US" dirty="0"/>
              <a:t>Can run it with </a:t>
            </a:r>
            <a:r>
              <a:rPr lang="en-US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runApp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(”/path/to/</a:t>
            </a:r>
            <a:r>
              <a:rPr lang="en-US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app_dir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/")</a:t>
            </a:r>
          </a:p>
          <a:p>
            <a:r>
              <a:rPr lang="en-US" dirty="0"/>
              <a:t>Exit with the escape key</a:t>
            </a:r>
          </a:p>
          <a:p>
            <a:r>
              <a:rPr lang="en-US" dirty="0"/>
              <a:t>Can open in RStudio viewer window or in a browser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A171F-04A9-F432-312A-7F848996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39" y="681037"/>
            <a:ext cx="2590800" cy="32512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C97024-0281-CA57-F0C4-5F48119C4282}"/>
              </a:ext>
            </a:extLst>
          </p:cNvPr>
          <p:cNvCxnSpPr>
            <a:cxnSpLocks/>
          </p:cNvCxnSpPr>
          <p:nvPr/>
        </p:nvCxnSpPr>
        <p:spPr>
          <a:xfrm>
            <a:off x="4214191" y="2574235"/>
            <a:ext cx="34389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15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5FB4-FC19-82E7-8116-BF110F7E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Shiny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1E715-0804-A0C3-30C0-CBEBC5E04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 parts</a:t>
            </a:r>
          </a:p>
          <a:p>
            <a:r>
              <a:rPr lang="en-US" dirty="0"/>
              <a:t>User interface object</a:t>
            </a:r>
          </a:p>
          <a:p>
            <a:r>
              <a:rPr lang="en-US" dirty="0"/>
              <a:t>Server function</a:t>
            </a:r>
          </a:p>
          <a:p>
            <a:r>
              <a:rPr lang="en-US" dirty="0"/>
              <a:t>A call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shinyApp</a:t>
            </a:r>
            <a:r>
              <a:rPr lang="en-US" dirty="0"/>
              <a:t> function</a:t>
            </a:r>
          </a:p>
          <a:p>
            <a:pPr marL="0" indent="0">
              <a:buNone/>
            </a:pPr>
            <a:r>
              <a:rPr lang="en-US" dirty="0"/>
              <a:t>(You can also define global-level variables at the top, before the </a:t>
            </a:r>
            <a:r>
              <a:rPr lang="en-US" dirty="0" err="1"/>
              <a:t>ui</a:t>
            </a:r>
            <a:r>
              <a:rPr lang="en-US" dirty="0"/>
              <a:t>.)</a:t>
            </a:r>
          </a:p>
          <a:p>
            <a:pPr marL="0" indent="0">
              <a:buNone/>
            </a:pPr>
            <a:r>
              <a:rPr lang="en-US" dirty="0"/>
              <a:t>The skeleton looks like this: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AC0B9-FDA5-96B2-3A67-68617384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479" y="4261757"/>
            <a:ext cx="63119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1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1F2B-0106-98A5-860D-80A48887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detailed structure of a Shiny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D48A0-1F1D-DEAD-80E0-384A1B79D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63" y="2435225"/>
            <a:ext cx="5295900" cy="4178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215EBC-BCF4-B55A-E51C-FFAE73445720}"/>
              </a:ext>
            </a:extLst>
          </p:cNvPr>
          <p:cNvSpPr txBox="1"/>
          <p:nvPr/>
        </p:nvSpPr>
        <p:spPr>
          <a:xfrm>
            <a:off x="598714" y="1829809"/>
            <a:ext cx="852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</a:t>
            </a:r>
            <a:r>
              <a:rPr lang="en-US" i="1" dirty="0"/>
              <a:t>is</a:t>
            </a:r>
            <a:r>
              <a:rPr lang="en-US" dirty="0"/>
              <a:t> a Shiny app. A completely blank one.</a:t>
            </a:r>
          </a:p>
        </p:txBody>
      </p:sp>
    </p:spTree>
    <p:extLst>
      <p:ext uri="{BB962C8B-B14F-4D97-AF65-F5344CB8AC3E}">
        <p14:creationId xmlns:p14="http://schemas.microsoft.com/office/powerpoint/2010/main" val="411371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9349-337E-231E-4657-78CF7828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D93F8-95E5-6E67-A760-89980C7CB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Nested structure wrapped in the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fluidPage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ui</a:t>
            </a:r>
            <a:r>
              <a:rPr lang="en-US" dirty="0"/>
              <a:t> specifies everything the user sees and interacts with</a:t>
            </a:r>
          </a:p>
          <a:p>
            <a:r>
              <a:rPr lang="en-US" dirty="0"/>
              <a:t>Titles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titlePanel</a:t>
            </a:r>
            <a:r>
              <a:rPr lang="en-US" dirty="0"/>
              <a:t>)</a:t>
            </a:r>
          </a:p>
          <a:p>
            <a:r>
              <a:rPr lang="en-US" dirty="0"/>
              <a:t>Layout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sidebarLayout</a:t>
            </a:r>
            <a:r>
              <a:rPr lang="en-US" dirty="0"/>
              <a:t>) always takes two arguments</a:t>
            </a:r>
          </a:p>
          <a:p>
            <a:pPr lvl="1"/>
            <a:r>
              <a:rPr lang="en-US" dirty="0"/>
              <a:t>Sidebar panel (the interactive control widgets;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sidebarPanel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The widgets you want are specified inside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sidebarPanel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Main panel (where output goes;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mainPanel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Fancier layouts are also possible.</a:t>
            </a:r>
          </a:p>
          <a:p>
            <a:pPr marL="0" indent="0">
              <a:buNone/>
            </a:pPr>
            <a:r>
              <a:rPr lang="en-US" dirty="0"/>
              <a:t>You can also add customized text with HTML formatting.</a:t>
            </a:r>
          </a:p>
        </p:txBody>
      </p:sp>
    </p:spTree>
    <p:extLst>
      <p:ext uri="{BB962C8B-B14F-4D97-AF65-F5344CB8AC3E}">
        <p14:creationId xmlns:p14="http://schemas.microsoft.com/office/powerpoint/2010/main" val="164966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DC76-D539-609D-91B2-16C48A41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 - basics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DA5E36-3D7F-4F56-F7E9-A194B531B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0896" y="173390"/>
            <a:ext cx="4699000" cy="2514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 descr="Sidebar on the right">
            <a:extLst>
              <a:ext uri="{FF2B5EF4-FFF2-40B4-BE49-F238E27FC236}">
                <a16:creationId xmlns:a16="http://schemas.microsoft.com/office/drawing/2014/main" id="{D03684B8-8CC5-2036-A516-11417963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896" y="2813577"/>
            <a:ext cx="7536475" cy="398020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rved Right Arrow 5">
            <a:extLst>
              <a:ext uri="{FF2B5EF4-FFF2-40B4-BE49-F238E27FC236}">
                <a16:creationId xmlns:a16="http://schemas.microsoft.com/office/drawing/2014/main" id="{B24199A4-995E-87ED-B3C3-FD8309AF1695}"/>
              </a:ext>
            </a:extLst>
          </p:cNvPr>
          <p:cNvSpPr/>
          <p:nvPr/>
        </p:nvSpPr>
        <p:spPr>
          <a:xfrm>
            <a:off x="2238964" y="1537216"/>
            <a:ext cx="1687286" cy="3783567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C47B4-C0C8-D4D2-E5E8-2CFBD7EA723B}"/>
              </a:ext>
            </a:extLst>
          </p:cNvPr>
          <p:cNvSpPr txBox="1"/>
          <p:nvPr/>
        </p:nvSpPr>
        <p:spPr>
          <a:xfrm>
            <a:off x="2268128" y="2841887"/>
            <a:ext cx="20319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Combined with a server function, this is what the above </a:t>
            </a:r>
            <a:r>
              <a:rPr lang="en-US" sz="1400" dirty="0" err="1"/>
              <a:t>ui</a:t>
            </a:r>
            <a:r>
              <a:rPr lang="en-US" sz="1400" dirty="0"/>
              <a:t> gives you:</a:t>
            </a:r>
          </a:p>
        </p:txBody>
      </p:sp>
    </p:spTree>
    <p:extLst>
      <p:ext uri="{BB962C8B-B14F-4D97-AF65-F5344CB8AC3E}">
        <p14:creationId xmlns:p14="http://schemas.microsoft.com/office/powerpoint/2010/main" val="420842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9EE4-CABF-55CE-148F-3867F978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 – basic widgets</a:t>
            </a:r>
          </a:p>
        </p:txBody>
      </p:sp>
      <p:pic>
        <p:nvPicPr>
          <p:cNvPr id="2050" name="Picture 2" descr="Basic widgets">
            <a:extLst>
              <a:ext uri="{FF2B5EF4-FFF2-40B4-BE49-F238E27FC236}">
                <a16:creationId xmlns:a16="http://schemas.microsoft.com/office/drawing/2014/main" id="{40FB5352-411A-2688-3485-A76C7CB73F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" y="1888746"/>
            <a:ext cx="6420213" cy="401263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1ADE39-1DC4-4DEF-511E-27F637E69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705363"/>
              </p:ext>
            </p:extLst>
          </p:nvPr>
        </p:nvGraphicFramePr>
        <p:xfrm>
          <a:off x="6594753" y="1851686"/>
          <a:ext cx="5597247" cy="4074868"/>
        </p:xfrm>
        <a:graphic>
          <a:graphicData uri="http://schemas.openxmlformats.org/drawingml/2006/table">
            <a:tbl>
              <a:tblPr/>
              <a:tblGrid>
                <a:gridCol w="2176292">
                  <a:extLst>
                    <a:ext uri="{9D8B030D-6E8A-4147-A177-3AD203B41FA5}">
                      <a16:colId xmlns:a16="http://schemas.microsoft.com/office/drawing/2014/main" val="3430876437"/>
                    </a:ext>
                  </a:extLst>
                </a:gridCol>
                <a:gridCol w="3420955">
                  <a:extLst>
                    <a:ext uri="{9D8B030D-6E8A-4147-A177-3AD203B41FA5}">
                      <a16:colId xmlns:a16="http://schemas.microsoft.com/office/drawing/2014/main" val="1163527903"/>
                    </a:ext>
                  </a:extLst>
                </a:gridCol>
              </a:tblGrid>
              <a:tr h="264708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R function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widget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334839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actionButton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Action Button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52964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checkboxGroupInput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group of check boxes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92845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checkboxInput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 single check box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667524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calendar to aid date selection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925241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dateRangeInput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pair of calendars for selecting a date range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19058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file upload control wizard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842554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helpText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Help text that can be added to an input form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185204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numericInput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field to enter numbers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59110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radioButtons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set of radio buttons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337983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box with choices to select from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982190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sliderInput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slider bar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356429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submitButton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submit button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413725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textInput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 field to enter text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285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2C615B-0F4E-3E39-0453-97E3124B21F7}"/>
              </a:ext>
            </a:extLst>
          </p:cNvPr>
          <p:cNvSpPr txBox="1"/>
          <p:nvPr/>
        </p:nvSpPr>
        <p:spPr>
          <a:xfrm>
            <a:off x="1110343" y="1360714"/>
            <a:ext cx="955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widget is implemented with an R function.  It will pass its input to the server function.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85947-08A1-E24B-7268-129A9687B1BF}"/>
              </a:ext>
            </a:extLst>
          </p:cNvPr>
          <p:cNvSpPr txBox="1"/>
          <p:nvPr/>
        </p:nvSpPr>
        <p:spPr>
          <a:xfrm>
            <a:off x="2375941" y="6488668"/>
            <a:ext cx="720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examples: https://</a:t>
            </a:r>
            <a:r>
              <a:rPr lang="en-US" dirty="0" err="1"/>
              <a:t>shiny.rstudio.com</a:t>
            </a:r>
            <a:r>
              <a:rPr lang="en-US" dirty="0"/>
              <a:t>/gallery/widget-</a:t>
            </a:r>
            <a:r>
              <a:rPr lang="en-US" dirty="0" err="1"/>
              <a:t>gallery.html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88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1A35-78D4-C511-54B6-76873B8E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 – adding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59478-E714-B769-ED4A-95385D74D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81473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Add a widget by calling its function</a:t>
            </a:r>
            <a:br>
              <a:rPr lang="en-US" sz="2400" dirty="0"/>
            </a:br>
            <a:r>
              <a:rPr lang="en-US" sz="2400" dirty="0"/>
              <a:t> within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sidebarPanel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The first two arguments are always</a:t>
            </a:r>
          </a:p>
          <a:p>
            <a:r>
              <a:rPr lang="en-US" sz="2400" dirty="0"/>
              <a:t>The widget’s name (a character string)</a:t>
            </a:r>
          </a:p>
          <a:p>
            <a:pPr lvl="1"/>
            <a:r>
              <a:rPr lang="en-US" sz="2000" dirty="0"/>
              <a:t>Will get used to access the stored user input</a:t>
            </a:r>
          </a:p>
          <a:p>
            <a:r>
              <a:rPr lang="en-US" sz="2400" dirty="0"/>
              <a:t>A label that the user sees (character string)</a:t>
            </a:r>
          </a:p>
          <a:p>
            <a:pPr marL="0" indent="0">
              <a:buNone/>
            </a:pPr>
            <a:r>
              <a:rPr lang="en-US" sz="2400" dirty="0"/>
              <a:t>Other arguments vary.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9F049-18EF-5007-42AE-E3319B20B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212" y="0"/>
            <a:ext cx="514074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743018-02B3-C161-244B-0B507183368F}"/>
              </a:ext>
            </a:extLst>
          </p:cNvPr>
          <p:cNvSpPr/>
          <p:nvPr/>
        </p:nvSpPr>
        <p:spPr>
          <a:xfrm>
            <a:off x="7609114" y="3189514"/>
            <a:ext cx="3352800" cy="106680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F93A7-A363-25E3-2DA4-7FAAF59EDA74}"/>
              </a:ext>
            </a:extLst>
          </p:cNvPr>
          <p:cNvSpPr txBox="1"/>
          <p:nvPr/>
        </p:nvSpPr>
        <p:spPr>
          <a:xfrm>
            <a:off x="5450338" y="4601372"/>
            <a:ext cx="19187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Notice the nesting</a:t>
            </a:r>
          </a:p>
        </p:txBody>
      </p:sp>
      <p:sp>
        <p:nvSpPr>
          <p:cNvPr id="12" name="Bent Arrow 11">
            <a:extLst>
              <a:ext uri="{FF2B5EF4-FFF2-40B4-BE49-F238E27FC236}">
                <a16:creationId xmlns:a16="http://schemas.microsoft.com/office/drawing/2014/main" id="{7CEC654C-2BB7-AEC2-3EAF-0BC30830CF0B}"/>
              </a:ext>
            </a:extLst>
          </p:cNvPr>
          <p:cNvSpPr/>
          <p:nvPr/>
        </p:nvSpPr>
        <p:spPr>
          <a:xfrm>
            <a:off x="6523117" y="691923"/>
            <a:ext cx="381268" cy="3912434"/>
          </a:xfrm>
          <a:prstGeom prst="bentArrow">
            <a:avLst>
              <a:gd name="adj1" fmla="val 25000"/>
              <a:gd name="adj2" fmla="val 2671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Bent Arrow 12">
            <a:extLst>
              <a:ext uri="{FF2B5EF4-FFF2-40B4-BE49-F238E27FC236}">
                <a16:creationId xmlns:a16="http://schemas.microsoft.com/office/drawing/2014/main" id="{DA267E92-25BC-7465-22E3-70F13BD6CEA7}"/>
              </a:ext>
            </a:extLst>
          </p:cNvPr>
          <p:cNvSpPr/>
          <p:nvPr/>
        </p:nvSpPr>
        <p:spPr>
          <a:xfrm>
            <a:off x="6689776" y="1304144"/>
            <a:ext cx="438195" cy="3301470"/>
          </a:xfrm>
          <a:prstGeom prst="bentArrow">
            <a:avLst>
              <a:gd name="adj1" fmla="val 25000"/>
              <a:gd name="adj2" fmla="val 2329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Bent Arrow 13">
            <a:extLst>
              <a:ext uri="{FF2B5EF4-FFF2-40B4-BE49-F238E27FC236}">
                <a16:creationId xmlns:a16="http://schemas.microsoft.com/office/drawing/2014/main" id="{5D1D4E26-DEAF-4B0D-8916-F93462D244B4}"/>
              </a:ext>
            </a:extLst>
          </p:cNvPr>
          <p:cNvSpPr/>
          <p:nvPr/>
        </p:nvSpPr>
        <p:spPr>
          <a:xfrm>
            <a:off x="6874151" y="2017486"/>
            <a:ext cx="438195" cy="2588128"/>
          </a:xfrm>
          <a:prstGeom prst="bentArrow">
            <a:avLst>
              <a:gd name="adj1" fmla="val 25000"/>
              <a:gd name="adj2" fmla="val 18158"/>
              <a:gd name="adj3" fmla="val 25000"/>
              <a:gd name="adj4" fmla="val 33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4BA8F7FE-7702-CBA4-948D-078BF5DF0C65}"/>
              </a:ext>
            </a:extLst>
          </p:cNvPr>
          <p:cNvSpPr/>
          <p:nvPr/>
        </p:nvSpPr>
        <p:spPr>
          <a:xfrm>
            <a:off x="7088760" y="2518348"/>
            <a:ext cx="335979" cy="2083024"/>
          </a:xfrm>
          <a:prstGeom prst="bentArrow">
            <a:avLst>
              <a:gd name="adj1" fmla="val 25000"/>
              <a:gd name="adj2" fmla="val 34745"/>
              <a:gd name="adj3" fmla="val 25000"/>
              <a:gd name="adj4" fmla="val 371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Bent Arrow 15">
            <a:extLst>
              <a:ext uri="{FF2B5EF4-FFF2-40B4-BE49-F238E27FC236}">
                <a16:creationId xmlns:a16="http://schemas.microsoft.com/office/drawing/2014/main" id="{3B084EA2-4093-26B4-DA44-F7C4B59F6B85}"/>
              </a:ext>
            </a:extLst>
          </p:cNvPr>
          <p:cNvSpPr/>
          <p:nvPr/>
        </p:nvSpPr>
        <p:spPr>
          <a:xfrm>
            <a:off x="7256749" y="3189514"/>
            <a:ext cx="335979" cy="1411858"/>
          </a:xfrm>
          <a:prstGeom prst="bentArrow">
            <a:avLst>
              <a:gd name="adj1" fmla="val 25000"/>
              <a:gd name="adj2" fmla="val 34745"/>
              <a:gd name="adj3" fmla="val 25000"/>
              <a:gd name="adj4" fmla="val 371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746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D366-36CE-2928-B4E6-436AB207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6828A-C67B-204A-41E5-D25354614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Automatic response when the user adjusts a widget.</a:t>
            </a:r>
          </a:p>
          <a:p>
            <a:pPr marL="0" indent="0">
              <a:buNone/>
            </a:pPr>
            <a:r>
              <a:rPr lang="en-US" dirty="0"/>
              <a:t>Two steps</a:t>
            </a:r>
          </a:p>
          <a:p>
            <a:pPr marL="514350" indent="-514350">
              <a:buAutoNum type="arabicPeriod"/>
            </a:pPr>
            <a:r>
              <a:rPr lang="en-US" dirty="0"/>
              <a:t>Add an R object to the </a:t>
            </a:r>
            <a:r>
              <a:rPr lang="en-US" dirty="0" err="1"/>
              <a:t>ui</a:t>
            </a:r>
            <a:r>
              <a:rPr lang="en-US" dirty="0"/>
              <a:t> (let’s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mainPanel</a:t>
            </a:r>
            <a:r>
              <a:rPr lang="en-US" dirty="0"/>
              <a:t>).</a:t>
            </a:r>
          </a:p>
          <a:p>
            <a:pPr marL="514350" indent="-514350">
              <a:buAutoNum type="arabicPeriod"/>
            </a:pPr>
            <a:r>
              <a:rPr lang="en-US" dirty="0"/>
              <a:t>Tell R how to build it (do this in the server function).</a:t>
            </a:r>
            <a:br>
              <a:rPr lang="en-US" dirty="0"/>
            </a:br>
            <a:r>
              <a:rPr lang="en-US" dirty="0"/>
              <a:t>It will be reactive if the code uses a user-entered widget value.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51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618A-1EFD-3D45-8B2A-E73943E2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16" y="11691"/>
            <a:ext cx="10515600" cy="1325563"/>
          </a:xfrm>
        </p:spPr>
        <p:txBody>
          <a:bodyPr/>
          <a:lstStyle/>
          <a:p>
            <a:r>
              <a:rPr lang="en-US" dirty="0"/>
              <a:t>Reactive output – </a:t>
            </a:r>
            <a:br>
              <a:rPr lang="en-US" dirty="0"/>
            </a:br>
            <a:r>
              <a:rPr lang="en-US" dirty="0"/>
              <a:t>1. add R object to </a:t>
            </a:r>
            <a:r>
              <a:rPr lang="en-US" dirty="0" err="1"/>
              <a:t>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49AC8-91AC-0FDB-5717-AD0BAFF4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78" y="142710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the function that returns</a:t>
            </a:r>
            <a:br>
              <a:rPr lang="en-US" dirty="0"/>
            </a:br>
            <a:r>
              <a:rPr lang="en-US" dirty="0"/>
              <a:t> the type of object you want to show.</a:t>
            </a:r>
          </a:p>
          <a:p>
            <a:pPr marL="0" indent="0">
              <a:buNone/>
            </a:pPr>
            <a:r>
              <a:rPr lang="en-US" dirty="0"/>
              <a:t>Name the object in the </a:t>
            </a:r>
            <a:r>
              <a:rPr lang="en-US" dirty="0" err="1"/>
              <a:t>ui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build it below in the server.</a:t>
            </a:r>
            <a:br>
              <a:rPr lang="en-US" dirty="0"/>
            </a:br>
            <a:r>
              <a:rPr lang="en-US" dirty="0"/>
              <a:t>The name is the only argument for the function.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EF84C2-73D3-89C3-FA9C-200AC3F82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70537"/>
              </p:ext>
            </p:extLst>
          </p:nvPr>
        </p:nvGraphicFramePr>
        <p:xfrm>
          <a:off x="973112" y="3602776"/>
          <a:ext cx="3956749" cy="3291840"/>
        </p:xfrm>
        <a:graphic>
          <a:graphicData uri="http://schemas.openxmlformats.org/drawingml/2006/table">
            <a:tbl>
              <a:tblPr/>
              <a:tblGrid>
                <a:gridCol w="2776855">
                  <a:extLst>
                    <a:ext uri="{9D8B030D-6E8A-4147-A177-3AD203B41FA5}">
                      <a16:colId xmlns:a16="http://schemas.microsoft.com/office/drawing/2014/main" val="2512472014"/>
                    </a:ext>
                  </a:extLst>
                </a:gridCol>
                <a:gridCol w="1179894">
                  <a:extLst>
                    <a:ext uri="{9D8B030D-6E8A-4147-A177-3AD203B41FA5}">
                      <a16:colId xmlns:a16="http://schemas.microsoft.com/office/drawing/2014/main" val="2316845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Output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Creates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373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dataTableOutput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1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htmlOutput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raw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383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imageOutput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54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817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tableOutput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674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textOutput</a:t>
                      </a:r>
                      <a:endParaRPr lang="en-US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499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uiOutput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raw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18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verbatimTextOutput</a:t>
                      </a:r>
                      <a:endParaRPr lang="en-US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88349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F012D82-B2EE-50F1-E485-16FFFCA95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212" y="0"/>
            <a:ext cx="514074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C9177E-E554-0743-E409-BA1742118925}"/>
              </a:ext>
            </a:extLst>
          </p:cNvPr>
          <p:cNvSpPr/>
          <p:nvPr/>
        </p:nvSpPr>
        <p:spPr>
          <a:xfrm>
            <a:off x="7449458" y="4818233"/>
            <a:ext cx="3352800" cy="116063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7C8FF-1310-89AD-B483-54C53ED6E0BA}"/>
              </a:ext>
            </a:extLst>
          </p:cNvPr>
          <p:cNvSpPr/>
          <p:nvPr/>
        </p:nvSpPr>
        <p:spPr>
          <a:xfrm>
            <a:off x="1003092" y="5108045"/>
            <a:ext cx="3352800" cy="27341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63034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AC6D-9BAB-E82B-0CB4-7E7365714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97" y="365125"/>
            <a:ext cx="11212642" cy="1325563"/>
          </a:xfrm>
        </p:spPr>
        <p:txBody>
          <a:bodyPr/>
          <a:lstStyle/>
          <a:p>
            <a:r>
              <a:rPr lang="en-US" dirty="0"/>
              <a:t>Reactive output – 2. build object within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A9B1-7159-2A52-3C9B-BE2A3161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15" y="1825625"/>
            <a:ext cx="1139252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Above,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sidebarLayout</a:t>
            </a:r>
            <a:r>
              <a:rPr lang="en-US" dirty="0"/>
              <a:t>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sidebarPanel</a:t>
            </a:r>
            <a:r>
              <a:rPr lang="en-US" dirty="0"/>
              <a:t>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mainPanel</a:t>
            </a:r>
            <a:r>
              <a:rPr lang="en-US" dirty="0"/>
              <a:t>, we told Shiny where to put the output.</a:t>
            </a:r>
          </a:p>
          <a:p>
            <a:pPr marL="0" indent="0">
              <a:buNone/>
            </a:pPr>
            <a:r>
              <a:rPr lang="en-US" dirty="0"/>
              <a:t>Now we give code to build it inside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r>
              <a:rPr lang="en-US" dirty="0"/>
              <a:t> function, which:</a:t>
            </a:r>
          </a:p>
          <a:p>
            <a:r>
              <a:rPr lang="en-US" dirty="0"/>
              <a:t>Builds a list object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/>
              <a:t> containing all the code to update the object when the user enters new widget values</a:t>
            </a:r>
          </a:p>
          <a:p>
            <a:r>
              <a:rPr lang="en-US" dirty="0"/>
              <a:t>Gives each object its own entry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/>
              <a:t> list</a:t>
            </a:r>
          </a:p>
          <a:p>
            <a:r>
              <a:rPr lang="en-US" dirty="0"/>
              <a:t>Do this by matching the entry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/>
              <a:t> with an object name given above as the argument to an output function</a:t>
            </a:r>
          </a:p>
        </p:txBody>
      </p:sp>
    </p:spTree>
    <p:extLst>
      <p:ext uri="{BB962C8B-B14F-4D97-AF65-F5344CB8AC3E}">
        <p14:creationId xmlns:p14="http://schemas.microsoft.com/office/powerpoint/2010/main" val="98820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544C-B5C7-8A95-8AB1-CB60A217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74" y="365125"/>
            <a:ext cx="682052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Reactive output –</a:t>
            </a:r>
            <a:br>
              <a:rPr lang="en-US" dirty="0"/>
            </a:br>
            <a:r>
              <a:rPr lang="en-US" dirty="0"/>
              <a:t>2. build object within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692C-7D6E-5192-10CD-BC8EB040B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35685"/>
            <a:ext cx="5994529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r>
              <a:rPr lang="en-US" sz="2400" dirty="0"/>
              <a:t> automatically returns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400" dirty="0"/>
              <a:t> </a:t>
            </a:r>
          </a:p>
          <a:p>
            <a:r>
              <a:rPr lang="en-US" sz="2400" dirty="0"/>
              <a:t>Each output component gets wrapped inside of a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render*</a:t>
            </a:r>
            <a:r>
              <a:rPr lang="en-US" sz="2400" dirty="0"/>
              <a:t> function that corresponds to the type of reactive object</a:t>
            </a:r>
          </a:p>
          <a:p>
            <a:r>
              <a:rPr lang="en-US" sz="2400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render*</a:t>
            </a:r>
            <a:r>
              <a:rPr lang="en-US" sz="2400" dirty="0"/>
              <a:t> functions take one argument, an R expression in curly braces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sz="2400" dirty="0"/>
              <a:t> </a:t>
            </a:r>
          </a:p>
          <a:p>
            <a:r>
              <a:rPr lang="en-US" sz="2400" dirty="0"/>
              <a:t>The expression can be one line or many</a:t>
            </a:r>
          </a:p>
          <a:p>
            <a:r>
              <a:rPr lang="en-US" sz="2400" dirty="0"/>
              <a:t>Gets re-evaluated immediately when widget values change</a:t>
            </a:r>
          </a:p>
          <a:p>
            <a:r>
              <a:rPr lang="en-US" sz="2400" dirty="0"/>
              <a:t>Need to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render*</a:t>
            </a:r>
            <a:r>
              <a:rPr lang="en-US" sz="2400" dirty="0"/>
              <a:t> the right type of object to match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*Output</a:t>
            </a:r>
            <a:r>
              <a:rPr lang="en-US" sz="2400" dirty="0"/>
              <a:t> function above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837C9-A93F-68A4-D448-42A5A6E5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639" y="0"/>
            <a:ext cx="355459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958A04-2039-3C58-604F-4608A26EC9D7}"/>
              </a:ext>
            </a:extLst>
          </p:cNvPr>
          <p:cNvSpPr/>
          <p:nvPr/>
        </p:nvSpPr>
        <p:spPr>
          <a:xfrm>
            <a:off x="7824866" y="3297836"/>
            <a:ext cx="1888760" cy="14615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570E4D-88D7-55D4-0D02-E860B9632B7C}"/>
              </a:ext>
            </a:extLst>
          </p:cNvPr>
          <p:cNvSpPr/>
          <p:nvPr/>
        </p:nvSpPr>
        <p:spPr>
          <a:xfrm>
            <a:off x="7692453" y="5383967"/>
            <a:ext cx="1616439" cy="14615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F104E-4995-E628-EC7B-90CEE25D6BFB}"/>
              </a:ext>
            </a:extLst>
          </p:cNvPr>
          <p:cNvSpPr/>
          <p:nvPr/>
        </p:nvSpPr>
        <p:spPr>
          <a:xfrm>
            <a:off x="8500672" y="1825625"/>
            <a:ext cx="808220" cy="14615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E7E8AC-38AB-6728-E76D-64B63D32EE54}"/>
              </a:ext>
            </a:extLst>
          </p:cNvPr>
          <p:cNvSpPr/>
          <p:nvPr/>
        </p:nvSpPr>
        <p:spPr>
          <a:xfrm>
            <a:off x="9852285" y="5740556"/>
            <a:ext cx="580869" cy="135588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B6975-306F-0149-3EB5-A5046CB2F878}"/>
              </a:ext>
            </a:extLst>
          </p:cNvPr>
          <p:cNvSpPr txBox="1"/>
          <p:nvPr/>
        </p:nvSpPr>
        <p:spPr>
          <a:xfrm>
            <a:off x="10209839" y="3229093"/>
            <a:ext cx="18587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User widget input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946DAC-2CD2-B0FB-9EE2-B15947BA3E64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9308892" y="1835785"/>
            <a:ext cx="1830337" cy="13933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595DAD-55B2-CFE4-BD84-1F68DB70E3A3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0209839" y="3598425"/>
            <a:ext cx="929390" cy="214213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E971E6-97C5-D868-05BF-402DA847D55A}"/>
              </a:ext>
            </a:extLst>
          </p:cNvPr>
          <p:cNvSpPr txBox="1"/>
          <p:nvPr/>
        </p:nvSpPr>
        <p:spPr>
          <a:xfrm>
            <a:off x="5706351" y="3678128"/>
            <a:ext cx="166861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Output name &amp;</a:t>
            </a:r>
          </a:p>
          <a:p>
            <a:pPr algn="r"/>
            <a:r>
              <a:rPr lang="en-US" dirty="0"/>
              <a:t>definition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632D88-8902-BBEB-555B-C02C22EAA687}"/>
              </a:ext>
            </a:extLst>
          </p:cNvPr>
          <p:cNvCxnSpPr>
            <a:cxnSpLocks/>
          </p:cNvCxnSpPr>
          <p:nvPr/>
        </p:nvCxnSpPr>
        <p:spPr>
          <a:xfrm>
            <a:off x="6540659" y="4312901"/>
            <a:ext cx="1151794" cy="114414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0AEC08-8E72-0D41-F5EA-F78B1723BAD6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540660" y="3345606"/>
            <a:ext cx="1284206" cy="33252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550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9034-39C8-EF6B-C39C-A10CECC2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output – 2. (continued)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render*</a:t>
            </a:r>
            <a:r>
              <a:rPr lang="en-US" dirty="0"/>
              <a:t> functions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2CE21B-2F7B-21B6-BE91-E994913F1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0670146"/>
              </p:ext>
            </p:extLst>
          </p:nvPr>
        </p:nvGraphicFramePr>
        <p:xfrm>
          <a:off x="598357" y="2478293"/>
          <a:ext cx="6821742" cy="2926080"/>
        </p:xfrm>
        <a:graphic>
          <a:graphicData uri="http://schemas.openxmlformats.org/drawingml/2006/table">
            <a:tbl>
              <a:tblPr/>
              <a:tblGrid>
                <a:gridCol w="2367280">
                  <a:extLst>
                    <a:ext uri="{9D8B030D-6E8A-4147-A177-3AD203B41FA5}">
                      <a16:colId xmlns:a16="http://schemas.microsoft.com/office/drawing/2014/main" val="2272069834"/>
                    </a:ext>
                  </a:extLst>
                </a:gridCol>
                <a:gridCol w="4454462">
                  <a:extLst>
                    <a:ext uri="{9D8B030D-6E8A-4147-A177-3AD203B41FA5}">
                      <a16:colId xmlns:a16="http://schemas.microsoft.com/office/drawing/2014/main" val="765617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render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creates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84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renderDataTable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55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images (saved as a link to a source file)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02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renderPlot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plots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09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any printed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156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 frame, matrix, other table like structures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36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character strings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43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renderUI</a:t>
                      </a:r>
                      <a:endParaRPr lang="en-US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 Shiny tag object or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452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027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BBCB-EBFC-6061-7C88-6F2808B1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output – 2. (continued)</a:t>
            </a:r>
            <a:br>
              <a:rPr lang="en-US" dirty="0"/>
            </a:br>
            <a:r>
              <a:rPr lang="en-US" dirty="0"/>
              <a:t>Using the widget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6936F-72F1-5870-34E8-0CD17CA80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user-supplied widget values are stored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list object.</a:t>
            </a:r>
          </a:p>
          <a:p>
            <a:pPr marL="0" indent="0">
              <a:buNone/>
            </a:pPr>
            <a:r>
              <a:rPr lang="en-US" dirty="0"/>
              <a:t>Access them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/>
              <a:t> operator (see previous slide example).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r>
              <a:rPr lang="en-US" dirty="0"/>
              <a:t> automatically makes any output component reactive if that component uses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value, so objects stay “up-to-date.”</a:t>
            </a:r>
          </a:p>
          <a:p>
            <a:pPr marL="0" indent="0">
              <a:buNone/>
            </a:pPr>
            <a:r>
              <a:rPr lang="en-US" dirty="0"/>
              <a:t>You just need to connect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/>
              <a:t> objects, and Shiny does the rest. </a:t>
            </a:r>
          </a:p>
        </p:txBody>
      </p:sp>
    </p:spTree>
    <p:extLst>
      <p:ext uri="{BB962C8B-B14F-4D97-AF65-F5344CB8AC3E}">
        <p14:creationId xmlns:p14="http://schemas.microsoft.com/office/powerpoint/2010/main" val="506003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58A0-3B57-6655-7791-D987FDB8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walk through a couple of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3C1FB-12EA-2325-37D3-A71AD54B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1825625"/>
            <a:ext cx="1181224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RStudio</a:t>
            </a:r>
          </a:p>
          <a:p>
            <a:pPr marL="0" indent="0">
              <a:buNone/>
            </a:pPr>
            <a:r>
              <a:rPr lang="en-US" dirty="0"/>
              <a:t>Try an example I’ve provided,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/>
              <a:t>, as well as two built-in examples: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(“path/to/data/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text_entry_app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display.mode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"showcase")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8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"01_hello"</a:t>
            </a:r>
            <a:r>
              <a:rPr lang="en-US" sz="28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"02_text"</a:t>
            </a:r>
            <a:r>
              <a:rPr lang="en-US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786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4C37-D303-F600-9EDA-8F27CBFE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built-in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A295C-00B2-29B3-4622-340A2DFDE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5" y="1825625"/>
            <a:ext cx="121266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"01_hello"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a histogram</a:t>
            </a:r>
            <a:br>
              <a:rPr lang="en-US" sz="2500" i="1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"02_text"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tables and data frames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"03_reactivity"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a reactive expression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"04_mpg"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global variables</a:t>
            </a:r>
            <a:br>
              <a:rPr lang="en-US" sz="2500" i="1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"05_sliders"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slider bars</a:t>
            </a:r>
            <a:br>
              <a:rPr lang="en-US" sz="2500" i="1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"06_tabsets"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tabbed panels</a:t>
            </a:r>
            <a:br>
              <a:rPr lang="en-US" sz="2500" i="1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"07_widgets"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help text and submit buttons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"08_html"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Shiny app built from HTML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"09_upload"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file upload wizard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"10_download"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file download wizard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"11_timer"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an automated timer</a:t>
            </a: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363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91D6-5521-532F-7378-0F8F536E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 simple one on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841C-99B6-7602-10E6-3AF0ED2AF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1" y="1825625"/>
            <a:ext cx="1157240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Try making a new copy of my provided example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text_entry_app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/>
              <a:t> and modify it to</a:t>
            </a:r>
          </a:p>
          <a:p>
            <a:r>
              <a:rPr lang="en-US" dirty="0"/>
              <a:t>Keep the original text entry and output</a:t>
            </a:r>
          </a:p>
          <a:p>
            <a:r>
              <a:rPr lang="en-US" dirty="0"/>
              <a:t>Now have a slider input that prompts the user to enter how hungry they are, on a scale of 1-10, with a default of 4</a:t>
            </a:r>
          </a:p>
          <a:p>
            <a:r>
              <a:rPr lang="en-US" dirty="0"/>
              <a:t>Output a message (text) re-stating how hungry the user said they were</a:t>
            </a:r>
          </a:p>
          <a:p>
            <a:r>
              <a:rPr lang="en-US" dirty="0"/>
              <a:t>A solution is provided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hungry/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8773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E5B2-6253-B4BD-94FE-26A80F33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Manhattan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F3FF7-1930-8349-F23F-6A38EAF07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5645"/>
            <a:ext cx="1232191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chip_2_genesis_gwas_results.txt.gz</a:t>
            </a:r>
            <a:r>
              <a:rPr lang="en-US" dirty="0"/>
              <a:t> contains a table of GWAS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static_manhattan_plot.R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reads in the data (you need to adjust the path and possibly install some packages) and makes a Manhattan plot.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take a moment to see how the code works and see the plot.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7A152-09D9-EFFA-C8F2-531E53163919}"/>
              </a:ext>
            </a:extLst>
          </p:cNvPr>
          <p:cNvSpPr txBox="1"/>
          <p:nvPr/>
        </p:nvSpPr>
        <p:spPr>
          <a:xfrm>
            <a:off x="0" y="2378255"/>
            <a:ext cx="175984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 head(d)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variant.id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chr    pos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n.obs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MAC      Score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Score.SE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Score.Stat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Score.pval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Est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Est.SE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PVE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effect_allele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other_allele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strand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1:    rs806731   1  30923  1226 0.13132137 322  1.8716091 2.798572  0.6687730 0.50364029  0.2389694 0.3573251 0.0003662529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2: rs183605470   1  84139  1226 0.01508972  37  2.6859570 1.140658  2.3547444 0.01853545  2.0643745 0.8766873 0.0045405783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3: rs148663102   1 254186  1226 0.01672104  41 -0.6500653 1.284419 -0.5061161 0.61277517 -0.3940427 0.7785619 0.0002097606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4: rs144425991   1 529782  1226 0.08809135 216  0.8124409 2.653831  0.3061390 0.75949884  0.1153574 0.3768138 0.0000767469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5: rs529192661   1 564158  1226 0.02039152  50 -2.2628646 1.409511 -1.6054250 0.10840030 -1.1389941 0.7094658 0.0021105890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6:   rs6594031   1 565541  1226 0.10032626 246 -4.6564634 2.961961 -1.5720879 0.11593017 -0.5307591 0.3376141 0.0020238451             A            G    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42106-0D8B-BC34-1085-9B32642EA1F0}"/>
              </a:ext>
            </a:extLst>
          </p:cNvPr>
          <p:cNvSpPr txBox="1"/>
          <p:nvPr/>
        </p:nvSpPr>
        <p:spPr>
          <a:xfrm>
            <a:off x="1506510" y="6308209"/>
            <a:ext cx="9316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Code adapted from https://</a:t>
            </a:r>
            <a:r>
              <a:rPr lang="en-US" dirty="0" err="1"/>
              <a:t>danielroelfs.com</a:t>
            </a:r>
            <a:r>
              <a:rPr lang="en-US" dirty="0"/>
              <a:t>/blog/how-</a:t>
            </a:r>
            <a:r>
              <a:rPr lang="en-US" dirty="0" err="1"/>
              <a:t>i</a:t>
            </a:r>
            <a:r>
              <a:rPr lang="en-US" dirty="0"/>
              <a:t>-create-</a:t>
            </a:r>
            <a:r>
              <a:rPr lang="en-US" dirty="0" err="1"/>
              <a:t>manhattan</a:t>
            </a:r>
            <a:r>
              <a:rPr lang="en-US" dirty="0"/>
              <a:t>-plots-using-</a:t>
            </a:r>
            <a:r>
              <a:rPr lang="en-US" dirty="0" err="1"/>
              <a:t>ggplot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02131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9FCF-44B4-0CCA-CCE8-FA98F758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Our default Manhattan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F480B-01A0-0388-891C-BF70BC40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 ideal!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A6E40-8619-68FD-0EDF-2CA59B56C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780" y="1246054"/>
            <a:ext cx="8936220" cy="56119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7581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F479-2839-387E-12A0-2611B2D15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Manhattan plot with Shiny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B7626-4ED2-BCA0-8123-B500328B5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interactive_manhattan_plot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is a modified version with some widgets to help us improve the plot.</a:t>
            </a:r>
          </a:p>
          <a:p>
            <a:r>
              <a:rPr lang="en-US" dirty="0">
                <a:effectLst/>
                <a:latin typeface="Helvetica" pitchFamily="2" charset="0"/>
              </a:rPr>
              <a:t>Adjust the y-axis maximum so that the plot isn’t all whitespace</a:t>
            </a:r>
          </a:p>
          <a:p>
            <a:r>
              <a:rPr lang="en-US" dirty="0">
                <a:effectLst/>
                <a:latin typeface="Helvetica" pitchFamily="2" charset="0"/>
              </a:rPr>
              <a:t>Filtering non-significant p-values to speed up plotting</a:t>
            </a:r>
          </a:p>
          <a:p>
            <a:pPr lvl="1"/>
            <a:r>
              <a:rPr lang="en-US" dirty="0">
                <a:latin typeface="Helvetica" pitchFamily="2" charset="0"/>
              </a:rPr>
              <a:t>P-value threshold above which SNPs should be thinned</a:t>
            </a:r>
          </a:p>
          <a:p>
            <a:pPr lvl="1"/>
            <a:r>
              <a:rPr lang="en-US" dirty="0">
                <a:effectLst/>
                <a:latin typeface="Helvetica" pitchFamily="2" charset="0"/>
              </a:rPr>
              <a:t>What percent of those non-significant SNPs to plot</a:t>
            </a:r>
          </a:p>
          <a:p>
            <a:r>
              <a:rPr lang="en-US" dirty="0">
                <a:latin typeface="Helvetica" pitchFamily="2" charset="0"/>
              </a:rPr>
              <a:t>Adjustable genome-wide significance line</a:t>
            </a:r>
            <a:endParaRPr lang="en-US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90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FDAD-D671-C67E-B7B4-1EB65DA9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Manhattan plot with Shiny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64E0E-6BAE-8EE5-A962-36F70653E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More ideas</a:t>
            </a:r>
          </a:p>
          <a:p>
            <a:r>
              <a:rPr lang="en-US" dirty="0"/>
              <a:t>Filter SNPs</a:t>
            </a:r>
          </a:p>
          <a:p>
            <a:pPr lvl="1"/>
            <a:r>
              <a:rPr lang="en-US" dirty="0"/>
              <a:t>Allele frequency</a:t>
            </a:r>
          </a:p>
          <a:p>
            <a:pPr lvl="1"/>
            <a:r>
              <a:rPr lang="en-US" dirty="0"/>
              <a:t>Allele count</a:t>
            </a:r>
          </a:p>
          <a:p>
            <a:pPr lvl="1"/>
            <a:r>
              <a:rPr lang="en-US" dirty="0"/>
              <a:t>Sample size</a:t>
            </a:r>
          </a:p>
          <a:p>
            <a:pPr lvl="1"/>
            <a:r>
              <a:rPr lang="en-US" dirty="0"/>
              <a:t>Effect size/direction</a:t>
            </a:r>
          </a:p>
          <a:p>
            <a:r>
              <a:rPr lang="en-US" dirty="0"/>
              <a:t>Filter regions</a:t>
            </a:r>
          </a:p>
          <a:p>
            <a:pPr lvl="1"/>
            <a:r>
              <a:rPr lang="en-US" dirty="0"/>
              <a:t>Chromosomes</a:t>
            </a:r>
          </a:p>
          <a:p>
            <a:pPr lvl="1"/>
            <a:r>
              <a:rPr lang="en-US" dirty="0"/>
              <a:t>By annotations (if we had them in this dataset)</a:t>
            </a:r>
          </a:p>
          <a:p>
            <a:r>
              <a:rPr lang="en-US" dirty="0"/>
              <a:t>Other aesthetics</a:t>
            </a:r>
          </a:p>
          <a:p>
            <a:pPr lvl="1"/>
            <a:r>
              <a:rPr lang="en-US" dirty="0"/>
              <a:t>Type in the name of a SNP to highlight it</a:t>
            </a:r>
          </a:p>
          <a:p>
            <a:r>
              <a:rPr lang="en-US" dirty="0"/>
              <a:t>Output summary tables, with messages about numbers of variants filter out</a:t>
            </a:r>
          </a:p>
          <a:p>
            <a:r>
              <a:rPr lang="en-US" dirty="0"/>
              <a:t>What else? See if you/we can implement one of your ideas.</a:t>
            </a:r>
          </a:p>
        </p:txBody>
      </p:sp>
    </p:spTree>
    <p:extLst>
      <p:ext uri="{BB962C8B-B14F-4D97-AF65-F5344CB8AC3E}">
        <p14:creationId xmlns:p14="http://schemas.microsoft.com/office/powerpoint/2010/main" val="3080698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6923</TotalTime>
  <Words>1617</Words>
  <Application>Microsoft Macintosh PowerPoint</Application>
  <PresentationFormat>Widescreen</PresentationFormat>
  <Paragraphs>209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-webkit-standard</vt:lpstr>
      <vt:lpstr>Arial</vt:lpstr>
      <vt:lpstr>Calibri</vt:lpstr>
      <vt:lpstr>Calibri Light</vt:lpstr>
      <vt:lpstr>Courier New</vt:lpstr>
      <vt:lpstr>Helvetica</vt:lpstr>
      <vt:lpstr>Office Theme</vt:lpstr>
      <vt:lpstr>Interactive visualization in R with Shiny</vt:lpstr>
      <vt:lpstr>Setup</vt:lpstr>
      <vt:lpstr>Shiny</vt:lpstr>
      <vt:lpstr>What is a Shiny app?</vt:lpstr>
      <vt:lpstr>Structure of a Shiny app</vt:lpstr>
      <vt:lpstr>More detailed structure of a Shiny app</vt:lpstr>
      <vt:lpstr>ui</vt:lpstr>
      <vt:lpstr>ui - basics</vt:lpstr>
      <vt:lpstr>ui – basic widgets</vt:lpstr>
      <vt:lpstr>ui – adding widgets</vt:lpstr>
      <vt:lpstr>Reactive output</vt:lpstr>
      <vt:lpstr>Reactive output –  1. add R object to ui</vt:lpstr>
      <vt:lpstr>Reactive output – 2. build object within server</vt:lpstr>
      <vt:lpstr>Reactive output – 2. build object within server</vt:lpstr>
      <vt:lpstr>Reactive output – 2. (continued) render* functions</vt:lpstr>
      <vt:lpstr>Reactive output – 2. (continued) Using the widget values</vt:lpstr>
      <vt:lpstr>Let’s walk through a couple of examples</vt:lpstr>
      <vt:lpstr>More built-in examples</vt:lpstr>
      <vt:lpstr>Try a simple one on your own</vt:lpstr>
      <vt:lpstr>Making a Manhattan plot</vt:lpstr>
      <vt:lpstr>Our default Manhattan plot</vt:lpstr>
      <vt:lpstr>Interactive Manhattan plot with Shiny</vt:lpstr>
      <vt:lpstr>Interactive Manhattan plot with Shiny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visualization in R with Shiny</dc:title>
  <dc:creator>Chernus, Jonathan M</dc:creator>
  <cp:lastModifiedBy>Chernus, Jonathan M</cp:lastModifiedBy>
  <cp:revision>164</cp:revision>
  <dcterms:created xsi:type="dcterms:W3CDTF">2023-03-01T21:29:22Z</dcterms:created>
  <dcterms:modified xsi:type="dcterms:W3CDTF">2026-02-24T00:30:16Z</dcterms:modified>
</cp:coreProperties>
</file>